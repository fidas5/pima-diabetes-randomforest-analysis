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Calibri (MS) Bold" charset="1" panose="020F0702030404030204"/>
      <p:regular r:id="rId54"/>
    </p:embeddedFont>
    <p:embeddedFont>
      <p:font typeface="Calibri (MS) Italics" charset="1" panose="020F05020202040A0204"/>
      <p:regular r:id="rId55"/>
    </p:embeddedFont>
    <p:embeddedFont>
      <p:font typeface="Consolas Bold" charset="1" panose="020B0709020204030204"/>
      <p:regular r:id="rId56"/>
    </p:embeddedFont>
    <p:embeddedFont>
      <p:font typeface="Calibri (MS)" charset="1" panose="020F0502020204030204"/>
      <p:regular r:id="rId57"/>
    </p:embeddedFont>
    <p:embeddedFont>
      <p:font typeface="Open Sans Bold" charset="1" panose="020B0806030504020204"/>
      <p:regular r:id="rId58"/>
    </p:embeddedFont>
    <p:embeddedFont>
      <p:font typeface="Open Sans" charset="1" panose="020B0606030504020204"/>
      <p:regular r:id="rId63"/>
    </p:embeddedFont>
    <p:embeddedFont>
      <p:font typeface="Calibri (MS) Bold Italics" charset="1" panose="020F07020304040A0204"/>
      <p:regular r:id="rId79"/>
    </p:embeddedFont>
    <p:embeddedFont>
      <p:font typeface="Consolas" charset="1" panose="020B0609020204030204"/>
      <p:regular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0.xml" Type="http://schemas.openxmlformats.org/officeDocument/2006/relationships/notesSlide"/><Relationship Id="rId101" Target="notesSlides/notesSlide41.xml" Type="http://schemas.openxmlformats.org/officeDocument/2006/relationships/notesSlide"/><Relationship Id="rId102" Target="notesSlides/notesSlide42.xml" Type="http://schemas.openxmlformats.org/officeDocument/2006/relationships/notesSlide"/><Relationship Id="rId103" Target="notesSlides/notesSlide43.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notesMasters/notesMaster1.xml" Type="http://schemas.openxmlformats.org/officeDocument/2006/relationships/notesMaster"/><Relationship Id="rId52" Target="theme/theme2.xml" Type="http://schemas.openxmlformats.org/officeDocument/2006/relationships/theme"/><Relationship Id="rId53" Target="notesSlides/notesSlide1.xml" Type="http://schemas.openxmlformats.org/officeDocument/2006/relationships/notesSlide"/><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notesSlides/notesSlide2.xml" Type="http://schemas.openxmlformats.org/officeDocument/2006/relationships/notesSlide"/><Relationship Id="rId6" Target="slides/slide1.xml" Type="http://schemas.openxmlformats.org/officeDocument/2006/relationships/slide"/><Relationship Id="rId60" Target="notesSlides/notesSlide3.xml" Type="http://schemas.openxmlformats.org/officeDocument/2006/relationships/notesSlide"/><Relationship Id="rId61" Target="notesSlides/notesSlide4.xml" Type="http://schemas.openxmlformats.org/officeDocument/2006/relationships/notesSlide"/><Relationship Id="rId62" Target="notesSlides/notesSlide5.xml" Type="http://schemas.openxmlformats.org/officeDocument/2006/relationships/notesSlide"/><Relationship Id="rId63" Target="fonts/font63.fntdata" Type="http://schemas.openxmlformats.org/officeDocument/2006/relationships/font"/><Relationship Id="rId64" Target="notesSlides/notesSlide6.xml" Type="http://schemas.openxmlformats.org/officeDocument/2006/relationships/notesSlide"/><Relationship Id="rId65" Target="notesSlides/notesSlide7.xml" Type="http://schemas.openxmlformats.org/officeDocument/2006/relationships/notesSlide"/><Relationship Id="rId66" Target="notesSlides/notesSlide8.xml" Type="http://schemas.openxmlformats.org/officeDocument/2006/relationships/notesSlide"/><Relationship Id="rId67" Target="notesSlides/notesSlide9.xml" Type="http://schemas.openxmlformats.org/officeDocument/2006/relationships/notesSlide"/><Relationship Id="rId68" Target="notesSlides/notesSlide10.xml" Type="http://schemas.openxmlformats.org/officeDocument/2006/relationships/notesSlide"/><Relationship Id="rId69" Target="notesSlides/notesSlide11.xml" Type="http://schemas.openxmlformats.org/officeDocument/2006/relationships/notesSlide"/><Relationship Id="rId7" Target="slides/slide2.xml" Type="http://schemas.openxmlformats.org/officeDocument/2006/relationships/slide"/><Relationship Id="rId70" Target="notesSlides/notesSlide12.xml" Type="http://schemas.openxmlformats.org/officeDocument/2006/relationships/notesSlide"/><Relationship Id="rId71" Target="notesSlides/notesSlide13.xml" Type="http://schemas.openxmlformats.org/officeDocument/2006/relationships/notesSlide"/><Relationship Id="rId72" Target="notesSlides/notesSlide14.xml" Type="http://schemas.openxmlformats.org/officeDocument/2006/relationships/notesSlide"/><Relationship Id="rId73" Target="notesSlides/notesSlide15.xml" Type="http://schemas.openxmlformats.org/officeDocument/2006/relationships/notesSlide"/><Relationship Id="rId74" Target="notesSlides/notesSlide16.xml" Type="http://schemas.openxmlformats.org/officeDocument/2006/relationships/notesSlide"/><Relationship Id="rId75" Target="notesSlides/notesSlide17.xml" Type="http://schemas.openxmlformats.org/officeDocument/2006/relationships/notesSlide"/><Relationship Id="rId76" Target="notesSlides/notesSlide18.xml" Type="http://schemas.openxmlformats.org/officeDocument/2006/relationships/notesSlide"/><Relationship Id="rId77" Target="notesSlides/notesSlide19.xml" Type="http://schemas.openxmlformats.org/officeDocument/2006/relationships/notesSlide"/><Relationship Id="rId78" Target="notesSlides/notesSlide20.xml" Type="http://schemas.openxmlformats.org/officeDocument/2006/relationships/notesSlide"/><Relationship Id="rId79" Target="fonts/font79.fntdata" Type="http://schemas.openxmlformats.org/officeDocument/2006/relationships/font"/><Relationship Id="rId8" Target="slides/slide3.xml" Type="http://schemas.openxmlformats.org/officeDocument/2006/relationships/slide"/><Relationship Id="rId80" Target="notesSlides/notesSlide21.xml" Type="http://schemas.openxmlformats.org/officeDocument/2006/relationships/notesSlide"/><Relationship Id="rId81" Target="notesSlides/notesSlide22.xml" Type="http://schemas.openxmlformats.org/officeDocument/2006/relationships/notesSlide"/><Relationship Id="rId82" Target="notesSlides/notesSlide23.xml" Type="http://schemas.openxmlformats.org/officeDocument/2006/relationships/notesSlide"/><Relationship Id="rId83" Target="notesSlides/notesSlide24.xml" Type="http://schemas.openxmlformats.org/officeDocument/2006/relationships/notesSlide"/><Relationship Id="rId84" Target="notesSlides/notesSlide25.xml" Type="http://schemas.openxmlformats.org/officeDocument/2006/relationships/notesSlide"/><Relationship Id="rId85" Target="fonts/font85.fntdata" Type="http://schemas.openxmlformats.org/officeDocument/2006/relationships/font"/><Relationship Id="rId86" Target="notesSlides/notesSlide26.xml" Type="http://schemas.openxmlformats.org/officeDocument/2006/relationships/notesSlide"/><Relationship Id="rId87" Target="notesSlides/notesSlide27.xml" Type="http://schemas.openxmlformats.org/officeDocument/2006/relationships/notesSlide"/><Relationship Id="rId88" Target="notesSlides/notesSlide28.xml" Type="http://schemas.openxmlformats.org/officeDocument/2006/relationships/notesSlide"/><Relationship Id="rId89" Target="notesSlides/notesSlide29.xml" Type="http://schemas.openxmlformats.org/officeDocument/2006/relationships/notesSlide"/><Relationship Id="rId9" Target="slides/slide4.xml" Type="http://schemas.openxmlformats.org/officeDocument/2006/relationships/slide"/><Relationship Id="rId90" Target="notesSlides/notesSlide30.xml" Type="http://schemas.openxmlformats.org/officeDocument/2006/relationships/notesSlide"/><Relationship Id="rId91" Target="notesSlides/notesSlide31.xml" Type="http://schemas.openxmlformats.org/officeDocument/2006/relationships/notesSlide"/><Relationship Id="rId92" Target="notesSlides/notesSlide32.xml" Type="http://schemas.openxmlformats.org/officeDocument/2006/relationships/notesSlide"/><Relationship Id="rId93" Target="notesSlides/notesSlide33.xml" Type="http://schemas.openxmlformats.org/officeDocument/2006/relationships/notesSlide"/><Relationship Id="rId94" Target="notesSlides/notesSlide34.xml" Type="http://schemas.openxmlformats.org/officeDocument/2006/relationships/notesSlide"/><Relationship Id="rId95" Target="notesSlides/notesSlide35.xml" Type="http://schemas.openxmlformats.org/officeDocument/2006/relationships/notesSlide"/><Relationship Id="rId96" Target="notesSlides/notesSlide36.xml" Type="http://schemas.openxmlformats.org/officeDocument/2006/relationships/notesSlide"/><Relationship Id="rId97" Target="notesSlides/notesSlide37.xml" Type="http://schemas.openxmlformats.org/officeDocument/2006/relationships/notesSlide"/><Relationship Id="rId98" Target="notesSlides/notesSlide38.xml" Type="http://schemas.openxmlformats.org/officeDocument/2006/relationships/notesSlide"/><Relationship Id="rId99" Target="notesSlides/notesSlide39.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Bonjour à tous,</a:t>
            </a:r>
          </a:p>
          <a:p>
            <a:r>
              <a:rPr lang="en-US"/>
              <a:t>Aujourd’hui, nous allons vous présenter notre projet de Machine Learning, qui consiste à prédire la présence du diabète à partir de données médicales.</a:t>
            </a:r>
          </a:p>
          <a:p>
            <a:r>
              <a:rPr lang="en-US"/>
              <a:t/>
            </a:r>
          </a:p>
          <a:p>
            <a:r>
              <a:rPr lang="en-US"/>
              <a:t>Ce projet a été réalisé par moi-même .. ainsi que mes collègues .., </a:t>
            </a:r>
          </a:p>
          <a:p>
            <a:r>
              <a:rPr lang="en-US"/>
              <a:t/>
            </a:r>
          </a:p>
          <a:p>
            <a:r>
              <a:rPr lang="en-US"/>
              <a:t>Pour cela, nous avons utilisé le dataset Pima Indian Diabetes, . Il contient 768 observations de patients, avec 8 variables explicatives ainsi qu’une variable cible binaire indiquant si le patient est diabétique ou non.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bien comprendre le modèle , nous avons structuré notre travail en quatre piliers.</a:t>
            </a:r>
          </a:p>
          <a:p>
            <a:r>
              <a:rPr lang="en-US"/>
              <a:t>D’abord les fondations, avec les arbres de décision et le bagging.</a:t>
            </a:r>
          </a:p>
          <a:p>
            <a:r>
              <a:rPr lang="en-US"/>
              <a:t>Ensuite l’architecture du modèle .</a:t>
            </a:r>
          </a:p>
          <a:p>
            <a:r>
              <a:rPr lang="en-US"/>
              <a:t>Puis l’évaluation avec le score OOB et l’importance des variables.</a:t>
            </a:r>
          </a:p>
          <a:p>
            <a:r>
              <a:rPr lang="en-US"/>
              <a:t>Enfin l’optimisation des hyperparamètres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commence en haut avec le nœud racine, qui contient toutes les données.</a:t>
            </a:r>
          </a:p>
          <a:p>
            <a:r>
              <a:rPr lang="en-US"/>
              <a:t>Ensuite, on divise ces données en fonction des valeurs des attributs.</a:t>
            </a:r>
          </a:p>
          <a:p>
            <a:r>
              <a:rPr lang="en-US"/>
              <a:t>Chaque carré représente un test sur un attribut, et chaque branche correspond à une valeur possible de cet attribut.</a:t>
            </a:r>
          </a:p>
          <a:p>
            <a:r>
              <a:rPr lang="en-US"/>
              <a:t/>
            </a:r>
          </a:p>
          <a:p>
            <a:r>
              <a:rPr lang="en-US"/>
              <a:t>En descendant dans l’arbre, on affine progressivement les groupes d’individus.</a:t>
            </a:r>
          </a:p>
          <a:p>
            <a:r>
              <a:rPr lang="en-US"/>
              <a:t>(Plus on descend, plus les données deviennent homogènes.)</a:t>
            </a:r>
          </a:p>
          <a:p>
            <a:r>
              <a:rPr lang="en-US"/>
              <a:t/>
            </a:r>
          </a:p>
          <a:p>
            <a:r>
              <a:rPr lang="en-US"/>
              <a:t>À la fin, on arrive aux feuilles (les formes ovales).</a:t>
            </a:r>
          </a:p>
          <a:p>
            <a:r>
              <a:rPr lang="en-US"/>
              <a:t>Chaque feuille correspond à une classe finale.</a:t>
            </a:r>
          </a:p>
          <a:p>
            <a:r>
              <a:rPr lang="en-US"/>
              <a:t>Quand toutes les instances dans une feuille appartiennent à la même classe, on parle de nœud pur.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maintenant on va entrer dans les fondations Arbre de décision binaire ,Bagging et Bootstrap</a:t>
            </a:r>
          </a:p>
          <a:p>
            <a:r>
              <a:rPr lang="en-US"/>
              <a:t>Tout d’abord, l’arbre de décision binaire est basé sur l’algorithme CART.</a:t>
            </a:r>
          </a:p>
          <a:p>
            <a:r>
              <a:rPr lang="en-US"/>
              <a:t/>
            </a:r>
          </a:p>
          <a:p>
            <a:r>
              <a:rPr lang="en-US"/>
              <a:t>CART construit un arbre de manière récursive en posant des questions du type :</a:t>
            </a:r>
          </a:p>
          <a:p>
            <a:r>
              <a:rPr lang="en-US"/>
              <a:t>est-ce que cette variable est inférieure ou égale à un certain seuil ?</a:t>
            </a:r>
          </a:p>
          <a:p>
            <a:r>
              <a:rPr lang="en-US"/>
              <a:t>À chaque étape, l’espace des données est divisé en deux parties uniquement, ce qui signifie que chaque nœud interne possède exactement deux branches.</a:t>
            </a:r>
          </a:p>
          <a:p>
            <a:r>
              <a:rPr lang="en-US"/>
              <a:t>Le processus continue jusqu’à obtenir des feuilles, et chaque feuille représente une classe finale, généralement la classe majoritaire des observations dans cette région.</a:t>
            </a:r>
          </a:p>
          <a:p>
            <a:r>
              <a:rPr lang="en-US"/>
              <a:t/>
            </a:r>
          </a:p>
          <a:p>
            <a:r>
              <a:rPr lang="en-US"/>
              <a:t>Pour améliorer la robustesse du modèle, on utilise une technique appelée bootstrap.</a:t>
            </a:r>
          </a:p>
          <a:p>
            <a:r>
              <a:rPr lang="en-US"/>
              <a:t/>
            </a:r>
          </a:p>
          <a:p>
            <a:r>
              <a:rPr lang="en-US"/>
              <a:t>Le bootstrap consiste à tirer aléatoirement des échantillons à partir des données originales, avec remise.</a:t>
            </a:r>
          </a:p>
          <a:p>
            <a:r>
              <a:rPr lang="en-US"/>
              <a:t/>
            </a:r>
          </a:p>
          <a:p>
            <a:r>
              <a:rPr lang="en-US"/>
              <a:t>Cela signifie que certaines observations peuvent apparaître plusieurs fois, tandis que d’autres peuvent ne pas apparaître du tout dans un échantillon.</a:t>
            </a:r>
          </a:p>
          <a:p>
            <a:r>
              <a:rPr lang="en-US"/>
              <a:t/>
            </a:r>
          </a:p>
          <a:p>
            <a:r>
              <a:rPr lang="en-US"/>
              <a:t>En moyenne, chaque échantillon bootstrap contient environ 63% des données uniques du dataset initial.</a:t>
            </a:r>
          </a:p>
          <a:p>
            <a:r>
              <a:rPr lang="en-US"/>
              <a:t/>
            </a:r>
          </a:p>
          <a:p>
            <a:r>
              <a:rPr lang="en-US"/>
              <a:t>Ensuite, on introduit la méthode Bagging, qui signifie Bootstrap Aggregating.</a:t>
            </a:r>
          </a:p>
          <a:p>
            <a:r>
              <a:rPr lang="en-US"/>
              <a:t/>
            </a:r>
          </a:p>
          <a:p>
            <a:r>
              <a:rPr lang="en-US"/>
              <a:t>L’idée est d’entraîner plusieurs arbres de décision indépendants, chacun sur un échantillon bootstrap différent.</a:t>
            </a:r>
          </a:p>
          <a:p>
            <a:r>
              <a:rPr lang="en-US"/>
              <a:t/>
            </a:r>
          </a:p>
          <a:p>
            <a:r>
              <a:rPr lang="en-US"/>
              <a:t>Ensuite, chaque arbre fait une prédiction, et la décision finale est obtenue par un vote majoritaire.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passe à l’algorithme ID3.</a:t>
            </a:r>
          </a:p>
          <a:p>
            <a:r>
              <a:rPr lang="en-US"/>
              <a:t>il est basé sur la notion d’entropie qui est une autre mesure de l’impureté</a:t>
            </a:r>
          </a:p>
          <a:p>
            <a:r>
              <a:rPr lang="en-US"/>
              <a:t/>
            </a:r>
          </a:p>
          <a:p>
            <a:r>
              <a:rPr lang="en-US"/>
              <a:t/>
            </a:r>
          </a:p>
          <a:p>
            <a:r>
              <a:rPr lang="en-US"/>
              <a:t/>
            </a:r>
          </a:p>
          <a:p>
            <a:r>
              <a:rPr lang="en-US"/>
              <a:t> elle est nulle (0) lorsque les données sont parfaitement pures et atteint sa valeur maximale </a:t>
            </a:r>
          </a:p>
          <a:p>
            <a:r>
              <a:rPr lang="en-US"/>
              <a:t>log2 (K) lorsque les classes sont uniformément réparties</a:t>
            </a:r>
          </a:p>
          <a:p>
            <a:r>
              <a:rPr lang="en-US"/>
              <a:t/>
            </a:r>
          </a:p>
          <a:p>
            <a:r>
              <a:rPr lang="en-US"/>
              <a:t/>
            </a:r>
          </a:p>
          <a:p>
            <a:r>
              <a:rPr lang="en-US"/>
              <a:t/>
            </a:r>
          </a:p>
          <a:p>
            <a:r>
              <a:rPr lang="en-US"/>
              <a:t/>
            </a:r>
          </a:p>
          <a:p>
            <a:r>
              <a:rPr lang="en-US"/>
              <a:t/>
            </a:r>
          </a:p>
          <a:p>
            <a:r>
              <a:rPr lang="en-US"/>
              <a:t>Le gain d’information correspond à la réduction de cette entropie après un split : il compare l’entropie avant et après la division des données, et l’algorithme choisit le split qui maximise ce gain afin d’obtenir les sous-groupes les plus homogènes possibles. </a:t>
            </a:r>
          </a:p>
          <a:p>
            <a:r>
              <a:rPr lang="en-US"/>
              <a:t/>
            </a:r>
          </a:p>
          <a:p>
            <a:r>
              <a:rPr lang="en-US"/>
              <a:t>Cependant, cette mesure présente une limite importante : elle favorise les attributs ayant un grand nombre de valeurs distinctes, car ceux-ci peuvent produire des partitions très fines et artificiellement pures, ce qui peut conduire à un surapprentissage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C4.5 améliore ID3 en introduisant le Gain Ratio.</a:t>
            </a:r>
          </a:p>
          <a:p>
            <a:r>
              <a:rPr lang="en-US"/>
              <a:t>Ce critère corrige le biais du gain d’information en pénalisant les variables qui ont beaucoup de valeurs.</a:t>
            </a:r>
          </a:p>
          <a:p>
            <a:r>
              <a:rPr lang="en-US"/>
              <a:t>Il permet donc d’éviter des splits trop spécifiques et améliore la généralisation du modèle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maintenant , on va parler de quelques algorithmes de l'arbre de décisio. </a:t>
            </a:r>
          </a:p>
          <a:p>
            <a:r>
              <a:rPr lang="en-US"/>
              <a:t>on va commencer par CART.</a:t>
            </a:r>
          </a:p>
          <a:p>
            <a:r>
              <a:rPr lang="en-US"/>
              <a:t>L’algorithme CART utilise l’indice de Gini pour mesurer l’impureté d’un nœud </a:t>
            </a:r>
          </a:p>
          <a:p>
            <a:r>
              <a:rPr lang="en-US"/>
              <a:t/>
            </a:r>
          </a:p>
          <a:p>
            <a:r>
              <a:rPr lang="en-US"/>
              <a:t>gini=1-la somme de pk au carré allan de 1 jusqu'a k</a:t>
            </a:r>
          </a:p>
          <a:p>
            <a:r>
              <a:rPr lang="en-US"/>
              <a:t> </a:t>
            </a:r>
          </a:p>
          <a:p>
            <a:r>
              <a:rPr lang="en-US"/>
              <a:t>plus le Gini est proche de 0, plus le nœud est pur.</a:t>
            </a:r>
          </a:p>
          <a:p>
            <a:r>
              <a:rPr lang="en-US"/>
              <a:t/>
            </a:r>
          </a:p>
          <a:p>
            <a:r>
              <a:rPr lang="en-US"/>
              <a:t>Dans le cas extrême, lorsque toutes les classes sont équilibrées, le Gini atteint sa valeur maximale qui est :</a:t>
            </a:r>
          </a:p>
          <a:p>
            <a:r>
              <a:rPr lang="en-US"/>
              <a:t>1 − 1/K, où K représente le nombre de classes.</a:t>
            </a:r>
          </a:p>
          <a:p>
            <a:r>
              <a:rPr lang="en-US"/>
              <a:t/>
            </a:r>
          </a:p>
          <a:p>
            <a:r>
              <a:rPr lang="en-US"/>
              <a:t>Pour construire l’arbre, CART cherche le meilleur split.</a:t>
            </a:r>
          </a:p>
          <a:p>
            <a:r>
              <a:rPr lang="en-US"/>
              <a:t>Il ne se base pas seulement sur le Gini d’un nœud, mais sur le Gini moyen pondéré des nœuds enfants après séparation.</a:t>
            </a:r>
          </a:p>
          <a:p>
            <a:r>
              <a:rPr lang="en-US"/>
              <a:t/>
            </a:r>
          </a:p>
          <a:p>
            <a:r>
              <a:rPr lang="en-US"/>
              <a:t/>
            </a:r>
          </a:p>
          <a:p>
            <a:r>
              <a:rPr lang="en-US"/>
              <a:t/>
            </a:r>
          </a:p>
          <a:p>
            <a:r>
              <a:rPr lang="en-US"/>
              <a:t>Ensuite, il teste plusieurs splits et choisit celui qui minimise ce Gini, afin d’obtenir les groupes les plus homogènes possible.</a:t>
            </a:r>
          </a:p>
          <a:p>
            <a:r>
              <a:rPr lang="en-US"/>
              <a:t/>
            </a:r>
          </a:p>
          <a:p>
            <a:r>
              <a:rPr lang="en-US"/>
              <a:t/>
            </a:r>
          </a:p>
          <a:p>
            <a:r>
              <a:rPr lang="en-US"/>
              <a:t/>
            </a:r>
          </a:p>
          <a:p>
            <a:r>
              <a:rPr lang="en-US"/>
              <a:t>Pourquoi "Maximum = 1 − 1/K" ?</a:t>
            </a:r>
          </a:p>
          <a:p>
            <a:r>
              <a:rPr lang="en-US"/>
              <a:t>👉 K = nombre de classes</a:t>
            </a:r>
          </a:p>
          <a:p>
            <a:r>
              <a:rPr lang="en-US"/>
              <a:t/>
            </a:r>
          </a:p>
          <a:p>
            <a:r>
              <a:rPr lang="en-US"/>
              <a:t>Quand les classes sont parfaitement équilibrées, l’impureté est maximale.</a:t>
            </a:r>
          </a:p>
          <a:p>
            <a:r>
              <a:rPr lang="en-US"/>
              <a:t/>
            </a:r>
          </a:p>
          <a:p>
            <a:r>
              <a:rPr lang="en-US"/>
              <a:t>Si K = 2 (cas binaire)</a:t>
            </a:r>
          </a:p>
          <a:p>
            <a:r>
              <a:rPr lang="en-US"/>
              <a:t>👉 max Gini = 1 − 1/2 = 0.5</a:t>
            </a:r>
          </a:p>
          <a:p>
            <a:r>
              <a:rPr lang="en-US"/>
              <a:t>Si K = 3</a:t>
            </a:r>
          </a:p>
          <a:p>
            <a:r>
              <a:rPr lang="en-US"/>
              <a:t>👉 max Gini = 1 − 1/3 = 0.67</a:t>
            </a:r>
          </a:p>
          <a:p>
            <a:r>
              <a:rPr lang="en-US"/>
              <a:t/>
            </a:r>
          </a:p>
          <a:p>
            <a:r>
              <a:rPr lang="en-US"/>
              <a:t>👉 Donc :</a:t>
            </a:r>
          </a:p>
          <a:p>
            <a:r>
              <a:rPr lang="en-US"/>
              <a:t>Plus il y a de classes, plus le Gini max augmente</a:t>
            </a:r>
          </a:p>
          <a:p>
            <a:r>
              <a:rPr lang="en-US"/>
              <a:t/>
            </a:r>
          </a:p>
          <a:p>
            <a:r>
              <a:rPr lang="en-US"/>
              <a:t/>
            </a:r>
          </a:p>
          <a:p>
            <a:r>
              <a:rPr lang="en-US"/>
              <a:t>L’arbre de décision teste plusieurs divisions possibles et choisit celle qui minimise le Gini moyen pondéré,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Dans le cas de la régression, on utilise le MSE pour mesurer l’impureté d’un nœud.</a:t>
            </a:r>
          </a:p>
          <a:p>
            <a:r>
              <a:rPr lang="en-US"/>
              <a:t/>
            </a:r>
          </a:p>
          <a:p>
            <a:r>
              <a:rPr lang="en-US"/>
              <a:t>Le MSE est égal à un sur n, multiplié par la somme, pour i allant de 1 à n, des carrés des différences entre chaque valeur </a:t>
            </a:r>
          </a:p>
          <a:p>
            <a:r>
              <a:rPr lang="en-US"/>
              <a:t>𝑦i et la moyenne y barre</a:t>
            </a:r>
          </a:p>
          <a:p>
            <a:r>
              <a:rPr lang="en-US"/>
              <a:t/>
            </a:r>
          </a:p>
          <a:p>
            <a:r>
              <a:rPr lang="en-US"/>
              <a:t/>
            </a:r>
          </a:p>
          <a:p>
            <a:r>
              <a:rPr lang="en-US"/>
              <a:t>Plus le MSE est proche de zéro, plus le nœud est homogène, c’est-à-dire que les valeurs sont proches de leur moyenne.</a:t>
            </a:r>
          </a:p>
          <a:p>
            <a:r>
              <a:rPr lang="en-US"/>
              <a:t>À l’inverse, lorsque les valeurs sont dispersées, le MSE augmente.</a:t>
            </a:r>
          </a:p>
          <a:p>
            <a:r>
              <a:rPr lang="en-US"/>
              <a:t/>
            </a:r>
          </a:p>
          <a:p>
            <a:r>
              <a:rPr lang="en-US"/>
              <a:t/>
            </a:r>
          </a:p>
          <a:p>
            <a:r>
              <a:rPr lang="en-US"/>
              <a:t>	​</a:t>
            </a:r>
          </a:p>
          <a:p>
            <a:r>
              <a:rPr lang="en-US"/>
              <a:t/>
            </a:r>
          </a:p>
          <a:p>
            <a:r>
              <a:rPr lang="en-US"/>
              <a:t>« Lors de la construction de l’arbre, on cherche à choisir le meilleur split.</a:t>
            </a:r>
          </a:p>
          <a:p>
            <a:r>
              <a:rPr lang="en-US"/>
              <a:t>Pour cela, on teste plusieurs divisions possibles et on calcule l’erreur après division.</a:t>
            </a:r>
          </a:p>
          <a:p>
            <a:r>
              <a:rPr lang="en-US"/>
              <a:t/>
            </a:r>
          </a:p>
          <a:p>
            <a:r>
              <a:rPr lang="en-US"/>
              <a:t>Le critère consiste à minimiser la somme pondérée des MSE des deux sous-groupes : »</a:t>
            </a:r>
          </a:p>
          <a:p>
            <a:r>
              <a:rPr lang="en-US"/>
              <a:t>Le MSE du split est égal à n gauche sur n, multiplié par le MSE du groupe gauche, plus n droite sur n, multiplié par le MSE du groupe droit.​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maintenant on va voir le lien entre gini et impureté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maintenant on va voir le lien entre gini et impureté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Cet arbre de décision montre comment le modèle prend une décision.</a:t>
            </a:r>
          </a:p>
          <a:p>
            <a:r>
              <a:rPr lang="en-US"/>
              <a:t/>
            </a:r>
          </a:p>
          <a:p>
            <a:r>
              <a:rPr lang="en-US"/>
              <a:t>On commence à la racine avec le glucose. Si le glucose est inférieur ou égal à 127.5, on regarde ensuite l’âge. Sinon, on regarde le BMI.</a:t>
            </a:r>
          </a:p>
          <a:p>
            <a:r>
              <a:rPr lang="en-US"/>
              <a:t/>
            </a:r>
          </a:p>
          <a:p>
            <a:r>
              <a:rPr lang="en-US"/>
              <a:t>Par exemple, si une personne a un glucose élevé et un BMI élevé, le modèle la classe comme diabétique.</a:t>
            </a:r>
          </a:p>
          <a:p>
            <a:r>
              <a:rPr lang="en-US"/>
              <a:t/>
            </a:r>
          </a:p>
          <a:p>
            <a:r>
              <a:rPr lang="en-US"/>
              <a:t>Chaque nœud contient aussi des informations importantes : le nombre d’exemples, la répartition des classes, et le gini qui mesure la qualité de la séparation.</a:t>
            </a:r>
          </a:p>
          <a:p>
            <a:r>
              <a:rPr lang="en-US"/>
              <a:t/>
            </a:r>
          </a:p>
          <a:p>
            <a:r>
              <a:rPr lang="en-US"/>
              <a:t>Ainsi, l’arbre prend une décision finale en suivant un chemin de règles simples et interprétables.</a:t>
            </a:r>
          </a:p>
          <a:p>
            <a:r>
              <a:rPr lang="en-US"/>
              <a:t/>
            </a:r>
          </a:p>
          <a:p>
            <a:r>
              <a:rPr lang="en-US"/>
              <a:t>----L’arbre choisit les questions (Glucose, BMI…) qui réduisent le plus l’impureté (Gini)--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tableau compare trois algorithmes d’arbres de décision : CART, ID3 et C4.5.</a:t>
            </a:r>
          </a:p>
          <a:p>
            <a:r>
              <a:rPr lang="en-US"/>
              <a:t>Tout d’abord, le critère de split diffère : CART utilise le Gini pour la classification et la MSE pour la régression, ID3 utilise le gain d’information basé sur l’entropie, tandis que C4.5 améliore ID3 en utilisant le gain ratio pour corriger certains biais.</a:t>
            </a:r>
          </a:p>
          <a:p>
            <a:r>
              <a:rPr lang="en-US"/>
              <a:t/>
            </a:r>
          </a:p>
          <a:p>
            <a:r>
              <a:rPr lang="en-US"/>
              <a:t>Ensuite, concernant les variables, ID3 travaille principalement avec des variables catégorielles, C4.5 peut gérer à la fois des variables catégorielles et numériques, alors que CART est le plus flexible car il accepte tous les types de variables.</a:t>
            </a:r>
          </a:p>
          <a:p>
            <a:r>
              <a:rPr lang="en-US"/>
              <a:t/>
            </a:r>
          </a:p>
          <a:p>
            <a:r>
              <a:rPr lang="en-US"/>
              <a:t>Au niveau de la structure de l’arbre, CART construit toujours des arbres binaires, ID3 peut générer des multi-branches, et C4.5 produit souvent des arbres multi-branches mais avec des améliorations de stabilité.</a:t>
            </a:r>
          </a:p>
          <a:p>
            <a:r>
              <a:rPr lang="en-US"/>
              <a:t/>
            </a:r>
          </a:p>
          <a:p>
            <a:r>
              <a:rPr lang="en-US"/>
              <a:t>Pour l’élagage, ID3 n’intègre pas vraiment d'élagage, C4.5 utilise le post-élagage, tandis que CART utilise surtout le post-élagage pour réduire le surapprentissage.</a:t>
            </a:r>
          </a:p>
          <a:p>
            <a:r>
              <a:rPr lang="en-US"/>
              <a:t/>
            </a:r>
          </a:p>
          <a:p>
            <a:r>
              <a:rPr lang="en-US"/>
              <a:t>Enfin, en termes de surapprentissage, ID3 est le plus sensible, alors que C4.5 et CART sont plus robustes grâce à leurs techniques d’élagage.</a:t>
            </a:r>
          </a:p>
          <a:p>
            <a:r>
              <a:rPr lang="en-US"/>
              <a:t/>
            </a:r>
          </a:p>
          <a:p>
            <a:r>
              <a:rPr lang="en-US"/>
              <a:t>En résumé, CART est le plus utilisé en pratique, ID3 est le plus simple mais limité, et C4.5 est une amélioration de ID3 plus stable et plus fiable.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bootstrap est une technique de rééchantillonnage avec remise.Consiste à créer plusieurs échantillons à partir du dataset initial, en tirant les données avec remise.</a:t>
            </a:r>
          </a:p>
          <a:p>
            <a:r>
              <a:rPr lang="en-US"/>
              <a:t>Cela signifie qu’une même observation peut apparaître plusieurs fois.</a:t>
            </a:r>
          </a:p>
          <a:p>
            <a:r>
              <a:rPr lang="en-US"/>
              <a:t>En moyenne, chaque échantillon contient environ 63% des données uniques. </a:t>
            </a:r>
          </a:p>
          <a:p>
            <a:r>
              <a:rPr lang="en-US"/>
              <a:t/>
            </a:r>
          </a:p>
          <a:p>
            <a:r>
              <a:rPr lang="en-US"/>
              <a:t/>
            </a:r>
          </a:p>
          <a:p>
            <a:r>
              <a:rPr lang="en-US"/>
              <a:t> on génère plusieurs échantillons bootstrap B1, B2, B3… Chacun sert à entraîner un arbre de décision indépendant</a:t>
            </a:r>
          </a:p>
          <a:p>
            <a:r>
              <a:rPr lang="en-US"/>
              <a:t>Le bagging (Bootstrap Aggregating) combine ces arbres et utilise un vote majoritaire pour la prédiction finale.</a:t>
            </a:r>
          </a:p>
          <a:p>
            <a:r>
              <a:rPr lang="en-US"/>
              <a:t/>
            </a:r>
          </a:p>
          <a:p>
            <a:r>
              <a:rPr lang="en-US"/>
              <a:t>Ainsi, le bagging réduit le surapprentissage et améliore la stabilité par rapport à un arbre unique, tout en fournissant gratuitement une validation croisée interne.</a:t>
            </a:r>
          </a:p>
          <a:p>
            <a:r>
              <a:rPr lang="en-US"/>
              <a:t/>
            </a:r>
          </a:p>
          <a:p>
            <a:r>
              <a:rPr lang="en-US"/>
              <a:t/>
            </a:r>
          </a:p>
          <a:p>
            <a:r>
              <a:rPr lang="en-US"/>
              <a:t>✔ Réduit le surapprentissage</a:t>
            </a:r>
          </a:p>
          <a:p>
            <a:r>
              <a:rPr lang="en-US"/>
              <a:t>Un arbre seul → apprend trop les détails (bruit) ❌</a:t>
            </a:r>
          </a:p>
          <a:p>
            <a:r>
              <a:rPr lang="en-US"/>
              <a:t>Bagging → moyenne de plusieurs arbres</a:t>
            </a:r>
          </a:p>
          <a:p>
            <a:r>
              <a:rPr lang="en-US"/>
              <a:t>👉 Les erreurs spécifiques se compensent → moins d’overfitting</a:t>
            </a:r>
          </a:p>
          <a:p>
            <a:r>
              <a:rPr lang="en-US"/>
              <a:t/>
            </a:r>
          </a:p>
          <a:p>
            <a:r>
              <a:rPr lang="en-US"/>
              <a:t>✔ Améliore la stabilité</a:t>
            </a:r>
          </a:p>
          <a:p>
            <a:r>
              <a:rPr lang="en-US"/>
              <a:t>Un arbre seul → très sensible aux données</a:t>
            </a:r>
          </a:p>
          <a:p>
            <a:r>
              <a:rPr lang="en-US"/>
              <a:t>Bagging → plusieurs arbres sur des échantillons différents</a:t>
            </a:r>
          </a:p>
          <a:p>
            <a:r>
              <a:rPr lang="en-US"/>
              <a:t>👉 Les prédictions deviennent plus robustes (moins de variation)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présente les avantages et les limites du bootstrap et du bagging.</a:t>
            </a:r>
          </a:p>
          <a:p>
            <a:r>
              <a:rPr lang="en-US"/>
              <a:t/>
            </a:r>
          </a:p>
          <a:p>
            <a:r>
              <a:rPr lang="en-US"/>
              <a:t>Tout d’abord, le bootstrap est une technique qui permet de créer plusieurs échantillons à partir d’un seul dataset en utilisant un échantillonnage avec remise. Cela est particulièrement utile lorsque les données sont limitées. Il est simple à mettre en œuvre et efficace, mais il a comme limite le fait qu’il peut introduire des doublons et qu’il ne crée pas de nouvelles informations, il ne fait que réutiliser les données existantes.</a:t>
            </a:r>
          </a:p>
          <a:p>
            <a:r>
              <a:rPr lang="en-US"/>
              <a:t/>
            </a:r>
          </a:p>
          <a:p>
            <a:r>
              <a:rPr lang="en-US"/>
              <a:t>Ensuite, le bagging, ou Bootstrap Aggregating, utilise cette idée pour entraîner plusieurs modèles sur ces différents échantillons. Son principal avantage est qu’il permet de réduire la variance du modèle, d’améliorer sa stabilité et de diminuer le surapprentissage, ce qui conduit à de meilleures performances globales.</a:t>
            </a:r>
          </a:p>
          <a:p>
            <a:r>
              <a:rPr lang="en-US"/>
              <a:t/>
            </a:r>
          </a:p>
          <a:p>
            <a:r>
              <a:rPr lang="en-US"/>
              <a:t>Cependant, le bagging a aussi des limites. Il est moins interprétable car il combine plusieurs modèles, ce qui le rend plus complexe à comprendre. Il demande aussi plus de puissance de calcul puisqu’on entraîne plusieurs modèles. Enfin, il ne réduit pas le biais, il agit principalement sur la variance.</a:t>
            </a:r>
          </a:p>
          <a:p>
            <a:r>
              <a:rPr lang="en-US"/>
              <a:t/>
            </a:r>
          </a:p>
          <a:p>
            <a:r>
              <a:rPr lang="en-US"/>
              <a:t>En résumé, le bootstrap sert à générer des données variées, tandis que le bagging permet de rendre le modèle plus robuste en combinant plusieurs modèles.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cette partie, on va présenter l’architecture de la Random Forest, qui est une </a:t>
            </a:r>
          </a:p>
          <a:p>
            <a:r>
              <a:rPr lang="en-US"/>
              <a:t>une technique d’apprentissage automatique basée sur l’agrégation de plusieurs arbres de décision.</a:t>
            </a:r>
          </a:p>
          <a:p>
            <a:r>
              <a:rPr lang="en-US"/>
              <a:t>(extension du bagging )</a:t>
            </a:r>
          </a:p>
          <a:p>
            <a:r>
              <a:rPr lang="en-US"/>
              <a:t>L’objectif est de combiner plusieurs arbres pour améliorer la performance et la robustesse du modèle.</a:t>
            </a:r>
          </a:p>
          <a:p>
            <a:r>
              <a:rPr lang="en-US"/>
              <a:t/>
            </a:r>
          </a:p>
          <a:p>
            <a:r>
              <a:rPr lang="en-US"/>
              <a:t>Cette image illustre le principe du Random Forest.</a:t>
            </a:r>
          </a:p>
          <a:p>
            <a:r>
              <a:rPr lang="en-US"/>
              <a:t>À partir d'un dataset, on génère plusieurs modèles appelés arbres de décision. Chaque arbre est construit de manière légèrement différente:</a:t>
            </a:r>
          </a:p>
          <a:p>
            <a:r>
              <a:rPr lang="en-US"/>
              <a:t>**soit en utilisant des sous-ensembles de données(bootsrap)</a:t>
            </a:r>
          </a:p>
          <a:p>
            <a:r>
              <a:rPr lang="en-US"/>
              <a:t>**soit en sélectionnant des variables différentes.(Feature Randomness)</a:t>
            </a:r>
          </a:p>
          <a:p>
            <a:r>
              <a:rPr lang="en-US"/>
              <a:t>chaque arbre produit un résultat indépendant et le choix de résultat final se fait par une vote majoritaire pour un problème de classification et la moyenne pour un problème de régression  .</a:t>
            </a:r>
          </a:p>
          <a:p>
            <a:r>
              <a:rPr lang="en-US"/>
              <a:t/>
            </a:r>
          </a:p>
          <a:p>
            <a:r>
              <a:rPr lang="en-US"/>
              <a:t/>
            </a:r>
          </a:p>
          <a:p>
            <a:r>
              <a:rPr lang="en-US"/>
              <a:t>Individuellement, ces arbres peuvent faire des erreurs. Mais l’idée clé du Random Forest est de ne pas se fier à un seul modèle. À la place, on combine les résultats de tous les arbres.</a:t>
            </a:r>
          </a:p>
          <a:p>
            <a:r>
              <a:rPr lang="en-US"/>
              <a:t>cette combinaison produit le résultat final, qui est généralement plus précis et plus robuste que celui d’un seul arbre.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la Random Forest, il y a un concept important appelé feature randomness, c’est-à-dire la randomisation des variables.</a:t>
            </a:r>
          </a:p>
          <a:p>
            <a:r>
              <a:rPr lang="en-US"/>
              <a:t/>
            </a:r>
          </a:p>
          <a:p>
            <a:r>
              <a:rPr lang="en-US"/>
              <a:t>À chaque nœud d’un arbre, on ne teste pas toutes les variables disponibles, mais seulement un sous-ensemble aléatoire de variables. En général, on prend environ la racine carrée du nombre total de variables,</a:t>
            </a:r>
          </a:p>
          <a:p>
            <a:r>
              <a:rPr lang="en-US"/>
              <a:t>Cette stratégie permet de rendre les arbres différents les uns des autres</a:t>
            </a:r>
          </a:p>
          <a:p>
            <a:r>
              <a:rPr lang="en-US"/>
              <a:t>Grâce à cela, on obtient des arbres moins corrélés, ce qui signifie qu’ils ne font pas les mêmes erreurs en même temps.</a:t>
            </a:r>
          </a:p>
          <a:p>
            <a:r>
              <a:rPr lang="en-US"/>
              <a:t>Et quand on combine leurs décisions par vote ou moyenne, les erreurs se compensent, ce qui réduit la variance et améliore la généralisation du modèle.</a:t>
            </a:r>
          </a:p>
          <a:p>
            <a:r>
              <a:rPr lang="en-US"/>
              <a:t/>
            </a:r>
          </a:p>
          <a:p>
            <a:r>
              <a:rPr lang="en-US"/>
              <a:t>(La variance, c’est le fait qu’un modèle change beaucoup selon les données d’entraînement)</a:t>
            </a:r>
          </a:p>
          <a:p>
            <a:r>
              <a:rPr lang="en-US"/>
              <a:t/>
            </a:r>
          </a:p>
          <a:p>
            <a:r>
              <a:rPr lang="en-US"/>
              <a:t/>
            </a:r>
          </a:p>
          <a:p>
            <a:r>
              <a:rPr lang="en-US"/>
              <a:t/>
            </a:r>
          </a:p>
          <a:p>
            <a:r>
              <a:rPr lang="en-US"/>
              <a:t>m est un hyperparamètre de Random Forest</a:t>
            </a:r>
          </a:p>
          <a:p>
            <a:r>
              <a:rPr lang="en-US"/>
              <a:t>m = √p </a:t>
            </a:r>
          </a:p>
          <a:p>
            <a:r>
              <a:rPr lang="en-US"/>
              <a:t>ou m = log2(p)+1 </a:t>
            </a:r>
          </a:p>
          <a:p>
            <a:r>
              <a:rPr lang="en-US"/>
              <a:t>“Ces deux formules sont des formules différentes qui permettent de choisir le nombre de variables testées à chaque split afin de contrôler le compromis entre diversité des arbres et performance du modèle.”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variance mesure à quel point les prédictions changent quand on modifie un peu les données.</a:t>
            </a:r>
          </a:p>
          <a:p>
            <a:r>
              <a:rPr lang="en-US"/>
              <a:t/>
            </a:r>
          </a:p>
          <a:p>
            <a:r>
              <a:rPr lang="en-US"/>
              <a:t>Dans un bagging classique, tous les arbres utilisent souvent la même variable forte, par exemple le glucose.</a:t>
            </a:r>
          </a:p>
          <a:p>
            <a:r>
              <a:rPr lang="en-US"/>
              <a:t>Donc, les arbres se ressemblent et font souvent les mêmes erreurs.</a:t>
            </a:r>
          </a:p>
          <a:p>
            <a:r>
              <a:rPr lang="en-US"/>
              <a:t/>
            </a:r>
          </a:p>
          <a:p>
            <a:r>
              <a:rPr lang="en-US"/>
              <a:t>Le problème, c’est que si les arbres sont corrélés, leurs erreurs le sont aussi.</a:t>
            </a:r>
          </a:p>
          <a:p>
            <a:r>
              <a:rPr lang="en-US"/>
              <a:t>Donc même avec un vote, on ne corrige pas vraiment ces erreurs → la variance reste élevée.</a:t>
            </a:r>
          </a:p>
          <a:p>
            <a:r>
              <a:rPr lang="en-US"/>
              <a:t/>
            </a:r>
          </a:p>
          <a:p>
            <a:r>
              <a:rPr lang="en-US"/>
              <a:t>Le Random Forest règle ce problème grâce à la feature randomness :</a:t>
            </a:r>
          </a:p>
          <a:p>
            <a:r>
              <a:rPr lang="en-US"/>
              <a:t>à chaque étape, on ne donne à l’arbre qu’un sous-ensemble de variables.</a:t>
            </a:r>
          </a:p>
          <a:p>
            <a:r>
              <a:rPr lang="en-US"/>
              <a:t/>
            </a:r>
          </a:p>
          <a:p>
            <a:r>
              <a:rPr lang="en-US"/>
              <a:t>Résultat :</a:t>
            </a:r>
          </a:p>
          <a:p>
            <a:r>
              <a:rPr lang="en-US"/>
              <a:t>les arbres deviennent différents, donc décorrélés.</a:t>
            </a:r>
          </a:p>
          <a:p>
            <a:r>
              <a:rPr lang="en-US"/>
              <a:t/>
            </a:r>
          </a:p>
          <a:p>
            <a:r>
              <a:rPr lang="en-US"/>
              <a:t>Et c’est ça qui fait la différence :</a:t>
            </a:r>
          </a:p>
          <a:p>
            <a:r>
              <a:rPr lang="en-US"/>
              <a:t>quand les arbres sont différents, leurs erreurs s’annulent mieux →</a:t>
            </a:r>
          </a:p>
          <a:p>
            <a:r>
              <a:rPr lang="en-US"/>
              <a:t>la variance diminue → le modèle devient plus stable et plus performant.</a:t>
            </a:r>
          </a:p>
          <a:p>
            <a:r>
              <a:rPr lang="en-US"/>
              <a:t/>
            </a:r>
          </a:p>
          <a:p>
            <a:r>
              <a:rPr lang="en-US"/>
              <a:t/>
            </a:r>
          </a:p>
          <a:p>
            <a:r>
              <a:rPr lang="en-US"/>
              <a:t># Un arbre seul → très instable → variance élevée</a:t>
            </a:r>
          </a:p>
          <a:p>
            <a:r>
              <a:rPr lang="en-US"/>
              <a:t> Plusieurs arbres → on moyenne → variance diminue</a:t>
            </a:r>
          </a:p>
          <a:p>
            <a:r>
              <a:rPr lang="en-US"/>
              <a:t/>
            </a:r>
          </a:p>
          <a:p>
            <a:r>
              <a:rPr lang="en-US"/>
              <a:t>Le vote réduit mal la variance car tous les arbres font les mêmes erreurs. Donc la moyenne ne change presque rien.”</a:t>
            </a:r>
          </a:p>
          <a:p>
            <a:r>
              <a:rPr lang="en-US"/>
              <a:t>Si les arbres sont corrélés, leurs erreurs aussi, donc le vote ne les corrige pas et la variance reste élevée.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Random Forest repose sur deux sources principales d’aléatoire :</a:t>
            </a:r>
          </a:p>
          <a:p>
            <a:r>
              <a:rPr lang="en-US"/>
              <a:t>le bootstrap, qui donne des données différentes à chaque arbre,</a:t>
            </a:r>
          </a:p>
          <a:p>
            <a:r>
              <a:rPr lang="en-US"/>
              <a:t>et la feature randomness, qui donne des variables différentes à chaque split.</a:t>
            </a:r>
          </a:p>
          <a:p>
            <a:r>
              <a:rPr lang="en-US"/>
              <a:t> Cette double diversité permet de réduire la corrélation entre les arbres et améliore la performance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ce slide, on explique le fonctionnement d’une forêt aléatoire appliquée à notre dataset, qui contient 768 observations et 8 variables.</a:t>
            </a:r>
          </a:p>
          <a:p>
            <a:r>
              <a:rPr lang="en-US"/>
              <a:t/>
            </a:r>
          </a:p>
          <a:p>
            <a:r>
              <a:rPr lang="en-US"/>
              <a:t>Le principe repose d’abord sur le bootstrap : on crée plusieurs sous-échantillons des données avec remise. Chaque échantillon sert à entraîner un arbre de décision différent, comme T1, T2 jusqu’à Tb.</a:t>
            </a:r>
          </a:p>
          <a:p>
            <a:r>
              <a:rPr lang="en-US"/>
              <a:t/>
            </a:r>
          </a:p>
          <a:p>
            <a:r>
              <a:rPr lang="en-US"/>
              <a:t>Ensuite, il y a un point très important : la sélection aléatoire des features. À chaque nœud de l’arbre, on ne teste pas toutes les variables, mais seulement un sous-ensemble est tiré aléatoirement.</a:t>
            </a:r>
          </a:p>
          <a:p>
            <a:r>
              <a:rPr lang="en-US"/>
              <a:t> dans notre cas le nombre total des variables est 8 lorsque on utilise le paramètre max_features = sqrt, on teste environ 2 à 3 variables par split.</a:t>
            </a:r>
          </a:p>
          <a:p>
            <a:r>
              <a:rPr lang="en-US"/>
              <a:t/>
            </a:r>
          </a:p>
          <a:p>
            <a:r>
              <a:rPr lang="en-US"/>
              <a:t>Cela introduit de la diversité entre les arbres, ce qui permet de réduire la variance et d’éviter le surapprentissage.</a:t>
            </a:r>
          </a:p>
          <a:p>
            <a:r>
              <a:rPr lang="en-US"/>
              <a:t/>
            </a:r>
          </a:p>
          <a:p>
            <a:r>
              <a:rPr lang="en-US"/>
              <a:t>Enfin, pour faire la prédiction finale, tous les arbres votent, et on prend le vote majoritaire.</a:t>
            </a:r>
          </a:p>
          <a:p>
            <a:r>
              <a:rPr lang="en-US"/>
              <a:t/>
            </a:r>
          </a:p>
          <a:p>
            <a:r>
              <a:rPr lang="en-US"/>
              <a:t>👉 Résultat : un modèle plus robuste et plus performant.</a:t>
            </a:r>
          </a:p>
          <a:p>
            <a:r>
              <a:rPr lang="en-US"/>
              <a:t/>
            </a:r>
          </a:p>
          <a:p>
            <a:r>
              <a:rPr lang="en-US"/>
              <a:t/>
            </a:r>
          </a:p>
          <a:p>
            <a:r>
              <a:rPr lang="en-US"/>
              <a:t/>
            </a:r>
          </a:p>
          <a:p>
            <a:r>
              <a:rPr lang="en-US"/>
              <a:t/>
            </a:r>
          </a:p>
          <a:p>
            <a:r>
              <a:rPr lang="en-US"/>
              <a:t/>
            </a:r>
          </a:p>
          <a:p>
            <a:r>
              <a:rPr lang="en-US"/>
              <a:t/>
            </a:r>
          </a:p>
          <a:p>
            <a:r>
              <a:rPr lang="en-US"/>
              <a:t>Remarque :dans scikit-learn :</a:t>
            </a:r>
          </a:p>
          <a:p>
            <a:r>
              <a:rPr lang="en-US"/>
              <a:t>On ne fait pas un arrondi classique</a:t>
            </a:r>
          </a:p>
          <a:p>
            <a:r>
              <a:rPr lang="en-US"/>
              <a:t> On utilise la partie entière inférieure (floor)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problème étudié est un problème de classification binaire. Nous utilisons le dataset Pima Indians Diabetes afin de prédire si une personne est diabétique ou non, à partir de 8 variables explicatives. Ce jeu de données comprend 768 observations.</a:t>
            </a:r>
          </a:p>
          <a:p>
            <a:r>
              <a:rPr lang="en-US"/>
              <a:t/>
            </a:r>
          </a:p>
          <a:p>
            <a:r>
              <a:rPr lang="en-US"/>
              <a:t>Il s’agit de données réelles collectées à la fin des années 1980 auprès de femmes Pimas d’Arizona, âgées de plus de 21 ans, dans le cadre d’une étude du NIDDK sur le diabète.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tableau représente un extrait du dataset. Chaque ligne correspond à une patiente, et les colonnes représentent les variables  comme le glucose, le BMI , l’âge,.......</a:t>
            </a:r>
          </a:p>
          <a:p>
            <a:r>
              <a:rPr lang="en-US"/>
              <a:t/>
            </a:r>
          </a:p>
          <a:p>
            <a:r>
              <a:rPr lang="en-US"/>
              <a:t>La variable Outcome est notre cible : 1 indique un cas de diabète, 0 sinon.</a:t>
            </a:r>
          </a:p>
          <a:p>
            <a:r>
              <a:rPr lang="en-US"/>
              <a:t/>
            </a:r>
          </a:p>
          <a:p>
            <a:r>
              <a:rPr lang="en-US"/>
              <a:t>L’objectif est donc de construire un modèle capable de prédire cette variable à partir des autres caractéristiques.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cette étape, on évalue la performance du modèle à travers 2 éléments.</a:t>
            </a:r>
          </a:p>
          <a:p>
            <a:r>
              <a:rPr lang="en-US"/>
              <a:t>D’abord, L' OOB Score,qui est une méthode d’évaluation interne à Random Forest.</a:t>
            </a:r>
          </a:p>
          <a:p>
            <a:r>
              <a:rPr lang="en-US"/>
              <a:t>Ensuite,  feature importance, qui permettent de mesurer l’impact de chaque variable dans les décisions du modèle.</a:t>
            </a:r>
          </a:p>
          <a:p>
            <a:r>
              <a:rPr lang="en-US"/>
              <a:t>Enfin, on compare la Random Forest à un arbre de décision unique afin de mesurer le gain apporté par l’ensemble d’arbres.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D’abord on doit comprendre c’est quoi le score OOB</a:t>
            </a:r>
          </a:p>
          <a:p>
            <a:r>
              <a:rPr lang="en-US"/>
              <a:t/>
            </a:r>
          </a:p>
          <a:p>
            <a:r>
              <a:rPr lang="en-US"/>
              <a:t>**OOB Score  est la   Proportion de prédictions OOB correctes</a:t>
            </a:r>
          </a:p>
          <a:p>
            <a:r>
              <a:rPr lang="en-US"/>
              <a:t>Ç’est  à dire :</a:t>
            </a:r>
          </a:p>
          <a:p>
            <a:r>
              <a:rPr lang="en-US"/>
              <a:t>On teste l’arbre sur les données qu’il n’a jamais vues (OOB),</a:t>
            </a:r>
          </a:p>
          <a:p>
            <a:r>
              <a:rPr lang="en-US"/>
              <a:t>et on calcule combien de fois il a bien prédit.</a:t>
            </a:r>
          </a:p>
          <a:p>
            <a:r>
              <a:rPr lang="en-US"/>
              <a:t/>
            </a:r>
          </a:p>
          <a:p>
            <a:r>
              <a:rPr lang="en-US"/>
              <a:t>**OOB Error  =  1 − OOB Score </a:t>
            </a:r>
          </a:p>
          <a:p>
            <a:r>
              <a:rPr lang="en-US"/>
              <a:t>C’est simplement le taux d’erreur mesuré sur les échantillons OOB.</a:t>
            </a:r>
          </a:p>
          <a:p>
            <a:r>
              <a:rPr lang="en-US"/>
              <a:t/>
            </a:r>
          </a:p>
          <a:p>
            <a:r>
              <a:rPr lang="en-US"/>
              <a:t>**OOB score est une bonne approximation de l’accuracy sur le test set</a:t>
            </a:r>
          </a:p>
          <a:p>
            <a:r>
              <a:rPr lang="en-US"/>
              <a:t>(explication: parce que, dans les deux cas, on évalue le modèle sur des données qu’il n’a pas vues pendant l’entraînement.)</a:t>
            </a:r>
          </a:p>
          <a:p>
            <a:r>
              <a:rPr lang="en-US"/>
              <a:t/>
            </a:r>
          </a:p>
          <a:p>
            <a:r>
              <a:rPr lang="en-US"/>
              <a:t>Parmis les avantages OOB on a d’abord la gratuité et l’intégrité dans Random Forest...</a:t>
            </a:r>
          </a:p>
          <a:p>
            <a:r>
              <a:rPr lang="en-US"/>
              <a:t>Ensuite, il permet de choisir les hyperparamètres du modèle. En mesurant la convergence...</a:t>
            </a:r>
          </a:p>
          <a:p>
            <a:r>
              <a:rPr lang="en-US"/>
              <a:t>Enfin, il  assure une  Économie de données ....</a:t>
            </a:r>
          </a:p>
          <a:p>
            <a:r>
              <a:rPr lang="en-US"/>
              <a:t/>
            </a:r>
          </a:p>
          <a:p>
            <a:r>
              <a:rPr lang="en-US"/>
              <a:t/>
            </a:r>
          </a:p>
          <a:p>
            <a:r>
              <a:rPr lang="en-US"/>
              <a:t>fonctionnement :</a:t>
            </a:r>
          </a:p>
          <a:p>
            <a:r>
              <a:rPr lang="en-US"/>
              <a:t>***OOB</a:t>
            </a:r>
          </a:p>
          <a:p>
            <a:r>
              <a:rPr lang="en-US"/>
              <a:t>Pour chaque observation du dataset :</a:t>
            </a:r>
          </a:p>
          <a:p>
            <a:r>
              <a:rPr lang="en-US"/>
              <a:t/>
            </a:r>
          </a:p>
          <a:p>
            <a:r>
              <a:rPr lang="en-US"/>
              <a:t>On identifie les arbres qui n’ont pas utilisé cette observation</a:t>
            </a:r>
          </a:p>
          <a:p>
            <a:r>
              <a:rPr lang="en-US"/>
              <a:t>On demande à ces arbres de prédire cette observation</a:t>
            </a:r>
          </a:p>
          <a:p>
            <a:r>
              <a:rPr lang="en-US"/>
              <a:t>On agrège les prédictions (vote en classification, moyenne en régression)</a:t>
            </a:r>
          </a:p>
          <a:p>
            <a:r>
              <a:rPr lang="en-US"/>
              <a:t>On compare à la vraie valeur</a:t>
            </a:r>
          </a:p>
          <a:p>
            <a:r>
              <a:rPr lang="en-US"/>
              <a:t/>
            </a:r>
          </a:p>
          <a:p>
            <a:r>
              <a:rPr lang="en-US"/>
              <a:t>🔸 Exemple simple</a:t>
            </a:r>
          </a:p>
          <a:p>
            <a:r>
              <a:rPr lang="en-US"/>
              <a:t/>
            </a:r>
          </a:p>
          <a:p>
            <a:r>
              <a:rPr lang="en-US"/>
              <a:t>Dataset : 10 lignes</a:t>
            </a:r>
          </a:p>
          <a:p>
            <a:r>
              <a:rPr lang="en-US"/>
              <a:t/>
            </a:r>
          </a:p>
          <a:p>
            <a:r>
              <a:rPr lang="en-US"/>
              <a:t>On entraîne un arbre avec bootstrap :</a:t>
            </a:r>
          </a:p>
          <a:p>
            <a:r>
              <a:rPr lang="en-US"/>
              <a:t/>
            </a:r>
          </a:p>
          <a:p>
            <a:r>
              <a:rPr lang="en-US"/>
              <a:t>l’arbre voit seulement 7 lignes</a:t>
            </a:r>
          </a:p>
          <a:p>
            <a:r>
              <a:rPr lang="en-US"/>
              <a:t>les 3 autres lignes ne sont pas utilisées</a:t>
            </a:r>
          </a:p>
          <a:p>
            <a:r>
              <a:rPr lang="en-US"/>
              <a:t/>
            </a:r>
          </a:p>
          <a:p>
            <a:r>
              <a:rPr lang="en-US"/>
              <a:t>👉 ces 3 lignes = OOB pour cet arbre</a:t>
            </a:r>
          </a:p>
          <a:p>
            <a:r>
              <a:rPr lang="en-US"/>
              <a:t/>
            </a:r>
          </a:p>
          <a:p>
            <a:r>
              <a:rPr lang="en-US"/>
              <a:t/>
            </a:r>
          </a:p>
          <a:p>
            <a:r>
              <a:rPr lang="en-US"/>
              <a:t>Pour une ligne OOB :</a:t>
            </a:r>
          </a:p>
          <a:p>
            <a:r>
              <a:rPr lang="en-US"/>
              <a:t/>
            </a:r>
          </a:p>
          <a:p>
            <a:r>
              <a:rPr lang="en-US"/>
              <a:t>vraie classe	       prédiction</a:t>
            </a:r>
          </a:p>
          <a:p>
            <a:r>
              <a:rPr lang="en-US"/>
              <a:t>1	                         1 ✔</a:t>
            </a:r>
          </a:p>
          <a:p>
            <a:r>
              <a:rPr lang="en-US"/>
              <a:t>0	                         1 ❌</a:t>
            </a:r>
          </a:p>
          <a:p>
            <a:r>
              <a:rPr lang="en-US"/>
              <a:t>1	                         1 ✔</a:t>
            </a:r>
          </a:p>
          <a:p>
            <a:r>
              <a:rPr lang="en-US"/>
              <a:t/>
            </a:r>
          </a:p>
          <a:p>
            <a:r>
              <a:rPr lang="en-US"/>
              <a:t>👉 2 bonnes prédictions sur 3</a:t>
            </a:r>
          </a:p>
          <a:p>
            <a:r>
              <a:rPr lang="en-US"/>
              <a:t/>
            </a:r>
          </a:p>
          <a:p>
            <a:r>
              <a:rPr lang="en-US"/>
              <a:t>➡️ OOB score = 2/3 = 0.66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validation croisée consiste à découper le dataset en plusieurs parties et à entraîner le modèle plusieurs fois, ce qui demande beaucoup de calculs.</a:t>
            </a:r>
          </a:p>
          <a:p>
            <a:r>
              <a:rPr lang="en-US"/>
              <a:t/>
            </a:r>
          </a:p>
          <a:p>
            <a:r>
              <a:rPr lang="en-US"/>
              <a:t>À la place,  Random Forest utilise le bootstrap. Chaque arbre est entraîné sur un échantillon tiré avec remise, ce qui signifie qu’il ne voit pas environ 37% des données.</a:t>
            </a:r>
          </a:p>
          <a:p>
            <a:r>
              <a:rPr lang="en-US"/>
              <a:t>Ces données non utilisées sont appelées OOB, et elles servent directement de validation interne.</a:t>
            </a:r>
          </a:p>
          <a:p>
            <a:r>
              <a:rPr lang="en-US"/>
              <a:t/>
            </a:r>
          </a:p>
          <a:p>
            <a:r>
              <a:rPr lang="en-US"/>
              <a:t/>
            </a:r>
          </a:p>
          <a:p>
            <a:r>
              <a:rPr lang="en-US"/>
              <a:t>CROSS-VALIDATION:</a:t>
            </a:r>
          </a:p>
          <a:p>
            <a:r>
              <a:rPr lang="en-US"/>
              <a:t>On split d’abord le dataset total en train (ex: 75%) et test (25%).</a:t>
            </a:r>
          </a:p>
          <a:p>
            <a:r>
              <a:rPr lang="en-US"/>
              <a:t/>
            </a:r>
          </a:p>
          <a:p>
            <a:r>
              <a:rPr lang="en-US"/>
              <a:t>Puis, sur le train set uniquement, on applique la validation croisée à k folds :</a:t>
            </a:r>
          </a:p>
          <a:p>
            <a:r>
              <a:rPr lang="en-US"/>
              <a:t/>
            </a:r>
          </a:p>
          <a:p>
            <a:r>
              <a:rPr lang="en-US"/>
              <a:t>On divise le train set en k sous-ensembles (folds) de taille égale.</a:t>
            </a:r>
          </a:p>
          <a:p>
            <a:r>
              <a:rPr lang="en-US"/>
              <a:t/>
            </a:r>
          </a:p>
          <a:p>
            <a:r>
              <a:rPr lang="en-US"/>
              <a:t>À chaque itération, on prend k-1 folds pour entraîner le modèle, et 1 fold pour valider.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schéma illustre le fonctionnement complet  bootstrap et OOB dans une forêt aléatoire.</a:t>
            </a:r>
          </a:p>
          <a:p>
            <a:r>
              <a:rPr lang="en-US"/>
              <a:t>À partir du dataset initial, on génère plusieurs échantillons bootstrap avec remise. Chaque échantillon contient environ 63% d’observations uniques.</a:t>
            </a:r>
          </a:p>
          <a:p>
            <a:r>
              <a:rPr lang="en-US"/>
              <a:t>Et entraîne un arbre différent, (ce qui crée une diversité dans le modèle.)</a:t>
            </a:r>
          </a:p>
          <a:p>
            <a:r>
              <a:rPr lang="en-US"/>
              <a:t/>
            </a:r>
          </a:p>
          <a:p>
            <a:r>
              <a:rPr lang="en-US"/>
              <a:t>Les 37% d’observations restantes, ne sont pas utilisées pour entraîner cet arbre et servent donc de validation interne.</a:t>
            </a:r>
          </a:p>
          <a:p>
            <a:r>
              <a:rPr lang="en-US"/>
              <a:t/>
            </a:r>
          </a:p>
          <a:p>
            <a:r>
              <a:rPr lang="en-US"/>
              <a:t>En agrégeant les prédictions de tous les arbres, on obtient une prédiction finale, et l’OOB score permet d’estimer la performance du modèle sans avoir besoin de dataset de validation séparé.</a:t>
            </a:r>
          </a:p>
          <a:p>
            <a:r>
              <a:rPr lang="en-US"/>
              <a:t/>
            </a:r>
          </a:p>
          <a:p>
            <a:r>
              <a:rPr lang="en-US"/>
              <a:t>Random Forest a une performance d’environ :</a:t>
            </a:r>
          </a:p>
          <a:p>
            <a:r>
              <a:rPr lang="en-US"/>
              <a:t/>
            </a:r>
          </a:p>
          <a:p>
            <a:r>
              <a:rPr lang="en-US"/>
              <a:t>75.6% de bonnes prédictions sur les données Out-Of-Bag (non vues pendant l’entraînement des arbres).</a:t>
            </a:r>
          </a:p>
          <a:p>
            <a:r>
              <a:rPr lang="en-US"/>
              <a:t/>
            </a:r>
          </a:p>
          <a:p>
            <a:r>
              <a:rPr lang="en-US"/>
              <a:t>0.756 = ton modèle généralise correctement mais il reste améliorable</a:t>
            </a:r>
          </a:p>
          <a:p>
            <a:r>
              <a:rPr lang="en-US"/>
              <a:t/>
            </a:r>
          </a:p>
          <a:p>
            <a:r>
              <a:rPr lang="en-US"/>
              <a:t/>
            </a:r>
          </a:p>
          <a:p>
            <a:r>
              <a:rPr lang="en-US"/>
              <a:t>(Le OOB score (Out-Of-Bag) est une méthode d’évaluation interne car il permet d’estimer la performance du modèle sans utiliser de jeu de validation externe.)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veut savoir :Quelles variables sont les plus importantes pour prédire le résultat ?</a:t>
            </a:r>
          </a:p>
          <a:p>
            <a:r>
              <a:rPr lang="en-US"/>
              <a:t/>
            </a:r>
          </a:p>
          <a:p>
            <a:r>
              <a:rPr lang="en-US"/>
              <a:t>Le principe est le suivant...</a:t>
            </a:r>
          </a:p>
          <a:p>
            <a:r>
              <a:rPr lang="en-US"/>
              <a:t/>
            </a:r>
          </a:p>
          <a:p>
            <a:r>
              <a:rPr lang="en-US"/>
              <a:t>Dans chaque arbre :</a:t>
            </a:r>
          </a:p>
          <a:p>
            <a:r>
              <a:rPr lang="en-US"/>
              <a:t>on mesure combien une variable réduit le “désordre” (impureté Gini)</a:t>
            </a:r>
          </a:p>
          <a:p>
            <a:r>
              <a:rPr lang="en-US"/>
              <a:t>c'est le Delta Gini qui est égal au Gini du nœud avant la séparation, moins le Gini des deux sous-groupes après la séparation, pondérés par leur taille.</a:t>
            </a:r>
          </a:p>
          <a:p>
            <a:r>
              <a:rPr lang="en-US"/>
              <a:t/>
            </a:r>
          </a:p>
          <a:p>
            <a:r>
              <a:rPr lang="en-US"/>
              <a:t>Autrement dit, on calcule combien une variable permet de réduire le désordre des données après une séparation.</a:t>
            </a:r>
          </a:p>
          <a:p>
            <a:r>
              <a:rPr lang="en-US"/>
              <a:t>Plus cette réduction est grande, plus la variable est importante.</a:t>
            </a:r>
          </a:p>
          <a:p>
            <a:r>
              <a:rPr lang="en-US"/>
              <a:t/>
            </a:r>
          </a:p>
          <a:p>
            <a:r>
              <a:rPr lang="en-US"/>
              <a:t>Ce calcul est répété pour tous les arbres de la forêt.</a:t>
            </a:r>
          </a:p>
          <a:p>
            <a:r>
              <a:rPr lang="en-US"/>
              <a:t>Ensuite, on additionne toutes les contributions et on normalise les résultats.</a:t>
            </a:r>
          </a:p>
          <a:p>
            <a:r>
              <a:rPr lang="en-US"/>
              <a:t/>
            </a:r>
          </a:p>
          <a:p>
            <a:r>
              <a:rPr lang="en-US"/>
              <a:t>(Au final, on obtient un score d’importance pour chaque variable, compris entre 0 et 1, avec une somme totale égale à 1.)</a:t>
            </a:r>
          </a:p>
          <a:p>
            <a:r>
              <a:rPr lang="en-US"/>
              <a:t/>
            </a:r>
          </a:p>
          <a:p>
            <a:r>
              <a:rPr lang="en-US"/>
              <a:t/>
            </a:r>
          </a:p>
          <a:p>
            <a:r>
              <a:rPr lang="en-US"/>
              <a:t/>
            </a:r>
          </a:p>
          <a:p>
            <a:r>
              <a:rPr lang="en-US"/>
              <a:t>***Gini(t) représente le désordre avant la séparation, au niveau du nœud parent</a:t>
            </a:r>
          </a:p>
          <a:p>
            <a:r>
              <a:rPr lang="en-US"/>
              <a:t>***Gini(gauche) et Gini(droite) représentent le désordre après la séparation</a:t>
            </a:r>
          </a:p>
          <a:p>
            <a:r>
              <a:rPr lang="en-US"/>
              <a:t>***Ng/Nt et Nd/Nt indiquent la proportion de données dans chaque sous-groupe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graphique présente les importances des variables dans la prédiction du diabète avec Random Forest sur notre dataset</a:t>
            </a:r>
          </a:p>
          <a:p>
            <a:r>
              <a:rPr lang="en-US"/>
              <a:t/>
            </a:r>
          </a:p>
          <a:p>
            <a:r>
              <a:rPr lang="en-US"/>
              <a:t>Ainsi, on remarque que le glucose est la variable la plus influente avec environ 23%, suivi de l’insuline et du BMI.</a:t>
            </a:r>
          </a:p>
          <a:p>
            <a:r>
              <a:rPr lang="en-US"/>
              <a:t/>
            </a:r>
          </a:p>
          <a:p>
            <a:r>
              <a:rPr lang="en-US"/>
              <a:t>À l’inverse, des variables comme la pression artérielle ou le nombre de grossesses ont un impact plus faible sur la prédiction.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maintenant on passe à la comparaison d'une forét aléatoire par rapport à un arbre de décision unique.</a:t>
            </a:r>
          </a:p>
          <a:p>
            <a:r>
              <a:rPr lang="en-US"/>
              <a:t/>
            </a:r>
          </a:p>
          <a:p>
            <a:r>
              <a:rPr lang="en-US"/>
              <a:t>Lorsque on compare les performance des 2 modèles , on observe que l’arbre de décision seul obtient  0.68  d'accracy et un rappel de 0.63, tandis que Random Forest avec 100 arbres atteint  0.72 d'accracy et un rappel de 0.69 .</a:t>
            </a:r>
          </a:p>
          <a:p>
            <a:r>
              <a:rPr lang="en-US"/>
              <a:t/>
            </a:r>
          </a:p>
          <a:p>
            <a:r>
              <a:rPr lang="en-US"/>
              <a:t>Cette amélioration s’explique par le fait que Random Forest combine plusieurs arbres entraînés sur des données différentes. Grâce au vote majoritaire, les erreurs individuelles des arbres se compensent, ce qui réduit la variance et améliore la performance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Dans le domaine de la santé, on s’intéresse principalement  au rappel .</a:t>
            </a:r>
          </a:p>
          <a:p>
            <a:r>
              <a:rPr lang="en-US"/>
              <a:t/>
            </a:r>
          </a:p>
          <a:p>
            <a:r>
              <a:rPr lang="en-US"/>
              <a:t>L’accuracy mesure la proportion globale de bonnes prédictions, c’est-à-dire les malades et les non malades correctement identifiés.</a:t>
            </a:r>
          </a:p>
          <a:p>
            <a:r>
              <a:rPr lang="en-US"/>
              <a:t/>
            </a:r>
          </a:p>
          <a:p>
            <a:r>
              <a:rPr lang="en-US"/>
              <a:t>Le rappel se concentre uniquement sur les patients malades. Il mesure la capacité du modèle à détecter les vrais cas positifs</a:t>
            </a:r>
          </a:p>
          <a:p>
            <a:r>
              <a:rPr lang="en-US"/>
              <a:t/>
            </a:r>
          </a:p>
          <a:p>
            <a:r>
              <a:rPr lang="en-US"/>
              <a:t>Le problème en santé, ce sont les faux négatifs, c’est-à-dire les patients malades que le modèle ne détecte pas.</a:t>
            </a:r>
          </a:p>
          <a:p>
            <a:r>
              <a:rPr lang="en-US"/>
              <a:t/>
            </a:r>
          </a:p>
          <a:p>
            <a:r>
              <a:rPr lang="en-US"/>
              <a:t>Ces cas sont critiques, car ils peuvent entraîner un retard de diagnostic ou de traitement.</a:t>
            </a:r>
          </a:p>
          <a:p>
            <a:r>
              <a:rPr lang="en-US"/>
              <a:t/>
            </a:r>
          </a:p>
          <a:p>
            <a:r>
              <a:rPr lang="en-US"/>
              <a:t>C’est pourquoi on cherche à maximiser le rappel, afin de minimiser ces faux négatifs et détecter un maximum de patients malades.</a:t>
            </a:r>
          </a:p>
          <a:p>
            <a:r>
              <a:rPr lang="en-US"/>
              <a:t/>
            </a:r>
          </a:p>
          <a:p>
            <a:r>
              <a:rPr lang="en-US"/>
              <a:t>car il est essentiel de détecter un maximum de patients malades. Un faible rappel signifie qu’on risque de ne pas identifier certains cas positifs, ce qui peut avoir des conséquences graves.</a:t>
            </a:r>
          </a:p>
          <a:p>
            <a:r>
              <a:rPr lang="en-US"/>
              <a:t/>
            </a:r>
          </a:p>
          <a:p>
            <a:r>
              <a:rPr lang="en-US"/>
              <a:t>(L’accuracy favorise la classe majoritaire (non‑diabétiques) et peut masquer un mauvais dépistage des diabétiques.)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Maintenant on a compris comment fonctionne la Random Forest et comment elle s'évalue, on va s'intéresser à une question très importante : comment  peut on  l'améliorer ?</a:t>
            </a:r>
          </a:p>
          <a:p>
            <a:r>
              <a:rPr lang="en-US"/>
              <a:t> </a:t>
            </a:r>
          </a:p>
          <a:p>
            <a:r>
              <a:rPr lang="en-US"/>
              <a:t>C'est ce qu'on appelle l'optimisation des hyperparamètres.</a:t>
            </a:r>
          </a:p>
          <a:p>
            <a:r>
              <a:rPr lang="en-US"/>
              <a:t/>
            </a:r>
          </a:p>
          <a:p>
            <a:r>
              <a:rPr lang="en-US"/>
              <a:t>Un hyperparamètre, c’est simplement un réglage qu’on choisit avant d’entraîner le modèle. il n’est pas appris automatiquement : c’est à nous de le choisir. Et ces choix sont très importants, parce qu’ils peuvent changer beaucoup les résultats.</a:t>
            </a:r>
          </a:p>
          <a:p>
            <a:r>
              <a:rPr lang="en-US"/>
              <a:t/>
            </a:r>
          </a:p>
          <a:p>
            <a:r>
              <a:rPr lang="en-US"/>
              <a:t>Dans cette partie, on va étudier quatre hyperparamètres principaux : n_estimators, max_depth, max_features et oob_score. On va voir c'est quoi, à quoi ça sert, et quelles valeurs sont les meilleures sur notre dataset Pima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D'abord il faut comprendre l'objectif de l'optimisation.</a:t>
            </a:r>
          </a:p>
          <a:p>
            <a:r>
              <a:rPr lang="en-US"/>
              <a:t/>
            </a:r>
          </a:p>
          <a:p>
            <a:r>
              <a:rPr lang="en-US"/>
              <a:t>On optimise Tout simplement pour éviter deux problèmes majeurs :</a:t>
            </a:r>
          </a:p>
          <a:p>
            <a:r>
              <a:rPr lang="en-US"/>
              <a:t/>
            </a:r>
          </a:p>
          <a:p>
            <a:r>
              <a:rPr lang="en-US"/>
              <a:t>***le sous-apprentissage, lorsque le modèle est trop simple et ne capture pas bien les données,</a:t>
            </a:r>
          </a:p>
          <a:p>
            <a:r>
              <a:rPr lang="en-US"/>
              <a:t>***et le surapprentissage, lorsqu’il est trop complexe et mémorise le bruit au lieu de généraliser.</a:t>
            </a:r>
          </a:p>
          <a:p>
            <a:r>
              <a:rPr lang="en-US"/>
              <a:t/>
            </a:r>
          </a:p>
          <a:p>
            <a:r>
              <a:rPr lang="en-US"/>
              <a:t/>
            </a:r>
          </a:p>
          <a:p>
            <a:r>
              <a:rPr lang="en-US"/>
              <a:t>La Random Forest aide déjà à réduire la variance grâce à l’agrégation de plusieurs arbres, mais un bon réglage reste essentiel.</a:t>
            </a:r>
          </a:p>
          <a:p>
            <a:r>
              <a:rPr lang="en-US"/>
              <a:t/>
            </a:r>
          </a:p>
          <a:p>
            <a:r>
              <a:rPr lang="en-US"/>
              <a:t>Pour cela, on utilise oob_score, qui permet une validation interne sans avoir besoin de jeu de test supplémentaire.</a:t>
            </a:r>
          </a:p>
          <a:p>
            <a:r>
              <a:rPr lang="en-US"/>
              <a:t>Ensuite, on fait varier les hyperparamètres un par un :</a:t>
            </a:r>
          </a:p>
          <a:p>
            <a:r>
              <a:rPr lang="en-US"/>
              <a:t/>
            </a:r>
          </a:p>
          <a:p>
            <a:r>
              <a:rPr lang="en-US"/>
              <a:t>n_estimators pour observer la convergence du modèle,</a:t>
            </a:r>
          </a:p>
          <a:p>
            <a:r>
              <a:rPr lang="en-US"/>
              <a:t>max_depth pour détecter le surapprentissage via les courbes train/test.</a:t>
            </a:r>
          </a:p>
          <a:p>
            <a:r>
              <a:rPr lang="en-US"/>
              <a:t/>
            </a:r>
          </a:p>
          <a:p>
            <a:r>
              <a:rPr lang="en-US"/>
              <a:t>Enfin, on choisit les valeurs qui offrent le meilleur compromis entre performance et généralisation.</a:t>
            </a:r>
          </a:p>
          <a:p>
            <a:r>
              <a:rPr lang="en-US"/>
              <a:t/>
            </a:r>
          </a:p>
          <a:p>
            <a:r>
              <a:rPr lang="en-US"/>
              <a:t>L’idée clé c'est que Plus de complexité ne signifie pas meilleur modèle.</a:t>
            </a:r>
          </a:p>
          <a:p>
            <a:r>
              <a:rPr lang="en-US"/>
              <a:t> L’optimisation consiste à trouver le compromis où le modèle généralise bien, ni trop simple, ni trop complexe.</a:t>
            </a:r>
          </a:p>
          <a:p>
            <a:r>
              <a:rPr lang="en-US"/>
              <a:t/>
            </a:r>
          </a:p>
          <a:p>
            <a:r>
              <a:rPr lang="en-US"/>
              <a:t>Les principaux leviers ici sont : n_estimators, max_depth, max_features et oob_score.</a:t>
            </a:r>
          </a:p>
          <a:p>
            <a:r>
              <a:rPr lang="en-US"/>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commence par le premier hyperparamètre : n_estimators. C'est tout simplement le nombre d'arbres dans la forêt.</a:t>
            </a:r>
          </a:p>
          <a:p>
            <a:r>
              <a:rPr lang="en-US"/>
              <a:t/>
            </a:r>
          </a:p>
          <a:p>
            <a:r>
              <a:rPr lang="en-US"/>
              <a:t>Par défaut dans sklearn, il est fixé à 100.</a:t>
            </a:r>
          </a:p>
          <a:p>
            <a:r>
              <a:rPr lang="en-US"/>
              <a:t/>
            </a:r>
          </a:p>
          <a:p>
            <a:r>
              <a:rPr lang="en-US"/>
              <a:t>l'idée cle : augmenter le nombre d'arbres ne fait PAS surapprendre le modèle. Ici, on réduit juste la variance. </a:t>
            </a:r>
          </a:p>
          <a:p>
            <a:r>
              <a:rPr lang="en-US"/>
              <a:t/>
            </a:r>
          </a:p>
          <a:p>
            <a:r>
              <a:rPr lang="en-US"/>
              <a:t>Le seul inconvénient, c'est le temps de calcul : plus d'arbres = plus long à entraîner.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Sur notre dataset Pima, on a testé différentes valeurs de n_estimators, de 10 jusqu'à 500, et on a regardé l'OOB Error .</a:t>
            </a:r>
          </a:p>
          <a:p>
            <a:r>
              <a:rPr lang="en-US"/>
              <a:t/>
            </a:r>
          </a:p>
          <a:p>
            <a:r>
              <a:rPr lang="en-US"/>
              <a:t>Le graphique montre que l’erreur OOB diminue fortement lorsque le nombre d’arbres augmente de 10 à 60, ce qui traduit une amélioration des performances du modèle.</a:t>
            </a:r>
          </a:p>
          <a:p>
            <a:r>
              <a:rPr lang="en-US"/>
              <a:t>Au-delà de cette valeur, l’erreur se stabilise autour de 0.248,avec de légères fluctuations dues au caractère aléatoire du Random Forest</a:t>
            </a:r>
          </a:p>
          <a:p>
            <a:r>
              <a:rPr lang="en-US"/>
              <a:t>cela indique que l’ajout d’arbres supplémentaires n’apporte plus d’amélioration significative.</a:t>
            </a:r>
          </a:p>
          <a:p>
            <a:r>
              <a:rPr lang="en-US"/>
              <a:t>d'ou un choix de 100 arbres constitue donc un bon compromis entre précision et temps de calcul.</a:t>
            </a:r>
          </a:p>
          <a:p>
            <a:r>
              <a:rPr lang="en-US"/>
              <a:t/>
            </a:r>
          </a:p>
          <a:p>
            <a:r>
              <a:rPr lang="en-US"/>
              <a:t/>
            </a:r>
          </a:p>
          <a:p>
            <a:r>
              <a:rPr lang="en-US"/>
              <a:t>Ajouter plus d’arbres augmente le temps de calcul, mais n’apporte presque aucun gain.</a:t>
            </a:r>
          </a:p>
          <a:p>
            <a:r>
              <a:rPr lang="en-US"/>
              <a:t/>
            </a:r>
          </a:p>
          <a:p>
            <a:r>
              <a:rPr lang="en-US"/>
              <a:t>Donc pour notre dataset Pima, le meilleur choix est n_estimators = 100.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paramètre max_depth définit la profondeur maximale de chaque arbre dans la Random Forest.</a:t>
            </a:r>
          </a:p>
          <a:p>
            <a:r>
              <a:rPr lang="en-US"/>
              <a:t>Il permet de contrôler la complexité des arbres et limite le nombre de divisions effectuées pendant l’apprentissage.</a:t>
            </a:r>
          </a:p>
          <a:p>
            <a:r>
              <a:rPr lang="en-US"/>
              <a:t/>
            </a:r>
          </a:p>
          <a:p>
            <a:r>
              <a:rPr lang="en-US"/>
              <a:t>Quand la profondeur est grande, les arbres deviennent très complexes. Ils s’adaptent très bien aux données d’entraînement, mais peuvent trop les mémoriser. Dans ce cas, le modèle devient moins performant sur de nouvelles données : c’est le surapprentissage.</a:t>
            </a:r>
          </a:p>
          <a:p>
            <a:r>
              <a:rPr lang="en-US"/>
              <a:t/>
            </a:r>
          </a:p>
          <a:p>
            <a:r>
              <a:rPr lang="en-US"/>
              <a:t>À l’inverse, quand la profondeur est faible, les arbres sont plus simples. Le modèle généralise mieux, mais s’il est trop limité, il peut ne pas apprendre suffisamment les relations dans les données : c’est le sous-apprentissage.</a:t>
            </a:r>
          </a:p>
          <a:p>
            <a:r>
              <a:rPr lang="en-US"/>
              <a:t/>
            </a:r>
          </a:p>
          <a:p>
            <a:r>
              <a:rPr lang="en-US"/>
              <a:t>Donc, max_depth agit directement sur le compromis biais/variance :</a:t>
            </a:r>
          </a:p>
          <a:p>
            <a:r>
              <a:rPr lang="en-US"/>
              <a:t/>
            </a:r>
          </a:p>
          <a:p>
            <a:r>
              <a:rPr lang="en-US"/>
              <a:t>profondeur trop grande → variance élevée (overfitting)</a:t>
            </a:r>
          </a:p>
          <a:p>
            <a:r>
              <a:rPr lang="en-US"/>
              <a:t>profondeur trop petite → biais élevé (underfitting)</a:t>
            </a:r>
          </a:p>
          <a:p>
            <a:r>
              <a:rPr lang="en-US"/>
              <a:t/>
            </a:r>
          </a:p>
          <a:p>
            <a:r>
              <a:rPr lang="en-US"/>
              <a:t>L’objectif est donc de trouver une valeur qui équilibre bien les deux, pour obtenir un modèle à la fois stable et performant.</a:t>
            </a:r>
          </a:p>
          <a:p>
            <a:r>
              <a:rPr lang="en-US"/>
              <a:t/>
            </a:r>
          </a:p>
          <a:p>
            <a:r>
              <a:rPr lang="en-US"/>
              <a:t/>
            </a:r>
          </a:p>
          <a:p>
            <a:r>
              <a:rPr lang="en-US"/>
              <a:t/>
            </a:r>
          </a:p>
          <a:p>
            <a:r>
              <a:rPr lang="en-US"/>
              <a:t/>
            </a:r>
          </a:p>
          <a:p>
            <a:r>
              <a:rPr lang="en-US"/>
              <a:t/>
            </a:r>
          </a:p>
          <a:p>
            <a:r>
              <a:rPr lang="en-US"/>
              <a:t/>
            </a:r>
          </a:p>
          <a:p>
            <a:r>
              <a:rPr lang="en-US"/>
              <a:t>COMMENT SAVOIR LA VALEUR OPTIMAL DE MAX_DEPTH</a:t>
            </a:r>
          </a:p>
          <a:p>
            <a:r>
              <a:rPr lang="en-US"/>
              <a:t>1. Méthode principale : Validation croisée (Cross-validation)</a:t>
            </a:r>
          </a:p>
          <a:p>
            <a:r>
              <a:rPr lang="en-US"/>
              <a:t/>
            </a:r>
          </a:p>
          <a:p>
            <a:r>
              <a:rPr lang="en-US"/>
              <a:t/>
            </a:r>
          </a:p>
          <a:p>
            <a:r>
              <a:rPr lang="en-US"/>
              <a:t>Tu testes plusieurs valeurs de max_depth :</a:t>
            </a:r>
          </a:p>
          <a:p>
            <a:r>
              <a:rPr lang="en-US"/>
              <a:t/>
            </a:r>
          </a:p>
          <a:p>
            <a:r>
              <a:rPr lang="en-US"/>
              <a:t>Exemple :</a:t>
            </a:r>
          </a:p>
          <a:p>
            <a:r>
              <a:rPr lang="en-US"/>
              <a:t/>
            </a:r>
          </a:p>
          <a:p>
            <a:r>
              <a:rPr lang="en-US"/>
              <a:t>3, 5, 10, 15, 20, None</a:t>
            </a:r>
          </a:p>
          <a:p>
            <a:r>
              <a:rPr lang="en-US"/>
              <a:t/>
            </a:r>
          </a:p>
          <a:p>
            <a:r>
              <a:rPr lang="en-US"/>
              <a:t>Puis :</a:t>
            </a:r>
          </a:p>
          <a:p>
            <a:r>
              <a:rPr lang="en-US"/>
              <a:t/>
            </a:r>
          </a:p>
          <a:p>
            <a:r>
              <a:rPr lang="en-US"/>
              <a:t>tu entraînes le modèle pour chaque valeur</a:t>
            </a:r>
          </a:p>
          <a:p>
            <a:r>
              <a:rPr lang="en-US"/>
              <a:t>tu compares les performances (accuracy, F1-score…)</a:t>
            </a:r>
          </a:p>
          <a:p>
            <a:r>
              <a:rPr lang="en-US"/>
              <a:t/>
            </a:r>
          </a:p>
          <a:p>
            <a:r>
              <a:rPr lang="en-US"/>
              <a:t>👉 tu choisis celle qui donne le meilleur résultat sur les données de validation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Sur le dataset Pima, on observe les résultats suivants :</a:t>
            </a:r>
          </a:p>
          <a:p>
            <a:r>
              <a:rPr lang="en-US"/>
              <a:t/>
            </a:r>
          </a:p>
          <a:p>
            <a:r>
              <a:rPr lang="en-US"/>
              <a:t>Ce graphique montre l’impact du paramètre max_depth sur le rappel (recall) pour la classe diabétique.</a:t>
            </a:r>
          </a:p>
          <a:p>
            <a:r>
              <a:rPr lang="en-US"/>
              <a:t/>
            </a:r>
          </a:p>
          <a:p>
            <a:r>
              <a:rPr lang="en-US"/>
              <a:t>Pour max_depth = 3, on observe que le rappel est relativement faible : environ 0.59 sur le train et 0.49 sur le test.</a:t>
            </a:r>
          </a:p>
          <a:p>
            <a:r>
              <a:rPr lang="en-US"/>
              <a:t>Cela signifie que le modèle est trop simple et n’arrive pas à bien capturer les relations dans les données.</a:t>
            </a:r>
          </a:p>
          <a:p>
            <a:r>
              <a:rPr lang="en-US"/>
              <a:t>On est donc dans un cas de sous-apprentissage (underfitting)</a:t>
            </a:r>
          </a:p>
          <a:p>
            <a:r>
              <a:rPr lang="en-US"/>
              <a:t/>
            </a:r>
          </a:p>
          <a:p>
            <a:r>
              <a:rPr lang="en-US"/>
              <a:t>-&gt; Le modèle ne détecte pas suffisamment bien les cas diabétiques.</a:t>
            </a:r>
          </a:p>
          <a:p>
            <a:r>
              <a:rPr lang="en-US"/>
              <a:t>Conclusion : max_depth = 3 n’est pas suffisant, il faut augmenter la profondeur pour améliorer la performance</a:t>
            </a:r>
          </a:p>
          <a:p>
            <a:r>
              <a:rPr lang="en-US"/>
              <a:t/>
            </a:r>
          </a:p>
          <a:p>
            <a:r>
              <a:rPr lang="en-US"/>
              <a:t>On observe que lorsque la profondeur augmente, le rappel sur les données d’entraînement passe de 0.59 à 1. Cela signifie que le modèle apprend de mieux en mieux les données d’entraînement.</a:t>
            </a:r>
          </a:p>
          <a:p>
            <a:r>
              <a:rPr lang="en-US"/>
              <a:t/>
            </a:r>
          </a:p>
          <a:p>
            <a:r>
              <a:rPr lang="en-US"/>
              <a:t>Cependant, du côté des données de test, le rappel n’augmente que légèrement (de 0.49 à environ 0.55) puis se stabilise.</a:t>
            </a:r>
          </a:p>
          <a:p>
            <a:r>
              <a:rPr lang="en-US"/>
              <a:t/>
            </a:r>
          </a:p>
          <a:p>
            <a:r>
              <a:rPr lang="en-US"/>
              <a:t>-&gt; Cela indique clairement un phénomène de surapprentissage :</a:t>
            </a:r>
          </a:p>
          <a:p>
            <a:r>
              <a:rPr lang="en-US"/>
              <a:t>le modèle devient très performant sur les données d’entraînement, mais n’améliore pas réellement sa capacité à généraliser sur des données nouvelles.</a:t>
            </a:r>
          </a:p>
          <a:p>
            <a:r>
              <a:rPr lang="en-US"/>
              <a:t/>
            </a:r>
          </a:p>
          <a:p>
            <a:r>
              <a:rPr lang="en-US"/>
              <a:t>À partir de max_depth = 10, le rappel train est parfait (1.0), mais le test n’évolue plus → donc augmenter la profondeur ne sert plus.</a:t>
            </a:r>
          </a:p>
          <a:p>
            <a:r>
              <a:rPr lang="en-US"/>
              <a:t/>
            </a:r>
          </a:p>
          <a:p>
            <a:r>
              <a:rPr lang="en-US"/>
              <a:t>-&gt; Le meilleur compromis semble autour de max_depth = 5 ou 10, où on améliore le modèle sans trop de surapprentissage.</a:t>
            </a:r>
          </a:p>
          <a:p>
            <a:r>
              <a:rPr lang="en-US"/>
              <a:t/>
            </a:r>
          </a:p>
          <a:p>
            <a:r>
              <a:rPr lang="en-US"/>
              <a:t>-&gt; Conclusion : augmenter la complexité améliore l’apprentissage, mais au-delà d’un certain seuil, cela dégrade la généralisation.”**</a:t>
            </a:r>
          </a:p>
          <a:p>
            <a:r>
              <a:rPr lang="en-US"/>
              <a:t/>
            </a:r>
          </a:p>
          <a:p>
            <a:r>
              <a:rPr lang="en-US"/>
              <a:t/>
            </a:r>
          </a:p>
          <a:p>
            <a:r>
              <a:rPr lang="en-US"/>
              <a:t/>
            </a:r>
          </a:p>
          <a:p>
            <a:r>
              <a:rPr lang="en-US"/>
              <a:t/>
            </a:r>
          </a:p>
          <a:p>
            <a:r>
              <a:rPr lang="en-US"/>
              <a:t>max_depth=5 veut dire qu'on peut poser au maximum 5 questions successives avant d'arriver à une feuille (décision finale)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paramètre max_features correspond au nombre de variables que l’algorithme teste à chaque split dans un arbre.</a:t>
            </a:r>
          </a:p>
          <a:p>
            <a:r>
              <a:rPr lang="en-US"/>
              <a:t/>
            </a:r>
          </a:p>
          <a:p>
            <a:r>
              <a:rPr lang="en-US"/>
              <a:t>Sur le dataset Pima, nous avons comparé deux valeurs : sqrt et log2.</a:t>
            </a:r>
          </a:p>
          <a:p>
            <a:r>
              <a:rPr lang="en-US"/>
              <a:t/>
            </a:r>
          </a:p>
          <a:p>
            <a:r>
              <a:rPr lang="en-US"/>
              <a:t>Avec sqrt, le modèle considère seulement 2 variables à chaque split, et on obtient un recall de 0.5522.</a:t>
            </a:r>
          </a:p>
          <a:p>
            <a:r>
              <a:rPr lang="en-US"/>
              <a:t>Avec log2, il considère  3 variables, et le recall augmente à 0.5672.</a:t>
            </a:r>
          </a:p>
          <a:p>
            <a:r>
              <a:rPr lang="en-US"/>
              <a:t>Cela signifie que lorsque le modèle a accès à plus de variables à chaque décision, il arrive mieux à détecter les cas positifs (diabétiques).</a:t>
            </a:r>
          </a:p>
          <a:p>
            <a:r>
              <a:rPr lang="en-US"/>
              <a:t/>
            </a:r>
          </a:p>
          <a:p>
            <a:r>
              <a:rPr lang="en-US"/>
              <a:t>Conclusion : Même si sqrt est légèrement plus simple, la différence de complexité est faible, alors que le gain en performance, même modeste, est utile.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a un dernier hyperparamètre important à aborder : class_weight. Celui-là est un peu différent des autres, parce qu'il ne touche pas à la structure des arbres — il touche à l'équilibre entre les classes.</a:t>
            </a:r>
          </a:p>
          <a:p>
            <a:r>
              <a:rPr lang="en-US"/>
              <a:t/>
            </a:r>
          </a:p>
          <a:p>
            <a:r>
              <a:rPr lang="en-US"/>
              <a:t>Imaginez un dataset où 90% des observations appartiennent à la classe 0, et seulement 10% à la classe 1. Si on entraîne notre modèle sans rien faire, il va très vite apprendre à toujours prédire la classe 0, parce que c'est la réponse majoritaire. </a:t>
            </a:r>
          </a:p>
          <a:p>
            <a:r>
              <a:rPr lang="en-US"/>
              <a:t/>
            </a:r>
          </a:p>
          <a:p>
            <a:r>
              <a:rPr lang="en-US"/>
              <a:t>Dans notre dataset Pima, c'est exactement ce problème qu'on rencontre : il y a plus de personnes non diabétiques que diabétiques.</a:t>
            </a:r>
          </a:p>
          <a:p>
            <a:r>
              <a:rPr lang="en-US"/>
              <a:t>class_weight permet de corriger ça. </a:t>
            </a:r>
          </a:p>
          <a:p>
            <a:r>
              <a:rPr lang="en-US"/>
              <a:t/>
            </a:r>
          </a:p>
          <a:p>
            <a:r>
              <a:rPr lang="en-US"/>
              <a:t>On a trois options possibles. La première c'est None — c'est la valeur par défaut, toutes les classes ont le même poids. La deuxième c'est 'balanced' — sklearn calcule automatiquement les poids en fonction de la fréquence de chaque classe. Plus une classe est rare, plus son poids est élevé. Et la troisième option c'est un dictionnaire — on définit les poids manuellement selon notre propre jugement.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Pourquoi balanced n’a pas amélioré le rappel ?</a:t>
            </a:r>
          </a:p>
          <a:p>
            <a:r>
              <a:rPr lang="en-US"/>
              <a:t>1- Random Forest utilise le bootstrap, qui tire aléatoirement avec remise. Même avec déséquilibre, chaque bootstrap contient environ 35% de positifs.</a:t>
            </a:r>
          </a:p>
          <a:p>
            <a:r>
              <a:rPr lang="en-US"/>
              <a:t>2-Le critère Gini n’est pas très affecté par le déséquilibre Même avec des classes déséquilibrées, les splits peuvent être pertinents sans pondération.</a:t>
            </a:r>
          </a:p>
          <a:p>
            <a:r>
              <a:rPr lang="en-US"/>
              <a:t>3-Le déséquilibre n’est pas assez extrême 35% de positifs, c’est un déséquilibre modéré.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1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jpeg" Type="http://schemas.openxmlformats.org/officeDocument/2006/relationships/image"/><Relationship Id="rId4" Target="../media/image25.png" Type="http://schemas.openxmlformats.org/officeDocument/2006/relationships/image"/><Relationship Id="rId5" Target="../media/image1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jpeg" Type="http://schemas.openxmlformats.org/officeDocument/2006/relationships/image"/><Relationship Id="rId4" Target="../media/image2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jpeg" Type="http://schemas.openxmlformats.org/officeDocument/2006/relationships/image"/><Relationship Id="rId4" Target="../media/image2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15.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1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jpeg" Type="http://schemas.openxmlformats.org/officeDocument/2006/relationships/image"/><Relationship Id="rId4" Target="../media/image30.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1.jpeg" Type="http://schemas.openxmlformats.org/officeDocument/2006/relationships/image"/><Relationship Id="rId4" Target="../media/image3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 Id="rId5" Target="../media/image3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1.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1.jpeg" Type="http://schemas.openxmlformats.org/officeDocument/2006/relationships/image"/><Relationship Id="rId4" Target="../media/image3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1.jpe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587" cy="10312403"/>
            <a:chOff x="0" y="0"/>
            <a:chExt cx="472783" cy="13749871"/>
          </a:xfrm>
        </p:grpSpPr>
        <p:sp>
          <p:nvSpPr>
            <p:cNvPr name="Freeform 3" id="3"/>
            <p:cNvSpPr/>
            <p:nvPr/>
          </p:nvSpPr>
          <p:spPr>
            <a:xfrm flipH="false" flipV="false" rot="0">
              <a:off x="16891" y="16891"/>
              <a:ext cx="438912" cy="13715999"/>
            </a:xfrm>
            <a:custGeom>
              <a:avLst/>
              <a:gdLst/>
              <a:ahLst/>
              <a:cxnLst/>
              <a:rect r="r" b="b" t="t" l="l"/>
              <a:pathLst>
                <a:path h="13715999" w="438912">
                  <a:moveTo>
                    <a:pt x="0" y="0"/>
                  </a:moveTo>
                  <a:lnTo>
                    <a:pt x="438912" y="0"/>
                  </a:lnTo>
                  <a:lnTo>
                    <a:pt x="438912" y="13715999"/>
                  </a:lnTo>
                  <a:lnTo>
                    <a:pt x="0" y="13715999"/>
                  </a:lnTo>
                  <a:close/>
                </a:path>
              </a:pathLst>
            </a:custGeom>
            <a:solidFill>
              <a:srgbClr val="5B9E3D"/>
            </a:solidFill>
          </p:spPr>
        </p:sp>
        <p:sp>
          <p:nvSpPr>
            <p:cNvPr name="Freeform 4" id="4"/>
            <p:cNvSpPr/>
            <p:nvPr/>
          </p:nvSpPr>
          <p:spPr>
            <a:xfrm flipH="false" flipV="false" rot="0">
              <a:off x="0" y="0"/>
              <a:ext cx="472694" cy="13749782"/>
            </a:xfrm>
            <a:custGeom>
              <a:avLst/>
              <a:gdLst/>
              <a:ahLst/>
              <a:cxnLst/>
              <a:rect r="r" b="b" t="t" l="l"/>
              <a:pathLst>
                <a:path h="13749782" w="472694">
                  <a:moveTo>
                    <a:pt x="16891" y="0"/>
                  </a:moveTo>
                  <a:lnTo>
                    <a:pt x="455803" y="0"/>
                  </a:lnTo>
                  <a:cubicBezTo>
                    <a:pt x="465201" y="0"/>
                    <a:pt x="472694" y="7620"/>
                    <a:pt x="472694" y="16891"/>
                  </a:cubicBezTo>
                  <a:lnTo>
                    <a:pt x="472694" y="13732890"/>
                  </a:lnTo>
                  <a:cubicBezTo>
                    <a:pt x="472694" y="13742290"/>
                    <a:pt x="465074" y="13749782"/>
                    <a:pt x="455803"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5803" y="13716000"/>
                  </a:lnTo>
                  <a:lnTo>
                    <a:pt x="455803" y="13732890"/>
                  </a:lnTo>
                  <a:lnTo>
                    <a:pt x="438912" y="13732890"/>
                  </a:lnTo>
                  <a:lnTo>
                    <a:pt x="438912" y="16891"/>
                  </a:lnTo>
                  <a:lnTo>
                    <a:pt x="455803" y="16891"/>
                  </a:lnTo>
                  <a:lnTo>
                    <a:pt x="455803" y="33909"/>
                  </a:lnTo>
                  <a:lnTo>
                    <a:pt x="16891" y="33909"/>
                  </a:lnTo>
                  <a:close/>
                </a:path>
              </a:pathLst>
            </a:custGeom>
            <a:solidFill>
              <a:srgbClr val="5B9E3D"/>
            </a:solidFill>
          </p:spPr>
        </p:sp>
      </p:grpSp>
      <p:grpSp>
        <p:nvGrpSpPr>
          <p:cNvPr name="Group 5" id="5"/>
          <p:cNvGrpSpPr/>
          <p:nvPr/>
        </p:nvGrpSpPr>
        <p:grpSpPr>
          <a:xfrm rot="0">
            <a:off x="14983463" y="2882389"/>
            <a:ext cx="299723" cy="5146043"/>
            <a:chOff x="0" y="0"/>
            <a:chExt cx="399631" cy="6861391"/>
          </a:xfrm>
        </p:grpSpPr>
        <p:sp>
          <p:nvSpPr>
            <p:cNvPr name="Freeform 6" id="6"/>
            <p:cNvSpPr/>
            <p:nvPr/>
          </p:nvSpPr>
          <p:spPr>
            <a:xfrm flipH="false" flipV="false" rot="0">
              <a:off x="16891" y="16891"/>
              <a:ext cx="365760" cy="6827520"/>
            </a:xfrm>
            <a:custGeom>
              <a:avLst/>
              <a:gdLst/>
              <a:ahLst/>
              <a:cxnLst/>
              <a:rect r="r" b="b" t="t" l="l"/>
              <a:pathLst>
                <a:path h="6827520" w="365760">
                  <a:moveTo>
                    <a:pt x="0" y="0"/>
                  </a:moveTo>
                  <a:lnTo>
                    <a:pt x="365760" y="0"/>
                  </a:lnTo>
                  <a:lnTo>
                    <a:pt x="365760" y="6827520"/>
                  </a:lnTo>
                  <a:lnTo>
                    <a:pt x="0" y="6827520"/>
                  </a:lnTo>
                  <a:close/>
                </a:path>
              </a:pathLst>
            </a:custGeom>
            <a:solidFill>
              <a:srgbClr val="97BC62"/>
            </a:solidFill>
          </p:spPr>
        </p:sp>
        <p:sp>
          <p:nvSpPr>
            <p:cNvPr name="Freeform 7" id="7"/>
            <p:cNvSpPr/>
            <p:nvPr/>
          </p:nvSpPr>
          <p:spPr>
            <a:xfrm flipH="false" flipV="false" rot="0">
              <a:off x="0" y="0"/>
              <a:ext cx="399542" cy="6861301"/>
            </a:xfrm>
            <a:custGeom>
              <a:avLst/>
              <a:gdLst/>
              <a:ahLst/>
              <a:cxnLst/>
              <a:rect r="r" b="b" t="t" l="l"/>
              <a:pathLst>
                <a:path h="6861301" w="399542">
                  <a:moveTo>
                    <a:pt x="16891" y="0"/>
                  </a:moveTo>
                  <a:lnTo>
                    <a:pt x="382651" y="0"/>
                  </a:lnTo>
                  <a:cubicBezTo>
                    <a:pt x="392049" y="0"/>
                    <a:pt x="399542" y="7620"/>
                    <a:pt x="399542" y="16891"/>
                  </a:cubicBezTo>
                  <a:lnTo>
                    <a:pt x="399542" y="6844411"/>
                  </a:lnTo>
                  <a:cubicBezTo>
                    <a:pt x="399542" y="6853809"/>
                    <a:pt x="391922" y="6861301"/>
                    <a:pt x="382651" y="6861301"/>
                  </a:cubicBezTo>
                  <a:lnTo>
                    <a:pt x="16891" y="6861301"/>
                  </a:lnTo>
                  <a:cubicBezTo>
                    <a:pt x="7493" y="6861301"/>
                    <a:pt x="0" y="6853682"/>
                    <a:pt x="0" y="6844411"/>
                  </a:cubicBezTo>
                  <a:lnTo>
                    <a:pt x="0" y="16891"/>
                  </a:lnTo>
                  <a:cubicBezTo>
                    <a:pt x="0" y="7620"/>
                    <a:pt x="7620" y="0"/>
                    <a:pt x="16891" y="0"/>
                  </a:cubicBezTo>
                  <a:moveTo>
                    <a:pt x="16891" y="33909"/>
                  </a:moveTo>
                  <a:lnTo>
                    <a:pt x="16891" y="16891"/>
                  </a:lnTo>
                  <a:lnTo>
                    <a:pt x="33909" y="16891"/>
                  </a:lnTo>
                  <a:lnTo>
                    <a:pt x="33909" y="6844411"/>
                  </a:lnTo>
                  <a:lnTo>
                    <a:pt x="16891" y="6844411"/>
                  </a:lnTo>
                  <a:lnTo>
                    <a:pt x="16891" y="6827520"/>
                  </a:lnTo>
                  <a:lnTo>
                    <a:pt x="382651" y="6827520"/>
                  </a:lnTo>
                  <a:lnTo>
                    <a:pt x="382651" y="6844411"/>
                  </a:lnTo>
                  <a:lnTo>
                    <a:pt x="365760" y="6844411"/>
                  </a:lnTo>
                  <a:lnTo>
                    <a:pt x="365760" y="16891"/>
                  </a:lnTo>
                  <a:lnTo>
                    <a:pt x="382651" y="16891"/>
                  </a:lnTo>
                  <a:lnTo>
                    <a:pt x="382651" y="33909"/>
                  </a:lnTo>
                  <a:lnTo>
                    <a:pt x="16891" y="33909"/>
                  </a:lnTo>
                  <a:close/>
                </a:path>
              </a:pathLst>
            </a:custGeom>
            <a:solidFill>
              <a:srgbClr val="97BC62"/>
            </a:solidFill>
          </p:spPr>
        </p:sp>
      </p:grpSp>
      <p:grpSp>
        <p:nvGrpSpPr>
          <p:cNvPr name="Group 8" id="8"/>
          <p:cNvGrpSpPr/>
          <p:nvPr/>
        </p:nvGrpSpPr>
        <p:grpSpPr>
          <a:xfrm rot="0">
            <a:off x="13703303" y="2882389"/>
            <a:ext cx="2768603" cy="244859"/>
            <a:chOff x="0" y="0"/>
            <a:chExt cx="3691471" cy="326479"/>
          </a:xfrm>
        </p:grpSpPr>
        <p:sp>
          <p:nvSpPr>
            <p:cNvPr name="Freeform 9" id="9"/>
            <p:cNvSpPr/>
            <p:nvPr/>
          </p:nvSpPr>
          <p:spPr>
            <a:xfrm flipH="false" flipV="false" rot="0">
              <a:off x="16891" y="16891"/>
              <a:ext cx="3657600" cy="292608"/>
            </a:xfrm>
            <a:custGeom>
              <a:avLst/>
              <a:gdLst/>
              <a:ahLst/>
              <a:cxnLst/>
              <a:rect r="r" b="b" t="t" l="l"/>
              <a:pathLst>
                <a:path h="292608" w="3657600">
                  <a:moveTo>
                    <a:pt x="0" y="0"/>
                  </a:moveTo>
                  <a:lnTo>
                    <a:pt x="3657600" y="0"/>
                  </a:lnTo>
                  <a:lnTo>
                    <a:pt x="3657600" y="292608"/>
                  </a:lnTo>
                  <a:lnTo>
                    <a:pt x="0" y="292608"/>
                  </a:lnTo>
                  <a:close/>
                </a:path>
              </a:pathLst>
            </a:custGeom>
            <a:solidFill>
              <a:srgbClr val="97BC62"/>
            </a:solidFill>
          </p:spPr>
        </p:sp>
        <p:sp>
          <p:nvSpPr>
            <p:cNvPr name="Freeform 10" id="10"/>
            <p:cNvSpPr/>
            <p:nvPr/>
          </p:nvSpPr>
          <p:spPr>
            <a:xfrm flipH="false" flipV="false" rot="0">
              <a:off x="0" y="0"/>
              <a:ext cx="3691382" cy="326392"/>
            </a:xfrm>
            <a:custGeom>
              <a:avLst/>
              <a:gdLst/>
              <a:ahLst/>
              <a:cxnLst/>
              <a:rect r="r" b="b" t="t" l="l"/>
              <a:pathLst>
                <a:path h="326392" w="3691382">
                  <a:moveTo>
                    <a:pt x="16891" y="0"/>
                  </a:moveTo>
                  <a:lnTo>
                    <a:pt x="3674491" y="0"/>
                  </a:lnTo>
                  <a:cubicBezTo>
                    <a:pt x="3683889" y="0"/>
                    <a:pt x="3691382" y="7620"/>
                    <a:pt x="3691382" y="16891"/>
                  </a:cubicBezTo>
                  <a:lnTo>
                    <a:pt x="3691382" y="309499"/>
                  </a:lnTo>
                  <a:cubicBezTo>
                    <a:pt x="3691382" y="318897"/>
                    <a:pt x="3683762" y="326390"/>
                    <a:pt x="367449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3674491" y="292608"/>
                  </a:lnTo>
                  <a:lnTo>
                    <a:pt x="3674491" y="309499"/>
                  </a:lnTo>
                  <a:lnTo>
                    <a:pt x="3657600" y="309499"/>
                  </a:lnTo>
                  <a:lnTo>
                    <a:pt x="3657600" y="16891"/>
                  </a:lnTo>
                  <a:lnTo>
                    <a:pt x="3674491" y="16891"/>
                  </a:lnTo>
                  <a:lnTo>
                    <a:pt x="3674491" y="33909"/>
                  </a:lnTo>
                  <a:lnTo>
                    <a:pt x="16891" y="33909"/>
                  </a:lnTo>
                  <a:close/>
                </a:path>
              </a:pathLst>
            </a:custGeom>
            <a:solidFill>
              <a:srgbClr val="97BC62"/>
            </a:solidFill>
          </p:spPr>
        </p:sp>
      </p:grpSp>
      <p:grpSp>
        <p:nvGrpSpPr>
          <p:cNvPr name="Group 11" id="11"/>
          <p:cNvGrpSpPr/>
          <p:nvPr/>
        </p:nvGrpSpPr>
        <p:grpSpPr>
          <a:xfrm rot="0">
            <a:off x="14069063" y="4162549"/>
            <a:ext cx="2037083" cy="244859"/>
            <a:chOff x="0" y="0"/>
            <a:chExt cx="2716111" cy="326479"/>
          </a:xfrm>
        </p:grpSpPr>
        <p:sp>
          <p:nvSpPr>
            <p:cNvPr name="Freeform 12" id="12"/>
            <p:cNvSpPr/>
            <p:nvPr/>
          </p:nvSpPr>
          <p:spPr>
            <a:xfrm flipH="false" flipV="false" rot="0">
              <a:off x="16891" y="16891"/>
              <a:ext cx="2682240" cy="292608"/>
            </a:xfrm>
            <a:custGeom>
              <a:avLst/>
              <a:gdLst/>
              <a:ahLst/>
              <a:cxnLst/>
              <a:rect r="r" b="b" t="t" l="l"/>
              <a:pathLst>
                <a:path h="292608" w="2682240">
                  <a:moveTo>
                    <a:pt x="0" y="0"/>
                  </a:moveTo>
                  <a:lnTo>
                    <a:pt x="2682240" y="0"/>
                  </a:lnTo>
                  <a:lnTo>
                    <a:pt x="2682240" y="292608"/>
                  </a:lnTo>
                  <a:lnTo>
                    <a:pt x="0" y="292608"/>
                  </a:lnTo>
                  <a:close/>
                </a:path>
              </a:pathLst>
            </a:custGeom>
            <a:solidFill>
              <a:srgbClr val="97BC62"/>
            </a:solidFill>
          </p:spPr>
        </p:sp>
        <p:sp>
          <p:nvSpPr>
            <p:cNvPr name="Freeform 13" id="13"/>
            <p:cNvSpPr/>
            <p:nvPr/>
          </p:nvSpPr>
          <p:spPr>
            <a:xfrm flipH="false" flipV="false" rot="0">
              <a:off x="0" y="0"/>
              <a:ext cx="2716022" cy="326392"/>
            </a:xfrm>
            <a:custGeom>
              <a:avLst/>
              <a:gdLst/>
              <a:ahLst/>
              <a:cxnLst/>
              <a:rect r="r" b="b" t="t" l="l"/>
              <a:pathLst>
                <a:path h="326392" w="2716022">
                  <a:moveTo>
                    <a:pt x="16891" y="0"/>
                  </a:moveTo>
                  <a:lnTo>
                    <a:pt x="2699131" y="0"/>
                  </a:lnTo>
                  <a:cubicBezTo>
                    <a:pt x="2708529" y="0"/>
                    <a:pt x="2716022" y="7620"/>
                    <a:pt x="2716022" y="16891"/>
                  </a:cubicBezTo>
                  <a:lnTo>
                    <a:pt x="2716022" y="309499"/>
                  </a:lnTo>
                  <a:cubicBezTo>
                    <a:pt x="2716022" y="318897"/>
                    <a:pt x="2708402" y="326390"/>
                    <a:pt x="269913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2699131" y="292608"/>
                  </a:lnTo>
                  <a:lnTo>
                    <a:pt x="2699131" y="309499"/>
                  </a:lnTo>
                  <a:lnTo>
                    <a:pt x="2682240" y="309499"/>
                  </a:lnTo>
                  <a:lnTo>
                    <a:pt x="2682240" y="16891"/>
                  </a:lnTo>
                  <a:lnTo>
                    <a:pt x="2699131" y="16891"/>
                  </a:lnTo>
                  <a:lnTo>
                    <a:pt x="2699131" y="33909"/>
                  </a:lnTo>
                  <a:lnTo>
                    <a:pt x="16891" y="33909"/>
                  </a:lnTo>
                  <a:close/>
                </a:path>
              </a:pathLst>
            </a:custGeom>
            <a:solidFill>
              <a:srgbClr val="97BC62"/>
            </a:solidFill>
          </p:spPr>
        </p:sp>
      </p:grpSp>
      <p:grpSp>
        <p:nvGrpSpPr>
          <p:cNvPr name="Group 14" id="14"/>
          <p:cNvGrpSpPr/>
          <p:nvPr/>
        </p:nvGrpSpPr>
        <p:grpSpPr>
          <a:xfrm rot="0">
            <a:off x="13886183" y="5442709"/>
            <a:ext cx="2402843" cy="244859"/>
            <a:chOff x="0" y="0"/>
            <a:chExt cx="3203791" cy="326479"/>
          </a:xfrm>
        </p:grpSpPr>
        <p:sp>
          <p:nvSpPr>
            <p:cNvPr name="Freeform 15" id="15"/>
            <p:cNvSpPr/>
            <p:nvPr/>
          </p:nvSpPr>
          <p:spPr>
            <a:xfrm flipH="false" flipV="false" rot="0">
              <a:off x="16891" y="16891"/>
              <a:ext cx="3169920" cy="292608"/>
            </a:xfrm>
            <a:custGeom>
              <a:avLst/>
              <a:gdLst/>
              <a:ahLst/>
              <a:cxnLst/>
              <a:rect r="r" b="b" t="t" l="l"/>
              <a:pathLst>
                <a:path h="292608" w="3169920">
                  <a:moveTo>
                    <a:pt x="0" y="0"/>
                  </a:moveTo>
                  <a:lnTo>
                    <a:pt x="3169920" y="0"/>
                  </a:lnTo>
                  <a:lnTo>
                    <a:pt x="3169920" y="292608"/>
                  </a:lnTo>
                  <a:lnTo>
                    <a:pt x="0" y="292608"/>
                  </a:lnTo>
                  <a:close/>
                </a:path>
              </a:pathLst>
            </a:custGeom>
            <a:solidFill>
              <a:srgbClr val="97BC62"/>
            </a:solidFill>
          </p:spPr>
        </p:sp>
        <p:sp>
          <p:nvSpPr>
            <p:cNvPr name="Freeform 16" id="16"/>
            <p:cNvSpPr/>
            <p:nvPr/>
          </p:nvSpPr>
          <p:spPr>
            <a:xfrm flipH="false" flipV="false" rot="0">
              <a:off x="0" y="0"/>
              <a:ext cx="3203702" cy="326392"/>
            </a:xfrm>
            <a:custGeom>
              <a:avLst/>
              <a:gdLst/>
              <a:ahLst/>
              <a:cxnLst/>
              <a:rect r="r" b="b" t="t" l="l"/>
              <a:pathLst>
                <a:path h="326392" w="3203702">
                  <a:moveTo>
                    <a:pt x="16891" y="0"/>
                  </a:moveTo>
                  <a:lnTo>
                    <a:pt x="3186811" y="0"/>
                  </a:lnTo>
                  <a:cubicBezTo>
                    <a:pt x="3196209" y="0"/>
                    <a:pt x="3203702" y="7620"/>
                    <a:pt x="3203702" y="16891"/>
                  </a:cubicBezTo>
                  <a:lnTo>
                    <a:pt x="3203702" y="309499"/>
                  </a:lnTo>
                  <a:cubicBezTo>
                    <a:pt x="3203702" y="318897"/>
                    <a:pt x="3196082" y="326390"/>
                    <a:pt x="3186811" y="326390"/>
                  </a:cubicBezTo>
                  <a:lnTo>
                    <a:pt x="16891" y="326390"/>
                  </a:lnTo>
                  <a:cubicBezTo>
                    <a:pt x="7620" y="326517"/>
                    <a:pt x="0" y="318897"/>
                    <a:pt x="0" y="309499"/>
                  </a:cubicBezTo>
                  <a:lnTo>
                    <a:pt x="0" y="16891"/>
                  </a:lnTo>
                  <a:cubicBezTo>
                    <a:pt x="0" y="7620"/>
                    <a:pt x="7620" y="0"/>
                    <a:pt x="16891" y="0"/>
                  </a:cubicBezTo>
                  <a:moveTo>
                    <a:pt x="16891" y="33909"/>
                  </a:moveTo>
                  <a:lnTo>
                    <a:pt x="16891" y="16891"/>
                  </a:lnTo>
                  <a:lnTo>
                    <a:pt x="33909" y="16891"/>
                  </a:lnTo>
                  <a:lnTo>
                    <a:pt x="33909" y="309499"/>
                  </a:lnTo>
                  <a:lnTo>
                    <a:pt x="16891" y="309499"/>
                  </a:lnTo>
                  <a:lnTo>
                    <a:pt x="16891" y="292608"/>
                  </a:lnTo>
                  <a:lnTo>
                    <a:pt x="3186811" y="292608"/>
                  </a:lnTo>
                  <a:lnTo>
                    <a:pt x="3186811" y="309499"/>
                  </a:lnTo>
                  <a:lnTo>
                    <a:pt x="3169920" y="309499"/>
                  </a:lnTo>
                  <a:lnTo>
                    <a:pt x="3169920" y="16891"/>
                  </a:lnTo>
                  <a:lnTo>
                    <a:pt x="3186811" y="16891"/>
                  </a:lnTo>
                  <a:lnTo>
                    <a:pt x="3186811" y="33909"/>
                  </a:lnTo>
                  <a:lnTo>
                    <a:pt x="16891" y="33909"/>
                  </a:lnTo>
                  <a:close/>
                </a:path>
              </a:pathLst>
            </a:custGeom>
            <a:solidFill>
              <a:srgbClr val="97BC62"/>
            </a:solidFill>
          </p:spPr>
        </p:sp>
      </p:grpSp>
      <p:grpSp>
        <p:nvGrpSpPr>
          <p:cNvPr name="Group 17" id="17"/>
          <p:cNvGrpSpPr/>
          <p:nvPr/>
        </p:nvGrpSpPr>
        <p:grpSpPr>
          <a:xfrm rot="0">
            <a:off x="640080" y="23393"/>
            <a:ext cx="16459200" cy="4139156"/>
            <a:chOff x="0" y="0"/>
            <a:chExt cx="21945600" cy="5518874"/>
          </a:xfrm>
        </p:grpSpPr>
        <p:sp>
          <p:nvSpPr>
            <p:cNvPr name="Freeform 18" id="18"/>
            <p:cNvSpPr/>
            <p:nvPr/>
          </p:nvSpPr>
          <p:spPr>
            <a:xfrm flipH="false" flipV="false" rot="0">
              <a:off x="0" y="0"/>
              <a:ext cx="21945600" cy="5518874"/>
            </a:xfrm>
            <a:custGeom>
              <a:avLst/>
              <a:gdLst/>
              <a:ahLst/>
              <a:cxnLst/>
              <a:rect r="r" b="b" t="t" l="l"/>
              <a:pathLst>
                <a:path h="5518874" w="21945600">
                  <a:moveTo>
                    <a:pt x="0" y="0"/>
                  </a:moveTo>
                  <a:lnTo>
                    <a:pt x="21945600" y="0"/>
                  </a:lnTo>
                  <a:lnTo>
                    <a:pt x="21945600" y="5518874"/>
                  </a:lnTo>
                  <a:lnTo>
                    <a:pt x="0" y="5518874"/>
                  </a:lnTo>
                  <a:close/>
                </a:path>
              </a:pathLst>
            </a:custGeom>
            <a:blipFill>
              <a:blip r:embed="rId3">
                <a:alphaModFix amt="0"/>
              </a:blip>
              <a:stretch>
                <a:fillRect l="0" t="-48762" r="0" b="-6200"/>
              </a:stretch>
            </a:blipFill>
          </p:spPr>
        </p:sp>
        <p:sp>
          <p:nvSpPr>
            <p:cNvPr name="TextBox 19" id="19"/>
            <p:cNvSpPr txBox="true"/>
            <p:nvPr/>
          </p:nvSpPr>
          <p:spPr>
            <a:xfrm>
              <a:off x="0" y="-247650"/>
              <a:ext cx="21945600" cy="5766524"/>
            </a:xfrm>
            <a:prstGeom prst="rect">
              <a:avLst/>
            </a:prstGeom>
          </p:spPr>
          <p:txBody>
            <a:bodyPr anchor="ctr" rtlCol="false" tIns="0" lIns="0" bIns="0" rIns="0"/>
            <a:lstStyle/>
            <a:p>
              <a:pPr algn="l">
                <a:lnSpc>
                  <a:spcPts val="14040"/>
                </a:lnSpc>
              </a:pPr>
              <a:r>
                <a:rPr lang="en-US" sz="11700" b="true">
                  <a:solidFill>
                    <a:srgbClr val="FFFFFF"/>
                  </a:solidFill>
                  <a:latin typeface="Calibri (MS) Bold"/>
                  <a:ea typeface="Calibri (MS) Bold"/>
                  <a:cs typeface="Calibri (MS) Bold"/>
                  <a:sym typeface="Calibri (MS) Bold"/>
                </a:rPr>
                <a:t>Pr</a:t>
              </a:r>
              <a:r>
                <a:rPr lang="en-US" sz="11700" b="true">
                  <a:solidFill>
                    <a:srgbClr val="FFFFFF"/>
                  </a:solidFill>
                  <a:latin typeface="Calibri (MS) Bold"/>
                  <a:ea typeface="Calibri (MS) Bold"/>
                  <a:cs typeface="Calibri (MS) Bold"/>
                  <a:sym typeface="Calibri (MS) Bold"/>
                </a:rPr>
                <a:t>ojet ML : Prédiction du diabète</a:t>
              </a:r>
            </a:p>
          </p:txBody>
        </p:sp>
      </p:grpSp>
      <p:grpSp>
        <p:nvGrpSpPr>
          <p:cNvPr name="Group 20" id="20"/>
          <p:cNvGrpSpPr/>
          <p:nvPr/>
        </p:nvGrpSpPr>
        <p:grpSpPr>
          <a:xfrm rot="0">
            <a:off x="640080" y="3736338"/>
            <a:ext cx="12431705" cy="1097280"/>
            <a:chOff x="0" y="0"/>
            <a:chExt cx="16575607" cy="1463040"/>
          </a:xfrm>
        </p:grpSpPr>
        <p:sp>
          <p:nvSpPr>
            <p:cNvPr name="Freeform 21" id="21"/>
            <p:cNvSpPr/>
            <p:nvPr/>
          </p:nvSpPr>
          <p:spPr>
            <a:xfrm flipH="false" flipV="false" rot="0">
              <a:off x="0" y="0"/>
              <a:ext cx="16575607" cy="1463040"/>
            </a:xfrm>
            <a:custGeom>
              <a:avLst/>
              <a:gdLst/>
              <a:ahLst/>
              <a:cxnLst/>
              <a:rect r="r" b="b" t="t" l="l"/>
              <a:pathLst>
                <a:path h="1463040" w="16575607">
                  <a:moveTo>
                    <a:pt x="0" y="0"/>
                  </a:moveTo>
                  <a:lnTo>
                    <a:pt x="16575607" y="0"/>
                  </a:lnTo>
                  <a:lnTo>
                    <a:pt x="16575607" y="1463040"/>
                  </a:lnTo>
                  <a:lnTo>
                    <a:pt x="0" y="1463040"/>
                  </a:lnTo>
                  <a:close/>
                </a:path>
              </a:pathLst>
            </a:custGeom>
            <a:blipFill>
              <a:blip r:embed="rId3">
                <a:alphaModFix amt="0"/>
              </a:blip>
              <a:stretch>
                <a:fillRect l="0" t="-242275" r="-32396" b="-242275"/>
              </a:stretch>
            </a:blipFill>
          </p:spPr>
        </p:sp>
        <p:sp>
          <p:nvSpPr>
            <p:cNvPr name="TextBox 22" id="22"/>
            <p:cNvSpPr txBox="true"/>
            <p:nvPr/>
          </p:nvSpPr>
          <p:spPr>
            <a:xfrm>
              <a:off x="0" y="-57150"/>
              <a:ext cx="16575607" cy="1520190"/>
            </a:xfrm>
            <a:prstGeom prst="rect">
              <a:avLst/>
            </a:prstGeom>
          </p:spPr>
          <p:txBody>
            <a:bodyPr anchor="ctr" rtlCol="false" tIns="0" lIns="0" bIns="0" rIns="0"/>
            <a:lstStyle/>
            <a:p>
              <a:pPr algn="l">
                <a:lnSpc>
                  <a:spcPts val="3840"/>
                </a:lnSpc>
              </a:pPr>
              <a:r>
                <a:rPr lang="en-US" sz="3200" i="true">
                  <a:solidFill>
                    <a:srgbClr val="97BC62"/>
                  </a:solidFill>
                  <a:latin typeface="Calibri (MS) Italics"/>
                  <a:ea typeface="Calibri (MS) Italics"/>
                  <a:cs typeface="Calibri (MS) Italics"/>
                  <a:sym typeface="Calibri (MS) Italics"/>
                </a:rPr>
                <a:t>Comprendre et optimiser un modèle de classification (Random Forest)</a:t>
              </a:r>
            </a:p>
          </p:txBody>
        </p:sp>
      </p:grpSp>
      <p:grpSp>
        <p:nvGrpSpPr>
          <p:cNvPr name="Group 23" id="23"/>
          <p:cNvGrpSpPr/>
          <p:nvPr/>
        </p:nvGrpSpPr>
        <p:grpSpPr>
          <a:xfrm rot="0">
            <a:off x="640080" y="4867399"/>
            <a:ext cx="5486400" cy="731520"/>
            <a:chOff x="0" y="0"/>
            <a:chExt cx="7315200" cy="975360"/>
          </a:xfrm>
        </p:grpSpPr>
        <p:sp>
          <p:nvSpPr>
            <p:cNvPr name="Freeform 24" id="24"/>
            <p:cNvSpPr/>
            <p:nvPr/>
          </p:nvSpPr>
          <p:spPr>
            <a:xfrm flipH="false" flipV="false" rot="0">
              <a:off x="0" y="0"/>
              <a:ext cx="7315200" cy="975360"/>
            </a:xfrm>
            <a:custGeom>
              <a:avLst/>
              <a:gdLst/>
              <a:ahLst/>
              <a:cxnLst/>
              <a:rect r="r" b="b" t="t" l="l"/>
              <a:pathLst>
                <a:path h="975360" w="7315200">
                  <a:moveTo>
                    <a:pt x="0" y="0"/>
                  </a:moveTo>
                  <a:lnTo>
                    <a:pt x="7315200" y="0"/>
                  </a:lnTo>
                  <a:lnTo>
                    <a:pt x="7315200" y="975360"/>
                  </a:lnTo>
                  <a:lnTo>
                    <a:pt x="0" y="975360"/>
                  </a:lnTo>
                  <a:close/>
                </a:path>
              </a:pathLst>
            </a:custGeom>
            <a:blipFill>
              <a:blip r:embed="rId3">
                <a:alphaModFix amt="0"/>
              </a:blip>
              <a:stretch>
                <a:fillRect l="0" t="-96137" r="0" b="-96137"/>
              </a:stretch>
            </a:blipFill>
          </p:spPr>
        </p:sp>
        <p:sp>
          <p:nvSpPr>
            <p:cNvPr name="TextBox 25" id="25"/>
            <p:cNvSpPr txBox="true"/>
            <p:nvPr/>
          </p:nvSpPr>
          <p:spPr>
            <a:xfrm>
              <a:off x="0" y="-47625"/>
              <a:ext cx="7315200" cy="1022985"/>
            </a:xfrm>
            <a:prstGeom prst="rect">
              <a:avLst/>
            </a:prstGeom>
          </p:spPr>
          <p:txBody>
            <a:bodyPr anchor="ctr" rtlCol="false" tIns="0" lIns="0" bIns="0" rIns="0"/>
            <a:lstStyle/>
            <a:p>
              <a:pPr algn="l">
                <a:lnSpc>
                  <a:spcPts val="2760"/>
                </a:lnSpc>
              </a:pPr>
              <a:r>
                <a:rPr lang="en-US" b="true" sz="2300" spc="836">
                  <a:solidFill>
                    <a:srgbClr val="5A7A5A"/>
                  </a:solidFill>
                  <a:latin typeface="Calibri (MS) Bold"/>
                  <a:ea typeface="Calibri (MS) Bold"/>
                  <a:cs typeface="Calibri (MS) Bold"/>
                  <a:sym typeface="Calibri (MS) Bold"/>
                </a:rPr>
                <a:t>GROUPE 2</a:t>
              </a:r>
            </a:p>
          </p:txBody>
        </p:sp>
      </p:grpSp>
      <p:grpSp>
        <p:nvGrpSpPr>
          <p:cNvPr name="Group 26" id="26"/>
          <p:cNvGrpSpPr/>
          <p:nvPr/>
        </p:nvGrpSpPr>
        <p:grpSpPr>
          <a:xfrm rot="0">
            <a:off x="640080" y="5565138"/>
            <a:ext cx="3683003" cy="3050874"/>
            <a:chOff x="0" y="0"/>
            <a:chExt cx="4910671" cy="4067833"/>
          </a:xfrm>
        </p:grpSpPr>
        <p:sp>
          <p:nvSpPr>
            <p:cNvPr name="Freeform 27" id="27"/>
            <p:cNvSpPr/>
            <p:nvPr/>
          </p:nvSpPr>
          <p:spPr>
            <a:xfrm flipH="false" flipV="false" rot="0">
              <a:off x="16891" y="77436"/>
              <a:ext cx="4876800" cy="3912553"/>
            </a:xfrm>
            <a:custGeom>
              <a:avLst/>
              <a:gdLst/>
              <a:ahLst/>
              <a:cxnLst/>
              <a:rect r="r" b="b" t="t" l="l"/>
              <a:pathLst>
                <a:path h="3912553" w="4876800">
                  <a:moveTo>
                    <a:pt x="0" y="0"/>
                  </a:moveTo>
                  <a:lnTo>
                    <a:pt x="4876800" y="0"/>
                  </a:lnTo>
                  <a:lnTo>
                    <a:pt x="4876800" y="3912553"/>
                  </a:lnTo>
                  <a:lnTo>
                    <a:pt x="0" y="3912553"/>
                  </a:lnTo>
                  <a:close/>
                </a:path>
              </a:pathLst>
            </a:custGeom>
            <a:solidFill>
              <a:srgbClr val="1E3A1E"/>
            </a:solidFill>
          </p:spPr>
        </p:sp>
        <p:sp>
          <p:nvSpPr>
            <p:cNvPr name="Freeform 28" id="28"/>
            <p:cNvSpPr/>
            <p:nvPr/>
          </p:nvSpPr>
          <p:spPr>
            <a:xfrm flipH="false" flipV="false" rot="0">
              <a:off x="0" y="0"/>
              <a:ext cx="4910582" cy="4067429"/>
            </a:xfrm>
            <a:custGeom>
              <a:avLst/>
              <a:gdLst/>
              <a:ahLst/>
              <a:cxnLst/>
              <a:rect r="r" b="b" t="t" l="l"/>
              <a:pathLst>
                <a:path h="4067429" w="4910582">
                  <a:moveTo>
                    <a:pt x="16891" y="0"/>
                  </a:moveTo>
                  <a:lnTo>
                    <a:pt x="4893691" y="0"/>
                  </a:lnTo>
                  <a:cubicBezTo>
                    <a:pt x="4903089" y="0"/>
                    <a:pt x="4910582" y="34934"/>
                    <a:pt x="4910582" y="77436"/>
                  </a:cubicBezTo>
                  <a:lnTo>
                    <a:pt x="4910582" y="3989989"/>
                  </a:lnTo>
                  <a:cubicBezTo>
                    <a:pt x="4910582" y="4033074"/>
                    <a:pt x="4902962" y="4067425"/>
                    <a:pt x="4893691" y="4067425"/>
                  </a:cubicBezTo>
                  <a:lnTo>
                    <a:pt x="16891" y="4067425"/>
                  </a:lnTo>
                  <a:cubicBezTo>
                    <a:pt x="7620" y="4067871"/>
                    <a:pt x="0" y="4033074"/>
                    <a:pt x="0" y="3989989"/>
                  </a:cubicBezTo>
                  <a:lnTo>
                    <a:pt x="0" y="77436"/>
                  </a:lnTo>
                  <a:cubicBezTo>
                    <a:pt x="0" y="34934"/>
                    <a:pt x="7620" y="0"/>
                    <a:pt x="16891" y="0"/>
                  </a:cubicBezTo>
                  <a:moveTo>
                    <a:pt x="16891" y="155454"/>
                  </a:moveTo>
                  <a:lnTo>
                    <a:pt x="16891" y="77436"/>
                  </a:lnTo>
                  <a:lnTo>
                    <a:pt x="33909" y="77436"/>
                  </a:lnTo>
                  <a:lnTo>
                    <a:pt x="33909" y="3989989"/>
                  </a:lnTo>
                  <a:lnTo>
                    <a:pt x="16891" y="3989989"/>
                  </a:lnTo>
                  <a:lnTo>
                    <a:pt x="16891" y="3912553"/>
                  </a:lnTo>
                  <a:lnTo>
                    <a:pt x="4893691" y="3912553"/>
                  </a:lnTo>
                  <a:lnTo>
                    <a:pt x="4893691" y="3989989"/>
                  </a:lnTo>
                  <a:lnTo>
                    <a:pt x="4876800" y="3989989"/>
                  </a:lnTo>
                  <a:lnTo>
                    <a:pt x="4876800" y="77436"/>
                  </a:lnTo>
                  <a:lnTo>
                    <a:pt x="4893691" y="77436"/>
                  </a:lnTo>
                  <a:lnTo>
                    <a:pt x="4893691" y="155454"/>
                  </a:lnTo>
                  <a:lnTo>
                    <a:pt x="16891" y="155454"/>
                  </a:lnTo>
                  <a:close/>
                </a:path>
              </a:pathLst>
            </a:custGeom>
            <a:solidFill>
              <a:srgbClr val="5B9E3D"/>
            </a:solidFill>
          </p:spPr>
        </p:sp>
      </p:grpSp>
      <p:grpSp>
        <p:nvGrpSpPr>
          <p:cNvPr name="Group 29" id="29"/>
          <p:cNvGrpSpPr/>
          <p:nvPr/>
        </p:nvGrpSpPr>
        <p:grpSpPr>
          <a:xfrm rot="0">
            <a:off x="835657" y="5632699"/>
            <a:ext cx="3115598" cy="2983314"/>
            <a:chOff x="0" y="0"/>
            <a:chExt cx="3081798" cy="2950949"/>
          </a:xfrm>
        </p:grpSpPr>
        <p:sp>
          <p:nvSpPr>
            <p:cNvPr name="Freeform 30" id="30"/>
            <p:cNvSpPr/>
            <p:nvPr/>
          </p:nvSpPr>
          <p:spPr>
            <a:xfrm flipH="false" flipV="false" rot="0">
              <a:off x="0" y="0"/>
              <a:ext cx="3081798" cy="2950949"/>
            </a:xfrm>
            <a:custGeom>
              <a:avLst/>
              <a:gdLst/>
              <a:ahLst/>
              <a:cxnLst/>
              <a:rect r="r" b="b" t="t" l="l"/>
              <a:pathLst>
                <a:path h="2950949" w="3081798">
                  <a:moveTo>
                    <a:pt x="0" y="0"/>
                  </a:moveTo>
                  <a:lnTo>
                    <a:pt x="3081798" y="0"/>
                  </a:lnTo>
                  <a:lnTo>
                    <a:pt x="3081798" y="2950949"/>
                  </a:lnTo>
                  <a:lnTo>
                    <a:pt x="0" y="2950949"/>
                  </a:lnTo>
                  <a:close/>
                </a:path>
              </a:pathLst>
            </a:custGeom>
            <a:blipFill>
              <a:blip r:embed="rId3">
                <a:alphaModFix amt="0"/>
              </a:blip>
              <a:stretch>
                <a:fillRect l="0" t="-18196" r="-50333" b="57014"/>
              </a:stretch>
            </a:blipFill>
          </p:spPr>
        </p:sp>
        <p:sp>
          <p:nvSpPr>
            <p:cNvPr name="TextBox 31" id="31"/>
            <p:cNvSpPr txBox="true"/>
            <p:nvPr/>
          </p:nvSpPr>
          <p:spPr>
            <a:xfrm>
              <a:off x="0" y="-57150"/>
              <a:ext cx="3081798" cy="3008099"/>
            </a:xfrm>
            <a:prstGeom prst="rect">
              <a:avLst/>
            </a:prstGeom>
          </p:spPr>
          <p:txBody>
            <a:bodyPr anchor="ctr" rtlCol="false" tIns="0" lIns="0" bIns="0" rIns="0"/>
            <a:lstStyle/>
            <a:p>
              <a:pPr algn="ctr">
                <a:lnSpc>
                  <a:spcPts val="3479"/>
                </a:lnSpc>
              </a:pPr>
              <a:r>
                <a:rPr lang="en-US" sz="2899" b="true">
                  <a:solidFill>
                    <a:srgbClr val="97BC62"/>
                  </a:solidFill>
                  <a:latin typeface="Consolas Bold"/>
                  <a:ea typeface="Consolas Bold"/>
                  <a:cs typeface="Consolas Bold"/>
                  <a:sym typeface="Consolas Bold"/>
                </a:rPr>
                <a:t>Mayssa Moussa</a:t>
              </a:r>
            </a:p>
            <a:p>
              <a:pPr algn="ctr">
                <a:lnSpc>
                  <a:spcPts val="3479"/>
                </a:lnSpc>
              </a:pPr>
              <a:r>
                <a:rPr lang="en-US" sz="2899" b="true">
                  <a:solidFill>
                    <a:srgbClr val="97BC62"/>
                  </a:solidFill>
                  <a:latin typeface="Consolas Bold"/>
                  <a:ea typeface="Consolas Bold"/>
                  <a:cs typeface="Consolas Bold"/>
                  <a:sym typeface="Consolas Bold"/>
                </a:rPr>
                <a:t>Eya Makhlouf</a:t>
              </a:r>
            </a:p>
            <a:p>
              <a:pPr algn="ctr">
                <a:lnSpc>
                  <a:spcPts val="3479"/>
                </a:lnSpc>
              </a:pPr>
              <a:r>
                <a:rPr lang="en-US" sz="2899" b="true">
                  <a:solidFill>
                    <a:srgbClr val="97BC62"/>
                  </a:solidFill>
                  <a:latin typeface="Consolas Bold"/>
                  <a:ea typeface="Consolas Bold"/>
                  <a:cs typeface="Consolas Bold"/>
                  <a:sym typeface="Consolas Bold"/>
                </a:rPr>
                <a:t>Fida Sassi</a:t>
              </a:r>
            </a:p>
            <a:p>
              <a:pPr algn="ctr">
                <a:lnSpc>
                  <a:spcPts val="3479"/>
                </a:lnSpc>
              </a:pPr>
              <a:r>
                <a:rPr lang="en-US" sz="2899" b="true">
                  <a:solidFill>
                    <a:srgbClr val="97BC62"/>
                  </a:solidFill>
                  <a:latin typeface="Consolas Bold"/>
                  <a:ea typeface="Consolas Bold"/>
                  <a:cs typeface="Consolas Bold"/>
                  <a:sym typeface="Consolas Bold"/>
                </a:rPr>
                <a:t>Sarra Sghaier</a:t>
              </a:r>
            </a:p>
          </p:txBody>
        </p:sp>
      </p:grpSp>
      <p:grpSp>
        <p:nvGrpSpPr>
          <p:cNvPr name="Group 32" id="32"/>
          <p:cNvGrpSpPr/>
          <p:nvPr/>
        </p:nvGrpSpPr>
        <p:grpSpPr>
          <a:xfrm rot="0">
            <a:off x="-12697" y="9073213"/>
            <a:ext cx="18313403" cy="1226493"/>
            <a:chOff x="0" y="0"/>
            <a:chExt cx="24417871" cy="1635325"/>
          </a:xfrm>
        </p:grpSpPr>
        <p:sp>
          <p:nvSpPr>
            <p:cNvPr name="Freeform 33" id="33"/>
            <p:cNvSpPr/>
            <p:nvPr/>
          </p:nvSpPr>
          <p:spPr>
            <a:xfrm flipH="false" flipV="false" rot="0">
              <a:off x="16891" y="15331"/>
              <a:ext cx="24383999" cy="1604582"/>
            </a:xfrm>
            <a:custGeom>
              <a:avLst/>
              <a:gdLst/>
              <a:ahLst/>
              <a:cxnLst/>
              <a:rect r="r" b="b" t="t" l="l"/>
              <a:pathLst>
                <a:path h="1604582" w="24383999">
                  <a:moveTo>
                    <a:pt x="0" y="0"/>
                  </a:moveTo>
                  <a:lnTo>
                    <a:pt x="24383999" y="0"/>
                  </a:lnTo>
                  <a:lnTo>
                    <a:pt x="24383999" y="1604582"/>
                  </a:lnTo>
                  <a:lnTo>
                    <a:pt x="0" y="1604582"/>
                  </a:lnTo>
                  <a:close/>
                </a:path>
              </a:pathLst>
            </a:custGeom>
            <a:solidFill>
              <a:srgbClr val="2C5F2D"/>
            </a:solidFill>
          </p:spPr>
        </p:sp>
        <p:sp>
          <p:nvSpPr>
            <p:cNvPr name="Freeform 34" id="34"/>
            <p:cNvSpPr/>
            <p:nvPr/>
          </p:nvSpPr>
          <p:spPr>
            <a:xfrm flipH="false" flipV="false" rot="0">
              <a:off x="0" y="0"/>
              <a:ext cx="24417782" cy="1635244"/>
            </a:xfrm>
            <a:custGeom>
              <a:avLst/>
              <a:gdLst/>
              <a:ahLst/>
              <a:cxnLst/>
              <a:rect r="r" b="b" t="t" l="l"/>
              <a:pathLst>
                <a:path h="1635244" w="24417782">
                  <a:moveTo>
                    <a:pt x="16891" y="0"/>
                  </a:moveTo>
                  <a:lnTo>
                    <a:pt x="24400890" y="0"/>
                  </a:lnTo>
                  <a:cubicBezTo>
                    <a:pt x="24410290" y="0"/>
                    <a:pt x="24417782" y="6916"/>
                    <a:pt x="24417782" y="15331"/>
                  </a:cubicBezTo>
                  <a:lnTo>
                    <a:pt x="24417782" y="1619913"/>
                  </a:lnTo>
                  <a:cubicBezTo>
                    <a:pt x="24417782" y="1628443"/>
                    <a:pt x="24410163" y="1635244"/>
                    <a:pt x="24400890" y="1635244"/>
                  </a:cubicBezTo>
                  <a:lnTo>
                    <a:pt x="16891" y="1635244"/>
                  </a:lnTo>
                  <a:cubicBezTo>
                    <a:pt x="7493" y="1635244"/>
                    <a:pt x="0" y="1628328"/>
                    <a:pt x="0" y="1619913"/>
                  </a:cubicBezTo>
                  <a:lnTo>
                    <a:pt x="0" y="15331"/>
                  </a:lnTo>
                  <a:cubicBezTo>
                    <a:pt x="0" y="6916"/>
                    <a:pt x="7620" y="0"/>
                    <a:pt x="16891" y="0"/>
                  </a:cubicBezTo>
                  <a:moveTo>
                    <a:pt x="16891" y="30778"/>
                  </a:moveTo>
                  <a:lnTo>
                    <a:pt x="16891" y="15331"/>
                  </a:lnTo>
                  <a:lnTo>
                    <a:pt x="33909" y="15331"/>
                  </a:lnTo>
                  <a:lnTo>
                    <a:pt x="33909" y="1619913"/>
                  </a:lnTo>
                  <a:lnTo>
                    <a:pt x="16891" y="1619913"/>
                  </a:lnTo>
                  <a:lnTo>
                    <a:pt x="16891" y="1604582"/>
                  </a:lnTo>
                  <a:lnTo>
                    <a:pt x="24400890" y="1604582"/>
                  </a:lnTo>
                  <a:lnTo>
                    <a:pt x="24400890" y="1619913"/>
                  </a:lnTo>
                  <a:lnTo>
                    <a:pt x="24384000" y="1619913"/>
                  </a:lnTo>
                  <a:lnTo>
                    <a:pt x="24384000" y="15331"/>
                  </a:lnTo>
                  <a:lnTo>
                    <a:pt x="24400890" y="15331"/>
                  </a:lnTo>
                  <a:lnTo>
                    <a:pt x="24400890" y="30778"/>
                  </a:lnTo>
                  <a:lnTo>
                    <a:pt x="16891" y="30778"/>
                  </a:lnTo>
                  <a:close/>
                </a:path>
              </a:pathLst>
            </a:custGeom>
            <a:solidFill>
              <a:srgbClr val="2C5F2D"/>
            </a:solidFill>
          </p:spPr>
        </p:sp>
      </p:grpSp>
      <p:grpSp>
        <p:nvGrpSpPr>
          <p:cNvPr name="Group 35" id="35"/>
          <p:cNvGrpSpPr/>
          <p:nvPr/>
        </p:nvGrpSpPr>
        <p:grpSpPr>
          <a:xfrm rot="0">
            <a:off x="640080" y="9225613"/>
            <a:ext cx="17007840" cy="1325880"/>
            <a:chOff x="0" y="0"/>
            <a:chExt cx="22677120" cy="1767840"/>
          </a:xfrm>
        </p:grpSpPr>
        <p:sp>
          <p:nvSpPr>
            <p:cNvPr name="Freeform 36" id="36"/>
            <p:cNvSpPr/>
            <p:nvPr/>
          </p:nvSpPr>
          <p:spPr>
            <a:xfrm flipH="false" flipV="false" rot="0">
              <a:off x="0" y="0"/>
              <a:ext cx="22677120" cy="1767840"/>
            </a:xfrm>
            <a:custGeom>
              <a:avLst/>
              <a:gdLst/>
              <a:ahLst/>
              <a:cxnLst/>
              <a:rect r="r" b="b" t="t" l="l"/>
              <a:pathLst>
                <a:path h="1767840" w="22677120">
                  <a:moveTo>
                    <a:pt x="0" y="0"/>
                  </a:moveTo>
                  <a:lnTo>
                    <a:pt x="22677120" y="0"/>
                  </a:lnTo>
                  <a:lnTo>
                    <a:pt x="22677120" y="1767840"/>
                  </a:lnTo>
                  <a:lnTo>
                    <a:pt x="0" y="1767840"/>
                  </a:lnTo>
                  <a:close/>
                </a:path>
              </a:pathLst>
            </a:custGeom>
            <a:blipFill>
              <a:blip r:embed="rId3">
                <a:alphaModFix amt="0"/>
              </a:blip>
              <a:stretch>
                <a:fillRect l="0" t="-199946" r="0" b="-199946"/>
              </a:stretch>
            </a:blipFill>
          </p:spPr>
        </p:sp>
        <p:sp>
          <p:nvSpPr>
            <p:cNvPr name="TextBox 37" id="37"/>
            <p:cNvSpPr txBox="true"/>
            <p:nvPr/>
          </p:nvSpPr>
          <p:spPr>
            <a:xfrm>
              <a:off x="0" y="-57150"/>
              <a:ext cx="22677120" cy="1824990"/>
            </a:xfrm>
            <a:prstGeom prst="rect">
              <a:avLst/>
            </a:prstGeom>
          </p:spPr>
          <p:txBody>
            <a:bodyPr anchor="ctr" rtlCol="false" tIns="0" lIns="0" bIns="0" rIns="0"/>
            <a:lstStyle/>
            <a:p>
              <a:pPr algn="ctr">
                <a:lnSpc>
                  <a:spcPts val="3479"/>
                </a:lnSpc>
              </a:pPr>
              <a:r>
                <a:rPr lang="en-US" sz="2899">
                  <a:solidFill>
                    <a:srgbClr val="FFFFFF"/>
                  </a:solidFill>
                  <a:latin typeface="Calibri (MS)"/>
                  <a:ea typeface="Calibri (MS)"/>
                  <a:cs typeface="Calibri (MS)"/>
                  <a:sym typeface="Calibri (MS)"/>
                </a:rPr>
                <a:t>Dataset : Pima Indian Diabetes  ·  768 observations  ·  8 variables médicales   ·  1 variable cible : diabète (0 / 1)</a:t>
              </a:r>
            </a:p>
            <a:p>
              <a:pPr algn="ctr">
                <a:lnSpc>
                  <a:spcPts val="3480"/>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1567297" y="2628829"/>
            <a:ext cx="15153405" cy="7341920"/>
            <a:chOff x="0" y="0"/>
            <a:chExt cx="14282366" cy="6919896"/>
          </a:xfrm>
        </p:grpSpPr>
        <p:sp>
          <p:nvSpPr>
            <p:cNvPr name="Freeform 3" id="3"/>
            <p:cNvSpPr/>
            <p:nvPr/>
          </p:nvSpPr>
          <p:spPr>
            <a:xfrm flipH="false" flipV="false" rot="0">
              <a:off x="17644" y="15058"/>
              <a:ext cx="14247194" cy="6889880"/>
            </a:xfrm>
            <a:custGeom>
              <a:avLst/>
              <a:gdLst/>
              <a:ahLst/>
              <a:cxnLst/>
              <a:rect r="r" b="b" t="t" l="l"/>
              <a:pathLst>
                <a:path h="6889880" w="14247194">
                  <a:moveTo>
                    <a:pt x="0" y="0"/>
                  </a:moveTo>
                  <a:lnTo>
                    <a:pt x="14247194" y="0"/>
                  </a:lnTo>
                  <a:lnTo>
                    <a:pt x="14247194" y="6889879"/>
                  </a:lnTo>
                  <a:lnTo>
                    <a:pt x="0" y="6889879"/>
                  </a:lnTo>
                  <a:close/>
                </a:path>
              </a:pathLst>
            </a:custGeom>
            <a:solidFill>
              <a:srgbClr val="1E3A1E"/>
            </a:solidFill>
          </p:spPr>
        </p:sp>
        <p:sp>
          <p:nvSpPr>
            <p:cNvPr name="Freeform 4" id="4"/>
            <p:cNvSpPr/>
            <p:nvPr/>
          </p:nvSpPr>
          <p:spPr>
            <a:xfrm flipH="false" flipV="false" rot="0">
              <a:off x="0" y="0"/>
              <a:ext cx="14282455" cy="6919985"/>
            </a:xfrm>
            <a:custGeom>
              <a:avLst/>
              <a:gdLst/>
              <a:ahLst/>
              <a:cxnLst/>
              <a:rect r="r" b="b" t="t" l="l"/>
              <a:pathLst>
                <a:path h="6919985" w="14282455">
                  <a:moveTo>
                    <a:pt x="17644" y="0"/>
                  </a:moveTo>
                  <a:lnTo>
                    <a:pt x="14264838" y="0"/>
                  </a:lnTo>
                  <a:cubicBezTo>
                    <a:pt x="14274566" y="0"/>
                    <a:pt x="14282455" y="6755"/>
                    <a:pt x="14282455" y="15058"/>
                  </a:cubicBezTo>
                  <a:lnTo>
                    <a:pt x="14282455" y="6904937"/>
                  </a:lnTo>
                  <a:cubicBezTo>
                    <a:pt x="14282455" y="6913240"/>
                    <a:pt x="14274566" y="6919985"/>
                    <a:pt x="14264838" y="6919985"/>
                  </a:cubicBezTo>
                  <a:lnTo>
                    <a:pt x="17644" y="6919985"/>
                  </a:lnTo>
                  <a:cubicBezTo>
                    <a:pt x="7915" y="6919985"/>
                    <a:pt x="0" y="6913240"/>
                    <a:pt x="0" y="6904937"/>
                  </a:cubicBezTo>
                  <a:lnTo>
                    <a:pt x="0" y="15058"/>
                  </a:lnTo>
                  <a:cubicBezTo>
                    <a:pt x="0" y="6755"/>
                    <a:pt x="7915" y="0"/>
                    <a:pt x="17644" y="0"/>
                  </a:cubicBezTo>
                  <a:moveTo>
                    <a:pt x="17644" y="29974"/>
                  </a:moveTo>
                  <a:lnTo>
                    <a:pt x="17644" y="15058"/>
                  </a:lnTo>
                  <a:lnTo>
                    <a:pt x="35123" y="15058"/>
                  </a:lnTo>
                  <a:lnTo>
                    <a:pt x="35123" y="6904937"/>
                  </a:lnTo>
                  <a:lnTo>
                    <a:pt x="17644" y="6904937"/>
                  </a:lnTo>
                  <a:lnTo>
                    <a:pt x="17644" y="6889879"/>
                  </a:lnTo>
                  <a:lnTo>
                    <a:pt x="14264838" y="6889879"/>
                  </a:lnTo>
                  <a:lnTo>
                    <a:pt x="14264838" y="6904937"/>
                  </a:lnTo>
                  <a:lnTo>
                    <a:pt x="14247194" y="6904937"/>
                  </a:lnTo>
                  <a:lnTo>
                    <a:pt x="14247194" y="15058"/>
                  </a:lnTo>
                  <a:lnTo>
                    <a:pt x="14264838" y="15058"/>
                  </a:lnTo>
                  <a:lnTo>
                    <a:pt x="14264838" y="29974"/>
                  </a:lnTo>
                  <a:lnTo>
                    <a:pt x="17644" y="29974"/>
                  </a:lnTo>
                  <a:close/>
                </a:path>
              </a:pathLst>
            </a:custGeom>
            <a:solidFill>
              <a:srgbClr val="52B788"/>
            </a:solidFill>
          </p:spPr>
        </p:sp>
      </p:grpSp>
      <p:grpSp>
        <p:nvGrpSpPr>
          <p:cNvPr name="Group 5" id="5"/>
          <p:cNvGrpSpPr/>
          <p:nvPr/>
        </p:nvGrpSpPr>
        <p:grpSpPr>
          <a:xfrm rot="0">
            <a:off x="1977429" y="2625231"/>
            <a:ext cx="208402" cy="7345518"/>
            <a:chOff x="0" y="0"/>
            <a:chExt cx="196423" cy="6923287"/>
          </a:xfrm>
        </p:grpSpPr>
        <p:sp>
          <p:nvSpPr>
            <p:cNvPr name="Freeform 6" id="6"/>
            <p:cNvSpPr/>
            <p:nvPr/>
          </p:nvSpPr>
          <p:spPr>
            <a:xfrm flipH="false" flipV="false" rot="0">
              <a:off x="18414" y="18705"/>
              <a:ext cx="159497" cy="6885778"/>
            </a:xfrm>
            <a:custGeom>
              <a:avLst/>
              <a:gdLst/>
              <a:ahLst/>
              <a:cxnLst/>
              <a:rect r="r" b="b" t="t" l="l"/>
              <a:pathLst>
                <a:path h="6885778" w="159497">
                  <a:moveTo>
                    <a:pt x="0" y="0"/>
                  </a:moveTo>
                  <a:lnTo>
                    <a:pt x="159498" y="0"/>
                  </a:lnTo>
                  <a:lnTo>
                    <a:pt x="159498" y="6885778"/>
                  </a:lnTo>
                  <a:lnTo>
                    <a:pt x="0" y="6885778"/>
                  </a:lnTo>
                  <a:close/>
                </a:path>
              </a:pathLst>
            </a:custGeom>
            <a:solidFill>
              <a:srgbClr val="52B788"/>
            </a:solidFill>
          </p:spPr>
        </p:sp>
        <p:sp>
          <p:nvSpPr>
            <p:cNvPr name="Freeform 7" id="7"/>
            <p:cNvSpPr/>
            <p:nvPr/>
          </p:nvSpPr>
          <p:spPr>
            <a:xfrm flipH="false" flipV="false" rot="0">
              <a:off x="0" y="0"/>
              <a:ext cx="196326" cy="6923189"/>
            </a:xfrm>
            <a:custGeom>
              <a:avLst/>
              <a:gdLst/>
              <a:ahLst/>
              <a:cxnLst/>
              <a:rect r="r" b="b" t="t" l="l"/>
              <a:pathLst>
                <a:path h="6923189" w="196326">
                  <a:moveTo>
                    <a:pt x="18414" y="0"/>
                  </a:moveTo>
                  <a:lnTo>
                    <a:pt x="177912" y="0"/>
                  </a:lnTo>
                  <a:cubicBezTo>
                    <a:pt x="188157" y="0"/>
                    <a:pt x="196326" y="8438"/>
                    <a:pt x="196326" y="18705"/>
                  </a:cubicBezTo>
                  <a:lnTo>
                    <a:pt x="196326" y="6904483"/>
                  </a:lnTo>
                  <a:cubicBezTo>
                    <a:pt x="196326" y="6914891"/>
                    <a:pt x="188019" y="6923189"/>
                    <a:pt x="177912" y="6923189"/>
                  </a:cubicBezTo>
                  <a:lnTo>
                    <a:pt x="18414" y="6923189"/>
                  </a:lnTo>
                  <a:cubicBezTo>
                    <a:pt x="8169" y="6923189"/>
                    <a:pt x="0" y="6914750"/>
                    <a:pt x="0" y="6904483"/>
                  </a:cubicBezTo>
                  <a:lnTo>
                    <a:pt x="0" y="18705"/>
                  </a:lnTo>
                  <a:cubicBezTo>
                    <a:pt x="0" y="8438"/>
                    <a:pt x="8307" y="0"/>
                    <a:pt x="18414" y="0"/>
                  </a:cubicBezTo>
                  <a:moveTo>
                    <a:pt x="18414" y="37551"/>
                  </a:moveTo>
                  <a:lnTo>
                    <a:pt x="18414" y="18705"/>
                  </a:lnTo>
                  <a:lnTo>
                    <a:pt x="36967" y="18705"/>
                  </a:lnTo>
                  <a:lnTo>
                    <a:pt x="36967" y="6904483"/>
                  </a:lnTo>
                  <a:lnTo>
                    <a:pt x="18414" y="6904483"/>
                  </a:lnTo>
                  <a:lnTo>
                    <a:pt x="18414" y="6885778"/>
                  </a:lnTo>
                  <a:lnTo>
                    <a:pt x="177912" y="6885778"/>
                  </a:lnTo>
                  <a:lnTo>
                    <a:pt x="177912" y="6904483"/>
                  </a:lnTo>
                  <a:lnTo>
                    <a:pt x="159497" y="6904483"/>
                  </a:lnTo>
                  <a:lnTo>
                    <a:pt x="159497" y="18705"/>
                  </a:lnTo>
                  <a:lnTo>
                    <a:pt x="177912" y="18705"/>
                  </a:lnTo>
                  <a:lnTo>
                    <a:pt x="177912" y="37551"/>
                  </a:lnTo>
                  <a:lnTo>
                    <a:pt x="18414" y="37551"/>
                  </a:lnTo>
                  <a:close/>
                </a:path>
              </a:pathLst>
            </a:custGeom>
            <a:solidFill>
              <a:srgbClr val="52B788"/>
            </a:solidFill>
          </p:spPr>
        </p:sp>
      </p:grpSp>
      <p:grpSp>
        <p:nvGrpSpPr>
          <p:cNvPr name="Group 8" id="8"/>
          <p:cNvGrpSpPr/>
          <p:nvPr/>
        </p:nvGrpSpPr>
        <p:grpSpPr>
          <a:xfrm rot="0">
            <a:off x="2432184" y="3710512"/>
            <a:ext cx="13985477" cy="5178554"/>
            <a:chOff x="0" y="0"/>
            <a:chExt cx="13181573" cy="4880883"/>
          </a:xfrm>
        </p:grpSpPr>
        <p:sp>
          <p:nvSpPr>
            <p:cNvPr name="Freeform 9" id="9"/>
            <p:cNvSpPr/>
            <p:nvPr/>
          </p:nvSpPr>
          <p:spPr>
            <a:xfrm flipH="false" flipV="false" rot="0">
              <a:off x="0" y="0"/>
              <a:ext cx="13181572" cy="4880883"/>
            </a:xfrm>
            <a:custGeom>
              <a:avLst/>
              <a:gdLst/>
              <a:ahLst/>
              <a:cxnLst/>
              <a:rect r="r" b="b" t="t" l="l"/>
              <a:pathLst>
                <a:path h="4880883" w="13181572">
                  <a:moveTo>
                    <a:pt x="0" y="0"/>
                  </a:moveTo>
                  <a:lnTo>
                    <a:pt x="13181572" y="0"/>
                  </a:lnTo>
                  <a:lnTo>
                    <a:pt x="13181572" y="4880883"/>
                  </a:lnTo>
                  <a:lnTo>
                    <a:pt x="0" y="4880883"/>
                  </a:lnTo>
                  <a:close/>
                </a:path>
              </a:pathLst>
            </a:custGeom>
            <a:blipFill>
              <a:blip r:embed="rId2">
                <a:alphaModFix amt="0"/>
              </a:blip>
              <a:stretch>
                <a:fillRect l="0" t="-20138" r="21381" b="37396"/>
              </a:stretch>
            </a:blipFill>
          </p:spPr>
        </p:sp>
        <p:sp>
          <p:nvSpPr>
            <p:cNvPr name="TextBox 10" id="10"/>
            <p:cNvSpPr txBox="true"/>
            <p:nvPr/>
          </p:nvSpPr>
          <p:spPr>
            <a:xfrm>
              <a:off x="0" y="-257175"/>
              <a:ext cx="13181573" cy="5138058"/>
            </a:xfrm>
            <a:prstGeom prst="rect">
              <a:avLst/>
            </a:prstGeom>
          </p:spPr>
          <p:txBody>
            <a:bodyPr anchor="ctr" rtlCol="false" tIns="0" lIns="0" bIns="0" rIns="0"/>
            <a:lstStyle/>
            <a:p>
              <a:pPr algn="l" marL="712464" indent="-356232" lvl="1">
                <a:lnSpc>
                  <a:spcPts val="5939"/>
                </a:lnSpc>
                <a:buFont typeface="Arial"/>
                <a:buChar char="•"/>
              </a:pPr>
              <a:r>
                <a:rPr lang="en-US" sz="3299">
                  <a:solidFill>
                    <a:srgbClr val="D4EDD4"/>
                  </a:solidFill>
                  <a:latin typeface="Calibri (MS)"/>
                  <a:ea typeface="Calibri (MS)"/>
                  <a:cs typeface="Calibri (MS)"/>
                  <a:sym typeface="Calibri (MS)"/>
                </a:rPr>
                <a:t>Ce projet présente l’implémentation et l’analyse d’un modèle de Random Forest appliqué au dataset Pima Indians Diabetes, un problème de classification binaire visant à prédire la présence ou l’absence de diabète.</a:t>
              </a:r>
            </a:p>
            <a:p>
              <a:pPr algn="l" marL="712464" indent="-356232" lvl="1">
                <a:lnSpc>
                  <a:spcPts val="5939"/>
                </a:lnSpc>
                <a:buFont typeface="Arial"/>
                <a:buChar char="•"/>
              </a:pPr>
              <a:r>
                <a:rPr lang="en-US" sz="3299">
                  <a:solidFill>
                    <a:srgbClr val="D4EDD4"/>
                  </a:solidFill>
                  <a:latin typeface="Calibri (MS)"/>
                  <a:ea typeface="Calibri (MS)"/>
                  <a:cs typeface="Calibri (MS)"/>
                  <a:sym typeface="Calibri (MS)"/>
                </a:rPr>
                <a:t>L’objectif est d’étudier le comportement du modèle à travers plusieurs étapes</a:t>
              </a:r>
            </a:p>
            <a:p>
              <a:pPr algn="l" marL="712464" indent="-356232" lvl="1">
                <a:lnSpc>
                  <a:spcPts val="5939"/>
                </a:lnSpc>
                <a:buFont typeface="Arial"/>
                <a:buChar char="•"/>
              </a:pPr>
              <a:r>
                <a:rPr lang="en-US" sz="3299">
                  <a:solidFill>
                    <a:srgbClr val="D4EDD4"/>
                  </a:solidFill>
                  <a:latin typeface="Calibri (MS)"/>
                  <a:ea typeface="Calibri (MS)"/>
                  <a:cs typeface="Calibri (MS)"/>
                  <a:sym typeface="Calibri (MS)"/>
                </a:rPr>
                <a:t>Enfin, nous comparons la Random Forest à des modèles classiques afin d’évaluer son efficacité et sa robustesse.</a:t>
              </a:r>
            </a:p>
          </p:txBody>
        </p:sp>
      </p:grpSp>
      <p:grpSp>
        <p:nvGrpSpPr>
          <p:cNvPr name="Group 11" id="11"/>
          <p:cNvGrpSpPr/>
          <p:nvPr/>
        </p:nvGrpSpPr>
        <p:grpSpPr>
          <a:xfrm rot="0">
            <a:off x="-12697" y="-12697"/>
            <a:ext cx="18313403" cy="135131"/>
            <a:chOff x="0" y="0"/>
            <a:chExt cx="24417871" cy="180175"/>
          </a:xfrm>
        </p:grpSpPr>
        <p:sp>
          <p:nvSpPr>
            <p:cNvPr name="Freeform 12" id="12"/>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52B788"/>
            </a:solidFill>
          </p:spPr>
        </p:sp>
        <p:sp>
          <p:nvSpPr>
            <p:cNvPr name="Freeform 13" id="13"/>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52B788"/>
            </a:solidFill>
          </p:spPr>
        </p:sp>
      </p:grpSp>
      <p:grpSp>
        <p:nvGrpSpPr>
          <p:cNvPr name="Group 14" id="14"/>
          <p:cNvGrpSpPr/>
          <p:nvPr/>
        </p:nvGrpSpPr>
        <p:grpSpPr>
          <a:xfrm rot="0">
            <a:off x="1028700" y="498808"/>
            <a:ext cx="16459200" cy="1450328"/>
            <a:chOff x="0" y="0"/>
            <a:chExt cx="21945600" cy="1933771"/>
          </a:xfrm>
        </p:grpSpPr>
        <p:sp>
          <p:nvSpPr>
            <p:cNvPr name="Freeform 15" id="15"/>
            <p:cNvSpPr/>
            <p:nvPr/>
          </p:nvSpPr>
          <p:spPr>
            <a:xfrm flipH="false" flipV="false" rot="0">
              <a:off x="0" y="0"/>
              <a:ext cx="21945600" cy="1933771"/>
            </a:xfrm>
            <a:custGeom>
              <a:avLst/>
              <a:gdLst/>
              <a:ahLst/>
              <a:cxnLst/>
              <a:rect r="r" b="b" t="t" l="l"/>
              <a:pathLst>
                <a:path h="1933771" w="21945600">
                  <a:moveTo>
                    <a:pt x="0" y="0"/>
                  </a:moveTo>
                  <a:lnTo>
                    <a:pt x="21945600" y="0"/>
                  </a:lnTo>
                  <a:lnTo>
                    <a:pt x="21945600" y="1933771"/>
                  </a:lnTo>
                  <a:lnTo>
                    <a:pt x="0" y="1933771"/>
                  </a:lnTo>
                  <a:close/>
                </a:path>
              </a:pathLst>
            </a:custGeom>
            <a:blipFill>
              <a:blip r:embed="rId2">
                <a:alphaModFix amt="0"/>
              </a:blip>
              <a:stretch>
                <a:fillRect l="0" t="-188343" r="0" b="-153912"/>
              </a:stretch>
            </a:blipFill>
          </p:spPr>
        </p:sp>
        <p:sp>
          <p:nvSpPr>
            <p:cNvPr name="TextBox 16" id="16"/>
            <p:cNvSpPr txBox="true"/>
            <p:nvPr/>
          </p:nvSpPr>
          <p:spPr>
            <a:xfrm>
              <a:off x="0" y="-161925"/>
              <a:ext cx="21945600" cy="2095696"/>
            </a:xfrm>
            <a:prstGeom prst="rect">
              <a:avLst/>
            </a:prstGeom>
          </p:spPr>
          <p:txBody>
            <a:bodyPr anchor="ctr" rtlCol="false" tIns="0" lIns="0" bIns="0" rIns="0"/>
            <a:lstStyle/>
            <a:p>
              <a:pPr algn="ctr">
                <a:lnSpc>
                  <a:spcPts val="8639"/>
                </a:lnSpc>
              </a:pPr>
              <a:r>
                <a:rPr lang="en-US" sz="7199" b="true">
                  <a:solidFill>
                    <a:srgbClr val="FFFFFF"/>
                  </a:solidFill>
                  <a:latin typeface="Calibri (MS) Bold"/>
                  <a:ea typeface="Calibri (MS) Bold"/>
                  <a:cs typeface="Calibri (MS) Bold"/>
                  <a:sym typeface="Calibri (MS) Bold"/>
                </a:rPr>
                <a:t>Introduction</a:t>
              </a:r>
            </a:p>
          </p:txBody>
        </p:sp>
      </p:grpSp>
      <p:grpSp>
        <p:nvGrpSpPr>
          <p:cNvPr name="Group 17" id="17"/>
          <p:cNvGrpSpPr/>
          <p:nvPr/>
        </p:nvGrpSpPr>
        <p:grpSpPr>
          <a:xfrm rot="0">
            <a:off x="2730503" y="1998983"/>
            <a:ext cx="12827003" cy="25403"/>
            <a:chOff x="0" y="0"/>
            <a:chExt cx="17102671" cy="33871"/>
          </a:xfrm>
        </p:grpSpPr>
        <p:sp>
          <p:nvSpPr>
            <p:cNvPr name="Freeform 18" id="18"/>
            <p:cNvSpPr/>
            <p:nvPr/>
          </p:nvSpPr>
          <p:spPr>
            <a:xfrm flipH="false" flipV="false" rot="0">
              <a:off x="16891" y="0"/>
              <a:ext cx="17068799" cy="33909"/>
            </a:xfrm>
            <a:custGeom>
              <a:avLst/>
              <a:gdLst/>
              <a:ahLst/>
              <a:cxnLst/>
              <a:rect r="r" b="b" t="t" l="l"/>
              <a:pathLst>
                <a:path h="33909" w="17068799">
                  <a:moveTo>
                    <a:pt x="0" y="0"/>
                  </a:moveTo>
                  <a:lnTo>
                    <a:pt x="17068799" y="0"/>
                  </a:lnTo>
                  <a:lnTo>
                    <a:pt x="17068799" y="33909"/>
                  </a:lnTo>
                  <a:lnTo>
                    <a:pt x="0" y="33909"/>
                  </a:lnTo>
                  <a:close/>
                </a:path>
              </a:pathLst>
            </a:custGeom>
            <a:solidFill>
              <a:srgbClr val="2D6A2D"/>
            </a:solidFill>
          </p:spPr>
        </p:sp>
      </p:grpSp>
      <p:sp>
        <p:nvSpPr>
          <p:cNvPr name="TextBox 19" id="19"/>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6858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5280"/>
                </a:lnSpc>
              </a:pPr>
            </a:p>
          </p:txBody>
        </p:sp>
      </p:grpSp>
      <p:grpSp>
        <p:nvGrpSpPr>
          <p:cNvPr name="Group 8" id="8"/>
          <p:cNvGrpSpPr/>
          <p:nvPr/>
        </p:nvGrpSpPr>
        <p:grpSpPr>
          <a:xfrm rot="0">
            <a:off x="307343" y="2402176"/>
            <a:ext cx="4231643" cy="6299866"/>
            <a:chOff x="0" y="0"/>
            <a:chExt cx="5642191" cy="8399821"/>
          </a:xfrm>
        </p:grpSpPr>
        <p:sp>
          <p:nvSpPr>
            <p:cNvPr name="Freeform 9" id="9"/>
            <p:cNvSpPr/>
            <p:nvPr/>
          </p:nvSpPr>
          <p:spPr>
            <a:xfrm flipH="false" flipV="false" rot="0">
              <a:off x="16891" y="16101"/>
              <a:ext cx="5608320" cy="8367535"/>
            </a:xfrm>
            <a:custGeom>
              <a:avLst/>
              <a:gdLst/>
              <a:ahLst/>
              <a:cxnLst/>
              <a:rect r="r" b="b" t="t" l="l"/>
              <a:pathLst>
                <a:path h="8367535" w="5608320">
                  <a:moveTo>
                    <a:pt x="0" y="0"/>
                  </a:moveTo>
                  <a:lnTo>
                    <a:pt x="5608320" y="0"/>
                  </a:lnTo>
                  <a:lnTo>
                    <a:pt x="5608320" y="8367535"/>
                  </a:lnTo>
                  <a:lnTo>
                    <a:pt x="0" y="8367535"/>
                  </a:lnTo>
                  <a:close/>
                </a:path>
              </a:pathLst>
            </a:custGeom>
            <a:solidFill>
              <a:srgbClr val="FFFFFF"/>
            </a:solidFill>
          </p:spPr>
        </p:sp>
        <p:sp>
          <p:nvSpPr>
            <p:cNvPr name="Freeform 10" id="10"/>
            <p:cNvSpPr/>
            <p:nvPr/>
          </p:nvSpPr>
          <p:spPr>
            <a:xfrm flipH="false" flipV="false" rot="0">
              <a:off x="0" y="0"/>
              <a:ext cx="5642102" cy="8399736"/>
            </a:xfrm>
            <a:custGeom>
              <a:avLst/>
              <a:gdLst/>
              <a:ahLst/>
              <a:cxnLst/>
              <a:rect r="r" b="b" t="t" l="l"/>
              <a:pathLst>
                <a:path h="8399736" w="5642102">
                  <a:moveTo>
                    <a:pt x="16891" y="0"/>
                  </a:moveTo>
                  <a:lnTo>
                    <a:pt x="5625211" y="0"/>
                  </a:lnTo>
                  <a:cubicBezTo>
                    <a:pt x="5634609" y="0"/>
                    <a:pt x="5642102" y="7263"/>
                    <a:pt x="5642102" y="16101"/>
                  </a:cubicBezTo>
                  <a:lnTo>
                    <a:pt x="5642102" y="8383636"/>
                  </a:lnTo>
                  <a:cubicBezTo>
                    <a:pt x="5642102" y="8392594"/>
                    <a:pt x="5634482" y="8399736"/>
                    <a:pt x="5625211" y="8399736"/>
                  </a:cubicBezTo>
                  <a:lnTo>
                    <a:pt x="16891" y="8399736"/>
                  </a:lnTo>
                  <a:cubicBezTo>
                    <a:pt x="7493" y="8399736"/>
                    <a:pt x="0" y="8392473"/>
                    <a:pt x="0" y="8383636"/>
                  </a:cubicBezTo>
                  <a:lnTo>
                    <a:pt x="0" y="16101"/>
                  </a:lnTo>
                  <a:cubicBezTo>
                    <a:pt x="0" y="7263"/>
                    <a:pt x="7620" y="0"/>
                    <a:pt x="16891" y="0"/>
                  </a:cubicBezTo>
                  <a:moveTo>
                    <a:pt x="16891" y="32323"/>
                  </a:moveTo>
                  <a:lnTo>
                    <a:pt x="16891" y="16101"/>
                  </a:lnTo>
                  <a:lnTo>
                    <a:pt x="33909" y="16101"/>
                  </a:lnTo>
                  <a:lnTo>
                    <a:pt x="33909" y="8383636"/>
                  </a:lnTo>
                  <a:lnTo>
                    <a:pt x="16891" y="8383636"/>
                  </a:lnTo>
                  <a:lnTo>
                    <a:pt x="16891" y="8367535"/>
                  </a:lnTo>
                  <a:lnTo>
                    <a:pt x="5625211" y="8367535"/>
                  </a:lnTo>
                  <a:lnTo>
                    <a:pt x="5625211" y="8383636"/>
                  </a:lnTo>
                  <a:lnTo>
                    <a:pt x="5608320" y="8383636"/>
                  </a:lnTo>
                  <a:lnTo>
                    <a:pt x="5608320" y="16101"/>
                  </a:lnTo>
                  <a:lnTo>
                    <a:pt x="5625211" y="16101"/>
                  </a:lnTo>
                  <a:lnTo>
                    <a:pt x="5625211" y="32323"/>
                  </a:lnTo>
                  <a:lnTo>
                    <a:pt x="16891" y="32323"/>
                  </a:lnTo>
                  <a:close/>
                </a:path>
              </a:pathLst>
            </a:custGeom>
            <a:solidFill>
              <a:srgbClr val="E0E8E0"/>
            </a:solidFill>
          </p:spPr>
        </p:sp>
      </p:grpSp>
      <p:grpSp>
        <p:nvGrpSpPr>
          <p:cNvPr name="Group 11" id="11"/>
          <p:cNvGrpSpPr/>
          <p:nvPr/>
        </p:nvGrpSpPr>
        <p:grpSpPr>
          <a:xfrm rot="0">
            <a:off x="307343" y="2402176"/>
            <a:ext cx="4231643" cy="982995"/>
            <a:chOff x="0" y="0"/>
            <a:chExt cx="5642191" cy="1310660"/>
          </a:xfrm>
        </p:grpSpPr>
        <p:sp>
          <p:nvSpPr>
            <p:cNvPr name="Freeform 12" id="12"/>
            <p:cNvSpPr/>
            <p:nvPr/>
          </p:nvSpPr>
          <p:spPr>
            <a:xfrm flipH="false" flipV="false" rot="0">
              <a:off x="16891" y="16101"/>
              <a:ext cx="5608320" cy="1278373"/>
            </a:xfrm>
            <a:custGeom>
              <a:avLst/>
              <a:gdLst/>
              <a:ahLst/>
              <a:cxnLst/>
              <a:rect r="r" b="b" t="t" l="l"/>
              <a:pathLst>
                <a:path h="1278373" w="5608320">
                  <a:moveTo>
                    <a:pt x="0" y="0"/>
                  </a:moveTo>
                  <a:lnTo>
                    <a:pt x="5608320" y="0"/>
                  </a:lnTo>
                  <a:lnTo>
                    <a:pt x="5608320" y="1278373"/>
                  </a:lnTo>
                  <a:lnTo>
                    <a:pt x="0" y="1278373"/>
                  </a:lnTo>
                  <a:close/>
                </a:path>
              </a:pathLst>
            </a:custGeom>
            <a:solidFill>
              <a:srgbClr val="2C5F2D"/>
            </a:solidFill>
          </p:spPr>
        </p:sp>
        <p:sp>
          <p:nvSpPr>
            <p:cNvPr name="Freeform 13" id="13"/>
            <p:cNvSpPr/>
            <p:nvPr/>
          </p:nvSpPr>
          <p:spPr>
            <a:xfrm flipH="false" flipV="false" rot="0">
              <a:off x="0" y="0"/>
              <a:ext cx="5642102" cy="1310575"/>
            </a:xfrm>
            <a:custGeom>
              <a:avLst/>
              <a:gdLst/>
              <a:ahLst/>
              <a:cxnLst/>
              <a:rect r="r" b="b" t="t" l="l"/>
              <a:pathLst>
                <a:path h="1310575" w="5642102">
                  <a:moveTo>
                    <a:pt x="16891" y="0"/>
                  </a:moveTo>
                  <a:lnTo>
                    <a:pt x="5625211" y="0"/>
                  </a:lnTo>
                  <a:cubicBezTo>
                    <a:pt x="5634609" y="0"/>
                    <a:pt x="5642102" y="7263"/>
                    <a:pt x="5642102" y="16101"/>
                  </a:cubicBezTo>
                  <a:lnTo>
                    <a:pt x="5642102" y="1294474"/>
                  </a:lnTo>
                  <a:cubicBezTo>
                    <a:pt x="5642102" y="1303432"/>
                    <a:pt x="5634482" y="1310575"/>
                    <a:pt x="5625211" y="1310575"/>
                  </a:cubicBezTo>
                  <a:lnTo>
                    <a:pt x="16891" y="1310575"/>
                  </a:lnTo>
                  <a:cubicBezTo>
                    <a:pt x="7493" y="1310575"/>
                    <a:pt x="0" y="1303311"/>
                    <a:pt x="0" y="1294474"/>
                  </a:cubicBezTo>
                  <a:lnTo>
                    <a:pt x="0" y="16101"/>
                  </a:lnTo>
                  <a:cubicBezTo>
                    <a:pt x="0" y="7263"/>
                    <a:pt x="7620" y="0"/>
                    <a:pt x="16891" y="0"/>
                  </a:cubicBezTo>
                  <a:moveTo>
                    <a:pt x="16891" y="32323"/>
                  </a:moveTo>
                  <a:lnTo>
                    <a:pt x="16891" y="16101"/>
                  </a:lnTo>
                  <a:lnTo>
                    <a:pt x="33909" y="16101"/>
                  </a:lnTo>
                  <a:lnTo>
                    <a:pt x="33909" y="1294474"/>
                  </a:lnTo>
                  <a:lnTo>
                    <a:pt x="16891" y="1294474"/>
                  </a:lnTo>
                  <a:lnTo>
                    <a:pt x="16891" y="1278373"/>
                  </a:lnTo>
                  <a:lnTo>
                    <a:pt x="5625211" y="1278373"/>
                  </a:lnTo>
                  <a:lnTo>
                    <a:pt x="5625211" y="1294474"/>
                  </a:lnTo>
                  <a:lnTo>
                    <a:pt x="5608320" y="1294474"/>
                  </a:lnTo>
                  <a:lnTo>
                    <a:pt x="5608320" y="16101"/>
                  </a:lnTo>
                  <a:lnTo>
                    <a:pt x="5625211" y="16101"/>
                  </a:lnTo>
                  <a:lnTo>
                    <a:pt x="5625211" y="32323"/>
                  </a:lnTo>
                  <a:lnTo>
                    <a:pt x="16891" y="32323"/>
                  </a:lnTo>
                  <a:close/>
                </a:path>
              </a:pathLst>
            </a:custGeom>
            <a:solidFill>
              <a:srgbClr val="2C5F2D"/>
            </a:solidFill>
          </p:spPr>
        </p:sp>
      </p:grpSp>
      <p:grpSp>
        <p:nvGrpSpPr>
          <p:cNvPr name="Group 14" id="14"/>
          <p:cNvGrpSpPr/>
          <p:nvPr/>
        </p:nvGrpSpPr>
        <p:grpSpPr>
          <a:xfrm rot="0">
            <a:off x="502920" y="2405817"/>
            <a:ext cx="914400" cy="871946"/>
            <a:chOff x="0" y="0"/>
            <a:chExt cx="1219200" cy="1162594"/>
          </a:xfrm>
        </p:grpSpPr>
        <p:sp>
          <p:nvSpPr>
            <p:cNvPr name="Freeform 15" id="15"/>
            <p:cNvSpPr/>
            <p:nvPr/>
          </p:nvSpPr>
          <p:spPr>
            <a:xfrm flipH="false" flipV="false" rot="0">
              <a:off x="0" y="0"/>
              <a:ext cx="1219200" cy="1162594"/>
            </a:xfrm>
            <a:custGeom>
              <a:avLst/>
              <a:gdLst/>
              <a:ahLst/>
              <a:cxnLst/>
              <a:rect r="r" b="b" t="t" l="l"/>
              <a:pathLst>
                <a:path h="1162594" w="1219200">
                  <a:moveTo>
                    <a:pt x="0" y="0"/>
                  </a:moveTo>
                  <a:lnTo>
                    <a:pt x="1219200" y="0"/>
                  </a:lnTo>
                  <a:lnTo>
                    <a:pt x="1219200" y="1162594"/>
                  </a:lnTo>
                  <a:lnTo>
                    <a:pt x="0" y="1162594"/>
                  </a:lnTo>
                  <a:close/>
                </a:path>
              </a:pathLst>
            </a:custGeom>
            <a:blipFill>
              <a:blip r:embed="rId3">
                <a:alphaModFix amt="0"/>
              </a:blip>
              <a:stretch>
                <a:fillRect l="-52642" t="0" r="-52642" b="16104"/>
              </a:stretch>
            </a:blipFill>
          </p:spPr>
        </p:sp>
        <p:sp>
          <p:nvSpPr>
            <p:cNvPr name="TextBox 16" id="16"/>
            <p:cNvSpPr txBox="true"/>
            <p:nvPr/>
          </p:nvSpPr>
          <p:spPr>
            <a:xfrm>
              <a:off x="0" y="-85725"/>
              <a:ext cx="1219200" cy="1248319"/>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A1</a:t>
              </a:r>
            </a:p>
          </p:txBody>
        </p:sp>
      </p:grpSp>
      <p:grpSp>
        <p:nvGrpSpPr>
          <p:cNvPr name="Group 17" id="17"/>
          <p:cNvGrpSpPr/>
          <p:nvPr/>
        </p:nvGrpSpPr>
        <p:grpSpPr>
          <a:xfrm rot="0">
            <a:off x="1325880" y="2588602"/>
            <a:ext cx="3017520" cy="697295"/>
            <a:chOff x="0" y="0"/>
            <a:chExt cx="4023360" cy="929726"/>
          </a:xfrm>
        </p:grpSpPr>
        <p:sp>
          <p:nvSpPr>
            <p:cNvPr name="Freeform 18" id="18"/>
            <p:cNvSpPr/>
            <p:nvPr/>
          </p:nvSpPr>
          <p:spPr>
            <a:xfrm flipH="false" flipV="false" rot="0">
              <a:off x="0" y="0"/>
              <a:ext cx="4023360" cy="929726"/>
            </a:xfrm>
            <a:custGeom>
              <a:avLst/>
              <a:gdLst/>
              <a:ahLst/>
              <a:cxnLst/>
              <a:rect r="r" b="b" t="t" l="l"/>
              <a:pathLst>
                <a:path h="929726" w="4023360">
                  <a:moveTo>
                    <a:pt x="0" y="0"/>
                  </a:moveTo>
                  <a:lnTo>
                    <a:pt x="4023360" y="0"/>
                  </a:lnTo>
                  <a:lnTo>
                    <a:pt x="4023360" y="929726"/>
                  </a:lnTo>
                  <a:lnTo>
                    <a:pt x="0" y="929726"/>
                  </a:lnTo>
                  <a:close/>
                </a:path>
              </a:pathLst>
            </a:custGeom>
            <a:blipFill>
              <a:blip r:embed="rId3">
                <a:alphaModFix amt="0"/>
              </a:blip>
              <a:stretch>
                <a:fillRect l="0" t="-31866" r="0" b="-36775"/>
              </a:stretch>
            </a:blipFill>
          </p:spPr>
        </p:sp>
        <p:sp>
          <p:nvSpPr>
            <p:cNvPr name="TextBox 19" id="19"/>
            <p:cNvSpPr txBox="true"/>
            <p:nvPr/>
          </p:nvSpPr>
          <p:spPr>
            <a:xfrm>
              <a:off x="0" y="-76200"/>
              <a:ext cx="4023360" cy="1005926"/>
            </a:xfrm>
            <a:prstGeom prst="rect">
              <a:avLst/>
            </a:prstGeom>
          </p:spPr>
          <p:txBody>
            <a:bodyPr anchor="ctr" rtlCol="false" tIns="0" lIns="0" bIns="0" rIns="0"/>
            <a:lstStyle/>
            <a:p>
              <a:pPr algn="l">
                <a:lnSpc>
                  <a:spcPts val="3839"/>
                </a:lnSpc>
              </a:pPr>
              <a:r>
                <a:rPr lang="en-US" sz="3199" b="true">
                  <a:solidFill>
                    <a:srgbClr val="FFFFFF"/>
                  </a:solidFill>
                  <a:latin typeface="Calibri (MS) Bold"/>
                  <a:ea typeface="Calibri (MS) Bold"/>
                  <a:cs typeface="Calibri (MS) Bold"/>
                  <a:sym typeface="Calibri (MS) Bold"/>
                </a:rPr>
                <a:t>Fondations</a:t>
              </a:r>
            </a:p>
          </p:txBody>
        </p:sp>
      </p:grpSp>
      <p:grpSp>
        <p:nvGrpSpPr>
          <p:cNvPr name="Group 20" id="20"/>
          <p:cNvGrpSpPr/>
          <p:nvPr/>
        </p:nvGrpSpPr>
        <p:grpSpPr>
          <a:xfrm rot="0">
            <a:off x="539496" y="3547382"/>
            <a:ext cx="3749040" cy="1220265"/>
            <a:chOff x="0" y="0"/>
            <a:chExt cx="4998720" cy="1627021"/>
          </a:xfrm>
        </p:grpSpPr>
        <p:sp>
          <p:nvSpPr>
            <p:cNvPr name="Freeform 21" id="21"/>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22" id="22"/>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Arbre de décision (CART)</a:t>
              </a:r>
            </a:p>
          </p:txBody>
        </p:sp>
      </p:grpSp>
      <p:grpSp>
        <p:nvGrpSpPr>
          <p:cNvPr name="Group 23" id="23"/>
          <p:cNvGrpSpPr/>
          <p:nvPr/>
        </p:nvGrpSpPr>
        <p:grpSpPr>
          <a:xfrm rot="0">
            <a:off x="539496" y="4907107"/>
            <a:ext cx="3749040" cy="1220265"/>
            <a:chOff x="0" y="0"/>
            <a:chExt cx="4998720" cy="1627021"/>
          </a:xfrm>
        </p:grpSpPr>
        <p:sp>
          <p:nvSpPr>
            <p:cNvPr name="Freeform 24" id="24"/>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25" id="25"/>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Bagging &amp; Bootstrap</a:t>
              </a:r>
            </a:p>
          </p:txBody>
        </p:sp>
      </p:grpSp>
      <p:grpSp>
        <p:nvGrpSpPr>
          <p:cNvPr name="Group 26" id="26"/>
          <p:cNvGrpSpPr/>
          <p:nvPr/>
        </p:nvGrpSpPr>
        <p:grpSpPr>
          <a:xfrm rot="0">
            <a:off x="539496" y="6266831"/>
            <a:ext cx="3749040" cy="1220265"/>
            <a:chOff x="0" y="0"/>
            <a:chExt cx="4998720" cy="1627021"/>
          </a:xfrm>
        </p:grpSpPr>
        <p:sp>
          <p:nvSpPr>
            <p:cNvPr name="Freeform 27" id="27"/>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28" id="28"/>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Comparaison ID3 / C4.5 / CART</a:t>
              </a:r>
            </a:p>
          </p:txBody>
        </p:sp>
      </p:grpSp>
      <p:grpSp>
        <p:nvGrpSpPr>
          <p:cNvPr name="Group 29" id="29"/>
          <p:cNvGrpSpPr/>
          <p:nvPr/>
        </p:nvGrpSpPr>
        <p:grpSpPr>
          <a:xfrm rot="0">
            <a:off x="4787903" y="2402176"/>
            <a:ext cx="4231643" cy="6299866"/>
            <a:chOff x="0" y="0"/>
            <a:chExt cx="5642191" cy="8399821"/>
          </a:xfrm>
        </p:grpSpPr>
        <p:sp>
          <p:nvSpPr>
            <p:cNvPr name="Freeform 30" id="30"/>
            <p:cNvSpPr/>
            <p:nvPr/>
          </p:nvSpPr>
          <p:spPr>
            <a:xfrm flipH="false" flipV="false" rot="0">
              <a:off x="16891" y="16101"/>
              <a:ext cx="5608320" cy="8367535"/>
            </a:xfrm>
            <a:custGeom>
              <a:avLst/>
              <a:gdLst/>
              <a:ahLst/>
              <a:cxnLst/>
              <a:rect r="r" b="b" t="t" l="l"/>
              <a:pathLst>
                <a:path h="8367535" w="5608320">
                  <a:moveTo>
                    <a:pt x="0" y="0"/>
                  </a:moveTo>
                  <a:lnTo>
                    <a:pt x="5608320" y="0"/>
                  </a:lnTo>
                  <a:lnTo>
                    <a:pt x="5608320" y="8367535"/>
                  </a:lnTo>
                  <a:lnTo>
                    <a:pt x="0" y="8367535"/>
                  </a:lnTo>
                  <a:close/>
                </a:path>
              </a:pathLst>
            </a:custGeom>
            <a:solidFill>
              <a:srgbClr val="FFFFFF"/>
            </a:solidFill>
          </p:spPr>
        </p:sp>
        <p:sp>
          <p:nvSpPr>
            <p:cNvPr name="Freeform 31" id="31"/>
            <p:cNvSpPr/>
            <p:nvPr/>
          </p:nvSpPr>
          <p:spPr>
            <a:xfrm flipH="false" flipV="false" rot="0">
              <a:off x="0" y="0"/>
              <a:ext cx="5642102" cy="8399736"/>
            </a:xfrm>
            <a:custGeom>
              <a:avLst/>
              <a:gdLst/>
              <a:ahLst/>
              <a:cxnLst/>
              <a:rect r="r" b="b" t="t" l="l"/>
              <a:pathLst>
                <a:path h="8399736" w="5642102">
                  <a:moveTo>
                    <a:pt x="16891" y="0"/>
                  </a:moveTo>
                  <a:lnTo>
                    <a:pt x="5625211" y="0"/>
                  </a:lnTo>
                  <a:cubicBezTo>
                    <a:pt x="5634609" y="0"/>
                    <a:pt x="5642102" y="7263"/>
                    <a:pt x="5642102" y="16101"/>
                  </a:cubicBezTo>
                  <a:lnTo>
                    <a:pt x="5642102" y="8383636"/>
                  </a:lnTo>
                  <a:cubicBezTo>
                    <a:pt x="5642102" y="8392594"/>
                    <a:pt x="5634482" y="8399736"/>
                    <a:pt x="5625211" y="8399736"/>
                  </a:cubicBezTo>
                  <a:lnTo>
                    <a:pt x="16891" y="8399736"/>
                  </a:lnTo>
                  <a:cubicBezTo>
                    <a:pt x="7493" y="8399736"/>
                    <a:pt x="0" y="8392473"/>
                    <a:pt x="0" y="8383636"/>
                  </a:cubicBezTo>
                  <a:lnTo>
                    <a:pt x="0" y="16101"/>
                  </a:lnTo>
                  <a:cubicBezTo>
                    <a:pt x="0" y="7263"/>
                    <a:pt x="7620" y="0"/>
                    <a:pt x="16891" y="0"/>
                  </a:cubicBezTo>
                  <a:moveTo>
                    <a:pt x="16891" y="32323"/>
                  </a:moveTo>
                  <a:lnTo>
                    <a:pt x="16891" y="16101"/>
                  </a:lnTo>
                  <a:lnTo>
                    <a:pt x="33909" y="16101"/>
                  </a:lnTo>
                  <a:lnTo>
                    <a:pt x="33909" y="8383636"/>
                  </a:lnTo>
                  <a:lnTo>
                    <a:pt x="16891" y="8383636"/>
                  </a:lnTo>
                  <a:lnTo>
                    <a:pt x="16891" y="8367535"/>
                  </a:lnTo>
                  <a:lnTo>
                    <a:pt x="5625211" y="8367535"/>
                  </a:lnTo>
                  <a:lnTo>
                    <a:pt x="5625211" y="8383636"/>
                  </a:lnTo>
                  <a:lnTo>
                    <a:pt x="5608320" y="8383636"/>
                  </a:lnTo>
                  <a:lnTo>
                    <a:pt x="5608320" y="16101"/>
                  </a:lnTo>
                  <a:lnTo>
                    <a:pt x="5625211" y="16101"/>
                  </a:lnTo>
                  <a:lnTo>
                    <a:pt x="5625211" y="32323"/>
                  </a:lnTo>
                  <a:lnTo>
                    <a:pt x="16891" y="32323"/>
                  </a:lnTo>
                  <a:close/>
                </a:path>
              </a:pathLst>
            </a:custGeom>
            <a:solidFill>
              <a:srgbClr val="E0E8E0"/>
            </a:solidFill>
          </p:spPr>
        </p:sp>
      </p:grpSp>
      <p:grpSp>
        <p:nvGrpSpPr>
          <p:cNvPr name="Group 32" id="32"/>
          <p:cNvGrpSpPr/>
          <p:nvPr/>
        </p:nvGrpSpPr>
        <p:grpSpPr>
          <a:xfrm rot="0">
            <a:off x="4787903" y="2402176"/>
            <a:ext cx="4231643" cy="982995"/>
            <a:chOff x="0" y="0"/>
            <a:chExt cx="5642191" cy="1310660"/>
          </a:xfrm>
        </p:grpSpPr>
        <p:sp>
          <p:nvSpPr>
            <p:cNvPr name="Freeform 33" id="33"/>
            <p:cNvSpPr/>
            <p:nvPr/>
          </p:nvSpPr>
          <p:spPr>
            <a:xfrm flipH="false" flipV="false" rot="0">
              <a:off x="16891" y="16101"/>
              <a:ext cx="5608320" cy="1278373"/>
            </a:xfrm>
            <a:custGeom>
              <a:avLst/>
              <a:gdLst/>
              <a:ahLst/>
              <a:cxnLst/>
              <a:rect r="r" b="b" t="t" l="l"/>
              <a:pathLst>
                <a:path h="1278373" w="5608320">
                  <a:moveTo>
                    <a:pt x="0" y="0"/>
                  </a:moveTo>
                  <a:lnTo>
                    <a:pt x="5608320" y="0"/>
                  </a:lnTo>
                  <a:lnTo>
                    <a:pt x="5608320" y="1278373"/>
                  </a:lnTo>
                  <a:lnTo>
                    <a:pt x="0" y="1278373"/>
                  </a:lnTo>
                  <a:close/>
                </a:path>
              </a:pathLst>
            </a:custGeom>
            <a:solidFill>
              <a:srgbClr val="5B9E3D"/>
            </a:solidFill>
          </p:spPr>
        </p:sp>
        <p:sp>
          <p:nvSpPr>
            <p:cNvPr name="Freeform 34" id="34"/>
            <p:cNvSpPr/>
            <p:nvPr/>
          </p:nvSpPr>
          <p:spPr>
            <a:xfrm flipH="false" flipV="false" rot="0">
              <a:off x="0" y="0"/>
              <a:ext cx="5642102" cy="1310575"/>
            </a:xfrm>
            <a:custGeom>
              <a:avLst/>
              <a:gdLst/>
              <a:ahLst/>
              <a:cxnLst/>
              <a:rect r="r" b="b" t="t" l="l"/>
              <a:pathLst>
                <a:path h="1310575" w="5642102">
                  <a:moveTo>
                    <a:pt x="16891" y="0"/>
                  </a:moveTo>
                  <a:lnTo>
                    <a:pt x="5625211" y="0"/>
                  </a:lnTo>
                  <a:cubicBezTo>
                    <a:pt x="5634609" y="0"/>
                    <a:pt x="5642102" y="7263"/>
                    <a:pt x="5642102" y="16101"/>
                  </a:cubicBezTo>
                  <a:lnTo>
                    <a:pt x="5642102" y="1294474"/>
                  </a:lnTo>
                  <a:cubicBezTo>
                    <a:pt x="5642102" y="1303432"/>
                    <a:pt x="5634482" y="1310575"/>
                    <a:pt x="5625211" y="1310575"/>
                  </a:cubicBezTo>
                  <a:lnTo>
                    <a:pt x="16891" y="1310575"/>
                  </a:lnTo>
                  <a:cubicBezTo>
                    <a:pt x="7493" y="1310575"/>
                    <a:pt x="0" y="1303311"/>
                    <a:pt x="0" y="1294474"/>
                  </a:cubicBezTo>
                  <a:lnTo>
                    <a:pt x="0" y="16101"/>
                  </a:lnTo>
                  <a:cubicBezTo>
                    <a:pt x="0" y="7263"/>
                    <a:pt x="7620" y="0"/>
                    <a:pt x="16891" y="0"/>
                  </a:cubicBezTo>
                  <a:moveTo>
                    <a:pt x="16891" y="32323"/>
                  </a:moveTo>
                  <a:lnTo>
                    <a:pt x="16891" y="16101"/>
                  </a:lnTo>
                  <a:lnTo>
                    <a:pt x="33909" y="16101"/>
                  </a:lnTo>
                  <a:lnTo>
                    <a:pt x="33909" y="1294474"/>
                  </a:lnTo>
                  <a:lnTo>
                    <a:pt x="16891" y="1294474"/>
                  </a:lnTo>
                  <a:lnTo>
                    <a:pt x="16891" y="1278373"/>
                  </a:lnTo>
                  <a:lnTo>
                    <a:pt x="5625211" y="1278373"/>
                  </a:lnTo>
                  <a:lnTo>
                    <a:pt x="5625211" y="1294474"/>
                  </a:lnTo>
                  <a:lnTo>
                    <a:pt x="5608320" y="1294474"/>
                  </a:lnTo>
                  <a:lnTo>
                    <a:pt x="5608320" y="16101"/>
                  </a:lnTo>
                  <a:lnTo>
                    <a:pt x="5625211" y="16101"/>
                  </a:lnTo>
                  <a:lnTo>
                    <a:pt x="5625211" y="32323"/>
                  </a:lnTo>
                  <a:lnTo>
                    <a:pt x="16891" y="32323"/>
                  </a:lnTo>
                  <a:close/>
                </a:path>
              </a:pathLst>
            </a:custGeom>
            <a:solidFill>
              <a:srgbClr val="5B9E3D"/>
            </a:solidFill>
          </p:spPr>
        </p:sp>
      </p:grpSp>
      <p:grpSp>
        <p:nvGrpSpPr>
          <p:cNvPr name="Group 35" id="35"/>
          <p:cNvGrpSpPr/>
          <p:nvPr/>
        </p:nvGrpSpPr>
        <p:grpSpPr>
          <a:xfrm rot="0">
            <a:off x="4983480" y="2405817"/>
            <a:ext cx="914400" cy="871946"/>
            <a:chOff x="0" y="0"/>
            <a:chExt cx="1219200" cy="1162594"/>
          </a:xfrm>
        </p:grpSpPr>
        <p:sp>
          <p:nvSpPr>
            <p:cNvPr name="Freeform 36" id="36"/>
            <p:cNvSpPr/>
            <p:nvPr/>
          </p:nvSpPr>
          <p:spPr>
            <a:xfrm flipH="false" flipV="false" rot="0">
              <a:off x="0" y="0"/>
              <a:ext cx="1219200" cy="1162594"/>
            </a:xfrm>
            <a:custGeom>
              <a:avLst/>
              <a:gdLst/>
              <a:ahLst/>
              <a:cxnLst/>
              <a:rect r="r" b="b" t="t" l="l"/>
              <a:pathLst>
                <a:path h="1162594" w="1219200">
                  <a:moveTo>
                    <a:pt x="0" y="0"/>
                  </a:moveTo>
                  <a:lnTo>
                    <a:pt x="1219200" y="0"/>
                  </a:lnTo>
                  <a:lnTo>
                    <a:pt x="1219200" y="1162594"/>
                  </a:lnTo>
                  <a:lnTo>
                    <a:pt x="0" y="1162594"/>
                  </a:lnTo>
                  <a:close/>
                </a:path>
              </a:pathLst>
            </a:custGeom>
            <a:blipFill>
              <a:blip r:embed="rId3">
                <a:alphaModFix amt="0"/>
              </a:blip>
              <a:stretch>
                <a:fillRect l="-52642" t="0" r="-52642" b="16104"/>
              </a:stretch>
            </a:blipFill>
          </p:spPr>
        </p:sp>
        <p:sp>
          <p:nvSpPr>
            <p:cNvPr name="TextBox 37" id="37"/>
            <p:cNvSpPr txBox="true"/>
            <p:nvPr/>
          </p:nvSpPr>
          <p:spPr>
            <a:xfrm>
              <a:off x="0" y="-85725"/>
              <a:ext cx="1219200" cy="1248319"/>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A2</a:t>
              </a:r>
            </a:p>
          </p:txBody>
        </p:sp>
      </p:grpSp>
      <p:grpSp>
        <p:nvGrpSpPr>
          <p:cNvPr name="Group 38" id="38"/>
          <p:cNvGrpSpPr/>
          <p:nvPr/>
        </p:nvGrpSpPr>
        <p:grpSpPr>
          <a:xfrm rot="0">
            <a:off x="5806440" y="2588602"/>
            <a:ext cx="3017520" cy="697295"/>
            <a:chOff x="0" y="0"/>
            <a:chExt cx="4023360" cy="929726"/>
          </a:xfrm>
        </p:grpSpPr>
        <p:sp>
          <p:nvSpPr>
            <p:cNvPr name="Freeform 39" id="39"/>
            <p:cNvSpPr/>
            <p:nvPr/>
          </p:nvSpPr>
          <p:spPr>
            <a:xfrm flipH="false" flipV="false" rot="0">
              <a:off x="0" y="0"/>
              <a:ext cx="4023360" cy="929726"/>
            </a:xfrm>
            <a:custGeom>
              <a:avLst/>
              <a:gdLst/>
              <a:ahLst/>
              <a:cxnLst/>
              <a:rect r="r" b="b" t="t" l="l"/>
              <a:pathLst>
                <a:path h="929726" w="4023360">
                  <a:moveTo>
                    <a:pt x="0" y="0"/>
                  </a:moveTo>
                  <a:lnTo>
                    <a:pt x="4023360" y="0"/>
                  </a:lnTo>
                  <a:lnTo>
                    <a:pt x="4023360" y="929726"/>
                  </a:lnTo>
                  <a:lnTo>
                    <a:pt x="0" y="929726"/>
                  </a:lnTo>
                  <a:close/>
                </a:path>
              </a:pathLst>
            </a:custGeom>
            <a:blipFill>
              <a:blip r:embed="rId3">
                <a:alphaModFix amt="0"/>
              </a:blip>
              <a:stretch>
                <a:fillRect l="0" t="-31866" r="0" b="-36775"/>
              </a:stretch>
            </a:blipFill>
          </p:spPr>
        </p:sp>
        <p:sp>
          <p:nvSpPr>
            <p:cNvPr name="TextBox 40" id="40"/>
            <p:cNvSpPr txBox="true"/>
            <p:nvPr/>
          </p:nvSpPr>
          <p:spPr>
            <a:xfrm>
              <a:off x="0" y="-76200"/>
              <a:ext cx="4023360" cy="1005926"/>
            </a:xfrm>
            <a:prstGeom prst="rect">
              <a:avLst/>
            </a:prstGeom>
          </p:spPr>
          <p:txBody>
            <a:bodyPr anchor="ctr" rtlCol="false" tIns="0" lIns="0" bIns="0" rIns="0"/>
            <a:lstStyle/>
            <a:p>
              <a:pPr algn="l">
                <a:lnSpc>
                  <a:spcPts val="3839"/>
                </a:lnSpc>
              </a:pPr>
              <a:r>
                <a:rPr lang="en-US" sz="3199" b="true">
                  <a:solidFill>
                    <a:srgbClr val="FFFFFF"/>
                  </a:solidFill>
                  <a:latin typeface="Calibri (MS) Bold"/>
                  <a:ea typeface="Calibri (MS) Bold"/>
                  <a:cs typeface="Calibri (MS) Bold"/>
                  <a:sym typeface="Calibri (MS) Bold"/>
                </a:rPr>
                <a:t>Architecture</a:t>
              </a:r>
            </a:p>
          </p:txBody>
        </p:sp>
      </p:grpSp>
      <p:grpSp>
        <p:nvGrpSpPr>
          <p:cNvPr name="Group 41" id="41"/>
          <p:cNvGrpSpPr/>
          <p:nvPr/>
        </p:nvGrpSpPr>
        <p:grpSpPr>
          <a:xfrm rot="0">
            <a:off x="5020056" y="3547382"/>
            <a:ext cx="3749040" cy="1220265"/>
            <a:chOff x="0" y="0"/>
            <a:chExt cx="4998720" cy="1627021"/>
          </a:xfrm>
        </p:grpSpPr>
        <p:sp>
          <p:nvSpPr>
            <p:cNvPr name="Freeform 42" id="42"/>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43" id="43"/>
            <p:cNvSpPr txBox="true"/>
            <p:nvPr/>
          </p:nvSpPr>
          <p:spPr>
            <a:xfrm>
              <a:off x="0" y="-57150"/>
              <a:ext cx="4998720" cy="1684171"/>
            </a:xfrm>
            <a:prstGeom prst="rect">
              <a:avLst/>
            </a:prstGeom>
          </p:spPr>
          <p:txBody>
            <a:bodyPr anchor="ctr" rtlCol="false" tIns="0" lIns="0" bIns="0" rIns="0"/>
            <a:lstStyle/>
            <a:p>
              <a:pPr algn="l" marL="651165" indent="-325583" lvl="1">
                <a:lnSpc>
                  <a:spcPts val="3239"/>
                </a:lnSpc>
                <a:buFont typeface="Arial"/>
                <a:buChar char="•"/>
              </a:pPr>
              <a:r>
                <a:rPr lang="en-US" sz="2699">
                  <a:solidFill>
                    <a:srgbClr val="1A2E1A"/>
                  </a:solidFill>
                  <a:latin typeface="Calibri (MS)"/>
                  <a:ea typeface="Calibri (MS)"/>
                  <a:cs typeface="Calibri (MS)"/>
                  <a:sym typeface="Calibri (MS)"/>
                </a:rPr>
                <a:t>Fon</a:t>
              </a:r>
              <a:r>
                <a:rPr lang="en-US" sz="2699">
                  <a:solidFill>
                    <a:srgbClr val="1A2E1A"/>
                  </a:solidFill>
                  <a:latin typeface="Calibri (MS)"/>
                  <a:ea typeface="Calibri (MS)"/>
                  <a:cs typeface="Calibri (MS)"/>
                  <a:sym typeface="Calibri (MS)"/>
                </a:rPr>
                <a:t>ctionnement Random Forest</a:t>
              </a:r>
            </a:p>
          </p:txBody>
        </p:sp>
      </p:grpSp>
      <p:grpSp>
        <p:nvGrpSpPr>
          <p:cNvPr name="Group 44" id="44"/>
          <p:cNvGrpSpPr/>
          <p:nvPr/>
        </p:nvGrpSpPr>
        <p:grpSpPr>
          <a:xfrm rot="0">
            <a:off x="5020056" y="4907107"/>
            <a:ext cx="3749040" cy="1220265"/>
            <a:chOff x="0" y="0"/>
            <a:chExt cx="4998720" cy="1627021"/>
          </a:xfrm>
        </p:grpSpPr>
        <p:sp>
          <p:nvSpPr>
            <p:cNvPr name="Freeform 45" id="45"/>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46" id="46"/>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Feature Randomness</a:t>
              </a:r>
            </a:p>
          </p:txBody>
        </p:sp>
      </p:grpSp>
      <p:grpSp>
        <p:nvGrpSpPr>
          <p:cNvPr name="Group 47" id="47"/>
          <p:cNvGrpSpPr/>
          <p:nvPr/>
        </p:nvGrpSpPr>
        <p:grpSpPr>
          <a:xfrm rot="0">
            <a:off x="5020056" y="6266831"/>
            <a:ext cx="3749040" cy="1220265"/>
            <a:chOff x="0" y="0"/>
            <a:chExt cx="4998720" cy="1627021"/>
          </a:xfrm>
        </p:grpSpPr>
        <p:sp>
          <p:nvSpPr>
            <p:cNvPr name="Freeform 48" id="48"/>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49" id="49"/>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Dé-corrélation </a:t>
              </a:r>
            </a:p>
          </p:txBody>
        </p:sp>
      </p:grpSp>
      <p:grpSp>
        <p:nvGrpSpPr>
          <p:cNvPr name="Group 50" id="50"/>
          <p:cNvGrpSpPr/>
          <p:nvPr/>
        </p:nvGrpSpPr>
        <p:grpSpPr>
          <a:xfrm rot="0">
            <a:off x="9268463" y="2402176"/>
            <a:ext cx="4231643" cy="6299866"/>
            <a:chOff x="0" y="0"/>
            <a:chExt cx="5642191" cy="8399821"/>
          </a:xfrm>
        </p:grpSpPr>
        <p:sp>
          <p:nvSpPr>
            <p:cNvPr name="Freeform 51" id="51"/>
            <p:cNvSpPr/>
            <p:nvPr/>
          </p:nvSpPr>
          <p:spPr>
            <a:xfrm flipH="false" flipV="false" rot="0">
              <a:off x="16891" y="16101"/>
              <a:ext cx="5608320" cy="8367535"/>
            </a:xfrm>
            <a:custGeom>
              <a:avLst/>
              <a:gdLst/>
              <a:ahLst/>
              <a:cxnLst/>
              <a:rect r="r" b="b" t="t" l="l"/>
              <a:pathLst>
                <a:path h="8367535" w="5608320">
                  <a:moveTo>
                    <a:pt x="0" y="0"/>
                  </a:moveTo>
                  <a:lnTo>
                    <a:pt x="5608320" y="0"/>
                  </a:lnTo>
                  <a:lnTo>
                    <a:pt x="5608320" y="8367535"/>
                  </a:lnTo>
                  <a:lnTo>
                    <a:pt x="0" y="8367535"/>
                  </a:lnTo>
                  <a:close/>
                </a:path>
              </a:pathLst>
            </a:custGeom>
            <a:solidFill>
              <a:srgbClr val="FFFFFF"/>
            </a:solidFill>
          </p:spPr>
        </p:sp>
        <p:sp>
          <p:nvSpPr>
            <p:cNvPr name="Freeform 52" id="52"/>
            <p:cNvSpPr/>
            <p:nvPr/>
          </p:nvSpPr>
          <p:spPr>
            <a:xfrm flipH="false" flipV="false" rot="0">
              <a:off x="0" y="0"/>
              <a:ext cx="5642102" cy="8399736"/>
            </a:xfrm>
            <a:custGeom>
              <a:avLst/>
              <a:gdLst/>
              <a:ahLst/>
              <a:cxnLst/>
              <a:rect r="r" b="b" t="t" l="l"/>
              <a:pathLst>
                <a:path h="8399736" w="5642102">
                  <a:moveTo>
                    <a:pt x="16891" y="0"/>
                  </a:moveTo>
                  <a:lnTo>
                    <a:pt x="5625211" y="0"/>
                  </a:lnTo>
                  <a:cubicBezTo>
                    <a:pt x="5634609" y="0"/>
                    <a:pt x="5642102" y="7263"/>
                    <a:pt x="5642102" y="16101"/>
                  </a:cubicBezTo>
                  <a:lnTo>
                    <a:pt x="5642102" y="8383636"/>
                  </a:lnTo>
                  <a:cubicBezTo>
                    <a:pt x="5642102" y="8392594"/>
                    <a:pt x="5634482" y="8399736"/>
                    <a:pt x="5625211" y="8399736"/>
                  </a:cubicBezTo>
                  <a:lnTo>
                    <a:pt x="16891" y="8399736"/>
                  </a:lnTo>
                  <a:cubicBezTo>
                    <a:pt x="7493" y="8399736"/>
                    <a:pt x="0" y="8392473"/>
                    <a:pt x="0" y="8383636"/>
                  </a:cubicBezTo>
                  <a:lnTo>
                    <a:pt x="0" y="16101"/>
                  </a:lnTo>
                  <a:cubicBezTo>
                    <a:pt x="0" y="7263"/>
                    <a:pt x="7620" y="0"/>
                    <a:pt x="16891" y="0"/>
                  </a:cubicBezTo>
                  <a:moveTo>
                    <a:pt x="16891" y="32323"/>
                  </a:moveTo>
                  <a:lnTo>
                    <a:pt x="16891" y="16101"/>
                  </a:lnTo>
                  <a:lnTo>
                    <a:pt x="33909" y="16101"/>
                  </a:lnTo>
                  <a:lnTo>
                    <a:pt x="33909" y="8383636"/>
                  </a:lnTo>
                  <a:lnTo>
                    <a:pt x="16891" y="8383636"/>
                  </a:lnTo>
                  <a:lnTo>
                    <a:pt x="16891" y="8367535"/>
                  </a:lnTo>
                  <a:lnTo>
                    <a:pt x="5625211" y="8367535"/>
                  </a:lnTo>
                  <a:lnTo>
                    <a:pt x="5625211" y="8383636"/>
                  </a:lnTo>
                  <a:lnTo>
                    <a:pt x="5608320" y="8383636"/>
                  </a:lnTo>
                  <a:lnTo>
                    <a:pt x="5608320" y="16101"/>
                  </a:lnTo>
                  <a:lnTo>
                    <a:pt x="5625211" y="16101"/>
                  </a:lnTo>
                  <a:lnTo>
                    <a:pt x="5625211" y="32323"/>
                  </a:lnTo>
                  <a:lnTo>
                    <a:pt x="16891" y="32323"/>
                  </a:lnTo>
                  <a:close/>
                </a:path>
              </a:pathLst>
            </a:custGeom>
            <a:solidFill>
              <a:srgbClr val="E0E8E0"/>
            </a:solidFill>
          </p:spPr>
        </p:sp>
      </p:grpSp>
      <p:grpSp>
        <p:nvGrpSpPr>
          <p:cNvPr name="Group 53" id="53"/>
          <p:cNvGrpSpPr/>
          <p:nvPr/>
        </p:nvGrpSpPr>
        <p:grpSpPr>
          <a:xfrm rot="0">
            <a:off x="9268463" y="2402176"/>
            <a:ext cx="4231643" cy="982995"/>
            <a:chOff x="0" y="0"/>
            <a:chExt cx="5642191" cy="1310660"/>
          </a:xfrm>
        </p:grpSpPr>
        <p:sp>
          <p:nvSpPr>
            <p:cNvPr name="Freeform 54" id="54"/>
            <p:cNvSpPr/>
            <p:nvPr/>
          </p:nvSpPr>
          <p:spPr>
            <a:xfrm flipH="false" flipV="false" rot="0">
              <a:off x="16891" y="16101"/>
              <a:ext cx="5608320" cy="1278373"/>
            </a:xfrm>
            <a:custGeom>
              <a:avLst/>
              <a:gdLst/>
              <a:ahLst/>
              <a:cxnLst/>
              <a:rect r="r" b="b" t="t" l="l"/>
              <a:pathLst>
                <a:path h="1278373" w="5608320">
                  <a:moveTo>
                    <a:pt x="0" y="0"/>
                  </a:moveTo>
                  <a:lnTo>
                    <a:pt x="5608320" y="0"/>
                  </a:lnTo>
                  <a:lnTo>
                    <a:pt x="5608320" y="1278373"/>
                  </a:lnTo>
                  <a:lnTo>
                    <a:pt x="0" y="1278373"/>
                  </a:lnTo>
                  <a:close/>
                </a:path>
              </a:pathLst>
            </a:custGeom>
            <a:solidFill>
              <a:srgbClr val="3A7BD5"/>
            </a:solidFill>
          </p:spPr>
        </p:sp>
        <p:sp>
          <p:nvSpPr>
            <p:cNvPr name="Freeform 55" id="55"/>
            <p:cNvSpPr/>
            <p:nvPr/>
          </p:nvSpPr>
          <p:spPr>
            <a:xfrm flipH="false" flipV="false" rot="0">
              <a:off x="0" y="0"/>
              <a:ext cx="5642102" cy="1310575"/>
            </a:xfrm>
            <a:custGeom>
              <a:avLst/>
              <a:gdLst/>
              <a:ahLst/>
              <a:cxnLst/>
              <a:rect r="r" b="b" t="t" l="l"/>
              <a:pathLst>
                <a:path h="1310575" w="5642102">
                  <a:moveTo>
                    <a:pt x="16891" y="0"/>
                  </a:moveTo>
                  <a:lnTo>
                    <a:pt x="5625211" y="0"/>
                  </a:lnTo>
                  <a:cubicBezTo>
                    <a:pt x="5634609" y="0"/>
                    <a:pt x="5642102" y="7263"/>
                    <a:pt x="5642102" y="16101"/>
                  </a:cubicBezTo>
                  <a:lnTo>
                    <a:pt x="5642102" y="1294474"/>
                  </a:lnTo>
                  <a:cubicBezTo>
                    <a:pt x="5642102" y="1303432"/>
                    <a:pt x="5634482" y="1310575"/>
                    <a:pt x="5625211" y="1310575"/>
                  </a:cubicBezTo>
                  <a:lnTo>
                    <a:pt x="16891" y="1310575"/>
                  </a:lnTo>
                  <a:cubicBezTo>
                    <a:pt x="7493" y="1310575"/>
                    <a:pt x="0" y="1303311"/>
                    <a:pt x="0" y="1294474"/>
                  </a:cubicBezTo>
                  <a:lnTo>
                    <a:pt x="0" y="16101"/>
                  </a:lnTo>
                  <a:cubicBezTo>
                    <a:pt x="0" y="7263"/>
                    <a:pt x="7620" y="0"/>
                    <a:pt x="16891" y="0"/>
                  </a:cubicBezTo>
                  <a:moveTo>
                    <a:pt x="16891" y="32323"/>
                  </a:moveTo>
                  <a:lnTo>
                    <a:pt x="16891" y="16101"/>
                  </a:lnTo>
                  <a:lnTo>
                    <a:pt x="33909" y="16101"/>
                  </a:lnTo>
                  <a:lnTo>
                    <a:pt x="33909" y="1294474"/>
                  </a:lnTo>
                  <a:lnTo>
                    <a:pt x="16891" y="1294474"/>
                  </a:lnTo>
                  <a:lnTo>
                    <a:pt x="16891" y="1278373"/>
                  </a:lnTo>
                  <a:lnTo>
                    <a:pt x="5625211" y="1278373"/>
                  </a:lnTo>
                  <a:lnTo>
                    <a:pt x="5625211" y="1294474"/>
                  </a:lnTo>
                  <a:lnTo>
                    <a:pt x="5608320" y="1294474"/>
                  </a:lnTo>
                  <a:lnTo>
                    <a:pt x="5608320" y="16101"/>
                  </a:lnTo>
                  <a:lnTo>
                    <a:pt x="5625211" y="16101"/>
                  </a:lnTo>
                  <a:lnTo>
                    <a:pt x="5625211" y="32323"/>
                  </a:lnTo>
                  <a:lnTo>
                    <a:pt x="16891" y="32323"/>
                  </a:lnTo>
                  <a:close/>
                </a:path>
              </a:pathLst>
            </a:custGeom>
            <a:solidFill>
              <a:srgbClr val="3A7BD5"/>
            </a:solidFill>
          </p:spPr>
        </p:sp>
      </p:grpSp>
      <p:grpSp>
        <p:nvGrpSpPr>
          <p:cNvPr name="Group 56" id="56"/>
          <p:cNvGrpSpPr/>
          <p:nvPr/>
        </p:nvGrpSpPr>
        <p:grpSpPr>
          <a:xfrm rot="0">
            <a:off x="9464040" y="2405817"/>
            <a:ext cx="914400" cy="871946"/>
            <a:chOff x="0" y="0"/>
            <a:chExt cx="1219200" cy="1162594"/>
          </a:xfrm>
        </p:grpSpPr>
        <p:sp>
          <p:nvSpPr>
            <p:cNvPr name="Freeform 57" id="57"/>
            <p:cNvSpPr/>
            <p:nvPr/>
          </p:nvSpPr>
          <p:spPr>
            <a:xfrm flipH="false" flipV="false" rot="0">
              <a:off x="0" y="0"/>
              <a:ext cx="1219200" cy="1162594"/>
            </a:xfrm>
            <a:custGeom>
              <a:avLst/>
              <a:gdLst/>
              <a:ahLst/>
              <a:cxnLst/>
              <a:rect r="r" b="b" t="t" l="l"/>
              <a:pathLst>
                <a:path h="1162594" w="1219200">
                  <a:moveTo>
                    <a:pt x="0" y="0"/>
                  </a:moveTo>
                  <a:lnTo>
                    <a:pt x="1219200" y="0"/>
                  </a:lnTo>
                  <a:lnTo>
                    <a:pt x="1219200" y="1162594"/>
                  </a:lnTo>
                  <a:lnTo>
                    <a:pt x="0" y="1162594"/>
                  </a:lnTo>
                  <a:close/>
                </a:path>
              </a:pathLst>
            </a:custGeom>
            <a:blipFill>
              <a:blip r:embed="rId3">
                <a:alphaModFix amt="0"/>
              </a:blip>
              <a:stretch>
                <a:fillRect l="-52642" t="0" r="-52642" b="16104"/>
              </a:stretch>
            </a:blipFill>
          </p:spPr>
        </p:sp>
        <p:sp>
          <p:nvSpPr>
            <p:cNvPr name="TextBox 58" id="58"/>
            <p:cNvSpPr txBox="true"/>
            <p:nvPr/>
          </p:nvSpPr>
          <p:spPr>
            <a:xfrm>
              <a:off x="0" y="-85725"/>
              <a:ext cx="1219200" cy="1248319"/>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A3</a:t>
              </a:r>
            </a:p>
          </p:txBody>
        </p:sp>
      </p:grpSp>
      <p:grpSp>
        <p:nvGrpSpPr>
          <p:cNvPr name="Group 59" id="59"/>
          <p:cNvGrpSpPr/>
          <p:nvPr/>
        </p:nvGrpSpPr>
        <p:grpSpPr>
          <a:xfrm rot="0">
            <a:off x="10287000" y="2588602"/>
            <a:ext cx="3017520" cy="697295"/>
            <a:chOff x="0" y="0"/>
            <a:chExt cx="4023360" cy="929726"/>
          </a:xfrm>
        </p:grpSpPr>
        <p:sp>
          <p:nvSpPr>
            <p:cNvPr name="Freeform 60" id="60"/>
            <p:cNvSpPr/>
            <p:nvPr/>
          </p:nvSpPr>
          <p:spPr>
            <a:xfrm flipH="false" flipV="false" rot="0">
              <a:off x="0" y="0"/>
              <a:ext cx="4023360" cy="929726"/>
            </a:xfrm>
            <a:custGeom>
              <a:avLst/>
              <a:gdLst/>
              <a:ahLst/>
              <a:cxnLst/>
              <a:rect r="r" b="b" t="t" l="l"/>
              <a:pathLst>
                <a:path h="929726" w="4023360">
                  <a:moveTo>
                    <a:pt x="0" y="0"/>
                  </a:moveTo>
                  <a:lnTo>
                    <a:pt x="4023360" y="0"/>
                  </a:lnTo>
                  <a:lnTo>
                    <a:pt x="4023360" y="929726"/>
                  </a:lnTo>
                  <a:lnTo>
                    <a:pt x="0" y="929726"/>
                  </a:lnTo>
                  <a:close/>
                </a:path>
              </a:pathLst>
            </a:custGeom>
            <a:blipFill>
              <a:blip r:embed="rId3">
                <a:alphaModFix amt="0"/>
              </a:blip>
              <a:stretch>
                <a:fillRect l="0" t="-31866" r="0" b="-36775"/>
              </a:stretch>
            </a:blipFill>
          </p:spPr>
        </p:sp>
        <p:sp>
          <p:nvSpPr>
            <p:cNvPr name="TextBox 61" id="61"/>
            <p:cNvSpPr txBox="true"/>
            <p:nvPr/>
          </p:nvSpPr>
          <p:spPr>
            <a:xfrm>
              <a:off x="0" y="-76200"/>
              <a:ext cx="4023360" cy="1005926"/>
            </a:xfrm>
            <a:prstGeom prst="rect">
              <a:avLst/>
            </a:prstGeom>
          </p:spPr>
          <p:txBody>
            <a:bodyPr anchor="ctr" rtlCol="false" tIns="0" lIns="0" bIns="0" rIns="0"/>
            <a:lstStyle/>
            <a:p>
              <a:pPr algn="l">
                <a:lnSpc>
                  <a:spcPts val="3839"/>
                </a:lnSpc>
              </a:pPr>
              <a:r>
                <a:rPr lang="en-US" sz="3199" b="true">
                  <a:solidFill>
                    <a:srgbClr val="FFFFFF"/>
                  </a:solidFill>
                  <a:latin typeface="Calibri (MS) Bold"/>
                  <a:ea typeface="Calibri (MS) Bold"/>
                  <a:cs typeface="Calibri (MS) Bold"/>
                  <a:sym typeface="Calibri (MS) Bold"/>
                </a:rPr>
                <a:t>Évaluation</a:t>
              </a:r>
            </a:p>
          </p:txBody>
        </p:sp>
      </p:grpSp>
      <p:grpSp>
        <p:nvGrpSpPr>
          <p:cNvPr name="Group 62" id="62"/>
          <p:cNvGrpSpPr/>
          <p:nvPr/>
        </p:nvGrpSpPr>
        <p:grpSpPr>
          <a:xfrm rot="0">
            <a:off x="9500616" y="3547382"/>
            <a:ext cx="3749040" cy="1220265"/>
            <a:chOff x="0" y="0"/>
            <a:chExt cx="4998720" cy="1627021"/>
          </a:xfrm>
        </p:grpSpPr>
        <p:sp>
          <p:nvSpPr>
            <p:cNvPr name="Freeform 63" id="63"/>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64" id="64"/>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Erreur OOB (Out-Of-Bag)</a:t>
              </a:r>
            </a:p>
          </p:txBody>
        </p:sp>
      </p:grpSp>
      <p:grpSp>
        <p:nvGrpSpPr>
          <p:cNvPr name="Group 65" id="65"/>
          <p:cNvGrpSpPr/>
          <p:nvPr/>
        </p:nvGrpSpPr>
        <p:grpSpPr>
          <a:xfrm rot="0">
            <a:off x="9500616" y="4907107"/>
            <a:ext cx="3749040" cy="1220265"/>
            <a:chOff x="0" y="0"/>
            <a:chExt cx="4998720" cy="1627021"/>
          </a:xfrm>
        </p:grpSpPr>
        <p:sp>
          <p:nvSpPr>
            <p:cNvPr name="Freeform 66" id="66"/>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67" id="67"/>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Feature Importances</a:t>
              </a:r>
            </a:p>
          </p:txBody>
        </p:sp>
      </p:grpSp>
      <p:grpSp>
        <p:nvGrpSpPr>
          <p:cNvPr name="Group 68" id="68"/>
          <p:cNvGrpSpPr/>
          <p:nvPr/>
        </p:nvGrpSpPr>
        <p:grpSpPr>
          <a:xfrm rot="0">
            <a:off x="13749023" y="2402176"/>
            <a:ext cx="4231643" cy="6299866"/>
            <a:chOff x="0" y="0"/>
            <a:chExt cx="5642191" cy="8399821"/>
          </a:xfrm>
        </p:grpSpPr>
        <p:sp>
          <p:nvSpPr>
            <p:cNvPr name="Freeform 69" id="69"/>
            <p:cNvSpPr/>
            <p:nvPr/>
          </p:nvSpPr>
          <p:spPr>
            <a:xfrm flipH="false" flipV="false" rot="0">
              <a:off x="16891" y="16101"/>
              <a:ext cx="5608320" cy="8367535"/>
            </a:xfrm>
            <a:custGeom>
              <a:avLst/>
              <a:gdLst/>
              <a:ahLst/>
              <a:cxnLst/>
              <a:rect r="r" b="b" t="t" l="l"/>
              <a:pathLst>
                <a:path h="8367535" w="5608320">
                  <a:moveTo>
                    <a:pt x="0" y="0"/>
                  </a:moveTo>
                  <a:lnTo>
                    <a:pt x="5608320" y="0"/>
                  </a:lnTo>
                  <a:lnTo>
                    <a:pt x="5608320" y="8367535"/>
                  </a:lnTo>
                  <a:lnTo>
                    <a:pt x="0" y="8367535"/>
                  </a:lnTo>
                  <a:close/>
                </a:path>
              </a:pathLst>
            </a:custGeom>
            <a:solidFill>
              <a:srgbClr val="FFFFFF"/>
            </a:solidFill>
          </p:spPr>
        </p:sp>
        <p:sp>
          <p:nvSpPr>
            <p:cNvPr name="Freeform 70" id="70"/>
            <p:cNvSpPr/>
            <p:nvPr/>
          </p:nvSpPr>
          <p:spPr>
            <a:xfrm flipH="false" flipV="false" rot="0">
              <a:off x="0" y="0"/>
              <a:ext cx="5642102" cy="8399736"/>
            </a:xfrm>
            <a:custGeom>
              <a:avLst/>
              <a:gdLst/>
              <a:ahLst/>
              <a:cxnLst/>
              <a:rect r="r" b="b" t="t" l="l"/>
              <a:pathLst>
                <a:path h="8399736" w="5642102">
                  <a:moveTo>
                    <a:pt x="16891" y="0"/>
                  </a:moveTo>
                  <a:lnTo>
                    <a:pt x="5625211" y="0"/>
                  </a:lnTo>
                  <a:cubicBezTo>
                    <a:pt x="5634609" y="0"/>
                    <a:pt x="5642102" y="7263"/>
                    <a:pt x="5642102" y="16101"/>
                  </a:cubicBezTo>
                  <a:lnTo>
                    <a:pt x="5642102" y="8383636"/>
                  </a:lnTo>
                  <a:cubicBezTo>
                    <a:pt x="5642102" y="8392594"/>
                    <a:pt x="5634482" y="8399736"/>
                    <a:pt x="5625211" y="8399736"/>
                  </a:cubicBezTo>
                  <a:lnTo>
                    <a:pt x="16891" y="8399736"/>
                  </a:lnTo>
                  <a:cubicBezTo>
                    <a:pt x="7493" y="8399736"/>
                    <a:pt x="0" y="8392473"/>
                    <a:pt x="0" y="8383636"/>
                  </a:cubicBezTo>
                  <a:lnTo>
                    <a:pt x="0" y="16101"/>
                  </a:lnTo>
                  <a:cubicBezTo>
                    <a:pt x="0" y="7263"/>
                    <a:pt x="7620" y="0"/>
                    <a:pt x="16891" y="0"/>
                  </a:cubicBezTo>
                  <a:moveTo>
                    <a:pt x="16891" y="32323"/>
                  </a:moveTo>
                  <a:lnTo>
                    <a:pt x="16891" y="16101"/>
                  </a:lnTo>
                  <a:lnTo>
                    <a:pt x="33909" y="16101"/>
                  </a:lnTo>
                  <a:lnTo>
                    <a:pt x="33909" y="8383636"/>
                  </a:lnTo>
                  <a:lnTo>
                    <a:pt x="16891" y="8383636"/>
                  </a:lnTo>
                  <a:lnTo>
                    <a:pt x="16891" y="8367535"/>
                  </a:lnTo>
                  <a:lnTo>
                    <a:pt x="5625211" y="8367535"/>
                  </a:lnTo>
                  <a:lnTo>
                    <a:pt x="5625211" y="8383636"/>
                  </a:lnTo>
                  <a:lnTo>
                    <a:pt x="5608320" y="8383636"/>
                  </a:lnTo>
                  <a:lnTo>
                    <a:pt x="5608320" y="16101"/>
                  </a:lnTo>
                  <a:lnTo>
                    <a:pt x="5625211" y="16101"/>
                  </a:lnTo>
                  <a:lnTo>
                    <a:pt x="5625211" y="32323"/>
                  </a:lnTo>
                  <a:lnTo>
                    <a:pt x="16891" y="32323"/>
                  </a:lnTo>
                  <a:close/>
                </a:path>
              </a:pathLst>
            </a:custGeom>
            <a:solidFill>
              <a:srgbClr val="E0E8E0"/>
            </a:solidFill>
          </p:spPr>
        </p:sp>
      </p:grpSp>
      <p:grpSp>
        <p:nvGrpSpPr>
          <p:cNvPr name="Group 71" id="71"/>
          <p:cNvGrpSpPr/>
          <p:nvPr/>
        </p:nvGrpSpPr>
        <p:grpSpPr>
          <a:xfrm rot="0">
            <a:off x="13749023" y="2402176"/>
            <a:ext cx="4231643" cy="982995"/>
            <a:chOff x="0" y="0"/>
            <a:chExt cx="5642191" cy="1310660"/>
          </a:xfrm>
        </p:grpSpPr>
        <p:sp>
          <p:nvSpPr>
            <p:cNvPr name="Freeform 72" id="72"/>
            <p:cNvSpPr/>
            <p:nvPr/>
          </p:nvSpPr>
          <p:spPr>
            <a:xfrm flipH="false" flipV="false" rot="0">
              <a:off x="16891" y="16101"/>
              <a:ext cx="5608320" cy="1278373"/>
            </a:xfrm>
            <a:custGeom>
              <a:avLst/>
              <a:gdLst/>
              <a:ahLst/>
              <a:cxnLst/>
              <a:rect r="r" b="b" t="t" l="l"/>
              <a:pathLst>
                <a:path h="1278373" w="5608320">
                  <a:moveTo>
                    <a:pt x="0" y="0"/>
                  </a:moveTo>
                  <a:lnTo>
                    <a:pt x="5608320" y="0"/>
                  </a:lnTo>
                  <a:lnTo>
                    <a:pt x="5608320" y="1278373"/>
                  </a:lnTo>
                  <a:lnTo>
                    <a:pt x="0" y="1278373"/>
                  </a:lnTo>
                  <a:close/>
                </a:path>
              </a:pathLst>
            </a:custGeom>
            <a:solidFill>
              <a:srgbClr val="8E44AD"/>
            </a:solidFill>
          </p:spPr>
        </p:sp>
        <p:sp>
          <p:nvSpPr>
            <p:cNvPr name="Freeform 73" id="73"/>
            <p:cNvSpPr/>
            <p:nvPr/>
          </p:nvSpPr>
          <p:spPr>
            <a:xfrm flipH="false" flipV="false" rot="0">
              <a:off x="0" y="0"/>
              <a:ext cx="5642102" cy="1310575"/>
            </a:xfrm>
            <a:custGeom>
              <a:avLst/>
              <a:gdLst/>
              <a:ahLst/>
              <a:cxnLst/>
              <a:rect r="r" b="b" t="t" l="l"/>
              <a:pathLst>
                <a:path h="1310575" w="5642102">
                  <a:moveTo>
                    <a:pt x="16891" y="0"/>
                  </a:moveTo>
                  <a:lnTo>
                    <a:pt x="5625211" y="0"/>
                  </a:lnTo>
                  <a:cubicBezTo>
                    <a:pt x="5634609" y="0"/>
                    <a:pt x="5642102" y="7263"/>
                    <a:pt x="5642102" y="16101"/>
                  </a:cubicBezTo>
                  <a:lnTo>
                    <a:pt x="5642102" y="1294474"/>
                  </a:lnTo>
                  <a:cubicBezTo>
                    <a:pt x="5642102" y="1303432"/>
                    <a:pt x="5634482" y="1310575"/>
                    <a:pt x="5625211" y="1310575"/>
                  </a:cubicBezTo>
                  <a:lnTo>
                    <a:pt x="16891" y="1310575"/>
                  </a:lnTo>
                  <a:cubicBezTo>
                    <a:pt x="7493" y="1310575"/>
                    <a:pt x="0" y="1303311"/>
                    <a:pt x="0" y="1294474"/>
                  </a:cubicBezTo>
                  <a:lnTo>
                    <a:pt x="0" y="16101"/>
                  </a:lnTo>
                  <a:cubicBezTo>
                    <a:pt x="0" y="7263"/>
                    <a:pt x="7620" y="0"/>
                    <a:pt x="16891" y="0"/>
                  </a:cubicBezTo>
                  <a:moveTo>
                    <a:pt x="16891" y="32323"/>
                  </a:moveTo>
                  <a:lnTo>
                    <a:pt x="16891" y="16101"/>
                  </a:lnTo>
                  <a:lnTo>
                    <a:pt x="33909" y="16101"/>
                  </a:lnTo>
                  <a:lnTo>
                    <a:pt x="33909" y="1294474"/>
                  </a:lnTo>
                  <a:lnTo>
                    <a:pt x="16891" y="1294474"/>
                  </a:lnTo>
                  <a:lnTo>
                    <a:pt x="16891" y="1278373"/>
                  </a:lnTo>
                  <a:lnTo>
                    <a:pt x="5625211" y="1278373"/>
                  </a:lnTo>
                  <a:lnTo>
                    <a:pt x="5625211" y="1294474"/>
                  </a:lnTo>
                  <a:lnTo>
                    <a:pt x="5608320" y="1294474"/>
                  </a:lnTo>
                  <a:lnTo>
                    <a:pt x="5608320" y="16101"/>
                  </a:lnTo>
                  <a:lnTo>
                    <a:pt x="5625211" y="16101"/>
                  </a:lnTo>
                  <a:lnTo>
                    <a:pt x="5625211" y="32323"/>
                  </a:lnTo>
                  <a:lnTo>
                    <a:pt x="16891" y="32323"/>
                  </a:lnTo>
                  <a:close/>
                </a:path>
              </a:pathLst>
            </a:custGeom>
            <a:solidFill>
              <a:srgbClr val="8E44AD"/>
            </a:solidFill>
          </p:spPr>
        </p:sp>
      </p:grpSp>
      <p:grpSp>
        <p:nvGrpSpPr>
          <p:cNvPr name="Group 74" id="74"/>
          <p:cNvGrpSpPr/>
          <p:nvPr/>
        </p:nvGrpSpPr>
        <p:grpSpPr>
          <a:xfrm rot="0">
            <a:off x="13944600" y="2405817"/>
            <a:ext cx="914400" cy="871946"/>
            <a:chOff x="0" y="0"/>
            <a:chExt cx="1219200" cy="1162594"/>
          </a:xfrm>
        </p:grpSpPr>
        <p:sp>
          <p:nvSpPr>
            <p:cNvPr name="Freeform 75" id="75"/>
            <p:cNvSpPr/>
            <p:nvPr/>
          </p:nvSpPr>
          <p:spPr>
            <a:xfrm flipH="false" flipV="false" rot="0">
              <a:off x="0" y="0"/>
              <a:ext cx="1219200" cy="1162594"/>
            </a:xfrm>
            <a:custGeom>
              <a:avLst/>
              <a:gdLst/>
              <a:ahLst/>
              <a:cxnLst/>
              <a:rect r="r" b="b" t="t" l="l"/>
              <a:pathLst>
                <a:path h="1162594" w="1219200">
                  <a:moveTo>
                    <a:pt x="0" y="0"/>
                  </a:moveTo>
                  <a:lnTo>
                    <a:pt x="1219200" y="0"/>
                  </a:lnTo>
                  <a:lnTo>
                    <a:pt x="1219200" y="1162594"/>
                  </a:lnTo>
                  <a:lnTo>
                    <a:pt x="0" y="1162594"/>
                  </a:lnTo>
                  <a:close/>
                </a:path>
              </a:pathLst>
            </a:custGeom>
            <a:blipFill>
              <a:blip r:embed="rId3">
                <a:alphaModFix amt="0"/>
              </a:blip>
              <a:stretch>
                <a:fillRect l="-52642" t="0" r="-52642" b="16104"/>
              </a:stretch>
            </a:blipFill>
          </p:spPr>
        </p:sp>
        <p:sp>
          <p:nvSpPr>
            <p:cNvPr name="TextBox 76" id="76"/>
            <p:cNvSpPr txBox="true"/>
            <p:nvPr/>
          </p:nvSpPr>
          <p:spPr>
            <a:xfrm>
              <a:off x="0" y="-85725"/>
              <a:ext cx="1219200" cy="1248319"/>
            </a:xfrm>
            <a:prstGeom prst="rect">
              <a:avLst/>
            </a:prstGeom>
          </p:spPr>
          <p:txBody>
            <a:bodyPr anchor="ctr" rtlCol="false" tIns="0" lIns="0" bIns="0" rIns="0"/>
            <a:lstStyle/>
            <a:p>
              <a:pPr algn="l">
                <a:lnSpc>
                  <a:spcPts val="4799"/>
                </a:lnSpc>
              </a:pPr>
              <a:r>
                <a:rPr lang="en-US" sz="3999" b="true">
                  <a:solidFill>
                    <a:srgbClr val="FFFFFF"/>
                  </a:solidFill>
                  <a:latin typeface="Calibri (MS) Bold"/>
                  <a:ea typeface="Calibri (MS) Bold"/>
                  <a:cs typeface="Calibri (MS) Bold"/>
                  <a:sym typeface="Calibri (MS) Bold"/>
                </a:rPr>
                <a:t>A4</a:t>
              </a:r>
            </a:p>
          </p:txBody>
        </p:sp>
      </p:grpSp>
      <p:grpSp>
        <p:nvGrpSpPr>
          <p:cNvPr name="Group 77" id="77"/>
          <p:cNvGrpSpPr/>
          <p:nvPr/>
        </p:nvGrpSpPr>
        <p:grpSpPr>
          <a:xfrm rot="0">
            <a:off x="14767560" y="2588602"/>
            <a:ext cx="3017520" cy="697295"/>
            <a:chOff x="0" y="0"/>
            <a:chExt cx="4023360" cy="929726"/>
          </a:xfrm>
        </p:grpSpPr>
        <p:sp>
          <p:nvSpPr>
            <p:cNvPr name="Freeform 78" id="78"/>
            <p:cNvSpPr/>
            <p:nvPr/>
          </p:nvSpPr>
          <p:spPr>
            <a:xfrm flipH="false" flipV="false" rot="0">
              <a:off x="0" y="0"/>
              <a:ext cx="4023360" cy="929726"/>
            </a:xfrm>
            <a:custGeom>
              <a:avLst/>
              <a:gdLst/>
              <a:ahLst/>
              <a:cxnLst/>
              <a:rect r="r" b="b" t="t" l="l"/>
              <a:pathLst>
                <a:path h="929726" w="4023360">
                  <a:moveTo>
                    <a:pt x="0" y="0"/>
                  </a:moveTo>
                  <a:lnTo>
                    <a:pt x="4023360" y="0"/>
                  </a:lnTo>
                  <a:lnTo>
                    <a:pt x="4023360" y="929726"/>
                  </a:lnTo>
                  <a:lnTo>
                    <a:pt x="0" y="929726"/>
                  </a:lnTo>
                  <a:close/>
                </a:path>
              </a:pathLst>
            </a:custGeom>
            <a:blipFill>
              <a:blip r:embed="rId3">
                <a:alphaModFix amt="0"/>
              </a:blip>
              <a:stretch>
                <a:fillRect l="0" t="-31866" r="0" b="-36775"/>
              </a:stretch>
            </a:blipFill>
          </p:spPr>
        </p:sp>
        <p:sp>
          <p:nvSpPr>
            <p:cNvPr name="TextBox 79" id="79"/>
            <p:cNvSpPr txBox="true"/>
            <p:nvPr/>
          </p:nvSpPr>
          <p:spPr>
            <a:xfrm>
              <a:off x="0" y="-76200"/>
              <a:ext cx="4023360" cy="1005926"/>
            </a:xfrm>
            <a:prstGeom prst="rect">
              <a:avLst/>
            </a:prstGeom>
          </p:spPr>
          <p:txBody>
            <a:bodyPr anchor="ctr" rtlCol="false" tIns="0" lIns="0" bIns="0" rIns="0"/>
            <a:lstStyle/>
            <a:p>
              <a:pPr algn="l">
                <a:lnSpc>
                  <a:spcPts val="3839"/>
                </a:lnSpc>
              </a:pPr>
              <a:r>
                <a:rPr lang="en-US" sz="3199" b="true">
                  <a:solidFill>
                    <a:srgbClr val="FFFFFF"/>
                  </a:solidFill>
                  <a:latin typeface="Calibri (MS) Bold"/>
                  <a:ea typeface="Calibri (MS) Bold"/>
                  <a:cs typeface="Calibri (MS) Bold"/>
                  <a:sym typeface="Calibri (MS) Bold"/>
                </a:rPr>
                <a:t>Optimisation</a:t>
              </a:r>
            </a:p>
          </p:txBody>
        </p:sp>
      </p:grpSp>
      <p:grpSp>
        <p:nvGrpSpPr>
          <p:cNvPr name="Group 80" id="80"/>
          <p:cNvGrpSpPr/>
          <p:nvPr/>
        </p:nvGrpSpPr>
        <p:grpSpPr>
          <a:xfrm rot="0">
            <a:off x="13981176" y="3547382"/>
            <a:ext cx="3749040" cy="1220265"/>
            <a:chOff x="0" y="0"/>
            <a:chExt cx="4998720" cy="1627021"/>
          </a:xfrm>
        </p:grpSpPr>
        <p:sp>
          <p:nvSpPr>
            <p:cNvPr name="Freeform 81" id="81"/>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82" id="82"/>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n_estimators [10→500]</a:t>
              </a:r>
            </a:p>
          </p:txBody>
        </p:sp>
      </p:grpSp>
      <p:grpSp>
        <p:nvGrpSpPr>
          <p:cNvPr name="Group 83" id="83"/>
          <p:cNvGrpSpPr/>
          <p:nvPr/>
        </p:nvGrpSpPr>
        <p:grpSpPr>
          <a:xfrm rot="0">
            <a:off x="13981176" y="4907107"/>
            <a:ext cx="3749040" cy="1220265"/>
            <a:chOff x="0" y="0"/>
            <a:chExt cx="4998720" cy="1627021"/>
          </a:xfrm>
        </p:grpSpPr>
        <p:sp>
          <p:nvSpPr>
            <p:cNvPr name="Freeform 84" id="84"/>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85" id="85"/>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max_features / max_depth</a:t>
              </a:r>
            </a:p>
          </p:txBody>
        </p:sp>
      </p:grpSp>
      <p:grpSp>
        <p:nvGrpSpPr>
          <p:cNvPr name="Group 86" id="86"/>
          <p:cNvGrpSpPr/>
          <p:nvPr/>
        </p:nvGrpSpPr>
        <p:grpSpPr>
          <a:xfrm rot="0">
            <a:off x="13981176" y="6266831"/>
            <a:ext cx="3749040" cy="1220265"/>
            <a:chOff x="0" y="0"/>
            <a:chExt cx="4998720" cy="1627021"/>
          </a:xfrm>
        </p:grpSpPr>
        <p:sp>
          <p:nvSpPr>
            <p:cNvPr name="Freeform 87" id="87"/>
            <p:cNvSpPr/>
            <p:nvPr/>
          </p:nvSpPr>
          <p:spPr>
            <a:xfrm flipH="false" flipV="false" rot="0">
              <a:off x="0" y="0"/>
              <a:ext cx="4998720" cy="1627021"/>
            </a:xfrm>
            <a:custGeom>
              <a:avLst/>
              <a:gdLst/>
              <a:ahLst/>
              <a:cxnLst/>
              <a:rect r="r" b="b" t="t" l="l"/>
              <a:pathLst>
                <a:path h="1627021" w="4998720">
                  <a:moveTo>
                    <a:pt x="0" y="0"/>
                  </a:moveTo>
                  <a:lnTo>
                    <a:pt x="4998720" y="0"/>
                  </a:lnTo>
                  <a:lnTo>
                    <a:pt x="4998720" y="1627021"/>
                  </a:lnTo>
                  <a:lnTo>
                    <a:pt x="0" y="1627021"/>
                  </a:lnTo>
                  <a:close/>
                </a:path>
              </a:pathLst>
            </a:custGeom>
            <a:blipFill>
              <a:blip r:embed="rId3">
                <a:alphaModFix amt="0"/>
              </a:blip>
              <a:stretch>
                <a:fillRect l="0" t="-7410" r="0" b="-12318"/>
              </a:stretch>
            </a:blipFill>
          </p:spPr>
        </p:sp>
        <p:sp>
          <p:nvSpPr>
            <p:cNvPr name="TextBox 88" id="88"/>
            <p:cNvSpPr txBox="true"/>
            <p:nvPr/>
          </p:nvSpPr>
          <p:spPr>
            <a:xfrm>
              <a:off x="0" y="-57150"/>
              <a:ext cx="4998720" cy="1684171"/>
            </a:xfrm>
            <a:prstGeom prst="rect">
              <a:avLst/>
            </a:prstGeom>
          </p:spPr>
          <p:txBody>
            <a:bodyPr anchor="ctr" rtlCol="false" tIns="0" lIns="0" bIns="0" rIns="0"/>
            <a:lstStyle/>
            <a:p>
              <a:pPr algn="l" marL="651508" indent="-325754" lvl="1">
                <a:lnSpc>
                  <a:spcPts val="3239"/>
                </a:lnSpc>
                <a:buFont typeface="Arial"/>
                <a:buChar char="•"/>
              </a:pPr>
              <a:r>
                <a:rPr lang="en-US" sz="2699">
                  <a:solidFill>
                    <a:srgbClr val="1A2E1A"/>
                  </a:solidFill>
                  <a:latin typeface="Calibri (MS)"/>
                  <a:ea typeface="Calibri (MS)"/>
                  <a:cs typeface="Calibri (MS)"/>
                  <a:sym typeface="Calibri (MS)"/>
                </a:rPr>
                <a:t>convergence </a:t>
              </a:r>
            </a:p>
          </p:txBody>
        </p:sp>
      </p:grpSp>
      <p:sp>
        <p:nvSpPr>
          <p:cNvPr name="TextBox 89" id="89"/>
          <p:cNvSpPr txBox="true"/>
          <p:nvPr/>
        </p:nvSpPr>
        <p:spPr>
          <a:xfrm rot="0">
            <a:off x="307343" y="409101"/>
            <a:ext cx="3815834" cy="895350"/>
          </a:xfrm>
          <a:prstGeom prst="rect">
            <a:avLst/>
          </a:prstGeom>
        </p:spPr>
        <p:txBody>
          <a:bodyPr anchor="t" rtlCol="false" tIns="0" lIns="0" bIns="0" rIns="0">
            <a:spAutoFit/>
          </a:bodyPr>
          <a:lstStyle/>
          <a:p>
            <a:pPr algn="l">
              <a:lnSpc>
                <a:spcPts val="6280"/>
              </a:lnSpc>
              <a:spcBef>
                <a:spcPct val="0"/>
              </a:spcBef>
            </a:pPr>
            <a:r>
              <a:rPr lang="en-US" b="true" sz="5233">
                <a:solidFill>
                  <a:srgbClr val="FFFFFF"/>
                </a:solidFill>
                <a:latin typeface="Calibri (MS) Bold"/>
                <a:ea typeface="Calibri (MS) Bold"/>
                <a:cs typeface="Calibri (MS) Bold"/>
                <a:sym typeface="Calibri (MS) Bold"/>
              </a:rPr>
              <a:t>PLan du cours</a:t>
            </a:r>
          </a:p>
        </p:txBody>
      </p:sp>
      <p:sp>
        <p:nvSpPr>
          <p:cNvPr name="TextBox 90" id="90"/>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   Les arbres de décision : définition</a:t>
              </a:r>
            </a:p>
          </p:txBody>
        </p:sp>
      </p:grpSp>
      <p:grpSp>
        <p:nvGrpSpPr>
          <p:cNvPr name="Group 8" id="8"/>
          <p:cNvGrpSpPr/>
          <p:nvPr/>
        </p:nvGrpSpPr>
        <p:grpSpPr>
          <a:xfrm rot="0">
            <a:off x="9630857" y="5314950"/>
            <a:ext cx="8391862" cy="3943350"/>
            <a:chOff x="0" y="0"/>
            <a:chExt cx="13203063" cy="6204142"/>
          </a:xfrm>
        </p:grpSpPr>
        <p:sp>
          <p:nvSpPr>
            <p:cNvPr name="Freeform 9" id="9"/>
            <p:cNvSpPr/>
            <p:nvPr/>
          </p:nvSpPr>
          <p:spPr>
            <a:xfrm flipH="false" flipV="false" rot="0">
              <a:off x="9715" y="56260"/>
              <a:ext cx="13183582" cy="6091325"/>
            </a:xfrm>
            <a:custGeom>
              <a:avLst/>
              <a:gdLst/>
              <a:ahLst/>
              <a:cxnLst/>
              <a:rect r="r" b="b" t="t" l="l"/>
              <a:pathLst>
                <a:path h="6091325" w="13183582">
                  <a:moveTo>
                    <a:pt x="0" y="0"/>
                  </a:moveTo>
                  <a:lnTo>
                    <a:pt x="13183582" y="0"/>
                  </a:lnTo>
                  <a:lnTo>
                    <a:pt x="13183582" y="6091326"/>
                  </a:lnTo>
                  <a:lnTo>
                    <a:pt x="0" y="6091326"/>
                  </a:lnTo>
                  <a:close/>
                </a:path>
              </a:pathLst>
            </a:custGeom>
            <a:solidFill>
              <a:srgbClr val="E8F5E8"/>
            </a:solidFill>
          </p:spPr>
        </p:sp>
        <p:sp>
          <p:nvSpPr>
            <p:cNvPr name="Freeform 10" id="10"/>
            <p:cNvSpPr/>
            <p:nvPr/>
          </p:nvSpPr>
          <p:spPr>
            <a:xfrm flipH="false" flipV="false" rot="0">
              <a:off x="0" y="0"/>
              <a:ext cx="13203013" cy="6203846"/>
            </a:xfrm>
            <a:custGeom>
              <a:avLst/>
              <a:gdLst/>
              <a:ahLst/>
              <a:cxnLst/>
              <a:rect r="r" b="b" t="t" l="l"/>
              <a:pathLst>
                <a:path h="6203846" w="13203013">
                  <a:moveTo>
                    <a:pt x="9715" y="0"/>
                  </a:moveTo>
                  <a:lnTo>
                    <a:pt x="13193297" y="0"/>
                  </a:lnTo>
                  <a:cubicBezTo>
                    <a:pt x="13198703" y="0"/>
                    <a:pt x="13203013" y="25381"/>
                    <a:pt x="13203013" y="56260"/>
                  </a:cubicBezTo>
                  <a:lnTo>
                    <a:pt x="13203013" y="6147586"/>
                  </a:lnTo>
                  <a:cubicBezTo>
                    <a:pt x="13203013" y="6178888"/>
                    <a:pt x="13198630" y="6203846"/>
                    <a:pt x="13193297" y="6203846"/>
                  </a:cubicBezTo>
                  <a:lnTo>
                    <a:pt x="9715" y="6203846"/>
                  </a:lnTo>
                  <a:cubicBezTo>
                    <a:pt x="4310" y="6203846"/>
                    <a:pt x="0" y="6178465"/>
                    <a:pt x="0" y="6147586"/>
                  </a:cubicBezTo>
                  <a:lnTo>
                    <a:pt x="0" y="56260"/>
                  </a:lnTo>
                  <a:cubicBezTo>
                    <a:pt x="0" y="25381"/>
                    <a:pt x="4383" y="0"/>
                    <a:pt x="9715" y="0"/>
                  </a:cubicBezTo>
                  <a:moveTo>
                    <a:pt x="9715" y="112943"/>
                  </a:moveTo>
                  <a:lnTo>
                    <a:pt x="9715" y="56260"/>
                  </a:lnTo>
                  <a:lnTo>
                    <a:pt x="19504" y="56260"/>
                  </a:lnTo>
                  <a:lnTo>
                    <a:pt x="19504" y="6147586"/>
                  </a:lnTo>
                  <a:lnTo>
                    <a:pt x="9715" y="6147586"/>
                  </a:lnTo>
                  <a:lnTo>
                    <a:pt x="9715" y="6091325"/>
                  </a:lnTo>
                  <a:lnTo>
                    <a:pt x="13193297" y="6091325"/>
                  </a:lnTo>
                  <a:lnTo>
                    <a:pt x="13193297" y="6147586"/>
                  </a:lnTo>
                  <a:lnTo>
                    <a:pt x="13183581" y="6147586"/>
                  </a:lnTo>
                  <a:lnTo>
                    <a:pt x="13183581" y="56260"/>
                  </a:lnTo>
                  <a:lnTo>
                    <a:pt x="13193297" y="56260"/>
                  </a:lnTo>
                  <a:lnTo>
                    <a:pt x="13193297" y="112943"/>
                  </a:lnTo>
                  <a:lnTo>
                    <a:pt x="9715" y="112943"/>
                  </a:lnTo>
                  <a:close/>
                </a:path>
              </a:pathLst>
            </a:custGeom>
            <a:solidFill>
              <a:srgbClr val="5B9E3D"/>
            </a:solidFill>
          </p:spPr>
        </p:sp>
      </p:grpSp>
      <p:sp>
        <p:nvSpPr>
          <p:cNvPr name="Freeform 11" id="11"/>
          <p:cNvSpPr/>
          <p:nvPr/>
        </p:nvSpPr>
        <p:spPr>
          <a:xfrm flipH="false" flipV="false" rot="0">
            <a:off x="320700" y="2982699"/>
            <a:ext cx="9039321" cy="5580718"/>
          </a:xfrm>
          <a:custGeom>
            <a:avLst/>
            <a:gdLst/>
            <a:ahLst/>
            <a:cxnLst/>
            <a:rect r="r" b="b" t="t" l="l"/>
            <a:pathLst>
              <a:path h="5580718" w="9039321">
                <a:moveTo>
                  <a:pt x="0" y="0"/>
                </a:moveTo>
                <a:lnTo>
                  <a:pt x="9039321" y="0"/>
                </a:lnTo>
                <a:lnTo>
                  <a:pt x="9039321" y="5580718"/>
                </a:lnTo>
                <a:lnTo>
                  <a:pt x="0" y="5580718"/>
                </a:lnTo>
                <a:lnTo>
                  <a:pt x="0" y="0"/>
                </a:lnTo>
                <a:close/>
              </a:path>
            </a:pathLst>
          </a:custGeom>
          <a:blipFill>
            <a:blip r:embed="rId4"/>
            <a:stretch>
              <a:fillRect l="-4264" t="-26925" r="-8893" b="0"/>
            </a:stretch>
          </a:blipFill>
        </p:spPr>
      </p:sp>
      <p:sp>
        <p:nvSpPr>
          <p:cNvPr name="TextBox 12" id="12"/>
          <p:cNvSpPr txBox="true"/>
          <p:nvPr/>
        </p:nvSpPr>
        <p:spPr>
          <a:xfrm rot="0">
            <a:off x="9630857" y="5362575"/>
            <a:ext cx="8218200" cy="4136274"/>
          </a:xfrm>
          <a:prstGeom prst="rect">
            <a:avLst/>
          </a:prstGeom>
        </p:spPr>
        <p:txBody>
          <a:bodyPr anchor="t" rtlCol="false" tIns="0" lIns="0" bIns="0" rIns="0">
            <a:spAutoFit/>
          </a:bodyPr>
          <a:lstStyle/>
          <a:p>
            <a:pPr algn="l">
              <a:lnSpc>
                <a:spcPts val="3294"/>
              </a:lnSpc>
            </a:pPr>
            <a:r>
              <a:rPr lang="en-US" sz="2573">
                <a:solidFill>
                  <a:srgbClr val="000000"/>
                </a:solidFill>
                <a:latin typeface="Calibri (MS)"/>
                <a:ea typeface="Calibri (MS)"/>
                <a:cs typeface="Calibri (MS)"/>
                <a:sym typeface="Calibri (MS)"/>
              </a:rPr>
              <a:t>  Struct</a:t>
            </a:r>
            <a:r>
              <a:rPr lang="en-US" sz="2573">
                <a:solidFill>
                  <a:srgbClr val="000000"/>
                </a:solidFill>
                <a:latin typeface="Calibri (MS)"/>
                <a:ea typeface="Calibri (MS)"/>
                <a:cs typeface="Calibri (MS)"/>
                <a:sym typeface="Calibri (MS)"/>
              </a:rPr>
              <a:t>ure de l’arbre </a:t>
            </a:r>
          </a:p>
          <a:p>
            <a:pPr algn="l" marL="555712" indent="-277856" lvl="1">
              <a:lnSpc>
                <a:spcPts val="3294"/>
              </a:lnSpc>
              <a:buFont typeface="Arial"/>
              <a:buChar char="•"/>
            </a:pPr>
            <a:r>
              <a:rPr lang="en-US" b="true" sz="2573">
                <a:solidFill>
                  <a:srgbClr val="000000"/>
                </a:solidFill>
                <a:latin typeface="Calibri (MS) Bold"/>
                <a:ea typeface="Calibri (MS) Bold"/>
                <a:cs typeface="Calibri (MS) Bold"/>
                <a:sym typeface="Calibri (MS) Bold"/>
              </a:rPr>
              <a:t>Nœud racine </a:t>
            </a:r>
            <a:r>
              <a:rPr lang="en-US" sz="2573">
                <a:solidFill>
                  <a:srgbClr val="000000"/>
                </a:solidFill>
                <a:latin typeface="Calibri (MS)"/>
                <a:ea typeface="Calibri (MS)"/>
                <a:cs typeface="Calibri (MS)"/>
                <a:sym typeface="Calibri (MS)"/>
              </a:rPr>
              <a:t>:Point de départ de l’arbre, contient toutes les données.</a:t>
            </a:r>
          </a:p>
          <a:p>
            <a:pPr algn="l" marL="555712" indent="-277856" lvl="1">
              <a:lnSpc>
                <a:spcPts val="3294"/>
              </a:lnSpc>
              <a:buFont typeface="Arial"/>
              <a:buChar char="•"/>
            </a:pPr>
            <a:r>
              <a:rPr lang="en-US" b="true" sz="2573">
                <a:solidFill>
                  <a:srgbClr val="000000"/>
                </a:solidFill>
                <a:latin typeface="Calibri (MS) Bold"/>
                <a:ea typeface="Calibri (MS) Bold"/>
                <a:cs typeface="Calibri (MS) Bold"/>
                <a:sym typeface="Calibri (MS) Bold"/>
              </a:rPr>
              <a:t>Nœuds </a:t>
            </a:r>
            <a:r>
              <a:rPr lang="en-US" b="true" sz="2573">
                <a:solidFill>
                  <a:srgbClr val="000000"/>
                </a:solidFill>
                <a:latin typeface="Calibri (MS) Bold"/>
                <a:ea typeface="Calibri (MS) Bold"/>
                <a:cs typeface="Calibri (MS) Bold"/>
                <a:sym typeface="Calibri (MS) Bold"/>
              </a:rPr>
              <a:t>internes (carrés)</a:t>
            </a:r>
            <a:r>
              <a:rPr lang="en-US" sz="2573">
                <a:solidFill>
                  <a:srgbClr val="000000"/>
                </a:solidFill>
                <a:latin typeface="Calibri (MS)"/>
                <a:ea typeface="Calibri (MS)"/>
                <a:cs typeface="Calibri (MS)"/>
                <a:sym typeface="Calibri (MS)"/>
              </a:rPr>
              <a:t> : Représentent des tests sur les attributs</a:t>
            </a:r>
          </a:p>
          <a:p>
            <a:pPr algn="l" marL="555712" indent="-277856" lvl="1">
              <a:lnSpc>
                <a:spcPts val="3294"/>
              </a:lnSpc>
              <a:buFont typeface="Arial"/>
              <a:buChar char="•"/>
            </a:pPr>
            <a:r>
              <a:rPr lang="en-US" b="true" sz="2573">
                <a:solidFill>
                  <a:srgbClr val="000000"/>
                </a:solidFill>
                <a:latin typeface="Calibri (MS) Bold"/>
                <a:ea typeface="Calibri (MS) Bold"/>
                <a:cs typeface="Calibri (MS) Bold"/>
                <a:sym typeface="Calibri (MS) Bold"/>
              </a:rPr>
              <a:t>Branches (lignes</a:t>
            </a:r>
            <a:r>
              <a:rPr lang="en-US" sz="2573">
                <a:solidFill>
                  <a:srgbClr val="000000"/>
                </a:solidFill>
                <a:latin typeface="Calibri (MS)"/>
                <a:ea typeface="Calibri (MS)"/>
                <a:cs typeface="Calibri (MS)"/>
                <a:sym typeface="Calibri (MS)"/>
              </a:rPr>
              <a:t>) : Correspondent aux valeurs possibles d’un attribut (oui/non, petit/grand…).</a:t>
            </a:r>
          </a:p>
          <a:p>
            <a:pPr algn="l" marL="555712" indent="-277856" lvl="1">
              <a:lnSpc>
                <a:spcPts val="3294"/>
              </a:lnSpc>
              <a:buFont typeface="Arial"/>
              <a:buChar char="•"/>
            </a:pPr>
            <a:r>
              <a:rPr lang="en-US" b="true" sz="2573">
                <a:solidFill>
                  <a:srgbClr val="000000"/>
                </a:solidFill>
                <a:latin typeface="Calibri (MS) Bold"/>
                <a:ea typeface="Calibri (MS) Bold"/>
                <a:cs typeface="Calibri (MS) Bold"/>
                <a:sym typeface="Calibri (MS) Bold"/>
              </a:rPr>
              <a:t>Feui</a:t>
            </a:r>
            <a:r>
              <a:rPr lang="en-US" b="true" sz="2573">
                <a:solidFill>
                  <a:srgbClr val="000000"/>
                </a:solidFill>
                <a:latin typeface="Calibri (MS) Bold"/>
                <a:ea typeface="Calibri (MS) Bold"/>
                <a:cs typeface="Calibri (MS) Bold"/>
                <a:sym typeface="Calibri (MS) Bold"/>
              </a:rPr>
              <a:t>lles (ovales)</a:t>
            </a:r>
            <a:r>
              <a:rPr lang="en-US" sz="2573">
                <a:solidFill>
                  <a:srgbClr val="000000"/>
                </a:solidFill>
                <a:latin typeface="Calibri (MS)"/>
                <a:ea typeface="Calibri (MS)"/>
                <a:cs typeface="Calibri (MS)"/>
                <a:sym typeface="Calibri (MS)"/>
              </a:rPr>
              <a:t> :Représentent la décision finale ou la classe.</a:t>
            </a:r>
          </a:p>
          <a:p>
            <a:pPr algn="l">
              <a:lnSpc>
                <a:spcPts val="3294"/>
              </a:lnSpc>
            </a:pPr>
          </a:p>
        </p:txBody>
      </p:sp>
      <p:grpSp>
        <p:nvGrpSpPr>
          <p:cNvPr name="Group 13" id="13"/>
          <p:cNvGrpSpPr/>
          <p:nvPr/>
        </p:nvGrpSpPr>
        <p:grpSpPr>
          <a:xfrm rot="0">
            <a:off x="9630857" y="2749157"/>
            <a:ext cx="8381119" cy="1697744"/>
            <a:chOff x="0" y="0"/>
            <a:chExt cx="11174826" cy="2263659"/>
          </a:xfrm>
        </p:grpSpPr>
        <p:sp>
          <p:nvSpPr>
            <p:cNvPr name="Freeform 14" id="14"/>
            <p:cNvSpPr/>
            <p:nvPr/>
          </p:nvSpPr>
          <p:spPr>
            <a:xfrm flipH="false" flipV="false" rot="0">
              <a:off x="8223" y="20527"/>
              <a:ext cx="11158337" cy="2222497"/>
            </a:xfrm>
            <a:custGeom>
              <a:avLst/>
              <a:gdLst/>
              <a:ahLst/>
              <a:cxnLst/>
              <a:rect r="r" b="b" t="t" l="l"/>
              <a:pathLst>
                <a:path h="2222497" w="11158337">
                  <a:moveTo>
                    <a:pt x="0" y="0"/>
                  </a:moveTo>
                  <a:lnTo>
                    <a:pt x="11158336" y="0"/>
                  </a:lnTo>
                  <a:lnTo>
                    <a:pt x="11158336" y="2222497"/>
                  </a:lnTo>
                  <a:lnTo>
                    <a:pt x="0" y="2222497"/>
                  </a:lnTo>
                  <a:close/>
                </a:path>
              </a:pathLst>
            </a:custGeom>
            <a:solidFill>
              <a:srgbClr val="D4EDD4">
                <a:alpha val="17647"/>
              </a:srgbClr>
            </a:solidFill>
          </p:spPr>
        </p:sp>
        <p:sp>
          <p:nvSpPr>
            <p:cNvPr name="Freeform 15" id="15"/>
            <p:cNvSpPr/>
            <p:nvPr/>
          </p:nvSpPr>
          <p:spPr>
            <a:xfrm flipH="false" flipV="false" rot="0">
              <a:off x="0" y="0"/>
              <a:ext cx="11174783" cy="2263551"/>
            </a:xfrm>
            <a:custGeom>
              <a:avLst/>
              <a:gdLst/>
              <a:ahLst/>
              <a:cxnLst/>
              <a:rect r="r" b="b" t="t" l="l"/>
              <a:pathLst>
                <a:path h="2263551" w="11174783">
                  <a:moveTo>
                    <a:pt x="8223" y="0"/>
                  </a:moveTo>
                  <a:lnTo>
                    <a:pt x="11166559" y="0"/>
                  </a:lnTo>
                  <a:cubicBezTo>
                    <a:pt x="11171134" y="0"/>
                    <a:pt x="11174783" y="9260"/>
                    <a:pt x="11174783" y="20527"/>
                  </a:cubicBezTo>
                  <a:lnTo>
                    <a:pt x="11174783" y="2243024"/>
                  </a:lnTo>
                  <a:cubicBezTo>
                    <a:pt x="11174783" y="2254445"/>
                    <a:pt x="11171073" y="2263551"/>
                    <a:pt x="11166559" y="2263551"/>
                  </a:cubicBezTo>
                  <a:lnTo>
                    <a:pt x="8223" y="2263551"/>
                  </a:lnTo>
                  <a:cubicBezTo>
                    <a:pt x="3648" y="2263551"/>
                    <a:pt x="0" y="2254291"/>
                    <a:pt x="0" y="2243024"/>
                  </a:cubicBezTo>
                  <a:lnTo>
                    <a:pt x="0" y="20527"/>
                  </a:lnTo>
                  <a:cubicBezTo>
                    <a:pt x="0" y="9260"/>
                    <a:pt x="3710" y="0"/>
                    <a:pt x="8223" y="0"/>
                  </a:cubicBezTo>
                  <a:moveTo>
                    <a:pt x="8223" y="41209"/>
                  </a:moveTo>
                  <a:lnTo>
                    <a:pt x="8223" y="20527"/>
                  </a:lnTo>
                  <a:lnTo>
                    <a:pt x="16508" y="20527"/>
                  </a:lnTo>
                  <a:lnTo>
                    <a:pt x="16508" y="2243024"/>
                  </a:lnTo>
                  <a:lnTo>
                    <a:pt x="8223" y="2243024"/>
                  </a:lnTo>
                  <a:lnTo>
                    <a:pt x="8223" y="2222497"/>
                  </a:lnTo>
                  <a:lnTo>
                    <a:pt x="11166559" y="2222497"/>
                  </a:lnTo>
                  <a:lnTo>
                    <a:pt x="11166559" y="2243024"/>
                  </a:lnTo>
                  <a:lnTo>
                    <a:pt x="11158337" y="2243024"/>
                  </a:lnTo>
                  <a:lnTo>
                    <a:pt x="11158337" y="20527"/>
                  </a:lnTo>
                  <a:lnTo>
                    <a:pt x="11166559" y="20527"/>
                  </a:lnTo>
                  <a:lnTo>
                    <a:pt x="11166559" y="41209"/>
                  </a:lnTo>
                  <a:lnTo>
                    <a:pt x="8223" y="41209"/>
                  </a:lnTo>
                  <a:close/>
                </a:path>
              </a:pathLst>
            </a:custGeom>
            <a:solidFill>
              <a:srgbClr val="5B9E3D">
                <a:alpha val="17647"/>
              </a:srgbClr>
            </a:solidFill>
          </p:spPr>
        </p:sp>
      </p:grpSp>
      <p:sp>
        <p:nvSpPr>
          <p:cNvPr name="TextBox 16" id="16"/>
          <p:cNvSpPr txBox="true"/>
          <p:nvPr/>
        </p:nvSpPr>
        <p:spPr>
          <a:xfrm rot="0">
            <a:off x="9793777" y="2925549"/>
            <a:ext cx="7901059" cy="1285875"/>
          </a:xfrm>
          <a:prstGeom prst="rect">
            <a:avLst/>
          </a:prstGeom>
        </p:spPr>
        <p:txBody>
          <a:bodyPr anchor="t" rtlCol="false" tIns="0" lIns="0" bIns="0" rIns="0">
            <a:spAutoFit/>
          </a:bodyPr>
          <a:lstStyle/>
          <a:p>
            <a:pPr algn="l">
              <a:lnSpc>
                <a:spcPts val="3236"/>
              </a:lnSpc>
            </a:pPr>
            <a:r>
              <a:rPr lang="en-US" sz="2696">
                <a:solidFill>
                  <a:srgbClr val="000000"/>
                </a:solidFill>
                <a:latin typeface="Calibri (MS)"/>
                <a:ea typeface="Calibri (MS)"/>
                <a:cs typeface="Calibri (MS)"/>
                <a:sym typeface="Calibri (MS)"/>
              </a:rPr>
              <a:t>U</a:t>
            </a:r>
            <a:r>
              <a:rPr lang="en-US" sz="2696">
                <a:solidFill>
                  <a:srgbClr val="000000"/>
                </a:solidFill>
                <a:latin typeface="Calibri (MS)"/>
                <a:ea typeface="Calibri (MS)"/>
                <a:cs typeface="Calibri (MS)"/>
                <a:sym typeface="Calibri (MS)"/>
              </a:rPr>
              <a:t>n arbre de décision est un modèle d’apprentissage supervisé  pour </a:t>
            </a:r>
            <a:r>
              <a:rPr lang="en-US" b="true" sz="2696">
                <a:solidFill>
                  <a:srgbClr val="000000"/>
                </a:solidFill>
                <a:latin typeface="Calibri (MS) Bold"/>
                <a:ea typeface="Calibri (MS) Bold"/>
                <a:cs typeface="Calibri (MS) Bold"/>
                <a:sym typeface="Calibri (MS) Bold"/>
              </a:rPr>
              <a:t>classifier </a:t>
            </a:r>
            <a:r>
              <a:rPr lang="en-US" sz="2696">
                <a:solidFill>
                  <a:srgbClr val="000000"/>
                </a:solidFill>
                <a:latin typeface="Calibri (MS)"/>
                <a:ea typeface="Calibri (MS)"/>
                <a:cs typeface="Calibri (MS)"/>
                <a:sym typeface="Calibri (MS)"/>
              </a:rPr>
              <a:t>ou </a:t>
            </a:r>
            <a:r>
              <a:rPr lang="en-US" b="true" sz="2696">
                <a:solidFill>
                  <a:srgbClr val="000000"/>
                </a:solidFill>
                <a:latin typeface="Calibri (MS) Bold"/>
                <a:ea typeface="Calibri (MS) Bold"/>
                <a:cs typeface="Calibri (MS) Bold"/>
                <a:sym typeface="Calibri (MS) Bold"/>
              </a:rPr>
              <a:t>prédire </a:t>
            </a:r>
            <a:r>
              <a:rPr lang="en-US" sz="2696">
                <a:solidFill>
                  <a:srgbClr val="000000"/>
                </a:solidFill>
                <a:latin typeface="Calibri (MS)"/>
                <a:ea typeface="Calibri (MS)"/>
                <a:cs typeface="Calibri (MS)"/>
                <a:sym typeface="Calibri (MS)"/>
              </a:rPr>
              <a:t>des données à partir de leurs caractéristiques.</a:t>
            </a:r>
          </a:p>
        </p:txBody>
      </p:sp>
      <p:sp>
        <p:nvSpPr>
          <p:cNvPr name="TextBox 17" id="17"/>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25408" y="3226236"/>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5B9E3D"/>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5B9E3D"/>
            </a:solidFill>
          </p:spPr>
        </p:sp>
      </p:grpSp>
      <p:grpSp>
        <p:nvGrpSpPr>
          <p:cNvPr name="Group 5" id="5"/>
          <p:cNvGrpSpPr/>
          <p:nvPr/>
        </p:nvGrpSpPr>
        <p:grpSpPr>
          <a:xfrm rot="0">
            <a:off x="499199" y="-191453"/>
            <a:ext cx="2903172" cy="3217664"/>
            <a:chOff x="0" y="0"/>
            <a:chExt cx="3870896" cy="4290219"/>
          </a:xfrm>
        </p:grpSpPr>
        <p:sp>
          <p:nvSpPr>
            <p:cNvPr name="Freeform 6" id="6"/>
            <p:cNvSpPr/>
            <p:nvPr/>
          </p:nvSpPr>
          <p:spPr>
            <a:xfrm flipH="false" flipV="false" rot="0">
              <a:off x="0" y="0"/>
              <a:ext cx="3870896" cy="4290219"/>
            </a:xfrm>
            <a:custGeom>
              <a:avLst/>
              <a:gdLst/>
              <a:ahLst/>
              <a:cxnLst/>
              <a:rect r="r" b="b" t="t" l="l"/>
              <a:pathLst>
                <a:path h="4290219" w="3870896">
                  <a:moveTo>
                    <a:pt x="0" y="0"/>
                  </a:moveTo>
                  <a:lnTo>
                    <a:pt x="3870896" y="0"/>
                  </a:lnTo>
                  <a:lnTo>
                    <a:pt x="3870896" y="4290219"/>
                  </a:lnTo>
                  <a:lnTo>
                    <a:pt x="0" y="4290219"/>
                  </a:lnTo>
                  <a:close/>
                </a:path>
              </a:pathLst>
            </a:custGeom>
            <a:blipFill>
              <a:blip r:embed="rId3">
                <a:alphaModFix amt="0"/>
              </a:blip>
              <a:stretch>
                <a:fillRect l="-59191" t="0" r="-34782" b="31796"/>
              </a:stretch>
            </a:blipFill>
          </p:spPr>
        </p:sp>
        <p:sp>
          <p:nvSpPr>
            <p:cNvPr name="TextBox 7" id="7"/>
            <p:cNvSpPr txBox="true"/>
            <p:nvPr/>
          </p:nvSpPr>
          <p:spPr>
            <a:xfrm>
              <a:off x="0" y="-333375"/>
              <a:ext cx="3870896" cy="4623594"/>
            </a:xfrm>
            <a:prstGeom prst="rect">
              <a:avLst/>
            </a:prstGeom>
          </p:spPr>
          <p:txBody>
            <a:bodyPr anchor="ctr" rtlCol="false" tIns="0" lIns="0" bIns="0" rIns="0"/>
            <a:lstStyle/>
            <a:p>
              <a:pPr algn="l">
                <a:lnSpc>
                  <a:spcPts val="19200"/>
                </a:lnSpc>
              </a:pPr>
              <a:r>
                <a:rPr lang="en-US" sz="16000" b="true">
                  <a:solidFill>
                    <a:srgbClr val="5B9E3D"/>
                  </a:solidFill>
                  <a:latin typeface="Calibri (MS) Bold"/>
                  <a:ea typeface="Calibri (MS) Bold"/>
                  <a:cs typeface="Calibri (MS) Bold"/>
                  <a:sym typeface="Calibri (MS) Bold"/>
                </a:rPr>
                <a:t>A1</a:t>
              </a:r>
            </a:p>
          </p:txBody>
        </p:sp>
      </p:grpSp>
      <p:grpSp>
        <p:nvGrpSpPr>
          <p:cNvPr name="Group 8" id="8"/>
          <p:cNvGrpSpPr/>
          <p:nvPr/>
        </p:nvGrpSpPr>
        <p:grpSpPr>
          <a:xfrm rot="0">
            <a:off x="3279134" y="365760"/>
            <a:ext cx="12801600" cy="1645920"/>
            <a:chOff x="0" y="0"/>
            <a:chExt cx="17068800" cy="2194560"/>
          </a:xfrm>
        </p:grpSpPr>
        <p:sp>
          <p:nvSpPr>
            <p:cNvPr name="Freeform 9" id="9"/>
            <p:cNvSpPr/>
            <p:nvPr/>
          </p:nvSpPr>
          <p:spPr>
            <a:xfrm flipH="false" flipV="false" rot="0">
              <a:off x="0" y="0"/>
              <a:ext cx="17068800" cy="2194560"/>
            </a:xfrm>
            <a:custGeom>
              <a:avLst/>
              <a:gdLst/>
              <a:ahLst/>
              <a:cxnLst/>
              <a:rect r="r" b="b" t="t" l="l"/>
              <a:pathLst>
                <a:path h="2194560" w="17068800">
                  <a:moveTo>
                    <a:pt x="0" y="0"/>
                  </a:moveTo>
                  <a:lnTo>
                    <a:pt x="17068800" y="0"/>
                  </a:lnTo>
                  <a:lnTo>
                    <a:pt x="17068800" y="2194560"/>
                  </a:lnTo>
                  <a:lnTo>
                    <a:pt x="0" y="2194560"/>
                  </a:lnTo>
                  <a:close/>
                </a:path>
              </a:pathLst>
            </a:custGeom>
            <a:blipFill>
              <a:blip r:embed="rId3">
                <a:alphaModFix amt="0"/>
              </a:blip>
              <a:stretch>
                <a:fillRect l="0" t="-101550" r="0" b="-101550"/>
              </a:stretch>
            </a:blipFill>
          </p:spPr>
        </p:sp>
        <p:sp>
          <p:nvSpPr>
            <p:cNvPr name="TextBox 10" id="10"/>
            <p:cNvSpPr txBox="true"/>
            <p:nvPr/>
          </p:nvSpPr>
          <p:spPr>
            <a:xfrm>
              <a:off x="0" y="-171450"/>
              <a:ext cx="17068800" cy="2366010"/>
            </a:xfrm>
            <a:prstGeom prst="rect">
              <a:avLst/>
            </a:prstGeom>
          </p:spPr>
          <p:txBody>
            <a:bodyPr anchor="ctr" rtlCol="false" tIns="0" lIns="0" bIns="0" rIns="0"/>
            <a:lstStyle/>
            <a:p>
              <a:pPr algn="l">
                <a:lnSpc>
                  <a:spcPts val="10560"/>
                </a:lnSpc>
              </a:pPr>
              <a:r>
                <a:rPr lang="en-US" sz="8800" b="true">
                  <a:solidFill>
                    <a:srgbClr val="FFFFFF"/>
                  </a:solidFill>
                  <a:latin typeface="Calibri (MS) Bold"/>
                  <a:ea typeface="Calibri (MS) Bold"/>
                  <a:cs typeface="Calibri (MS) Bold"/>
                  <a:sym typeface="Calibri (MS) Bold"/>
                </a:rPr>
                <a:t>Fondations</a:t>
              </a:r>
            </a:p>
          </p:txBody>
        </p:sp>
      </p:grpSp>
      <p:grpSp>
        <p:nvGrpSpPr>
          <p:cNvPr name="Group 11" id="11"/>
          <p:cNvGrpSpPr/>
          <p:nvPr/>
        </p:nvGrpSpPr>
        <p:grpSpPr>
          <a:xfrm rot="0">
            <a:off x="3279134" y="2011680"/>
            <a:ext cx="13716000" cy="914400"/>
            <a:chOff x="0" y="0"/>
            <a:chExt cx="18288000" cy="1219200"/>
          </a:xfrm>
        </p:grpSpPr>
        <p:sp>
          <p:nvSpPr>
            <p:cNvPr name="Freeform 12" id="12"/>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3" id="13"/>
            <p:cNvSpPr txBox="true"/>
            <p:nvPr/>
          </p:nvSpPr>
          <p:spPr>
            <a:xfrm>
              <a:off x="0" y="-66675"/>
              <a:ext cx="18288000" cy="1285875"/>
            </a:xfrm>
            <a:prstGeom prst="rect">
              <a:avLst/>
            </a:prstGeom>
          </p:spPr>
          <p:txBody>
            <a:bodyPr anchor="ctr" rtlCol="false" tIns="0" lIns="0" bIns="0" rIns="0"/>
            <a:lstStyle/>
            <a:p>
              <a:pPr algn="l">
                <a:lnSpc>
                  <a:spcPts val="4320"/>
                </a:lnSpc>
              </a:pPr>
              <a:r>
                <a:rPr lang="en-US" sz="3600" i="true">
                  <a:solidFill>
                    <a:srgbClr val="97BC62"/>
                  </a:solidFill>
                  <a:latin typeface="Calibri (MS) Italics"/>
                  <a:ea typeface="Calibri (MS) Italics"/>
                  <a:cs typeface="Calibri (MS) Italics"/>
                  <a:sym typeface="Calibri (MS) Italics"/>
                </a:rPr>
                <a:t>Arbre de décision binaire  ·  Bagging  ·  Bootstrap</a:t>
              </a:r>
            </a:p>
          </p:txBody>
        </p:sp>
      </p:grpSp>
      <p:grpSp>
        <p:nvGrpSpPr>
          <p:cNvPr name="Group 14" id="14"/>
          <p:cNvGrpSpPr/>
          <p:nvPr/>
        </p:nvGrpSpPr>
        <p:grpSpPr>
          <a:xfrm rot="0">
            <a:off x="1224809" y="4231995"/>
            <a:ext cx="4597403" cy="5331839"/>
            <a:chOff x="0" y="0"/>
            <a:chExt cx="6129871" cy="7109119"/>
          </a:xfrm>
        </p:grpSpPr>
        <p:sp>
          <p:nvSpPr>
            <p:cNvPr name="Freeform 15" id="15"/>
            <p:cNvSpPr/>
            <p:nvPr/>
          </p:nvSpPr>
          <p:spPr>
            <a:xfrm flipH="false" flipV="false" rot="0">
              <a:off x="16891" y="23296"/>
              <a:ext cx="6096000" cy="7062404"/>
            </a:xfrm>
            <a:custGeom>
              <a:avLst/>
              <a:gdLst/>
              <a:ahLst/>
              <a:cxnLst/>
              <a:rect r="r" b="b" t="t" l="l"/>
              <a:pathLst>
                <a:path h="7062404" w="6096000">
                  <a:moveTo>
                    <a:pt x="0" y="0"/>
                  </a:moveTo>
                  <a:lnTo>
                    <a:pt x="6096000" y="0"/>
                  </a:lnTo>
                  <a:lnTo>
                    <a:pt x="6096000" y="7062404"/>
                  </a:lnTo>
                  <a:lnTo>
                    <a:pt x="0" y="7062404"/>
                  </a:lnTo>
                  <a:close/>
                </a:path>
              </a:pathLst>
            </a:custGeom>
            <a:solidFill>
              <a:srgbClr val="1E3A1E"/>
            </a:solidFill>
          </p:spPr>
        </p:sp>
        <p:sp>
          <p:nvSpPr>
            <p:cNvPr name="Freeform 16" id="16"/>
            <p:cNvSpPr/>
            <p:nvPr/>
          </p:nvSpPr>
          <p:spPr>
            <a:xfrm flipH="false" flipV="false" rot="0">
              <a:off x="0" y="0"/>
              <a:ext cx="6129782" cy="7108996"/>
            </a:xfrm>
            <a:custGeom>
              <a:avLst/>
              <a:gdLst/>
              <a:ahLst/>
              <a:cxnLst/>
              <a:rect r="r" b="b" t="t" l="l"/>
              <a:pathLst>
                <a:path h="7108996" w="6129782">
                  <a:moveTo>
                    <a:pt x="16891" y="0"/>
                  </a:moveTo>
                  <a:lnTo>
                    <a:pt x="6112891" y="0"/>
                  </a:lnTo>
                  <a:cubicBezTo>
                    <a:pt x="6122289" y="0"/>
                    <a:pt x="6129782" y="10510"/>
                    <a:pt x="6129782" y="23296"/>
                  </a:cubicBezTo>
                  <a:lnTo>
                    <a:pt x="6129782" y="7085700"/>
                  </a:lnTo>
                  <a:cubicBezTo>
                    <a:pt x="6129782" y="7098662"/>
                    <a:pt x="6122162" y="7108996"/>
                    <a:pt x="6112891" y="7108996"/>
                  </a:cubicBezTo>
                  <a:lnTo>
                    <a:pt x="16891" y="7108996"/>
                  </a:lnTo>
                  <a:cubicBezTo>
                    <a:pt x="7493" y="7108996"/>
                    <a:pt x="0" y="7098487"/>
                    <a:pt x="0" y="7085700"/>
                  </a:cubicBezTo>
                  <a:lnTo>
                    <a:pt x="0" y="23296"/>
                  </a:lnTo>
                  <a:cubicBezTo>
                    <a:pt x="0" y="10510"/>
                    <a:pt x="7620" y="0"/>
                    <a:pt x="16891" y="0"/>
                  </a:cubicBezTo>
                  <a:moveTo>
                    <a:pt x="16891" y="46767"/>
                  </a:moveTo>
                  <a:lnTo>
                    <a:pt x="16891" y="23296"/>
                  </a:lnTo>
                  <a:lnTo>
                    <a:pt x="33909" y="23296"/>
                  </a:lnTo>
                  <a:lnTo>
                    <a:pt x="33909" y="7085700"/>
                  </a:lnTo>
                  <a:lnTo>
                    <a:pt x="16891" y="7085700"/>
                  </a:lnTo>
                  <a:lnTo>
                    <a:pt x="16891" y="7062405"/>
                  </a:lnTo>
                  <a:lnTo>
                    <a:pt x="6112891" y="7062405"/>
                  </a:lnTo>
                  <a:lnTo>
                    <a:pt x="6112891" y="7085700"/>
                  </a:lnTo>
                  <a:lnTo>
                    <a:pt x="6096000" y="7085700"/>
                  </a:lnTo>
                  <a:lnTo>
                    <a:pt x="6096000" y="23296"/>
                  </a:lnTo>
                  <a:lnTo>
                    <a:pt x="6112891" y="23296"/>
                  </a:lnTo>
                  <a:lnTo>
                    <a:pt x="6112891" y="46767"/>
                  </a:lnTo>
                  <a:lnTo>
                    <a:pt x="16891" y="46767"/>
                  </a:lnTo>
                  <a:close/>
                </a:path>
              </a:pathLst>
            </a:custGeom>
            <a:solidFill>
              <a:srgbClr val="5B9E3D"/>
            </a:solidFill>
          </p:spPr>
        </p:sp>
      </p:grpSp>
      <p:grpSp>
        <p:nvGrpSpPr>
          <p:cNvPr name="Group 17" id="17"/>
          <p:cNvGrpSpPr/>
          <p:nvPr/>
        </p:nvGrpSpPr>
        <p:grpSpPr>
          <a:xfrm rot="0">
            <a:off x="1419119" y="4348659"/>
            <a:ext cx="1280160" cy="1229274"/>
            <a:chOff x="0" y="0"/>
            <a:chExt cx="1706880" cy="1639033"/>
          </a:xfrm>
        </p:grpSpPr>
        <p:sp>
          <p:nvSpPr>
            <p:cNvPr name="Freeform 18" id="18"/>
            <p:cNvSpPr/>
            <p:nvPr/>
          </p:nvSpPr>
          <p:spPr>
            <a:xfrm flipH="false" flipV="false" rot="0">
              <a:off x="0" y="0"/>
              <a:ext cx="1706880" cy="1639033"/>
            </a:xfrm>
            <a:custGeom>
              <a:avLst/>
              <a:gdLst/>
              <a:ahLst/>
              <a:cxnLst/>
              <a:rect r="r" b="b" t="t" l="l"/>
              <a:pathLst>
                <a:path h="1639033" w="1706880">
                  <a:moveTo>
                    <a:pt x="0" y="0"/>
                  </a:moveTo>
                  <a:lnTo>
                    <a:pt x="1706880" y="0"/>
                  </a:lnTo>
                  <a:lnTo>
                    <a:pt x="1706880" y="1639033"/>
                  </a:lnTo>
                  <a:lnTo>
                    <a:pt x="0" y="1639033"/>
                  </a:lnTo>
                  <a:close/>
                </a:path>
              </a:pathLst>
            </a:custGeom>
            <a:blipFill>
              <a:blip r:embed="rId3">
                <a:alphaModFix amt="0"/>
              </a:blip>
              <a:stretch>
                <a:fillRect l="-59974" t="0" r="-59974" b="10737"/>
              </a:stretch>
            </a:blipFill>
          </p:spPr>
        </p:sp>
        <p:sp>
          <p:nvSpPr>
            <p:cNvPr name="TextBox 19" id="19"/>
            <p:cNvSpPr txBox="true"/>
            <p:nvPr/>
          </p:nvSpPr>
          <p:spPr>
            <a:xfrm>
              <a:off x="0" y="-95250"/>
              <a:ext cx="1706880" cy="1734283"/>
            </a:xfrm>
            <a:prstGeom prst="rect">
              <a:avLst/>
            </a:prstGeom>
          </p:spPr>
          <p:txBody>
            <a:bodyPr anchor="ctr" rtlCol="false" tIns="0" lIns="0" bIns="0" rIns="0"/>
            <a:lstStyle/>
            <a:p>
              <a:pPr algn="ctr">
                <a:lnSpc>
                  <a:spcPts val="5519"/>
                </a:lnSpc>
              </a:pPr>
              <a:r>
                <a:rPr lang="en-US" sz="4599">
                  <a:solidFill>
                    <a:srgbClr val="000000"/>
                  </a:solidFill>
                  <a:latin typeface="Calibri (MS)"/>
                  <a:ea typeface="Calibri (MS)"/>
                  <a:cs typeface="Calibri (MS)"/>
                  <a:sym typeface="Calibri (MS)"/>
                </a:rPr>
                <a:t>🌳</a:t>
              </a:r>
            </a:p>
          </p:txBody>
        </p:sp>
      </p:grpSp>
      <p:grpSp>
        <p:nvGrpSpPr>
          <p:cNvPr name="Group 20" id="20"/>
          <p:cNvGrpSpPr/>
          <p:nvPr/>
        </p:nvGrpSpPr>
        <p:grpSpPr>
          <a:xfrm rot="0">
            <a:off x="2790719" y="4451098"/>
            <a:ext cx="2834640" cy="921956"/>
            <a:chOff x="0" y="0"/>
            <a:chExt cx="3779520" cy="1229274"/>
          </a:xfrm>
        </p:grpSpPr>
        <p:sp>
          <p:nvSpPr>
            <p:cNvPr name="Freeform 21" id="21"/>
            <p:cNvSpPr/>
            <p:nvPr/>
          </p:nvSpPr>
          <p:spPr>
            <a:xfrm flipH="false" flipV="false" rot="0">
              <a:off x="0" y="0"/>
              <a:ext cx="3779520" cy="1229274"/>
            </a:xfrm>
            <a:custGeom>
              <a:avLst/>
              <a:gdLst/>
              <a:ahLst/>
              <a:cxnLst/>
              <a:rect r="r" b="b" t="t" l="l"/>
              <a:pathLst>
                <a:path h="1229274" w="3779520">
                  <a:moveTo>
                    <a:pt x="0" y="0"/>
                  </a:moveTo>
                  <a:lnTo>
                    <a:pt x="3779520" y="0"/>
                  </a:lnTo>
                  <a:lnTo>
                    <a:pt x="3779520" y="1229274"/>
                  </a:lnTo>
                  <a:lnTo>
                    <a:pt x="0" y="1229274"/>
                  </a:lnTo>
                  <a:close/>
                </a:path>
              </a:pathLst>
            </a:custGeom>
            <a:blipFill>
              <a:blip r:embed="rId3">
                <a:alphaModFix amt="0"/>
              </a:blip>
              <a:stretch>
                <a:fillRect l="0" t="-15277" r="0" b="-4539"/>
              </a:stretch>
            </a:blipFill>
          </p:spPr>
        </p:sp>
        <p:sp>
          <p:nvSpPr>
            <p:cNvPr name="TextBox 22" id="22"/>
            <p:cNvSpPr txBox="true"/>
            <p:nvPr/>
          </p:nvSpPr>
          <p:spPr>
            <a:xfrm>
              <a:off x="0" y="-76200"/>
              <a:ext cx="3779520"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Arbre CART</a:t>
              </a:r>
            </a:p>
          </p:txBody>
        </p:sp>
      </p:grpSp>
      <p:grpSp>
        <p:nvGrpSpPr>
          <p:cNvPr name="Group 23" id="23"/>
          <p:cNvGrpSpPr/>
          <p:nvPr/>
        </p:nvGrpSpPr>
        <p:grpSpPr>
          <a:xfrm rot="0">
            <a:off x="1373055" y="5569660"/>
            <a:ext cx="4058632" cy="3375868"/>
            <a:chOff x="0" y="0"/>
            <a:chExt cx="5411510" cy="4501158"/>
          </a:xfrm>
        </p:grpSpPr>
        <p:sp>
          <p:nvSpPr>
            <p:cNvPr name="Freeform 24" id="24"/>
            <p:cNvSpPr/>
            <p:nvPr/>
          </p:nvSpPr>
          <p:spPr>
            <a:xfrm flipH="false" flipV="false" rot="0">
              <a:off x="0" y="0"/>
              <a:ext cx="5411510" cy="4501158"/>
            </a:xfrm>
            <a:custGeom>
              <a:avLst/>
              <a:gdLst/>
              <a:ahLst/>
              <a:cxnLst/>
              <a:rect r="r" b="b" t="t" l="l"/>
              <a:pathLst>
                <a:path h="4501158" w="5411510">
                  <a:moveTo>
                    <a:pt x="0" y="0"/>
                  </a:moveTo>
                  <a:lnTo>
                    <a:pt x="5411510" y="0"/>
                  </a:lnTo>
                  <a:lnTo>
                    <a:pt x="5411510" y="4501158"/>
                  </a:lnTo>
                  <a:lnTo>
                    <a:pt x="0" y="4501158"/>
                  </a:lnTo>
                  <a:close/>
                </a:path>
              </a:pathLst>
            </a:custGeom>
            <a:blipFill>
              <a:blip r:embed="rId3">
                <a:alphaModFix amt="0"/>
              </a:blip>
              <a:stretch>
                <a:fillRect l="-23338" t="0" r="-26975" b="29575"/>
              </a:stretch>
            </a:blipFill>
          </p:spPr>
        </p:sp>
        <p:sp>
          <p:nvSpPr>
            <p:cNvPr name="TextBox 25" id="25"/>
            <p:cNvSpPr txBox="true"/>
            <p:nvPr/>
          </p:nvSpPr>
          <p:spPr>
            <a:xfrm>
              <a:off x="0" y="-38100"/>
              <a:ext cx="5411510" cy="4539258"/>
            </a:xfrm>
            <a:prstGeom prst="rect">
              <a:avLst/>
            </a:prstGeom>
          </p:spPr>
          <p:txBody>
            <a:bodyPr anchor="ctr" rtlCol="false" tIns="0" lIns="0" bIns="0" rIns="0"/>
            <a:lstStyle/>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CART construit un arbre de manière récursive en posant </a:t>
              </a:r>
              <a:r>
                <a:rPr lang="en-US" sz="2400">
                  <a:solidFill>
                    <a:srgbClr val="FFFFFF"/>
                  </a:solidFill>
                  <a:latin typeface="Calibri (MS)"/>
                  <a:ea typeface="Calibri (MS)"/>
                  <a:cs typeface="Calibri (MS)"/>
                  <a:sym typeface="Calibri (MS)"/>
                </a:rPr>
                <a:t>des</a:t>
              </a:r>
              <a:r>
                <a:rPr lang="en-US" sz="2400">
                  <a:solidFill>
                    <a:srgbClr val="FFFFFF"/>
                  </a:solidFill>
                  <a:latin typeface="Calibri (MS)"/>
                  <a:ea typeface="Calibri (MS)"/>
                  <a:cs typeface="Calibri (MS)"/>
                  <a:sym typeface="Calibri (MS)"/>
                </a:rPr>
                <a:t> questions</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 Les données sont divisés en deux parties uniquement</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 processus continue jusqu’à obtenir des feuilles, et chaque feuille représente une classe finale</a:t>
              </a:r>
            </a:p>
          </p:txBody>
        </p:sp>
      </p:grpSp>
      <p:grpSp>
        <p:nvGrpSpPr>
          <p:cNvPr name="Group 26" id="26"/>
          <p:cNvGrpSpPr/>
          <p:nvPr/>
        </p:nvGrpSpPr>
        <p:grpSpPr>
          <a:xfrm rot="0">
            <a:off x="6527062" y="4231995"/>
            <a:ext cx="4752262" cy="5331839"/>
            <a:chOff x="0" y="0"/>
            <a:chExt cx="6336349" cy="7109119"/>
          </a:xfrm>
        </p:grpSpPr>
        <p:sp>
          <p:nvSpPr>
            <p:cNvPr name="Freeform 27" id="27"/>
            <p:cNvSpPr/>
            <p:nvPr/>
          </p:nvSpPr>
          <p:spPr>
            <a:xfrm flipH="false" flipV="false" rot="0">
              <a:off x="17460" y="23296"/>
              <a:ext cx="6301337" cy="7062404"/>
            </a:xfrm>
            <a:custGeom>
              <a:avLst/>
              <a:gdLst/>
              <a:ahLst/>
              <a:cxnLst/>
              <a:rect r="r" b="b" t="t" l="l"/>
              <a:pathLst>
                <a:path h="7062404" w="6301337">
                  <a:moveTo>
                    <a:pt x="0" y="0"/>
                  </a:moveTo>
                  <a:lnTo>
                    <a:pt x="6301337" y="0"/>
                  </a:lnTo>
                  <a:lnTo>
                    <a:pt x="6301337" y="7062404"/>
                  </a:lnTo>
                  <a:lnTo>
                    <a:pt x="0" y="7062404"/>
                  </a:lnTo>
                  <a:close/>
                </a:path>
              </a:pathLst>
            </a:custGeom>
            <a:solidFill>
              <a:srgbClr val="1E3A1E"/>
            </a:solidFill>
          </p:spPr>
        </p:sp>
        <p:sp>
          <p:nvSpPr>
            <p:cNvPr name="Freeform 28" id="28"/>
            <p:cNvSpPr/>
            <p:nvPr/>
          </p:nvSpPr>
          <p:spPr>
            <a:xfrm flipH="false" flipV="false" rot="0">
              <a:off x="0" y="0"/>
              <a:ext cx="6336257" cy="7108996"/>
            </a:xfrm>
            <a:custGeom>
              <a:avLst/>
              <a:gdLst/>
              <a:ahLst/>
              <a:cxnLst/>
              <a:rect r="r" b="b" t="t" l="l"/>
              <a:pathLst>
                <a:path h="7108996" w="6336257">
                  <a:moveTo>
                    <a:pt x="17460" y="0"/>
                  </a:moveTo>
                  <a:lnTo>
                    <a:pt x="6318797" y="0"/>
                  </a:lnTo>
                  <a:cubicBezTo>
                    <a:pt x="6328512" y="0"/>
                    <a:pt x="6336257" y="10510"/>
                    <a:pt x="6336257" y="23296"/>
                  </a:cubicBezTo>
                  <a:lnTo>
                    <a:pt x="6336257" y="7085700"/>
                  </a:lnTo>
                  <a:cubicBezTo>
                    <a:pt x="6336257" y="7098662"/>
                    <a:pt x="6328381" y="7108996"/>
                    <a:pt x="6318797" y="7108996"/>
                  </a:cubicBezTo>
                  <a:lnTo>
                    <a:pt x="17460" y="7108996"/>
                  </a:lnTo>
                  <a:cubicBezTo>
                    <a:pt x="7745" y="7108996"/>
                    <a:pt x="0" y="7098487"/>
                    <a:pt x="0" y="7085700"/>
                  </a:cubicBezTo>
                  <a:lnTo>
                    <a:pt x="0" y="23296"/>
                  </a:lnTo>
                  <a:cubicBezTo>
                    <a:pt x="0" y="10510"/>
                    <a:pt x="7877" y="0"/>
                    <a:pt x="17460" y="0"/>
                  </a:cubicBezTo>
                  <a:moveTo>
                    <a:pt x="17460" y="46767"/>
                  </a:moveTo>
                  <a:lnTo>
                    <a:pt x="17460" y="23296"/>
                  </a:lnTo>
                  <a:lnTo>
                    <a:pt x="35051" y="23296"/>
                  </a:lnTo>
                  <a:lnTo>
                    <a:pt x="35051" y="7085700"/>
                  </a:lnTo>
                  <a:lnTo>
                    <a:pt x="17460" y="7085700"/>
                  </a:lnTo>
                  <a:lnTo>
                    <a:pt x="17460" y="7062405"/>
                  </a:lnTo>
                  <a:lnTo>
                    <a:pt x="6318797" y="7062405"/>
                  </a:lnTo>
                  <a:lnTo>
                    <a:pt x="6318797" y="7085700"/>
                  </a:lnTo>
                  <a:lnTo>
                    <a:pt x="6301337" y="7085700"/>
                  </a:lnTo>
                  <a:lnTo>
                    <a:pt x="6301337" y="23296"/>
                  </a:lnTo>
                  <a:lnTo>
                    <a:pt x="6318797" y="23296"/>
                  </a:lnTo>
                  <a:lnTo>
                    <a:pt x="6318797" y="46767"/>
                  </a:lnTo>
                  <a:lnTo>
                    <a:pt x="17460" y="46767"/>
                  </a:lnTo>
                  <a:close/>
                </a:path>
              </a:pathLst>
            </a:custGeom>
            <a:solidFill>
              <a:srgbClr val="5B9E3D"/>
            </a:solidFill>
          </p:spPr>
        </p:sp>
      </p:grpSp>
      <p:grpSp>
        <p:nvGrpSpPr>
          <p:cNvPr name="Group 29" id="29"/>
          <p:cNvGrpSpPr/>
          <p:nvPr/>
        </p:nvGrpSpPr>
        <p:grpSpPr>
          <a:xfrm rot="0">
            <a:off x="6722639" y="4348659"/>
            <a:ext cx="1280160" cy="1229274"/>
            <a:chOff x="0" y="0"/>
            <a:chExt cx="1706880" cy="1639033"/>
          </a:xfrm>
        </p:grpSpPr>
        <p:sp>
          <p:nvSpPr>
            <p:cNvPr name="Freeform 30" id="30"/>
            <p:cNvSpPr/>
            <p:nvPr/>
          </p:nvSpPr>
          <p:spPr>
            <a:xfrm flipH="false" flipV="false" rot="0">
              <a:off x="0" y="0"/>
              <a:ext cx="1706880" cy="1639033"/>
            </a:xfrm>
            <a:custGeom>
              <a:avLst/>
              <a:gdLst/>
              <a:ahLst/>
              <a:cxnLst/>
              <a:rect r="r" b="b" t="t" l="l"/>
              <a:pathLst>
                <a:path h="1639033" w="1706880">
                  <a:moveTo>
                    <a:pt x="0" y="0"/>
                  </a:moveTo>
                  <a:lnTo>
                    <a:pt x="1706880" y="0"/>
                  </a:lnTo>
                  <a:lnTo>
                    <a:pt x="1706880" y="1639033"/>
                  </a:lnTo>
                  <a:lnTo>
                    <a:pt x="0" y="1639033"/>
                  </a:lnTo>
                  <a:close/>
                </a:path>
              </a:pathLst>
            </a:custGeom>
            <a:blipFill>
              <a:blip r:embed="rId3">
                <a:alphaModFix amt="0"/>
              </a:blip>
              <a:stretch>
                <a:fillRect l="-59974" t="0" r="-59974" b="10737"/>
              </a:stretch>
            </a:blipFill>
          </p:spPr>
        </p:sp>
        <p:sp>
          <p:nvSpPr>
            <p:cNvPr name="TextBox 31" id="31"/>
            <p:cNvSpPr txBox="true"/>
            <p:nvPr/>
          </p:nvSpPr>
          <p:spPr>
            <a:xfrm>
              <a:off x="0" y="-95250"/>
              <a:ext cx="1706880" cy="1734283"/>
            </a:xfrm>
            <a:prstGeom prst="rect">
              <a:avLst/>
            </a:prstGeom>
          </p:spPr>
          <p:txBody>
            <a:bodyPr anchor="ctr" rtlCol="false" tIns="0" lIns="0" bIns="0" rIns="0"/>
            <a:lstStyle/>
            <a:p>
              <a:pPr algn="ctr">
                <a:lnSpc>
                  <a:spcPts val="5519"/>
                </a:lnSpc>
              </a:pPr>
              <a:r>
                <a:rPr lang="en-US" sz="4599">
                  <a:solidFill>
                    <a:srgbClr val="000000"/>
                  </a:solidFill>
                  <a:latin typeface="Calibri (MS)"/>
                  <a:ea typeface="Calibri (MS)"/>
                  <a:cs typeface="Calibri (MS)"/>
                  <a:sym typeface="Calibri (MS)"/>
                </a:rPr>
                <a:t>🎲</a:t>
              </a:r>
            </a:p>
          </p:txBody>
        </p:sp>
      </p:grpSp>
      <p:grpSp>
        <p:nvGrpSpPr>
          <p:cNvPr name="Group 32" id="32"/>
          <p:cNvGrpSpPr/>
          <p:nvPr/>
        </p:nvGrpSpPr>
        <p:grpSpPr>
          <a:xfrm rot="0">
            <a:off x="8094239" y="4451098"/>
            <a:ext cx="2834640" cy="921956"/>
            <a:chOff x="0" y="0"/>
            <a:chExt cx="3779520" cy="1229274"/>
          </a:xfrm>
        </p:grpSpPr>
        <p:sp>
          <p:nvSpPr>
            <p:cNvPr name="Freeform 33" id="33"/>
            <p:cNvSpPr/>
            <p:nvPr/>
          </p:nvSpPr>
          <p:spPr>
            <a:xfrm flipH="false" flipV="false" rot="0">
              <a:off x="0" y="0"/>
              <a:ext cx="3779520" cy="1229274"/>
            </a:xfrm>
            <a:custGeom>
              <a:avLst/>
              <a:gdLst/>
              <a:ahLst/>
              <a:cxnLst/>
              <a:rect r="r" b="b" t="t" l="l"/>
              <a:pathLst>
                <a:path h="1229274" w="3779520">
                  <a:moveTo>
                    <a:pt x="0" y="0"/>
                  </a:moveTo>
                  <a:lnTo>
                    <a:pt x="3779520" y="0"/>
                  </a:lnTo>
                  <a:lnTo>
                    <a:pt x="3779520" y="1229274"/>
                  </a:lnTo>
                  <a:lnTo>
                    <a:pt x="0" y="1229274"/>
                  </a:lnTo>
                  <a:close/>
                </a:path>
              </a:pathLst>
            </a:custGeom>
            <a:blipFill>
              <a:blip r:embed="rId3">
                <a:alphaModFix amt="0"/>
              </a:blip>
              <a:stretch>
                <a:fillRect l="0" t="-15277" r="0" b="-4539"/>
              </a:stretch>
            </a:blipFill>
          </p:spPr>
        </p:sp>
        <p:sp>
          <p:nvSpPr>
            <p:cNvPr name="TextBox 34" id="34"/>
            <p:cNvSpPr txBox="true"/>
            <p:nvPr/>
          </p:nvSpPr>
          <p:spPr>
            <a:xfrm>
              <a:off x="0" y="-76200"/>
              <a:ext cx="3779520"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Bootstrap</a:t>
              </a:r>
            </a:p>
          </p:txBody>
        </p:sp>
      </p:grpSp>
      <p:grpSp>
        <p:nvGrpSpPr>
          <p:cNvPr name="Group 35" id="35"/>
          <p:cNvGrpSpPr/>
          <p:nvPr/>
        </p:nvGrpSpPr>
        <p:grpSpPr>
          <a:xfrm rot="0">
            <a:off x="6527062" y="5486400"/>
            <a:ext cx="4597403" cy="3737818"/>
            <a:chOff x="0" y="0"/>
            <a:chExt cx="6129871" cy="4983758"/>
          </a:xfrm>
        </p:grpSpPr>
        <p:sp>
          <p:nvSpPr>
            <p:cNvPr name="Freeform 36" id="36"/>
            <p:cNvSpPr/>
            <p:nvPr/>
          </p:nvSpPr>
          <p:spPr>
            <a:xfrm flipH="false" flipV="false" rot="0">
              <a:off x="0" y="0"/>
              <a:ext cx="6129871" cy="4983758"/>
            </a:xfrm>
            <a:custGeom>
              <a:avLst/>
              <a:gdLst/>
              <a:ahLst/>
              <a:cxnLst/>
              <a:rect r="r" b="b" t="t" l="l"/>
              <a:pathLst>
                <a:path h="4983758" w="6129871">
                  <a:moveTo>
                    <a:pt x="0" y="0"/>
                  </a:moveTo>
                  <a:lnTo>
                    <a:pt x="6129871" y="0"/>
                  </a:lnTo>
                  <a:lnTo>
                    <a:pt x="6129871" y="4983758"/>
                  </a:lnTo>
                  <a:lnTo>
                    <a:pt x="0" y="4983758"/>
                  </a:lnTo>
                  <a:close/>
                </a:path>
              </a:pathLst>
            </a:custGeom>
            <a:blipFill>
              <a:blip r:embed="rId3">
                <a:alphaModFix amt="0"/>
              </a:blip>
              <a:stretch>
                <a:fillRect l="-20603" t="0" r="-12095" b="36394"/>
              </a:stretch>
            </a:blipFill>
          </p:spPr>
        </p:sp>
        <p:sp>
          <p:nvSpPr>
            <p:cNvPr name="TextBox 37" id="37"/>
            <p:cNvSpPr txBox="true"/>
            <p:nvPr/>
          </p:nvSpPr>
          <p:spPr>
            <a:xfrm>
              <a:off x="0" y="-38100"/>
              <a:ext cx="6129871" cy="5021858"/>
            </a:xfrm>
            <a:prstGeom prst="rect">
              <a:avLst/>
            </a:prstGeom>
          </p:spPr>
          <p:txBody>
            <a:bodyPr anchor="ctr" rtlCol="false" tIns="0" lIns="0" bIns="0" rIns="0"/>
            <a:lstStyle/>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Le bootstrap consiste à tirer aléatoirement des échantillons à partir des données originales, avec remise.</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Certaines observations peuvent être répétées, d’autres absentes dans l’échantillon.</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chaque échantillon contient environ 63% des données uniques du dataset initial.</a:t>
              </a:r>
            </a:p>
          </p:txBody>
        </p:sp>
      </p:grpSp>
      <p:grpSp>
        <p:nvGrpSpPr>
          <p:cNvPr name="Group 38" id="38"/>
          <p:cNvGrpSpPr/>
          <p:nvPr/>
        </p:nvGrpSpPr>
        <p:grpSpPr>
          <a:xfrm rot="0">
            <a:off x="11830582" y="4231995"/>
            <a:ext cx="4597403" cy="5331839"/>
            <a:chOff x="0" y="0"/>
            <a:chExt cx="6129871" cy="7109119"/>
          </a:xfrm>
        </p:grpSpPr>
        <p:sp>
          <p:nvSpPr>
            <p:cNvPr name="Freeform 39" id="39"/>
            <p:cNvSpPr/>
            <p:nvPr/>
          </p:nvSpPr>
          <p:spPr>
            <a:xfrm flipH="false" flipV="false" rot="0">
              <a:off x="16891" y="23296"/>
              <a:ext cx="6096000" cy="7062404"/>
            </a:xfrm>
            <a:custGeom>
              <a:avLst/>
              <a:gdLst/>
              <a:ahLst/>
              <a:cxnLst/>
              <a:rect r="r" b="b" t="t" l="l"/>
              <a:pathLst>
                <a:path h="7062404" w="6096000">
                  <a:moveTo>
                    <a:pt x="0" y="0"/>
                  </a:moveTo>
                  <a:lnTo>
                    <a:pt x="6096000" y="0"/>
                  </a:lnTo>
                  <a:lnTo>
                    <a:pt x="6096000" y="7062404"/>
                  </a:lnTo>
                  <a:lnTo>
                    <a:pt x="0" y="7062404"/>
                  </a:lnTo>
                  <a:close/>
                </a:path>
              </a:pathLst>
            </a:custGeom>
            <a:solidFill>
              <a:srgbClr val="1E3A1E"/>
            </a:solidFill>
          </p:spPr>
        </p:sp>
        <p:sp>
          <p:nvSpPr>
            <p:cNvPr name="Freeform 40" id="40"/>
            <p:cNvSpPr/>
            <p:nvPr/>
          </p:nvSpPr>
          <p:spPr>
            <a:xfrm flipH="false" flipV="false" rot="0">
              <a:off x="0" y="0"/>
              <a:ext cx="6129782" cy="7108996"/>
            </a:xfrm>
            <a:custGeom>
              <a:avLst/>
              <a:gdLst/>
              <a:ahLst/>
              <a:cxnLst/>
              <a:rect r="r" b="b" t="t" l="l"/>
              <a:pathLst>
                <a:path h="7108996" w="6129782">
                  <a:moveTo>
                    <a:pt x="16891" y="0"/>
                  </a:moveTo>
                  <a:lnTo>
                    <a:pt x="6112891" y="0"/>
                  </a:lnTo>
                  <a:cubicBezTo>
                    <a:pt x="6122289" y="0"/>
                    <a:pt x="6129782" y="10510"/>
                    <a:pt x="6129782" y="23296"/>
                  </a:cubicBezTo>
                  <a:lnTo>
                    <a:pt x="6129782" y="7085700"/>
                  </a:lnTo>
                  <a:cubicBezTo>
                    <a:pt x="6129782" y="7098662"/>
                    <a:pt x="6122162" y="7108996"/>
                    <a:pt x="6112891" y="7108996"/>
                  </a:cubicBezTo>
                  <a:lnTo>
                    <a:pt x="16891" y="7108996"/>
                  </a:lnTo>
                  <a:cubicBezTo>
                    <a:pt x="7493" y="7108996"/>
                    <a:pt x="0" y="7098487"/>
                    <a:pt x="0" y="7085700"/>
                  </a:cubicBezTo>
                  <a:lnTo>
                    <a:pt x="0" y="23296"/>
                  </a:lnTo>
                  <a:cubicBezTo>
                    <a:pt x="0" y="10510"/>
                    <a:pt x="7620" y="0"/>
                    <a:pt x="16891" y="0"/>
                  </a:cubicBezTo>
                  <a:moveTo>
                    <a:pt x="16891" y="46767"/>
                  </a:moveTo>
                  <a:lnTo>
                    <a:pt x="16891" y="23296"/>
                  </a:lnTo>
                  <a:lnTo>
                    <a:pt x="33909" y="23296"/>
                  </a:lnTo>
                  <a:lnTo>
                    <a:pt x="33909" y="7085700"/>
                  </a:lnTo>
                  <a:lnTo>
                    <a:pt x="16891" y="7085700"/>
                  </a:lnTo>
                  <a:lnTo>
                    <a:pt x="16891" y="7062405"/>
                  </a:lnTo>
                  <a:lnTo>
                    <a:pt x="6112891" y="7062405"/>
                  </a:lnTo>
                  <a:lnTo>
                    <a:pt x="6112891" y="7085700"/>
                  </a:lnTo>
                  <a:lnTo>
                    <a:pt x="6096000" y="7085700"/>
                  </a:lnTo>
                  <a:lnTo>
                    <a:pt x="6096000" y="23296"/>
                  </a:lnTo>
                  <a:lnTo>
                    <a:pt x="6112891" y="23296"/>
                  </a:lnTo>
                  <a:lnTo>
                    <a:pt x="6112891" y="46767"/>
                  </a:lnTo>
                  <a:lnTo>
                    <a:pt x="16891" y="46767"/>
                  </a:lnTo>
                  <a:close/>
                </a:path>
              </a:pathLst>
            </a:custGeom>
            <a:solidFill>
              <a:srgbClr val="5B9E3D"/>
            </a:solidFill>
          </p:spPr>
        </p:sp>
      </p:grpSp>
      <p:grpSp>
        <p:nvGrpSpPr>
          <p:cNvPr name="Group 41" id="41"/>
          <p:cNvGrpSpPr/>
          <p:nvPr/>
        </p:nvGrpSpPr>
        <p:grpSpPr>
          <a:xfrm rot="0">
            <a:off x="12026159" y="4348659"/>
            <a:ext cx="1280160" cy="1229274"/>
            <a:chOff x="0" y="0"/>
            <a:chExt cx="1706880" cy="1639033"/>
          </a:xfrm>
        </p:grpSpPr>
        <p:sp>
          <p:nvSpPr>
            <p:cNvPr name="Freeform 42" id="42"/>
            <p:cNvSpPr/>
            <p:nvPr/>
          </p:nvSpPr>
          <p:spPr>
            <a:xfrm flipH="false" flipV="false" rot="0">
              <a:off x="0" y="0"/>
              <a:ext cx="1706880" cy="1639033"/>
            </a:xfrm>
            <a:custGeom>
              <a:avLst/>
              <a:gdLst/>
              <a:ahLst/>
              <a:cxnLst/>
              <a:rect r="r" b="b" t="t" l="l"/>
              <a:pathLst>
                <a:path h="1639033" w="1706880">
                  <a:moveTo>
                    <a:pt x="0" y="0"/>
                  </a:moveTo>
                  <a:lnTo>
                    <a:pt x="1706880" y="0"/>
                  </a:lnTo>
                  <a:lnTo>
                    <a:pt x="1706880" y="1639033"/>
                  </a:lnTo>
                  <a:lnTo>
                    <a:pt x="0" y="1639033"/>
                  </a:lnTo>
                  <a:close/>
                </a:path>
              </a:pathLst>
            </a:custGeom>
            <a:blipFill>
              <a:blip r:embed="rId3">
                <a:alphaModFix amt="0"/>
              </a:blip>
              <a:stretch>
                <a:fillRect l="-59974" t="0" r="-59974" b="10737"/>
              </a:stretch>
            </a:blipFill>
          </p:spPr>
        </p:sp>
        <p:sp>
          <p:nvSpPr>
            <p:cNvPr name="TextBox 43" id="43"/>
            <p:cNvSpPr txBox="true"/>
            <p:nvPr/>
          </p:nvSpPr>
          <p:spPr>
            <a:xfrm>
              <a:off x="0" y="-95250"/>
              <a:ext cx="1706880" cy="1734283"/>
            </a:xfrm>
            <a:prstGeom prst="rect">
              <a:avLst/>
            </a:prstGeom>
          </p:spPr>
          <p:txBody>
            <a:bodyPr anchor="ctr" rtlCol="false" tIns="0" lIns="0" bIns="0" rIns="0"/>
            <a:lstStyle/>
            <a:p>
              <a:pPr algn="ctr">
                <a:lnSpc>
                  <a:spcPts val="5519"/>
                </a:lnSpc>
              </a:pPr>
              <a:r>
                <a:rPr lang="en-US" sz="4599">
                  <a:solidFill>
                    <a:srgbClr val="000000"/>
                  </a:solidFill>
                  <a:latin typeface="Calibri (MS)"/>
                  <a:ea typeface="Calibri (MS)"/>
                  <a:cs typeface="Calibri (MS)"/>
                  <a:sym typeface="Calibri (MS)"/>
                </a:rPr>
                <a:t>📦</a:t>
              </a:r>
            </a:p>
          </p:txBody>
        </p:sp>
      </p:grpSp>
      <p:grpSp>
        <p:nvGrpSpPr>
          <p:cNvPr name="Group 44" id="44"/>
          <p:cNvGrpSpPr/>
          <p:nvPr/>
        </p:nvGrpSpPr>
        <p:grpSpPr>
          <a:xfrm rot="0">
            <a:off x="13397759" y="4451098"/>
            <a:ext cx="2834640" cy="921956"/>
            <a:chOff x="0" y="0"/>
            <a:chExt cx="3779520" cy="1229274"/>
          </a:xfrm>
        </p:grpSpPr>
        <p:sp>
          <p:nvSpPr>
            <p:cNvPr name="Freeform 45" id="45"/>
            <p:cNvSpPr/>
            <p:nvPr/>
          </p:nvSpPr>
          <p:spPr>
            <a:xfrm flipH="false" flipV="false" rot="0">
              <a:off x="0" y="0"/>
              <a:ext cx="3779520" cy="1229274"/>
            </a:xfrm>
            <a:custGeom>
              <a:avLst/>
              <a:gdLst/>
              <a:ahLst/>
              <a:cxnLst/>
              <a:rect r="r" b="b" t="t" l="l"/>
              <a:pathLst>
                <a:path h="1229274" w="3779520">
                  <a:moveTo>
                    <a:pt x="0" y="0"/>
                  </a:moveTo>
                  <a:lnTo>
                    <a:pt x="3779520" y="0"/>
                  </a:lnTo>
                  <a:lnTo>
                    <a:pt x="3779520" y="1229274"/>
                  </a:lnTo>
                  <a:lnTo>
                    <a:pt x="0" y="1229274"/>
                  </a:lnTo>
                  <a:close/>
                </a:path>
              </a:pathLst>
            </a:custGeom>
            <a:blipFill>
              <a:blip r:embed="rId3">
                <a:alphaModFix amt="0"/>
              </a:blip>
              <a:stretch>
                <a:fillRect l="0" t="-15277" r="0" b="-4539"/>
              </a:stretch>
            </a:blipFill>
          </p:spPr>
        </p:sp>
        <p:sp>
          <p:nvSpPr>
            <p:cNvPr name="TextBox 46" id="46"/>
            <p:cNvSpPr txBox="true"/>
            <p:nvPr/>
          </p:nvSpPr>
          <p:spPr>
            <a:xfrm>
              <a:off x="0" y="-76200"/>
              <a:ext cx="3779520"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Bagging</a:t>
              </a:r>
            </a:p>
          </p:txBody>
        </p:sp>
      </p:grpSp>
      <p:grpSp>
        <p:nvGrpSpPr>
          <p:cNvPr name="Group 47" id="47"/>
          <p:cNvGrpSpPr/>
          <p:nvPr/>
        </p:nvGrpSpPr>
        <p:grpSpPr>
          <a:xfrm rot="0">
            <a:off x="11757169" y="5486400"/>
            <a:ext cx="4670817" cy="4099768"/>
            <a:chOff x="0" y="0"/>
            <a:chExt cx="6227755" cy="5466358"/>
          </a:xfrm>
        </p:grpSpPr>
        <p:sp>
          <p:nvSpPr>
            <p:cNvPr name="Freeform 48" id="48"/>
            <p:cNvSpPr/>
            <p:nvPr/>
          </p:nvSpPr>
          <p:spPr>
            <a:xfrm flipH="false" flipV="false" rot="0">
              <a:off x="0" y="0"/>
              <a:ext cx="6227756" cy="5466358"/>
            </a:xfrm>
            <a:custGeom>
              <a:avLst/>
              <a:gdLst/>
              <a:ahLst/>
              <a:cxnLst/>
              <a:rect r="r" b="b" t="t" l="l"/>
              <a:pathLst>
                <a:path h="5466358" w="6227756">
                  <a:moveTo>
                    <a:pt x="0" y="0"/>
                  </a:moveTo>
                  <a:lnTo>
                    <a:pt x="6227756" y="0"/>
                  </a:lnTo>
                  <a:lnTo>
                    <a:pt x="6227756" y="5466358"/>
                  </a:lnTo>
                  <a:lnTo>
                    <a:pt x="0" y="5466358"/>
                  </a:lnTo>
                  <a:close/>
                </a:path>
              </a:pathLst>
            </a:custGeom>
            <a:blipFill>
              <a:blip r:embed="rId3">
                <a:alphaModFix amt="0"/>
              </a:blip>
              <a:stretch>
                <a:fillRect l="-20279" t="0" r="-10333" b="42010"/>
              </a:stretch>
            </a:blipFill>
          </p:spPr>
        </p:sp>
        <p:sp>
          <p:nvSpPr>
            <p:cNvPr name="TextBox 49" id="49"/>
            <p:cNvSpPr txBox="true"/>
            <p:nvPr/>
          </p:nvSpPr>
          <p:spPr>
            <a:xfrm>
              <a:off x="0" y="-38100"/>
              <a:ext cx="6227755" cy="5504458"/>
            </a:xfrm>
            <a:prstGeom prst="rect">
              <a:avLst/>
            </a:prstGeom>
          </p:spPr>
          <p:txBody>
            <a:bodyPr anchor="ctr" rtlCol="false" tIns="0" lIns="0" bIns="0" rIns="0"/>
            <a:lstStyle/>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Bagging &lt;=&gt; Bootstrap Aggregating.</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L’idée est d’entraîner plusieurs arbres de décision indépendants, chacun sur un échantillon bootstrap différent.</a:t>
              </a:r>
            </a:p>
            <a:p>
              <a:pPr algn="l" marL="518160" indent="-259080" lvl="1">
                <a:lnSpc>
                  <a:spcPts val="2879"/>
                </a:lnSpc>
                <a:buFont typeface="Arial"/>
                <a:buChar char="•"/>
              </a:pPr>
              <a:r>
                <a:rPr lang="en-US" sz="2400">
                  <a:solidFill>
                    <a:srgbClr val="FFFFFF"/>
                  </a:solidFill>
                  <a:latin typeface="Calibri (MS)"/>
                  <a:ea typeface="Calibri (MS)"/>
                  <a:cs typeface="Calibri (MS)"/>
                  <a:sym typeface="Calibri (MS)"/>
                </a:rPr>
                <a:t>Ensuite, chaque arbre fait une prédiction, et la décision finale est obtenue par un vote majoritaire.</a:t>
              </a:r>
            </a:p>
            <a:p>
              <a:pPr algn="l">
                <a:lnSpc>
                  <a:spcPts val="2879"/>
                </a:lnSpc>
              </a:pPr>
            </a:p>
          </p:txBody>
        </p:sp>
      </p:grpSp>
      <p:sp>
        <p:nvSpPr>
          <p:cNvPr name="TextBox 50" id="50"/>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ID3</a:t>
              </a:r>
            </a:p>
          </p:txBody>
        </p:sp>
      </p:grpSp>
      <p:sp>
        <p:nvSpPr>
          <p:cNvPr name="Freeform 8" id="8"/>
          <p:cNvSpPr/>
          <p:nvPr/>
        </p:nvSpPr>
        <p:spPr>
          <a:xfrm flipH="false" flipV="false" rot="0">
            <a:off x="6497212" y="3907069"/>
            <a:ext cx="5420069" cy="1506250"/>
          </a:xfrm>
          <a:custGeom>
            <a:avLst/>
            <a:gdLst/>
            <a:ahLst/>
            <a:cxnLst/>
            <a:rect r="r" b="b" t="t" l="l"/>
            <a:pathLst>
              <a:path h="1506250" w="5420069">
                <a:moveTo>
                  <a:pt x="0" y="0"/>
                </a:moveTo>
                <a:lnTo>
                  <a:pt x="5420068" y="0"/>
                </a:lnTo>
                <a:lnTo>
                  <a:pt x="5420068" y="1506250"/>
                </a:lnTo>
                <a:lnTo>
                  <a:pt x="0" y="1506250"/>
                </a:lnTo>
                <a:lnTo>
                  <a:pt x="0" y="0"/>
                </a:lnTo>
                <a:close/>
              </a:path>
            </a:pathLst>
          </a:custGeom>
          <a:blipFill>
            <a:blip r:embed="rId4"/>
            <a:stretch>
              <a:fillRect l="-3293" t="0" r="-3989" b="0"/>
            </a:stretch>
          </a:blipFill>
        </p:spPr>
      </p:sp>
      <p:sp>
        <p:nvSpPr>
          <p:cNvPr name="Freeform 9" id="9"/>
          <p:cNvSpPr/>
          <p:nvPr/>
        </p:nvSpPr>
        <p:spPr>
          <a:xfrm flipH="false" flipV="false" rot="0">
            <a:off x="6497212" y="6745068"/>
            <a:ext cx="11467236" cy="1355125"/>
          </a:xfrm>
          <a:custGeom>
            <a:avLst/>
            <a:gdLst/>
            <a:ahLst/>
            <a:cxnLst/>
            <a:rect r="r" b="b" t="t" l="l"/>
            <a:pathLst>
              <a:path h="1355125" w="11467236">
                <a:moveTo>
                  <a:pt x="0" y="0"/>
                </a:moveTo>
                <a:lnTo>
                  <a:pt x="11467236" y="0"/>
                </a:lnTo>
                <a:lnTo>
                  <a:pt x="11467236" y="1355125"/>
                </a:lnTo>
                <a:lnTo>
                  <a:pt x="0" y="1355125"/>
                </a:lnTo>
                <a:lnTo>
                  <a:pt x="0" y="0"/>
                </a:lnTo>
                <a:close/>
              </a:path>
            </a:pathLst>
          </a:custGeom>
          <a:blipFill>
            <a:blip r:embed="rId5"/>
            <a:stretch>
              <a:fillRect l="-1296" t="0" r="-2592" b="0"/>
            </a:stretch>
          </a:blipFill>
        </p:spPr>
      </p:sp>
      <p:grpSp>
        <p:nvGrpSpPr>
          <p:cNvPr name="Group 10" id="10"/>
          <p:cNvGrpSpPr/>
          <p:nvPr/>
        </p:nvGrpSpPr>
        <p:grpSpPr>
          <a:xfrm rot="0">
            <a:off x="548640" y="2539804"/>
            <a:ext cx="5243424" cy="7074327"/>
            <a:chOff x="0" y="0"/>
            <a:chExt cx="6991232" cy="9432436"/>
          </a:xfrm>
        </p:grpSpPr>
        <p:sp>
          <p:nvSpPr>
            <p:cNvPr name="Freeform 11" id="11"/>
            <p:cNvSpPr/>
            <p:nvPr/>
          </p:nvSpPr>
          <p:spPr>
            <a:xfrm flipH="false" flipV="false" rot="0">
              <a:off x="19265" y="30909"/>
              <a:ext cx="6952601" cy="9370454"/>
            </a:xfrm>
            <a:custGeom>
              <a:avLst/>
              <a:gdLst/>
              <a:ahLst/>
              <a:cxnLst/>
              <a:rect r="r" b="b" t="t" l="l"/>
              <a:pathLst>
                <a:path h="9370454" w="6952601">
                  <a:moveTo>
                    <a:pt x="0" y="0"/>
                  </a:moveTo>
                  <a:lnTo>
                    <a:pt x="6952601" y="0"/>
                  </a:lnTo>
                  <a:lnTo>
                    <a:pt x="6952601" y="9370454"/>
                  </a:lnTo>
                  <a:lnTo>
                    <a:pt x="0" y="9370454"/>
                  </a:lnTo>
                  <a:close/>
                </a:path>
              </a:pathLst>
            </a:custGeom>
            <a:solidFill>
              <a:srgbClr val="1E3A1E"/>
            </a:solidFill>
          </p:spPr>
        </p:sp>
        <p:sp>
          <p:nvSpPr>
            <p:cNvPr name="Freeform 12" id="12"/>
            <p:cNvSpPr/>
            <p:nvPr/>
          </p:nvSpPr>
          <p:spPr>
            <a:xfrm flipH="false" flipV="false" rot="0">
              <a:off x="0" y="0"/>
              <a:ext cx="6991131" cy="9432273"/>
            </a:xfrm>
            <a:custGeom>
              <a:avLst/>
              <a:gdLst/>
              <a:ahLst/>
              <a:cxnLst/>
              <a:rect r="r" b="b" t="t" l="l"/>
              <a:pathLst>
                <a:path h="9432273" w="6991131">
                  <a:moveTo>
                    <a:pt x="19265" y="0"/>
                  </a:moveTo>
                  <a:lnTo>
                    <a:pt x="6971866" y="0"/>
                  </a:lnTo>
                  <a:cubicBezTo>
                    <a:pt x="6982585" y="0"/>
                    <a:pt x="6991131" y="13944"/>
                    <a:pt x="6991131" y="30909"/>
                  </a:cubicBezTo>
                  <a:lnTo>
                    <a:pt x="6991131" y="9401363"/>
                  </a:lnTo>
                  <a:cubicBezTo>
                    <a:pt x="6991131" y="9418562"/>
                    <a:pt x="6982440" y="9432273"/>
                    <a:pt x="6971866" y="9432273"/>
                  </a:cubicBezTo>
                  <a:lnTo>
                    <a:pt x="19265" y="9432273"/>
                  </a:lnTo>
                  <a:cubicBezTo>
                    <a:pt x="8546" y="9432273"/>
                    <a:pt x="0" y="9418329"/>
                    <a:pt x="0" y="9401363"/>
                  </a:cubicBezTo>
                  <a:lnTo>
                    <a:pt x="0" y="30909"/>
                  </a:lnTo>
                  <a:cubicBezTo>
                    <a:pt x="0" y="13944"/>
                    <a:pt x="8691" y="0"/>
                    <a:pt x="19265" y="0"/>
                  </a:cubicBezTo>
                  <a:moveTo>
                    <a:pt x="19265" y="62051"/>
                  </a:moveTo>
                  <a:lnTo>
                    <a:pt x="19265" y="30909"/>
                  </a:lnTo>
                  <a:lnTo>
                    <a:pt x="38674" y="30909"/>
                  </a:lnTo>
                  <a:lnTo>
                    <a:pt x="38674" y="9401363"/>
                  </a:lnTo>
                  <a:lnTo>
                    <a:pt x="19265" y="9401363"/>
                  </a:lnTo>
                  <a:lnTo>
                    <a:pt x="19265" y="9370454"/>
                  </a:lnTo>
                  <a:lnTo>
                    <a:pt x="6971866" y="9370454"/>
                  </a:lnTo>
                  <a:lnTo>
                    <a:pt x="6971866" y="9401363"/>
                  </a:lnTo>
                  <a:lnTo>
                    <a:pt x="6952601" y="9401363"/>
                  </a:lnTo>
                  <a:lnTo>
                    <a:pt x="6952601" y="30909"/>
                  </a:lnTo>
                  <a:lnTo>
                    <a:pt x="6971866" y="30909"/>
                  </a:lnTo>
                  <a:lnTo>
                    <a:pt x="6971866" y="62051"/>
                  </a:lnTo>
                  <a:lnTo>
                    <a:pt x="19265" y="62051"/>
                  </a:lnTo>
                  <a:close/>
                </a:path>
              </a:pathLst>
            </a:custGeom>
            <a:solidFill>
              <a:srgbClr val="5B9E3D"/>
            </a:solidFill>
          </p:spPr>
        </p:sp>
      </p:grpSp>
      <p:grpSp>
        <p:nvGrpSpPr>
          <p:cNvPr name="Group 13" id="13"/>
          <p:cNvGrpSpPr/>
          <p:nvPr/>
        </p:nvGrpSpPr>
        <p:grpSpPr>
          <a:xfrm rot="0">
            <a:off x="609412" y="2759268"/>
            <a:ext cx="5182652" cy="1086278"/>
            <a:chOff x="0" y="0"/>
            <a:chExt cx="6910203" cy="1448370"/>
          </a:xfrm>
        </p:grpSpPr>
        <p:sp>
          <p:nvSpPr>
            <p:cNvPr name="Freeform 14" id="14"/>
            <p:cNvSpPr/>
            <p:nvPr/>
          </p:nvSpPr>
          <p:spPr>
            <a:xfrm flipH="false" flipV="false" rot="0">
              <a:off x="0" y="0"/>
              <a:ext cx="6910203" cy="1448370"/>
            </a:xfrm>
            <a:custGeom>
              <a:avLst/>
              <a:gdLst/>
              <a:ahLst/>
              <a:cxnLst/>
              <a:rect r="r" b="b" t="t" l="l"/>
              <a:pathLst>
                <a:path h="1448370" w="6910203">
                  <a:moveTo>
                    <a:pt x="0" y="0"/>
                  </a:moveTo>
                  <a:lnTo>
                    <a:pt x="6910203" y="0"/>
                  </a:lnTo>
                  <a:lnTo>
                    <a:pt x="6910203" y="1448370"/>
                  </a:lnTo>
                  <a:lnTo>
                    <a:pt x="0" y="1448370"/>
                  </a:lnTo>
                  <a:close/>
                </a:path>
              </a:pathLst>
            </a:custGeom>
            <a:blipFill>
              <a:blip r:embed="rId3">
                <a:alphaModFix amt="0"/>
              </a:blip>
              <a:stretch>
                <a:fillRect l="0" t="-12966" r="45305" b="11274"/>
              </a:stretch>
            </a:blipFill>
          </p:spPr>
        </p:sp>
        <p:sp>
          <p:nvSpPr>
            <p:cNvPr name="TextBox 15" id="15"/>
            <p:cNvSpPr txBox="true"/>
            <p:nvPr/>
          </p:nvSpPr>
          <p:spPr>
            <a:xfrm>
              <a:off x="0" y="-66675"/>
              <a:ext cx="6910203" cy="1515045"/>
            </a:xfrm>
            <a:prstGeom prst="rect">
              <a:avLst/>
            </a:prstGeom>
          </p:spPr>
          <p:txBody>
            <a:bodyPr anchor="ctr" rtlCol="false" tIns="0" lIns="0" bIns="0" rIns="0"/>
            <a:lstStyle/>
            <a:p>
              <a:pPr algn="l">
                <a:lnSpc>
                  <a:spcPts val="3719"/>
                </a:lnSpc>
              </a:pPr>
              <a:r>
                <a:rPr lang="en-US" sz="3099" b="true">
                  <a:solidFill>
                    <a:srgbClr val="97BC62"/>
                  </a:solidFill>
                  <a:latin typeface="Calibri (MS) Bold"/>
                  <a:ea typeface="Calibri (MS) Bold"/>
                  <a:cs typeface="Calibri (MS) Bold"/>
                  <a:sym typeface="Calibri (MS) Bold"/>
                </a:rPr>
                <a:t>ID3 = Iterative Dichotomiser 3</a:t>
              </a:r>
            </a:p>
            <a:p>
              <a:pPr algn="l">
                <a:lnSpc>
                  <a:spcPts val="3719"/>
                </a:lnSpc>
              </a:pPr>
            </a:p>
          </p:txBody>
        </p:sp>
      </p:grpSp>
      <p:grpSp>
        <p:nvGrpSpPr>
          <p:cNvPr name="Group 16" id="16"/>
          <p:cNvGrpSpPr/>
          <p:nvPr/>
        </p:nvGrpSpPr>
        <p:grpSpPr>
          <a:xfrm rot="0">
            <a:off x="834944" y="3604032"/>
            <a:ext cx="4670817" cy="5306707"/>
            <a:chOff x="0" y="0"/>
            <a:chExt cx="6227755" cy="7075609"/>
          </a:xfrm>
        </p:grpSpPr>
        <p:sp>
          <p:nvSpPr>
            <p:cNvPr name="Freeform 17" id="17"/>
            <p:cNvSpPr/>
            <p:nvPr/>
          </p:nvSpPr>
          <p:spPr>
            <a:xfrm flipH="false" flipV="false" rot="0">
              <a:off x="0" y="0"/>
              <a:ext cx="6227756" cy="7075609"/>
            </a:xfrm>
            <a:custGeom>
              <a:avLst/>
              <a:gdLst/>
              <a:ahLst/>
              <a:cxnLst/>
              <a:rect r="r" b="b" t="t" l="l"/>
              <a:pathLst>
                <a:path h="7075609" w="6227756">
                  <a:moveTo>
                    <a:pt x="0" y="0"/>
                  </a:moveTo>
                  <a:lnTo>
                    <a:pt x="6227756" y="0"/>
                  </a:lnTo>
                  <a:lnTo>
                    <a:pt x="6227756" y="7075609"/>
                  </a:lnTo>
                  <a:lnTo>
                    <a:pt x="0" y="7075609"/>
                  </a:lnTo>
                  <a:close/>
                </a:path>
              </a:pathLst>
            </a:custGeom>
            <a:blipFill>
              <a:blip r:embed="rId3">
                <a:alphaModFix amt="0"/>
              </a:blip>
              <a:stretch>
                <a:fillRect l="-20279" t="0" r="-10333" b="55199"/>
              </a:stretch>
            </a:blipFill>
          </p:spPr>
        </p:sp>
        <p:sp>
          <p:nvSpPr>
            <p:cNvPr name="TextBox 18" id="18"/>
            <p:cNvSpPr txBox="true"/>
            <p:nvPr/>
          </p:nvSpPr>
          <p:spPr>
            <a:xfrm>
              <a:off x="0" y="-104775"/>
              <a:ext cx="6227755" cy="7180384"/>
            </a:xfrm>
            <a:prstGeom prst="rect">
              <a:avLst/>
            </a:prstGeom>
          </p:spPr>
          <p:txBody>
            <a:bodyPr anchor="ctr" rtlCol="false" tIns="0" lIns="0" bIns="0" rIns="0"/>
            <a:lstStyle/>
            <a:p>
              <a:pPr algn="l" marL="582928" indent="-291464" lvl="1">
                <a:lnSpc>
                  <a:spcPts val="3752"/>
                </a:lnSpc>
                <a:buFont typeface="Arial"/>
                <a:buChar char="•"/>
              </a:pPr>
              <a:r>
                <a:rPr lang="en-US" b="true" sz="2699">
                  <a:solidFill>
                    <a:srgbClr val="FFFFFF"/>
                  </a:solidFill>
                  <a:latin typeface="Calibri (MS) Bold"/>
                  <a:ea typeface="Calibri (MS) Bold"/>
                  <a:cs typeface="Calibri (MS) Bold"/>
                  <a:sym typeface="Calibri (MS) Bold"/>
                </a:rPr>
                <a:t>L’entropie</a:t>
              </a:r>
              <a:r>
                <a:rPr lang="en-US" sz="2699">
                  <a:solidFill>
                    <a:srgbClr val="FFFFFF"/>
                  </a:solidFill>
                  <a:latin typeface="Calibri (MS)"/>
                  <a:ea typeface="Calibri (MS)"/>
                  <a:cs typeface="Calibri (MS)"/>
                  <a:sym typeface="Calibri (MS)"/>
                </a:rPr>
                <a:t> mesure le désordre (0 = parfaitement pur).</a:t>
              </a:r>
            </a:p>
            <a:p>
              <a:pPr algn="l" marL="582928" indent="-291464" lvl="1">
                <a:lnSpc>
                  <a:spcPts val="3752"/>
                </a:lnSpc>
                <a:buFont typeface="Arial"/>
                <a:buChar char="•"/>
              </a:pPr>
              <a:r>
                <a:rPr lang="en-US" b="true" sz="2699">
                  <a:solidFill>
                    <a:srgbClr val="FFFFFF"/>
                  </a:solidFill>
                  <a:latin typeface="Calibri (MS) Bold"/>
                  <a:ea typeface="Calibri (MS) Bold"/>
                  <a:cs typeface="Calibri (MS) Bold"/>
                  <a:sym typeface="Calibri (MS) Bold"/>
                </a:rPr>
                <a:t>Le gain d’information</a:t>
              </a:r>
              <a:r>
                <a:rPr lang="en-US" sz="2699">
                  <a:solidFill>
                    <a:srgbClr val="FFFFFF"/>
                  </a:solidFill>
                  <a:latin typeface="Calibri (MS)"/>
                  <a:ea typeface="Calibri (MS)"/>
                  <a:cs typeface="Calibri (MS)"/>
                  <a:sym typeface="Calibri (MS)"/>
                </a:rPr>
                <a:t> est la réduction d’entropie après le split. On choisit le split qui maximise ce ga</a:t>
              </a:r>
              <a:r>
                <a:rPr lang="en-US" sz="2699">
                  <a:solidFill>
                    <a:srgbClr val="FFFFFF"/>
                  </a:solidFill>
                  <a:latin typeface="Calibri (MS)"/>
                  <a:ea typeface="Calibri (MS)"/>
                  <a:cs typeface="Calibri (MS)"/>
                  <a:sym typeface="Calibri (MS)"/>
                </a:rPr>
                <a:t>in</a:t>
              </a:r>
              <a:r>
                <a:rPr lang="en-US" sz="2699">
                  <a:solidFill>
                    <a:srgbClr val="FFFFFF"/>
                  </a:solidFill>
                  <a:latin typeface="Calibri (MS)"/>
                  <a:ea typeface="Calibri (MS)"/>
                  <a:cs typeface="Calibri (MS)"/>
                  <a:sym typeface="Calibri (MS)"/>
                </a:rPr>
                <a:t>.</a:t>
              </a:r>
            </a:p>
            <a:p>
              <a:pPr algn="l">
                <a:lnSpc>
                  <a:spcPts val="3752"/>
                </a:lnSpc>
              </a:pPr>
              <a:r>
                <a:rPr lang="en-US" sz="2699" b="true">
                  <a:solidFill>
                    <a:srgbClr val="FFFFFF"/>
                  </a:solidFill>
                  <a:latin typeface="Calibri (MS) Bold"/>
                  <a:ea typeface="Calibri (MS) Bold"/>
                  <a:cs typeface="Calibri (MS) Bold"/>
                  <a:sym typeface="Calibri (MS) Bold"/>
                </a:rPr>
                <a:t>Limite </a:t>
              </a:r>
              <a:r>
                <a:rPr lang="en-US" sz="2699">
                  <a:solidFill>
                    <a:srgbClr val="FFFFFF"/>
                  </a:solidFill>
                  <a:latin typeface="Calibri (MS)"/>
                  <a:ea typeface="Calibri (MS)"/>
                  <a:cs typeface="Calibri (MS)"/>
                  <a:sym typeface="Calibri (MS)"/>
                </a:rPr>
                <a:t>:</a:t>
              </a:r>
            </a:p>
            <a:p>
              <a:pPr algn="l" marL="582928" indent="-291464" lvl="1">
                <a:lnSpc>
                  <a:spcPts val="3752"/>
                </a:lnSpc>
                <a:buFont typeface="Arial"/>
                <a:buChar char="•"/>
              </a:pPr>
              <a:r>
                <a:rPr lang="en-US" sz="2699">
                  <a:solidFill>
                    <a:srgbClr val="FFFFFF"/>
                  </a:solidFill>
                  <a:latin typeface="Calibri (MS)"/>
                  <a:ea typeface="Calibri (MS)"/>
                  <a:cs typeface="Calibri (MS)"/>
                  <a:sym typeface="Calibri (MS)"/>
                </a:rPr>
                <a:t> </a:t>
              </a:r>
              <a:r>
                <a:rPr lang="en-US" sz="2699">
                  <a:solidFill>
                    <a:srgbClr val="FFFFFF"/>
                  </a:solidFill>
                  <a:latin typeface="Calibri (MS)"/>
                  <a:ea typeface="Calibri (MS)"/>
                  <a:cs typeface="Calibri (MS)"/>
                  <a:sym typeface="Calibri (MS)"/>
                </a:rPr>
                <a:t>fav</a:t>
              </a:r>
              <a:r>
                <a:rPr lang="en-US" sz="2699">
                  <a:solidFill>
                    <a:srgbClr val="FFFFFF"/>
                  </a:solidFill>
                  <a:latin typeface="Calibri (MS)"/>
                  <a:ea typeface="Calibri (MS)"/>
                  <a:cs typeface="Calibri (MS)"/>
                  <a:sym typeface="Calibri (MS)"/>
                </a:rPr>
                <a:t>or</a:t>
              </a:r>
              <a:r>
                <a:rPr lang="en-US" sz="2699">
                  <a:solidFill>
                    <a:srgbClr val="FFFFFF"/>
                  </a:solidFill>
                  <a:latin typeface="Calibri (MS)"/>
                  <a:ea typeface="Calibri (MS)"/>
                  <a:cs typeface="Calibri (MS)"/>
                  <a:sym typeface="Calibri (MS)"/>
                </a:rPr>
                <a:t>ise les attributs avec beaucoup de valeurs .</a:t>
              </a:r>
            </a:p>
            <a:p>
              <a:pPr algn="l">
                <a:lnSpc>
                  <a:spcPts val="3752"/>
                </a:lnSpc>
              </a:pPr>
            </a:p>
          </p:txBody>
        </p:sp>
      </p:grpSp>
      <p:sp>
        <p:nvSpPr>
          <p:cNvPr name="Freeform 19" id="19"/>
          <p:cNvSpPr/>
          <p:nvPr/>
        </p:nvSpPr>
        <p:spPr>
          <a:xfrm flipH="false" flipV="false" rot="0">
            <a:off x="14867264" y="4134574"/>
            <a:ext cx="3046027" cy="1449081"/>
          </a:xfrm>
          <a:custGeom>
            <a:avLst/>
            <a:gdLst/>
            <a:ahLst/>
            <a:cxnLst/>
            <a:rect r="r" b="b" t="t" l="l"/>
            <a:pathLst>
              <a:path h="1449081" w="3046027">
                <a:moveTo>
                  <a:pt x="0" y="0"/>
                </a:moveTo>
                <a:lnTo>
                  <a:pt x="3046027" y="0"/>
                </a:lnTo>
                <a:lnTo>
                  <a:pt x="3046027" y="1449082"/>
                </a:lnTo>
                <a:lnTo>
                  <a:pt x="0" y="1449082"/>
                </a:lnTo>
                <a:lnTo>
                  <a:pt x="0" y="0"/>
                </a:lnTo>
                <a:close/>
              </a:path>
            </a:pathLst>
          </a:custGeom>
          <a:blipFill>
            <a:blip r:embed="rId6"/>
            <a:stretch>
              <a:fillRect l="0" t="0" r="0" b="0"/>
            </a:stretch>
          </a:blipFill>
        </p:spPr>
      </p:sp>
      <p:sp>
        <p:nvSpPr>
          <p:cNvPr name="TextBox 20" id="20"/>
          <p:cNvSpPr txBox="true"/>
          <p:nvPr/>
        </p:nvSpPr>
        <p:spPr>
          <a:xfrm rot="0">
            <a:off x="4136169" y="2924582"/>
            <a:ext cx="9171244"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Ent</a:t>
            </a:r>
            <a:r>
              <a:rPr lang="en-US" b="true" sz="3999">
                <a:solidFill>
                  <a:srgbClr val="000000"/>
                </a:solidFill>
                <a:latin typeface="Open Sans Bold"/>
                <a:ea typeface="Open Sans Bold"/>
                <a:cs typeface="Open Sans Bold"/>
                <a:sym typeface="Open Sans Bold"/>
              </a:rPr>
              <a:t>ropie d’un nœud :</a:t>
            </a:r>
          </a:p>
        </p:txBody>
      </p:sp>
      <p:sp>
        <p:nvSpPr>
          <p:cNvPr name="TextBox 21" id="21"/>
          <p:cNvSpPr txBox="true"/>
          <p:nvPr/>
        </p:nvSpPr>
        <p:spPr>
          <a:xfrm rot="0">
            <a:off x="5792064" y="5403152"/>
            <a:ext cx="9171244"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Gain d’info</a:t>
            </a:r>
            <a:r>
              <a:rPr lang="en-US" b="true" sz="3999">
                <a:solidFill>
                  <a:srgbClr val="000000"/>
                </a:solidFill>
                <a:latin typeface="Open Sans Bold"/>
                <a:ea typeface="Open Sans Bold"/>
                <a:cs typeface="Open Sans Bold"/>
                <a:sym typeface="Open Sans Bold"/>
              </a:rPr>
              <a:t>rmation pour un split :</a:t>
            </a:r>
          </a:p>
        </p:txBody>
      </p:sp>
      <p:sp>
        <p:nvSpPr>
          <p:cNvPr name="TextBox 22" id="22"/>
          <p:cNvSpPr txBox="true"/>
          <p:nvPr/>
        </p:nvSpPr>
        <p:spPr>
          <a:xfrm rot="0">
            <a:off x="12622130" y="3276904"/>
            <a:ext cx="5921562" cy="1099184"/>
          </a:xfrm>
          <a:prstGeom prst="rect">
            <a:avLst/>
          </a:prstGeom>
        </p:spPr>
        <p:txBody>
          <a:bodyPr anchor="t" rtlCol="false" tIns="0" lIns="0" bIns="0" rIns="0">
            <a:spAutoFit/>
          </a:bodyPr>
          <a:lstStyle/>
          <a:p>
            <a:pPr algn="l" marL="453396" indent="-226698" lvl="1">
              <a:lnSpc>
                <a:spcPts val="2940"/>
              </a:lnSpc>
              <a:buFont typeface="Arial"/>
              <a:buChar char="•"/>
            </a:pPr>
            <a:r>
              <a:rPr lang="en-US" sz="2100">
                <a:solidFill>
                  <a:srgbClr val="000000"/>
                </a:solidFill>
                <a:latin typeface="Open Sans"/>
                <a:ea typeface="Open Sans"/>
                <a:cs typeface="Open Sans"/>
                <a:sym typeface="Open Sans"/>
              </a:rPr>
              <a:t>K = n</a:t>
            </a:r>
            <a:r>
              <a:rPr lang="en-US" sz="2100">
                <a:solidFill>
                  <a:srgbClr val="000000"/>
                </a:solidFill>
                <a:latin typeface="Open Sans"/>
                <a:ea typeface="Open Sans"/>
                <a:cs typeface="Open Sans"/>
                <a:sym typeface="Open Sans"/>
              </a:rPr>
              <a:t>ombre de classes</a:t>
            </a:r>
          </a:p>
          <a:p>
            <a:pPr algn="l" marL="453396" indent="-226698" lvl="1">
              <a:lnSpc>
                <a:spcPts val="2940"/>
              </a:lnSpc>
              <a:buFont typeface="Arial"/>
              <a:buChar char="•"/>
            </a:pPr>
            <a:r>
              <a:rPr lang="en-US" sz="2100">
                <a:solidFill>
                  <a:srgbClr val="000000"/>
                </a:solidFill>
                <a:latin typeface="Open Sans"/>
                <a:ea typeface="Open Sans"/>
                <a:cs typeface="Open Sans"/>
                <a:sym typeface="Open Sans"/>
              </a:rPr>
              <a:t>Pk= proportion d’exemples de la classe k </a:t>
            </a:r>
          </a:p>
          <a:p>
            <a:pPr algn="l">
              <a:lnSpc>
                <a:spcPts val="2940"/>
              </a:lnSpc>
            </a:pPr>
            <a:r>
              <a:rPr lang="en-US" sz="2100">
                <a:solidFill>
                  <a:srgbClr val="000000"/>
                </a:solidFill>
                <a:latin typeface="Open Sans"/>
                <a:ea typeface="Open Sans"/>
                <a:cs typeface="Open Sans"/>
                <a:sym typeface="Open Sans"/>
              </a:rPr>
              <a:t>dans le nœud</a:t>
            </a:r>
          </a:p>
        </p:txBody>
      </p:sp>
      <p:sp>
        <p:nvSpPr>
          <p:cNvPr name="TextBox 23" id="23"/>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C4.5 </a:t>
              </a:r>
            </a:p>
          </p:txBody>
        </p:sp>
      </p:grpSp>
      <p:grpSp>
        <p:nvGrpSpPr>
          <p:cNvPr name="Group 8" id="8"/>
          <p:cNvGrpSpPr/>
          <p:nvPr/>
        </p:nvGrpSpPr>
        <p:grpSpPr>
          <a:xfrm rot="0">
            <a:off x="234875" y="2539804"/>
            <a:ext cx="5243424" cy="7074327"/>
            <a:chOff x="0" y="0"/>
            <a:chExt cx="6991232" cy="9432436"/>
          </a:xfrm>
        </p:grpSpPr>
        <p:sp>
          <p:nvSpPr>
            <p:cNvPr name="Freeform 9" id="9"/>
            <p:cNvSpPr/>
            <p:nvPr/>
          </p:nvSpPr>
          <p:spPr>
            <a:xfrm flipH="false" flipV="false" rot="0">
              <a:off x="19265" y="30909"/>
              <a:ext cx="6952601" cy="9370454"/>
            </a:xfrm>
            <a:custGeom>
              <a:avLst/>
              <a:gdLst/>
              <a:ahLst/>
              <a:cxnLst/>
              <a:rect r="r" b="b" t="t" l="l"/>
              <a:pathLst>
                <a:path h="9370454" w="6952601">
                  <a:moveTo>
                    <a:pt x="0" y="0"/>
                  </a:moveTo>
                  <a:lnTo>
                    <a:pt x="6952601" y="0"/>
                  </a:lnTo>
                  <a:lnTo>
                    <a:pt x="6952601" y="9370454"/>
                  </a:lnTo>
                  <a:lnTo>
                    <a:pt x="0" y="9370454"/>
                  </a:lnTo>
                  <a:close/>
                </a:path>
              </a:pathLst>
            </a:custGeom>
            <a:solidFill>
              <a:srgbClr val="1E3A1E"/>
            </a:solidFill>
          </p:spPr>
        </p:sp>
        <p:sp>
          <p:nvSpPr>
            <p:cNvPr name="Freeform 10" id="10"/>
            <p:cNvSpPr/>
            <p:nvPr/>
          </p:nvSpPr>
          <p:spPr>
            <a:xfrm flipH="false" flipV="false" rot="0">
              <a:off x="0" y="0"/>
              <a:ext cx="6991131" cy="9432273"/>
            </a:xfrm>
            <a:custGeom>
              <a:avLst/>
              <a:gdLst/>
              <a:ahLst/>
              <a:cxnLst/>
              <a:rect r="r" b="b" t="t" l="l"/>
              <a:pathLst>
                <a:path h="9432273" w="6991131">
                  <a:moveTo>
                    <a:pt x="19265" y="0"/>
                  </a:moveTo>
                  <a:lnTo>
                    <a:pt x="6971866" y="0"/>
                  </a:lnTo>
                  <a:cubicBezTo>
                    <a:pt x="6982585" y="0"/>
                    <a:pt x="6991131" y="13944"/>
                    <a:pt x="6991131" y="30909"/>
                  </a:cubicBezTo>
                  <a:lnTo>
                    <a:pt x="6991131" y="9401363"/>
                  </a:lnTo>
                  <a:cubicBezTo>
                    <a:pt x="6991131" y="9418562"/>
                    <a:pt x="6982440" y="9432273"/>
                    <a:pt x="6971866" y="9432273"/>
                  </a:cubicBezTo>
                  <a:lnTo>
                    <a:pt x="19265" y="9432273"/>
                  </a:lnTo>
                  <a:cubicBezTo>
                    <a:pt x="8546" y="9432273"/>
                    <a:pt x="0" y="9418329"/>
                    <a:pt x="0" y="9401363"/>
                  </a:cubicBezTo>
                  <a:lnTo>
                    <a:pt x="0" y="30909"/>
                  </a:lnTo>
                  <a:cubicBezTo>
                    <a:pt x="0" y="13944"/>
                    <a:pt x="8691" y="0"/>
                    <a:pt x="19265" y="0"/>
                  </a:cubicBezTo>
                  <a:moveTo>
                    <a:pt x="19265" y="62051"/>
                  </a:moveTo>
                  <a:lnTo>
                    <a:pt x="19265" y="30909"/>
                  </a:lnTo>
                  <a:lnTo>
                    <a:pt x="38674" y="30909"/>
                  </a:lnTo>
                  <a:lnTo>
                    <a:pt x="38674" y="9401363"/>
                  </a:lnTo>
                  <a:lnTo>
                    <a:pt x="19265" y="9401363"/>
                  </a:lnTo>
                  <a:lnTo>
                    <a:pt x="19265" y="9370454"/>
                  </a:lnTo>
                  <a:lnTo>
                    <a:pt x="6971866" y="9370454"/>
                  </a:lnTo>
                  <a:lnTo>
                    <a:pt x="6971866" y="9401363"/>
                  </a:lnTo>
                  <a:lnTo>
                    <a:pt x="6952601" y="9401363"/>
                  </a:lnTo>
                  <a:lnTo>
                    <a:pt x="6952601" y="30909"/>
                  </a:lnTo>
                  <a:lnTo>
                    <a:pt x="6971866" y="30909"/>
                  </a:lnTo>
                  <a:lnTo>
                    <a:pt x="6971866" y="62051"/>
                  </a:lnTo>
                  <a:lnTo>
                    <a:pt x="19265" y="62051"/>
                  </a:lnTo>
                  <a:close/>
                </a:path>
              </a:pathLst>
            </a:custGeom>
            <a:solidFill>
              <a:srgbClr val="5B9E3D"/>
            </a:solidFill>
          </p:spPr>
        </p:sp>
      </p:grpSp>
      <p:grpSp>
        <p:nvGrpSpPr>
          <p:cNvPr name="Group 11" id="11"/>
          <p:cNvGrpSpPr/>
          <p:nvPr/>
        </p:nvGrpSpPr>
        <p:grpSpPr>
          <a:xfrm rot="0">
            <a:off x="714935" y="2539804"/>
            <a:ext cx="4953304" cy="921956"/>
            <a:chOff x="0" y="0"/>
            <a:chExt cx="6604406" cy="1229274"/>
          </a:xfrm>
        </p:grpSpPr>
        <p:sp>
          <p:nvSpPr>
            <p:cNvPr name="Freeform 12" id="12"/>
            <p:cNvSpPr/>
            <p:nvPr/>
          </p:nvSpPr>
          <p:spPr>
            <a:xfrm flipH="false" flipV="false" rot="0">
              <a:off x="0" y="0"/>
              <a:ext cx="6604406" cy="1229274"/>
            </a:xfrm>
            <a:custGeom>
              <a:avLst/>
              <a:gdLst/>
              <a:ahLst/>
              <a:cxnLst/>
              <a:rect r="r" b="b" t="t" l="l"/>
              <a:pathLst>
                <a:path h="1229274" w="6604406">
                  <a:moveTo>
                    <a:pt x="0" y="0"/>
                  </a:moveTo>
                  <a:lnTo>
                    <a:pt x="6604406" y="0"/>
                  </a:lnTo>
                  <a:lnTo>
                    <a:pt x="6604406" y="1229274"/>
                  </a:lnTo>
                  <a:lnTo>
                    <a:pt x="0" y="1229274"/>
                  </a:lnTo>
                  <a:close/>
                </a:path>
              </a:pathLst>
            </a:custGeom>
            <a:blipFill>
              <a:blip r:embed="rId3">
                <a:alphaModFix amt="0"/>
              </a:blip>
              <a:stretch>
                <a:fillRect l="0" t="-15277" r="42772" b="-4539"/>
              </a:stretch>
            </a:blipFill>
          </p:spPr>
        </p:sp>
        <p:sp>
          <p:nvSpPr>
            <p:cNvPr name="TextBox 13" id="13"/>
            <p:cNvSpPr txBox="true"/>
            <p:nvPr/>
          </p:nvSpPr>
          <p:spPr>
            <a:xfrm>
              <a:off x="0" y="-76200"/>
              <a:ext cx="6604406"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C4.5→ Gain Ratio</a:t>
              </a:r>
            </a:p>
          </p:txBody>
        </p:sp>
      </p:grpSp>
      <p:grpSp>
        <p:nvGrpSpPr>
          <p:cNvPr name="Group 14" id="14"/>
          <p:cNvGrpSpPr/>
          <p:nvPr/>
        </p:nvGrpSpPr>
        <p:grpSpPr>
          <a:xfrm rot="0">
            <a:off x="420660" y="3552964"/>
            <a:ext cx="4670817" cy="5048008"/>
            <a:chOff x="0" y="0"/>
            <a:chExt cx="6227755" cy="6730677"/>
          </a:xfrm>
        </p:grpSpPr>
        <p:sp>
          <p:nvSpPr>
            <p:cNvPr name="Freeform 15" id="15"/>
            <p:cNvSpPr/>
            <p:nvPr/>
          </p:nvSpPr>
          <p:spPr>
            <a:xfrm flipH="false" flipV="false" rot="0">
              <a:off x="0" y="0"/>
              <a:ext cx="6227756" cy="6730677"/>
            </a:xfrm>
            <a:custGeom>
              <a:avLst/>
              <a:gdLst/>
              <a:ahLst/>
              <a:cxnLst/>
              <a:rect r="r" b="b" t="t" l="l"/>
              <a:pathLst>
                <a:path h="6730677" w="6227756">
                  <a:moveTo>
                    <a:pt x="0" y="0"/>
                  </a:moveTo>
                  <a:lnTo>
                    <a:pt x="6227756" y="0"/>
                  </a:lnTo>
                  <a:lnTo>
                    <a:pt x="6227756" y="6730677"/>
                  </a:lnTo>
                  <a:lnTo>
                    <a:pt x="0" y="6730677"/>
                  </a:lnTo>
                  <a:close/>
                </a:path>
              </a:pathLst>
            </a:custGeom>
            <a:blipFill>
              <a:blip r:embed="rId3">
                <a:alphaModFix amt="0"/>
              </a:blip>
              <a:stretch>
                <a:fillRect l="-20279" t="0" r="-10333" b="52903"/>
              </a:stretch>
            </a:blipFill>
          </p:spPr>
        </p:sp>
        <p:sp>
          <p:nvSpPr>
            <p:cNvPr name="TextBox 16" id="16"/>
            <p:cNvSpPr txBox="true"/>
            <p:nvPr/>
          </p:nvSpPr>
          <p:spPr>
            <a:xfrm>
              <a:off x="0" y="-57150"/>
              <a:ext cx="6227755" cy="6787827"/>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Corrige le biais du gain d’information (ID3) en divisant par l’entropie du split lui-même (SplitInfo).</a:t>
              </a:r>
            </a:p>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Pénalise les attributs avec trop de valeurs (car leur SplitInfo est élevé).</a:t>
              </a:r>
            </a:p>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On choisit le split avec le plus gra</a:t>
              </a:r>
              <a:r>
                <a:rPr lang="en-US" sz="2699">
                  <a:solidFill>
                    <a:srgbClr val="FFFFFF"/>
                  </a:solidFill>
                  <a:latin typeface="Calibri (MS)"/>
                  <a:ea typeface="Calibri (MS)"/>
                  <a:cs typeface="Calibri (MS)"/>
                  <a:sym typeface="Calibri (MS)"/>
                </a:rPr>
                <a:t>nd Ga</a:t>
              </a:r>
              <a:r>
                <a:rPr lang="en-US" sz="2699">
                  <a:solidFill>
                    <a:srgbClr val="FFFFFF"/>
                  </a:solidFill>
                  <a:latin typeface="Calibri (MS)"/>
                  <a:ea typeface="Calibri (MS)"/>
                  <a:cs typeface="Calibri (MS)"/>
                  <a:sym typeface="Calibri (MS)"/>
                </a:rPr>
                <a:t>in Ratio (après</a:t>
              </a:r>
              <a:r>
                <a:rPr lang="en-US" sz="2699">
                  <a:solidFill>
                    <a:srgbClr val="FFFFFF"/>
                  </a:solidFill>
                  <a:latin typeface="Calibri (MS)"/>
                  <a:ea typeface="Calibri (MS)"/>
                  <a:cs typeface="Calibri (MS)"/>
                  <a:sym typeface="Calibri (MS)"/>
                </a:rPr>
                <a:t> </a:t>
              </a:r>
              <a:r>
                <a:rPr lang="en-US" sz="2699">
                  <a:solidFill>
                    <a:srgbClr val="FFFFFF"/>
                  </a:solidFill>
                  <a:latin typeface="Calibri (MS)"/>
                  <a:ea typeface="Calibri (MS)"/>
                  <a:cs typeface="Calibri (MS)"/>
                  <a:sym typeface="Calibri (MS)"/>
                </a:rPr>
                <a:t>av</a:t>
              </a:r>
              <a:r>
                <a:rPr lang="en-US" sz="2699">
                  <a:solidFill>
                    <a:srgbClr val="FFFFFF"/>
                  </a:solidFill>
                  <a:latin typeface="Calibri (MS)"/>
                  <a:ea typeface="Calibri (MS)"/>
                  <a:cs typeface="Calibri (MS)"/>
                  <a:sym typeface="Calibri (MS)"/>
                </a:rPr>
                <a:t>oir f</a:t>
              </a:r>
              <a:r>
                <a:rPr lang="en-US" sz="2699">
                  <a:solidFill>
                    <a:srgbClr val="FFFFFF"/>
                  </a:solidFill>
                  <a:latin typeface="Calibri (MS)"/>
                  <a:ea typeface="Calibri (MS)"/>
                  <a:cs typeface="Calibri (MS)"/>
                  <a:sym typeface="Calibri (MS)"/>
                </a:rPr>
                <a:t>iltré ceux dont le gain est au moins égal à la moyenne).</a:t>
              </a:r>
            </a:p>
            <a:p>
              <a:pPr algn="l">
                <a:lnSpc>
                  <a:spcPts val="3239"/>
                </a:lnSpc>
              </a:pPr>
            </a:p>
          </p:txBody>
        </p:sp>
      </p:grpSp>
      <p:sp>
        <p:nvSpPr>
          <p:cNvPr name="Freeform 17" id="17"/>
          <p:cNvSpPr/>
          <p:nvPr/>
        </p:nvSpPr>
        <p:spPr>
          <a:xfrm flipH="false" flipV="false" rot="0">
            <a:off x="6746663" y="3461760"/>
            <a:ext cx="7908883" cy="1848012"/>
          </a:xfrm>
          <a:custGeom>
            <a:avLst/>
            <a:gdLst/>
            <a:ahLst/>
            <a:cxnLst/>
            <a:rect r="r" b="b" t="t" l="l"/>
            <a:pathLst>
              <a:path h="1848012" w="7908883">
                <a:moveTo>
                  <a:pt x="0" y="0"/>
                </a:moveTo>
                <a:lnTo>
                  <a:pt x="7908884" y="0"/>
                </a:lnTo>
                <a:lnTo>
                  <a:pt x="7908884" y="1848013"/>
                </a:lnTo>
                <a:lnTo>
                  <a:pt x="0" y="1848013"/>
                </a:lnTo>
                <a:lnTo>
                  <a:pt x="0" y="0"/>
                </a:lnTo>
                <a:close/>
              </a:path>
            </a:pathLst>
          </a:custGeom>
          <a:blipFill>
            <a:blip r:embed="rId4"/>
            <a:stretch>
              <a:fillRect l="-8556" t="-45771" r="0" b="-54875"/>
            </a:stretch>
          </a:blipFill>
        </p:spPr>
      </p:sp>
      <p:sp>
        <p:nvSpPr>
          <p:cNvPr name="Freeform 18" id="18"/>
          <p:cNvSpPr/>
          <p:nvPr/>
        </p:nvSpPr>
        <p:spPr>
          <a:xfrm flipH="false" flipV="false" rot="0">
            <a:off x="6449463" y="6254052"/>
            <a:ext cx="10136609" cy="2052716"/>
          </a:xfrm>
          <a:custGeom>
            <a:avLst/>
            <a:gdLst/>
            <a:ahLst/>
            <a:cxnLst/>
            <a:rect r="r" b="b" t="t" l="l"/>
            <a:pathLst>
              <a:path h="2052716" w="10136609">
                <a:moveTo>
                  <a:pt x="0" y="0"/>
                </a:moveTo>
                <a:lnTo>
                  <a:pt x="10136609" y="0"/>
                </a:lnTo>
                <a:lnTo>
                  <a:pt x="10136609" y="2052716"/>
                </a:lnTo>
                <a:lnTo>
                  <a:pt x="0" y="2052716"/>
                </a:lnTo>
                <a:lnTo>
                  <a:pt x="0" y="0"/>
                </a:lnTo>
                <a:close/>
              </a:path>
            </a:pathLst>
          </a:custGeom>
          <a:blipFill>
            <a:blip r:embed="rId5"/>
            <a:stretch>
              <a:fillRect l="0" t="0" r="0" b="0"/>
            </a:stretch>
          </a:blipFill>
        </p:spPr>
      </p:sp>
      <p:sp>
        <p:nvSpPr>
          <p:cNvPr name="TextBox 19" id="19"/>
          <p:cNvSpPr txBox="true"/>
          <p:nvPr/>
        </p:nvSpPr>
        <p:spPr>
          <a:xfrm rot="0">
            <a:off x="5982004" y="2924582"/>
            <a:ext cx="3413095"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Open Sans Bold"/>
                <a:ea typeface="Open Sans Bold"/>
                <a:cs typeface="Open Sans Bold"/>
                <a:sym typeface="Open Sans Bold"/>
              </a:rPr>
              <a:t>Formule:</a:t>
            </a:r>
          </a:p>
        </p:txBody>
      </p:sp>
      <p:sp>
        <p:nvSpPr>
          <p:cNvPr name="TextBox 20" id="20"/>
          <p:cNvSpPr txBox="true"/>
          <p:nvPr/>
        </p:nvSpPr>
        <p:spPr>
          <a:xfrm rot="0">
            <a:off x="5792064" y="5403152"/>
            <a:ext cx="2237962"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Open Sans Bold"/>
                <a:ea typeface="Open Sans Bold"/>
                <a:cs typeface="Open Sans Bold"/>
                <a:sym typeface="Open Sans Bold"/>
              </a:rPr>
              <a:t>Où</a:t>
            </a:r>
            <a:r>
              <a:rPr lang="en-US" b="true" sz="3999">
                <a:solidFill>
                  <a:srgbClr val="000000"/>
                </a:solidFill>
                <a:latin typeface="Open Sans Bold"/>
                <a:ea typeface="Open Sans Bold"/>
                <a:cs typeface="Open Sans Bold"/>
                <a:sym typeface="Open Sans Bold"/>
              </a:rPr>
              <a:t> :</a:t>
            </a:r>
          </a:p>
        </p:txBody>
      </p:sp>
      <p:sp>
        <p:nvSpPr>
          <p:cNvPr name="TextBox 21" id="21"/>
          <p:cNvSpPr txBox="true"/>
          <p:nvPr/>
        </p:nvSpPr>
        <p:spPr>
          <a:xfrm rot="0">
            <a:off x="7459651" y="8412480"/>
            <a:ext cx="6482908" cy="1653539"/>
          </a:xfrm>
          <a:prstGeom prst="rect">
            <a:avLst/>
          </a:prstGeom>
        </p:spPr>
        <p:txBody>
          <a:bodyPr anchor="t" rtlCol="false" tIns="0" lIns="0" bIns="0" rIns="0">
            <a:spAutoFit/>
          </a:bodyPr>
          <a:lstStyle/>
          <a:p>
            <a:pPr algn="l" marL="518165" indent="-259082" lvl="1">
              <a:lnSpc>
                <a:spcPts val="3360"/>
              </a:lnSpc>
              <a:buFont typeface="Arial"/>
              <a:buChar char="•"/>
            </a:pPr>
            <a:r>
              <a:rPr lang="en-US" sz="2400">
                <a:solidFill>
                  <a:srgbClr val="000000"/>
                </a:solidFill>
                <a:latin typeface="Open Sans"/>
                <a:ea typeface="Open Sans"/>
                <a:cs typeface="Open Sans"/>
                <a:sym typeface="Open Sans"/>
              </a:rPr>
              <a:t>v = chaque valeur p</a:t>
            </a:r>
            <a:r>
              <a:rPr lang="en-US" sz="2400">
                <a:solidFill>
                  <a:srgbClr val="000000"/>
                </a:solidFill>
                <a:latin typeface="Open Sans"/>
                <a:ea typeface="Open Sans"/>
                <a:cs typeface="Open Sans"/>
                <a:sym typeface="Open Sans"/>
              </a:rPr>
              <a:t>ossible de l’attribut (ou chaque branche).</a:t>
            </a:r>
          </a:p>
          <a:p>
            <a:pPr algn="l" marL="518165" indent="-259082" lvl="1">
              <a:lnSpc>
                <a:spcPts val="3360"/>
              </a:lnSpc>
              <a:buFont typeface="Arial"/>
              <a:buChar char="•"/>
            </a:pPr>
            <a:r>
              <a:rPr lang="en-US" sz="2400">
                <a:solidFill>
                  <a:srgbClr val="000000"/>
                </a:solidFill>
                <a:latin typeface="Open Sans"/>
                <a:ea typeface="Open Sans"/>
                <a:cs typeface="Open Sans"/>
                <a:sym typeface="Open Sans"/>
              </a:rPr>
              <a:t>Nv= nombre d’exemples prenant la valeur.</a:t>
            </a:r>
          </a:p>
        </p:txBody>
      </p:sp>
      <p:sp>
        <p:nvSpPr>
          <p:cNvPr name="TextBox 22" id="2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2053" y="2230926"/>
            <a:ext cx="4597403" cy="7328999"/>
            <a:chOff x="0" y="0"/>
            <a:chExt cx="6129871" cy="9771999"/>
          </a:xfrm>
        </p:grpSpPr>
        <p:sp>
          <p:nvSpPr>
            <p:cNvPr name="Freeform 3" id="3"/>
            <p:cNvSpPr/>
            <p:nvPr/>
          </p:nvSpPr>
          <p:spPr>
            <a:xfrm flipH="false" flipV="false" rot="0">
              <a:off x="16891" y="32022"/>
              <a:ext cx="6096000" cy="9707786"/>
            </a:xfrm>
            <a:custGeom>
              <a:avLst/>
              <a:gdLst/>
              <a:ahLst/>
              <a:cxnLst/>
              <a:rect r="r" b="b" t="t" l="l"/>
              <a:pathLst>
                <a:path h="9707786" w="6096000">
                  <a:moveTo>
                    <a:pt x="0" y="0"/>
                  </a:moveTo>
                  <a:lnTo>
                    <a:pt x="6096000" y="0"/>
                  </a:lnTo>
                  <a:lnTo>
                    <a:pt x="6096000" y="9707786"/>
                  </a:lnTo>
                  <a:lnTo>
                    <a:pt x="0" y="9707786"/>
                  </a:lnTo>
                  <a:close/>
                </a:path>
              </a:pathLst>
            </a:custGeom>
            <a:solidFill>
              <a:srgbClr val="1E3A1E"/>
            </a:solidFill>
          </p:spPr>
        </p:sp>
        <p:sp>
          <p:nvSpPr>
            <p:cNvPr name="Freeform 4" id="4"/>
            <p:cNvSpPr/>
            <p:nvPr/>
          </p:nvSpPr>
          <p:spPr>
            <a:xfrm flipH="false" flipV="false" rot="0">
              <a:off x="0" y="0"/>
              <a:ext cx="6129782" cy="9771831"/>
            </a:xfrm>
            <a:custGeom>
              <a:avLst/>
              <a:gdLst/>
              <a:ahLst/>
              <a:cxnLst/>
              <a:rect r="r" b="b" t="t" l="l"/>
              <a:pathLst>
                <a:path h="9771831" w="6129782">
                  <a:moveTo>
                    <a:pt x="16891" y="0"/>
                  </a:moveTo>
                  <a:lnTo>
                    <a:pt x="6112891" y="0"/>
                  </a:lnTo>
                  <a:cubicBezTo>
                    <a:pt x="6122289" y="0"/>
                    <a:pt x="6129782" y="14446"/>
                    <a:pt x="6129782" y="32022"/>
                  </a:cubicBezTo>
                  <a:lnTo>
                    <a:pt x="6129782" y="9739808"/>
                  </a:lnTo>
                  <a:cubicBezTo>
                    <a:pt x="6129782" y="9757625"/>
                    <a:pt x="6122162" y="9771831"/>
                    <a:pt x="6112891" y="9771831"/>
                  </a:cubicBezTo>
                  <a:lnTo>
                    <a:pt x="16891" y="9771831"/>
                  </a:lnTo>
                  <a:cubicBezTo>
                    <a:pt x="7493" y="9771831"/>
                    <a:pt x="0" y="9757384"/>
                    <a:pt x="0" y="9739808"/>
                  </a:cubicBezTo>
                  <a:lnTo>
                    <a:pt x="0" y="32022"/>
                  </a:lnTo>
                  <a:cubicBezTo>
                    <a:pt x="0" y="14446"/>
                    <a:pt x="7620" y="0"/>
                    <a:pt x="16891" y="0"/>
                  </a:cubicBezTo>
                  <a:moveTo>
                    <a:pt x="16891" y="64285"/>
                  </a:moveTo>
                  <a:lnTo>
                    <a:pt x="16891" y="32022"/>
                  </a:lnTo>
                  <a:lnTo>
                    <a:pt x="33909" y="32022"/>
                  </a:lnTo>
                  <a:lnTo>
                    <a:pt x="33909" y="9739808"/>
                  </a:lnTo>
                  <a:lnTo>
                    <a:pt x="16891" y="9739808"/>
                  </a:lnTo>
                  <a:lnTo>
                    <a:pt x="16891" y="9707787"/>
                  </a:lnTo>
                  <a:lnTo>
                    <a:pt x="6112891" y="9707787"/>
                  </a:lnTo>
                  <a:lnTo>
                    <a:pt x="6112891" y="9739808"/>
                  </a:lnTo>
                  <a:lnTo>
                    <a:pt x="6096000" y="9739808"/>
                  </a:lnTo>
                  <a:lnTo>
                    <a:pt x="6096000" y="32022"/>
                  </a:lnTo>
                  <a:lnTo>
                    <a:pt x="6112891" y="32022"/>
                  </a:lnTo>
                  <a:lnTo>
                    <a:pt x="6112891" y="64285"/>
                  </a:lnTo>
                  <a:lnTo>
                    <a:pt x="16891" y="64285"/>
                  </a:lnTo>
                  <a:close/>
                </a:path>
              </a:pathLst>
            </a:custGeom>
            <a:solidFill>
              <a:srgbClr val="5B9E3D"/>
            </a:solidFill>
          </p:spPr>
        </p:sp>
      </p:grpSp>
      <p:grpSp>
        <p:nvGrpSpPr>
          <p:cNvPr name="Group 5" id="5"/>
          <p:cNvGrpSpPr/>
          <p:nvPr/>
        </p:nvGrpSpPr>
        <p:grpSpPr>
          <a:xfrm rot="0">
            <a:off x="830285" y="2230926"/>
            <a:ext cx="4201220" cy="921956"/>
            <a:chOff x="0" y="0"/>
            <a:chExt cx="5601626" cy="1229274"/>
          </a:xfrm>
        </p:grpSpPr>
        <p:sp>
          <p:nvSpPr>
            <p:cNvPr name="Freeform 6" id="6"/>
            <p:cNvSpPr/>
            <p:nvPr/>
          </p:nvSpPr>
          <p:spPr>
            <a:xfrm flipH="false" flipV="false" rot="0">
              <a:off x="0" y="0"/>
              <a:ext cx="5601626" cy="1229274"/>
            </a:xfrm>
            <a:custGeom>
              <a:avLst/>
              <a:gdLst/>
              <a:ahLst/>
              <a:cxnLst/>
              <a:rect r="r" b="b" t="t" l="l"/>
              <a:pathLst>
                <a:path h="1229274" w="5601626">
                  <a:moveTo>
                    <a:pt x="0" y="0"/>
                  </a:moveTo>
                  <a:lnTo>
                    <a:pt x="5601626" y="0"/>
                  </a:lnTo>
                  <a:lnTo>
                    <a:pt x="5601626" y="1229274"/>
                  </a:lnTo>
                  <a:lnTo>
                    <a:pt x="0" y="1229274"/>
                  </a:lnTo>
                  <a:close/>
                </a:path>
              </a:pathLst>
            </a:custGeom>
            <a:blipFill>
              <a:blip r:embed="rId3">
                <a:alphaModFix amt="0"/>
              </a:blip>
              <a:stretch>
                <a:fillRect l="0" t="-15277" r="32528" b="-4539"/>
              </a:stretch>
            </a:blipFill>
          </p:spPr>
        </p:sp>
        <p:sp>
          <p:nvSpPr>
            <p:cNvPr name="TextBox 7" id="7"/>
            <p:cNvSpPr txBox="true"/>
            <p:nvPr/>
          </p:nvSpPr>
          <p:spPr>
            <a:xfrm>
              <a:off x="0" y="-76200"/>
              <a:ext cx="5601626"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CART→ Indice de Gini</a:t>
              </a:r>
            </a:p>
          </p:txBody>
        </p:sp>
      </p:grpSp>
      <p:grpSp>
        <p:nvGrpSpPr>
          <p:cNvPr name="Group 8" id="8"/>
          <p:cNvGrpSpPr/>
          <p:nvPr/>
        </p:nvGrpSpPr>
        <p:grpSpPr>
          <a:xfrm rot="0">
            <a:off x="548640" y="3152882"/>
            <a:ext cx="4670817" cy="6770128"/>
            <a:chOff x="0" y="0"/>
            <a:chExt cx="6227755" cy="9026837"/>
          </a:xfrm>
        </p:grpSpPr>
        <p:sp>
          <p:nvSpPr>
            <p:cNvPr name="Freeform 9" id="9"/>
            <p:cNvSpPr/>
            <p:nvPr/>
          </p:nvSpPr>
          <p:spPr>
            <a:xfrm flipH="false" flipV="false" rot="0">
              <a:off x="0" y="0"/>
              <a:ext cx="6227756" cy="9026837"/>
            </a:xfrm>
            <a:custGeom>
              <a:avLst/>
              <a:gdLst/>
              <a:ahLst/>
              <a:cxnLst/>
              <a:rect r="r" b="b" t="t" l="l"/>
              <a:pathLst>
                <a:path h="9026837" w="6227756">
                  <a:moveTo>
                    <a:pt x="0" y="0"/>
                  </a:moveTo>
                  <a:lnTo>
                    <a:pt x="6227756" y="0"/>
                  </a:lnTo>
                  <a:lnTo>
                    <a:pt x="6227756" y="9026837"/>
                  </a:lnTo>
                  <a:lnTo>
                    <a:pt x="0" y="9026837"/>
                  </a:lnTo>
                  <a:close/>
                </a:path>
              </a:pathLst>
            </a:custGeom>
            <a:blipFill>
              <a:blip r:embed="rId3">
                <a:alphaModFix amt="0"/>
              </a:blip>
              <a:stretch>
                <a:fillRect l="-20279" t="0" r="-10333" b="64883"/>
              </a:stretch>
            </a:blipFill>
          </p:spPr>
        </p:sp>
        <p:sp>
          <p:nvSpPr>
            <p:cNvPr name="TextBox 10" id="10"/>
            <p:cNvSpPr txBox="true"/>
            <p:nvPr/>
          </p:nvSpPr>
          <p:spPr>
            <a:xfrm>
              <a:off x="0" y="-104775"/>
              <a:ext cx="6227755" cy="9131612"/>
            </a:xfrm>
            <a:prstGeom prst="rect">
              <a:avLst/>
            </a:prstGeom>
          </p:spPr>
          <p:txBody>
            <a:bodyPr anchor="ctr" rtlCol="false" tIns="0" lIns="0" bIns="0" rIns="0"/>
            <a:lstStyle/>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Mesure l’impureté : plus le Gini est proche de 0, plus le nœud est pur (une seule classe dominante).</a:t>
              </a:r>
            </a:p>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Maximum = 1−1/K quand toutes les classes sont équilibrées.</a:t>
              </a:r>
            </a:p>
            <a:p>
              <a:pPr algn="l">
                <a:lnSpc>
                  <a:spcPts val="4059"/>
                </a:lnSpc>
              </a:pPr>
              <a:r>
                <a:rPr lang="en-US" sz="2899" b="true">
                  <a:solidFill>
                    <a:srgbClr val="97BC62"/>
                  </a:solidFill>
                  <a:latin typeface="Calibri (MS) Bold"/>
                  <a:ea typeface="Calibri (MS) Bold"/>
                  <a:cs typeface="Calibri (MS) Bold"/>
                  <a:sym typeface="Calibri (MS) Bold"/>
                </a:rPr>
                <a:t> Choix du meilleur split</a:t>
              </a:r>
            </a:p>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Pour choisir le meilleur split, on calcule le </a:t>
              </a:r>
              <a:r>
                <a:rPr lang="en-US" b="true" sz="2699">
                  <a:solidFill>
                    <a:srgbClr val="FFFFFF"/>
                  </a:solidFill>
                  <a:latin typeface="Calibri (MS) Bold"/>
                  <a:ea typeface="Calibri (MS) Bold"/>
                  <a:cs typeface="Calibri (MS) Bold"/>
                  <a:sym typeface="Calibri (MS) Bold"/>
                </a:rPr>
                <a:t>Gini moyen pondéré</a:t>
              </a:r>
              <a:r>
                <a:rPr lang="en-US" sz="2699">
                  <a:solidFill>
                    <a:srgbClr val="FFFFFF"/>
                  </a:solidFill>
                  <a:latin typeface="Calibri (MS)"/>
                  <a:ea typeface="Calibri (MS)"/>
                  <a:cs typeface="Calibri (MS)"/>
                  <a:sym typeface="Calibri (MS)"/>
                </a:rPr>
                <a:t> des enfants.</a:t>
              </a:r>
            </a:p>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On minimise cette valeur.</a:t>
              </a:r>
            </a:p>
            <a:p>
              <a:pPr algn="l">
                <a:lnSpc>
                  <a:spcPts val="3779"/>
                </a:lnSpc>
              </a:pPr>
            </a:p>
            <a:p>
              <a:pPr algn="l">
                <a:lnSpc>
                  <a:spcPts val="3779"/>
                </a:lnSpc>
              </a:pPr>
            </a:p>
          </p:txBody>
        </p:sp>
      </p:grpSp>
      <p:grpSp>
        <p:nvGrpSpPr>
          <p:cNvPr name="Group 11" id="11"/>
          <p:cNvGrpSpPr/>
          <p:nvPr/>
        </p:nvGrpSpPr>
        <p:grpSpPr>
          <a:xfrm rot="0">
            <a:off x="-12697" y="-12697"/>
            <a:ext cx="18313403" cy="1671323"/>
            <a:chOff x="0" y="0"/>
            <a:chExt cx="24417871" cy="2228431"/>
          </a:xfrm>
        </p:grpSpPr>
        <p:sp>
          <p:nvSpPr>
            <p:cNvPr name="Freeform 12" id="12"/>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13" id="13"/>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14" id="14"/>
          <p:cNvGrpSpPr/>
          <p:nvPr/>
        </p:nvGrpSpPr>
        <p:grpSpPr>
          <a:xfrm rot="0">
            <a:off x="548640" y="0"/>
            <a:ext cx="17190720" cy="1645920"/>
            <a:chOff x="0" y="0"/>
            <a:chExt cx="22920960" cy="2194560"/>
          </a:xfrm>
        </p:grpSpPr>
        <p:sp>
          <p:nvSpPr>
            <p:cNvPr name="Freeform 15" id="15"/>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16" id="16"/>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CART - Classification </a:t>
              </a:r>
            </a:p>
          </p:txBody>
        </p:sp>
      </p:grpSp>
      <p:sp>
        <p:nvSpPr>
          <p:cNvPr name="Freeform 17" id="17"/>
          <p:cNvSpPr/>
          <p:nvPr/>
        </p:nvSpPr>
        <p:spPr>
          <a:xfrm flipH="false" flipV="false" rot="0">
            <a:off x="6050796" y="3578283"/>
            <a:ext cx="4588227" cy="1565217"/>
          </a:xfrm>
          <a:custGeom>
            <a:avLst/>
            <a:gdLst/>
            <a:ahLst/>
            <a:cxnLst/>
            <a:rect r="r" b="b" t="t" l="l"/>
            <a:pathLst>
              <a:path h="1565217" w="4588227">
                <a:moveTo>
                  <a:pt x="0" y="0"/>
                </a:moveTo>
                <a:lnTo>
                  <a:pt x="4588227" y="0"/>
                </a:lnTo>
                <a:lnTo>
                  <a:pt x="4588227" y="1565217"/>
                </a:lnTo>
                <a:lnTo>
                  <a:pt x="0" y="1565217"/>
                </a:lnTo>
                <a:lnTo>
                  <a:pt x="0" y="0"/>
                </a:lnTo>
                <a:close/>
              </a:path>
            </a:pathLst>
          </a:custGeom>
          <a:blipFill>
            <a:blip r:embed="rId4"/>
            <a:stretch>
              <a:fillRect l="-4538" t="0" r="0" b="-21021"/>
            </a:stretch>
          </a:blipFill>
        </p:spPr>
      </p:sp>
      <p:sp>
        <p:nvSpPr>
          <p:cNvPr name="Freeform 18" id="18"/>
          <p:cNvSpPr/>
          <p:nvPr/>
        </p:nvSpPr>
        <p:spPr>
          <a:xfrm flipH="false" flipV="false" rot="0">
            <a:off x="6479386" y="6591318"/>
            <a:ext cx="10610783" cy="1682845"/>
          </a:xfrm>
          <a:custGeom>
            <a:avLst/>
            <a:gdLst/>
            <a:ahLst/>
            <a:cxnLst/>
            <a:rect r="r" b="b" t="t" l="l"/>
            <a:pathLst>
              <a:path h="1682845" w="10610783">
                <a:moveTo>
                  <a:pt x="0" y="0"/>
                </a:moveTo>
                <a:lnTo>
                  <a:pt x="10610783" y="0"/>
                </a:lnTo>
                <a:lnTo>
                  <a:pt x="10610783" y="1682845"/>
                </a:lnTo>
                <a:lnTo>
                  <a:pt x="0" y="1682845"/>
                </a:lnTo>
                <a:lnTo>
                  <a:pt x="0" y="0"/>
                </a:lnTo>
                <a:close/>
              </a:path>
            </a:pathLst>
          </a:custGeom>
          <a:blipFill>
            <a:blip r:embed="rId5"/>
            <a:stretch>
              <a:fillRect l="0" t="0" r="0" b="0"/>
            </a:stretch>
          </a:blipFill>
        </p:spPr>
      </p:sp>
      <p:sp>
        <p:nvSpPr>
          <p:cNvPr name="TextBox 19" id="19"/>
          <p:cNvSpPr txBox="true"/>
          <p:nvPr/>
        </p:nvSpPr>
        <p:spPr>
          <a:xfrm rot="0">
            <a:off x="4136169" y="2924582"/>
            <a:ext cx="9171244"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F</a:t>
            </a:r>
            <a:r>
              <a:rPr lang="en-US" b="true" sz="3999">
                <a:solidFill>
                  <a:srgbClr val="000000"/>
                </a:solidFill>
                <a:latin typeface="Open Sans Bold"/>
                <a:ea typeface="Open Sans Bold"/>
                <a:cs typeface="Open Sans Bold"/>
                <a:sym typeface="Open Sans Bold"/>
              </a:rPr>
              <a:t>ormule pour un nœud :</a:t>
            </a:r>
          </a:p>
        </p:txBody>
      </p:sp>
      <p:sp>
        <p:nvSpPr>
          <p:cNvPr name="TextBox 20" id="20"/>
          <p:cNvSpPr txBox="true"/>
          <p:nvPr/>
        </p:nvSpPr>
        <p:spPr>
          <a:xfrm rot="0">
            <a:off x="11038569" y="3902605"/>
            <a:ext cx="6482908" cy="1234439"/>
          </a:xfrm>
          <a:prstGeom prst="rect">
            <a:avLst/>
          </a:prstGeom>
        </p:spPr>
        <p:txBody>
          <a:bodyPr anchor="t" rtlCol="false" tIns="0" lIns="0" bIns="0" rIns="0">
            <a:spAutoFit/>
          </a:bodyPr>
          <a:lstStyle/>
          <a:p>
            <a:pPr algn="l" marL="518165" indent="-259082" lvl="1">
              <a:lnSpc>
                <a:spcPts val="3360"/>
              </a:lnSpc>
              <a:buFont typeface="Arial"/>
              <a:buChar char="•"/>
            </a:pPr>
            <a:r>
              <a:rPr lang="en-US" sz="2400">
                <a:solidFill>
                  <a:srgbClr val="000000"/>
                </a:solidFill>
                <a:latin typeface="Open Sans"/>
                <a:ea typeface="Open Sans"/>
                <a:cs typeface="Open Sans"/>
                <a:sym typeface="Open Sans"/>
              </a:rPr>
              <a:t>K = n</a:t>
            </a:r>
            <a:r>
              <a:rPr lang="en-US" sz="2400">
                <a:solidFill>
                  <a:srgbClr val="000000"/>
                </a:solidFill>
                <a:latin typeface="Open Sans"/>
                <a:ea typeface="Open Sans"/>
                <a:cs typeface="Open Sans"/>
                <a:sym typeface="Open Sans"/>
              </a:rPr>
              <a:t>ombre de classes</a:t>
            </a:r>
          </a:p>
          <a:p>
            <a:pPr algn="l" marL="518165" indent="-259082" lvl="1">
              <a:lnSpc>
                <a:spcPts val="3360"/>
              </a:lnSpc>
              <a:buFont typeface="Arial"/>
              <a:buChar char="•"/>
            </a:pPr>
            <a:r>
              <a:rPr lang="en-US" sz="2400">
                <a:solidFill>
                  <a:srgbClr val="000000"/>
                </a:solidFill>
                <a:latin typeface="Open Sans"/>
                <a:ea typeface="Open Sans"/>
                <a:cs typeface="Open Sans"/>
                <a:sym typeface="Open Sans"/>
              </a:rPr>
              <a:t>Pk= proportion d’exemples de la classe k </a:t>
            </a:r>
          </a:p>
          <a:p>
            <a:pPr algn="l">
              <a:lnSpc>
                <a:spcPts val="3360"/>
              </a:lnSpc>
            </a:pPr>
            <a:r>
              <a:rPr lang="en-US" sz="2400">
                <a:solidFill>
                  <a:srgbClr val="000000"/>
                </a:solidFill>
                <a:latin typeface="Open Sans"/>
                <a:ea typeface="Open Sans"/>
                <a:cs typeface="Open Sans"/>
                <a:sym typeface="Open Sans"/>
              </a:rPr>
              <a:t>dans le nœud</a:t>
            </a:r>
          </a:p>
        </p:txBody>
      </p:sp>
      <p:sp>
        <p:nvSpPr>
          <p:cNvPr name="TextBox 21" id="21"/>
          <p:cNvSpPr txBox="true"/>
          <p:nvPr/>
        </p:nvSpPr>
        <p:spPr>
          <a:xfrm rot="0">
            <a:off x="4905042" y="5397518"/>
            <a:ext cx="6879736"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 Gini </a:t>
            </a:r>
            <a:r>
              <a:rPr lang="en-US" b="true" sz="3999">
                <a:solidFill>
                  <a:srgbClr val="000000"/>
                </a:solidFill>
                <a:latin typeface="Open Sans Bold"/>
                <a:ea typeface="Open Sans Bold"/>
                <a:cs typeface="Open Sans Bold"/>
                <a:sym typeface="Open Sans Bold"/>
              </a:rPr>
              <a:t>moyen pondéré:</a:t>
            </a:r>
          </a:p>
        </p:txBody>
      </p:sp>
      <p:sp>
        <p:nvSpPr>
          <p:cNvPr name="TextBox 22" id="22"/>
          <p:cNvSpPr txBox="true"/>
          <p:nvPr/>
        </p:nvSpPr>
        <p:spPr>
          <a:xfrm rot="0">
            <a:off x="7155421" y="8360642"/>
            <a:ext cx="7849636" cy="464820"/>
          </a:xfrm>
          <a:prstGeom prst="rect">
            <a:avLst/>
          </a:prstGeom>
        </p:spPr>
        <p:txBody>
          <a:bodyPr anchor="t" rtlCol="false" tIns="0" lIns="0" bIns="0" rIns="0">
            <a:spAutoFit/>
          </a:bodyPr>
          <a:lstStyle/>
          <a:p>
            <a:pPr algn="l">
              <a:lnSpc>
                <a:spcPts val="3780"/>
              </a:lnSpc>
            </a:pPr>
            <a:r>
              <a:rPr lang="en-US" sz="2700" b="true">
                <a:solidFill>
                  <a:srgbClr val="97BC62"/>
                </a:solidFill>
                <a:latin typeface="Open Sans Bold"/>
                <a:ea typeface="Open Sans Bold"/>
                <a:cs typeface="Open Sans Bold"/>
                <a:sym typeface="Open Sans Bold"/>
              </a:rPr>
              <a:t>→  0 = nœu</a:t>
            </a:r>
            <a:r>
              <a:rPr lang="en-US" sz="2700" b="true">
                <a:solidFill>
                  <a:srgbClr val="97BC62"/>
                </a:solidFill>
                <a:latin typeface="Open Sans Bold"/>
                <a:ea typeface="Open Sans Bold"/>
                <a:cs typeface="Open Sans Bold"/>
                <a:sym typeface="Open Sans Bold"/>
              </a:rPr>
              <a:t>d pur  ,  0.5 = mélange équilibré</a:t>
            </a:r>
          </a:p>
        </p:txBody>
      </p:sp>
      <p:sp>
        <p:nvSpPr>
          <p:cNvPr name="TextBox 23" id="23"/>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2053" y="2230926"/>
            <a:ext cx="4770266" cy="7328999"/>
            <a:chOff x="0" y="0"/>
            <a:chExt cx="6360355" cy="9771999"/>
          </a:xfrm>
        </p:grpSpPr>
        <p:sp>
          <p:nvSpPr>
            <p:cNvPr name="Freeform 3" id="3"/>
            <p:cNvSpPr/>
            <p:nvPr/>
          </p:nvSpPr>
          <p:spPr>
            <a:xfrm flipH="false" flipV="false" rot="0">
              <a:off x="17526" y="32022"/>
              <a:ext cx="6325210" cy="9707786"/>
            </a:xfrm>
            <a:custGeom>
              <a:avLst/>
              <a:gdLst/>
              <a:ahLst/>
              <a:cxnLst/>
              <a:rect r="r" b="b" t="t" l="l"/>
              <a:pathLst>
                <a:path h="9707786" w="6325210">
                  <a:moveTo>
                    <a:pt x="0" y="0"/>
                  </a:moveTo>
                  <a:lnTo>
                    <a:pt x="6325210" y="0"/>
                  </a:lnTo>
                  <a:lnTo>
                    <a:pt x="6325210" y="9707786"/>
                  </a:lnTo>
                  <a:lnTo>
                    <a:pt x="0" y="9707786"/>
                  </a:lnTo>
                  <a:close/>
                </a:path>
              </a:pathLst>
            </a:custGeom>
            <a:solidFill>
              <a:srgbClr val="1E3A1E"/>
            </a:solidFill>
          </p:spPr>
        </p:sp>
        <p:sp>
          <p:nvSpPr>
            <p:cNvPr name="Freeform 4" id="4"/>
            <p:cNvSpPr/>
            <p:nvPr/>
          </p:nvSpPr>
          <p:spPr>
            <a:xfrm flipH="false" flipV="false" rot="0">
              <a:off x="0" y="0"/>
              <a:ext cx="6360262" cy="9771831"/>
            </a:xfrm>
            <a:custGeom>
              <a:avLst/>
              <a:gdLst/>
              <a:ahLst/>
              <a:cxnLst/>
              <a:rect r="r" b="b" t="t" l="l"/>
              <a:pathLst>
                <a:path h="9771831" w="6360262">
                  <a:moveTo>
                    <a:pt x="17526" y="0"/>
                  </a:moveTo>
                  <a:lnTo>
                    <a:pt x="6342736" y="0"/>
                  </a:lnTo>
                  <a:cubicBezTo>
                    <a:pt x="6352488" y="0"/>
                    <a:pt x="6360262" y="14446"/>
                    <a:pt x="6360262" y="32022"/>
                  </a:cubicBezTo>
                  <a:lnTo>
                    <a:pt x="6360262" y="9739808"/>
                  </a:lnTo>
                  <a:cubicBezTo>
                    <a:pt x="6360262" y="9757625"/>
                    <a:pt x="6352356" y="9771831"/>
                    <a:pt x="6342736" y="9771831"/>
                  </a:cubicBezTo>
                  <a:lnTo>
                    <a:pt x="17526" y="9771831"/>
                  </a:lnTo>
                  <a:cubicBezTo>
                    <a:pt x="7775" y="9771831"/>
                    <a:pt x="0" y="9757384"/>
                    <a:pt x="0" y="9739808"/>
                  </a:cubicBezTo>
                  <a:lnTo>
                    <a:pt x="0" y="32022"/>
                  </a:lnTo>
                  <a:cubicBezTo>
                    <a:pt x="0" y="14446"/>
                    <a:pt x="7907" y="0"/>
                    <a:pt x="17526" y="0"/>
                  </a:cubicBezTo>
                  <a:moveTo>
                    <a:pt x="17526" y="64285"/>
                  </a:moveTo>
                  <a:lnTo>
                    <a:pt x="17526" y="32022"/>
                  </a:lnTo>
                  <a:lnTo>
                    <a:pt x="35184" y="32022"/>
                  </a:lnTo>
                  <a:lnTo>
                    <a:pt x="35184" y="9739808"/>
                  </a:lnTo>
                  <a:lnTo>
                    <a:pt x="17526" y="9739808"/>
                  </a:lnTo>
                  <a:lnTo>
                    <a:pt x="17526" y="9707787"/>
                  </a:lnTo>
                  <a:lnTo>
                    <a:pt x="6342736" y="9707787"/>
                  </a:lnTo>
                  <a:lnTo>
                    <a:pt x="6342736" y="9739808"/>
                  </a:lnTo>
                  <a:lnTo>
                    <a:pt x="6325210" y="9739808"/>
                  </a:lnTo>
                  <a:lnTo>
                    <a:pt x="6325210" y="32022"/>
                  </a:lnTo>
                  <a:lnTo>
                    <a:pt x="6342736" y="32022"/>
                  </a:lnTo>
                  <a:lnTo>
                    <a:pt x="6342736" y="64285"/>
                  </a:lnTo>
                  <a:lnTo>
                    <a:pt x="17526" y="64285"/>
                  </a:lnTo>
                  <a:close/>
                </a:path>
              </a:pathLst>
            </a:custGeom>
            <a:solidFill>
              <a:srgbClr val="5B9E3D"/>
            </a:solidFill>
          </p:spPr>
        </p:sp>
      </p:grpSp>
      <p:grpSp>
        <p:nvGrpSpPr>
          <p:cNvPr name="Group 5" id="5"/>
          <p:cNvGrpSpPr/>
          <p:nvPr/>
        </p:nvGrpSpPr>
        <p:grpSpPr>
          <a:xfrm rot="0">
            <a:off x="830285" y="2230926"/>
            <a:ext cx="4201220" cy="921956"/>
            <a:chOff x="0" y="0"/>
            <a:chExt cx="5601626" cy="1229274"/>
          </a:xfrm>
        </p:grpSpPr>
        <p:sp>
          <p:nvSpPr>
            <p:cNvPr name="Freeform 6" id="6"/>
            <p:cNvSpPr/>
            <p:nvPr/>
          </p:nvSpPr>
          <p:spPr>
            <a:xfrm flipH="false" flipV="false" rot="0">
              <a:off x="0" y="0"/>
              <a:ext cx="5601626" cy="1229274"/>
            </a:xfrm>
            <a:custGeom>
              <a:avLst/>
              <a:gdLst/>
              <a:ahLst/>
              <a:cxnLst/>
              <a:rect r="r" b="b" t="t" l="l"/>
              <a:pathLst>
                <a:path h="1229274" w="5601626">
                  <a:moveTo>
                    <a:pt x="0" y="0"/>
                  </a:moveTo>
                  <a:lnTo>
                    <a:pt x="5601626" y="0"/>
                  </a:lnTo>
                  <a:lnTo>
                    <a:pt x="5601626" y="1229274"/>
                  </a:lnTo>
                  <a:lnTo>
                    <a:pt x="0" y="1229274"/>
                  </a:lnTo>
                  <a:close/>
                </a:path>
              </a:pathLst>
            </a:custGeom>
            <a:blipFill>
              <a:blip r:embed="rId3">
                <a:alphaModFix amt="0"/>
              </a:blip>
              <a:stretch>
                <a:fillRect l="0" t="-15277" r="32528" b="-4539"/>
              </a:stretch>
            </a:blipFill>
          </p:spPr>
        </p:sp>
        <p:sp>
          <p:nvSpPr>
            <p:cNvPr name="TextBox 7" id="7"/>
            <p:cNvSpPr txBox="true"/>
            <p:nvPr/>
          </p:nvSpPr>
          <p:spPr>
            <a:xfrm>
              <a:off x="0" y="-76200"/>
              <a:ext cx="5601626" cy="1305474"/>
            </a:xfrm>
            <a:prstGeom prst="rect">
              <a:avLst/>
            </a:prstGeom>
          </p:spPr>
          <p:txBody>
            <a:bodyPr anchor="ctr" rtlCol="false" tIns="0" lIns="0" bIns="0" rIns="0"/>
            <a:lstStyle/>
            <a:p>
              <a:pPr algn="l">
                <a:lnSpc>
                  <a:spcPts val="3839"/>
                </a:lnSpc>
              </a:pPr>
              <a:r>
                <a:rPr lang="en-US" sz="3199" b="true">
                  <a:solidFill>
                    <a:srgbClr val="97BC62"/>
                  </a:solidFill>
                  <a:latin typeface="Calibri (MS) Bold"/>
                  <a:ea typeface="Calibri (MS) Bold"/>
                  <a:cs typeface="Calibri (MS) Bold"/>
                  <a:sym typeface="Calibri (MS) Bold"/>
                </a:rPr>
                <a:t>CART→ MSE</a:t>
              </a:r>
            </a:p>
          </p:txBody>
        </p:sp>
      </p:grpSp>
      <p:grpSp>
        <p:nvGrpSpPr>
          <p:cNvPr name="Group 8" id="8"/>
          <p:cNvGrpSpPr/>
          <p:nvPr/>
        </p:nvGrpSpPr>
        <p:grpSpPr>
          <a:xfrm rot="0">
            <a:off x="548640" y="3104918"/>
            <a:ext cx="4670817" cy="6770128"/>
            <a:chOff x="0" y="0"/>
            <a:chExt cx="6227755" cy="9026837"/>
          </a:xfrm>
        </p:grpSpPr>
        <p:sp>
          <p:nvSpPr>
            <p:cNvPr name="Freeform 9" id="9"/>
            <p:cNvSpPr/>
            <p:nvPr/>
          </p:nvSpPr>
          <p:spPr>
            <a:xfrm flipH="false" flipV="false" rot="0">
              <a:off x="0" y="0"/>
              <a:ext cx="6227756" cy="9026837"/>
            </a:xfrm>
            <a:custGeom>
              <a:avLst/>
              <a:gdLst/>
              <a:ahLst/>
              <a:cxnLst/>
              <a:rect r="r" b="b" t="t" l="l"/>
              <a:pathLst>
                <a:path h="9026837" w="6227756">
                  <a:moveTo>
                    <a:pt x="0" y="0"/>
                  </a:moveTo>
                  <a:lnTo>
                    <a:pt x="6227756" y="0"/>
                  </a:lnTo>
                  <a:lnTo>
                    <a:pt x="6227756" y="9026837"/>
                  </a:lnTo>
                  <a:lnTo>
                    <a:pt x="0" y="9026837"/>
                  </a:lnTo>
                  <a:close/>
                </a:path>
              </a:pathLst>
            </a:custGeom>
            <a:blipFill>
              <a:blip r:embed="rId3">
                <a:alphaModFix amt="0"/>
              </a:blip>
              <a:stretch>
                <a:fillRect l="-20279" t="0" r="-10333" b="64883"/>
              </a:stretch>
            </a:blipFill>
          </p:spPr>
        </p:sp>
        <p:sp>
          <p:nvSpPr>
            <p:cNvPr name="TextBox 10" id="10"/>
            <p:cNvSpPr txBox="true"/>
            <p:nvPr/>
          </p:nvSpPr>
          <p:spPr>
            <a:xfrm>
              <a:off x="0" y="-104775"/>
              <a:ext cx="6227755" cy="9131612"/>
            </a:xfrm>
            <a:prstGeom prst="rect">
              <a:avLst/>
            </a:prstGeom>
          </p:spPr>
          <p:txBody>
            <a:bodyPr anchor="ctr" rtlCol="false" tIns="0" lIns="0" bIns="0" rIns="0"/>
            <a:lstStyle/>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Mesure l’impureté : plus le MSE est proche de 0, plus le nœud est homogène (les valeurs sont proches de leur moyenne).</a:t>
              </a:r>
            </a:p>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Le MSE augmente lorsque les valeurs sont dispersées</a:t>
              </a:r>
            </a:p>
            <a:p>
              <a:pPr algn="l">
                <a:lnSpc>
                  <a:spcPts val="4059"/>
                </a:lnSpc>
              </a:pPr>
              <a:r>
                <a:rPr lang="en-US" sz="2899" b="true">
                  <a:solidFill>
                    <a:srgbClr val="97BC62"/>
                  </a:solidFill>
                  <a:latin typeface="Calibri (MS) Bold"/>
                  <a:ea typeface="Calibri (MS) Bold"/>
                  <a:cs typeface="Calibri (MS) Bold"/>
                  <a:sym typeface="Calibri (MS) Bold"/>
                </a:rPr>
                <a:t>   Choix du meilleur split</a:t>
              </a:r>
            </a:p>
            <a:p>
              <a:pPr algn="l" marL="582928" indent="-291464" lvl="1">
                <a:lnSpc>
                  <a:spcPts val="3779"/>
                </a:lnSpc>
                <a:buFont typeface="Arial"/>
                <a:buChar char="•"/>
              </a:pPr>
              <a:r>
                <a:rPr lang="en-US" sz="2699">
                  <a:solidFill>
                    <a:srgbClr val="FFFFFF"/>
                  </a:solidFill>
                  <a:latin typeface="Calibri (MS)"/>
                  <a:ea typeface="Calibri (MS)"/>
                  <a:cs typeface="Calibri (MS)"/>
                  <a:sym typeface="Calibri (MS)"/>
                </a:rPr>
                <a:t>Dans un arbre de régression, on choisit le split qui minimise l’erreur totale après division</a:t>
              </a:r>
              <a:r>
                <a:rPr lang="en-US" sz="2699">
                  <a:solidFill>
                    <a:srgbClr val="FFFFFF"/>
                  </a:solidFill>
                  <a:latin typeface="Calibri (MS)"/>
                  <a:ea typeface="Calibri (MS)"/>
                  <a:cs typeface="Calibri (MS)"/>
                  <a:sym typeface="Calibri (MS)"/>
                </a:rPr>
                <a:t>.</a:t>
              </a:r>
            </a:p>
            <a:p>
              <a:pPr algn="l">
                <a:lnSpc>
                  <a:spcPts val="3779"/>
                </a:lnSpc>
              </a:pPr>
            </a:p>
            <a:p>
              <a:pPr algn="l">
                <a:lnSpc>
                  <a:spcPts val="3779"/>
                </a:lnSpc>
              </a:pPr>
            </a:p>
          </p:txBody>
        </p:sp>
      </p:grpSp>
      <p:grpSp>
        <p:nvGrpSpPr>
          <p:cNvPr name="Group 11" id="11"/>
          <p:cNvGrpSpPr/>
          <p:nvPr/>
        </p:nvGrpSpPr>
        <p:grpSpPr>
          <a:xfrm rot="0">
            <a:off x="-12697" y="-12697"/>
            <a:ext cx="18313403" cy="1671323"/>
            <a:chOff x="0" y="0"/>
            <a:chExt cx="24417871" cy="2228431"/>
          </a:xfrm>
        </p:grpSpPr>
        <p:sp>
          <p:nvSpPr>
            <p:cNvPr name="Freeform 12" id="12"/>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13" id="13"/>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14" id="14"/>
          <p:cNvGrpSpPr/>
          <p:nvPr/>
        </p:nvGrpSpPr>
        <p:grpSpPr>
          <a:xfrm rot="0">
            <a:off x="548640" y="0"/>
            <a:ext cx="17190720" cy="1645920"/>
            <a:chOff x="0" y="0"/>
            <a:chExt cx="22920960" cy="2194560"/>
          </a:xfrm>
        </p:grpSpPr>
        <p:sp>
          <p:nvSpPr>
            <p:cNvPr name="Freeform 15" id="15"/>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16" id="16"/>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CART - Régression </a:t>
              </a:r>
            </a:p>
          </p:txBody>
        </p:sp>
      </p:grpSp>
      <p:sp>
        <p:nvSpPr>
          <p:cNvPr name="Freeform 17" id="17"/>
          <p:cNvSpPr/>
          <p:nvPr/>
        </p:nvSpPr>
        <p:spPr>
          <a:xfrm flipH="false" flipV="false" rot="0">
            <a:off x="5885852" y="4342904"/>
            <a:ext cx="5153071" cy="1039514"/>
          </a:xfrm>
          <a:custGeom>
            <a:avLst/>
            <a:gdLst/>
            <a:ahLst/>
            <a:cxnLst/>
            <a:rect r="r" b="b" t="t" l="l"/>
            <a:pathLst>
              <a:path h="1039514" w="5153071">
                <a:moveTo>
                  <a:pt x="0" y="0"/>
                </a:moveTo>
                <a:lnTo>
                  <a:pt x="5153071" y="0"/>
                </a:lnTo>
                <a:lnTo>
                  <a:pt x="5153071" y="1039514"/>
                </a:lnTo>
                <a:lnTo>
                  <a:pt x="0" y="1039514"/>
                </a:lnTo>
                <a:lnTo>
                  <a:pt x="0" y="0"/>
                </a:lnTo>
                <a:close/>
              </a:path>
            </a:pathLst>
          </a:custGeom>
          <a:blipFill>
            <a:blip r:embed="rId4"/>
            <a:stretch>
              <a:fillRect l="-12020" t="0" r="-9015" b="0"/>
            </a:stretch>
          </a:blipFill>
        </p:spPr>
      </p:sp>
      <p:sp>
        <p:nvSpPr>
          <p:cNvPr name="Freeform 18" id="18"/>
          <p:cNvSpPr/>
          <p:nvPr/>
        </p:nvSpPr>
        <p:spPr>
          <a:xfrm flipH="false" flipV="false" rot="0">
            <a:off x="11705673" y="4241568"/>
            <a:ext cx="6380332" cy="1803864"/>
          </a:xfrm>
          <a:custGeom>
            <a:avLst/>
            <a:gdLst/>
            <a:ahLst/>
            <a:cxnLst/>
            <a:rect r="r" b="b" t="t" l="l"/>
            <a:pathLst>
              <a:path h="1803864" w="6380332">
                <a:moveTo>
                  <a:pt x="0" y="0"/>
                </a:moveTo>
                <a:lnTo>
                  <a:pt x="6380332" y="0"/>
                </a:lnTo>
                <a:lnTo>
                  <a:pt x="6380332" y="1803864"/>
                </a:lnTo>
                <a:lnTo>
                  <a:pt x="0" y="1803864"/>
                </a:lnTo>
                <a:lnTo>
                  <a:pt x="0" y="0"/>
                </a:lnTo>
                <a:close/>
              </a:path>
            </a:pathLst>
          </a:custGeom>
          <a:blipFill>
            <a:blip r:embed="rId5"/>
            <a:stretch>
              <a:fillRect l="0" t="0" r="0" b="0"/>
            </a:stretch>
          </a:blipFill>
        </p:spPr>
      </p:sp>
      <p:sp>
        <p:nvSpPr>
          <p:cNvPr name="Freeform 19" id="19"/>
          <p:cNvSpPr/>
          <p:nvPr/>
        </p:nvSpPr>
        <p:spPr>
          <a:xfrm flipH="false" flipV="false" rot="0">
            <a:off x="5601869" y="7051664"/>
            <a:ext cx="7084271" cy="1368552"/>
          </a:xfrm>
          <a:custGeom>
            <a:avLst/>
            <a:gdLst/>
            <a:ahLst/>
            <a:cxnLst/>
            <a:rect r="r" b="b" t="t" l="l"/>
            <a:pathLst>
              <a:path h="1368552" w="7084271">
                <a:moveTo>
                  <a:pt x="0" y="0"/>
                </a:moveTo>
                <a:lnTo>
                  <a:pt x="7084271" y="0"/>
                </a:lnTo>
                <a:lnTo>
                  <a:pt x="7084271" y="1368552"/>
                </a:lnTo>
                <a:lnTo>
                  <a:pt x="0" y="1368552"/>
                </a:lnTo>
                <a:lnTo>
                  <a:pt x="0" y="0"/>
                </a:lnTo>
                <a:close/>
              </a:path>
            </a:pathLst>
          </a:custGeom>
          <a:blipFill>
            <a:blip r:embed="rId6"/>
            <a:stretch>
              <a:fillRect l="0" t="0" r="0" b="0"/>
            </a:stretch>
          </a:blipFill>
        </p:spPr>
      </p:sp>
      <p:sp>
        <p:nvSpPr>
          <p:cNvPr name="Freeform 20" id="20"/>
          <p:cNvSpPr/>
          <p:nvPr/>
        </p:nvSpPr>
        <p:spPr>
          <a:xfrm flipH="false" flipV="false" rot="0">
            <a:off x="12895814" y="6576129"/>
            <a:ext cx="4818934" cy="2319622"/>
          </a:xfrm>
          <a:custGeom>
            <a:avLst/>
            <a:gdLst/>
            <a:ahLst/>
            <a:cxnLst/>
            <a:rect r="r" b="b" t="t" l="l"/>
            <a:pathLst>
              <a:path h="2319622" w="4818934">
                <a:moveTo>
                  <a:pt x="0" y="0"/>
                </a:moveTo>
                <a:lnTo>
                  <a:pt x="4818934" y="0"/>
                </a:lnTo>
                <a:lnTo>
                  <a:pt x="4818934" y="2319622"/>
                </a:lnTo>
                <a:lnTo>
                  <a:pt x="0" y="2319622"/>
                </a:lnTo>
                <a:lnTo>
                  <a:pt x="0" y="0"/>
                </a:lnTo>
                <a:close/>
              </a:path>
            </a:pathLst>
          </a:custGeom>
          <a:blipFill>
            <a:blip r:embed="rId7"/>
            <a:stretch>
              <a:fillRect l="0" t="0" r="0" b="0"/>
            </a:stretch>
          </a:blipFill>
        </p:spPr>
      </p:sp>
      <p:sp>
        <p:nvSpPr>
          <p:cNvPr name="TextBox 21" id="21"/>
          <p:cNvSpPr txBox="true"/>
          <p:nvPr/>
        </p:nvSpPr>
        <p:spPr>
          <a:xfrm rot="0">
            <a:off x="5219457" y="3028718"/>
            <a:ext cx="10759316"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Formule du MSE (Mean Squared Error):</a:t>
            </a:r>
          </a:p>
        </p:txBody>
      </p:sp>
      <p:sp>
        <p:nvSpPr>
          <p:cNvPr name="TextBox 22" id="22"/>
          <p:cNvSpPr txBox="true"/>
          <p:nvPr/>
        </p:nvSpPr>
        <p:spPr>
          <a:xfrm rot="0">
            <a:off x="4705938" y="6198304"/>
            <a:ext cx="6800276"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Critère d</a:t>
            </a:r>
            <a:r>
              <a:rPr lang="en-US" b="true" sz="3999">
                <a:solidFill>
                  <a:srgbClr val="000000"/>
                </a:solidFill>
                <a:latin typeface="Open Sans Bold"/>
                <a:ea typeface="Open Sans Bold"/>
                <a:cs typeface="Open Sans Bold"/>
                <a:sym typeface="Open Sans Bold"/>
              </a:rPr>
              <a:t>e division:</a:t>
            </a:r>
          </a:p>
        </p:txBody>
      </p:sp>
      <p:sp>
        <p:nvSpPr>
          <p:cNvPr name="TextBox 23" id="23"/>
          <p:cNvSpPr txBox="true"/>
          <p:nvPr/>
        </p:nvSpPr>
        <p:spPr>
          <a:xfrm rot="0">
            <a:off x="17798937"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548640" y="3667371"/>
            <a:ext cx="16887150" cy="4669934"/>
            <a:chOff x="0" y="0"/>
            <a:chExt cx="22516200" cy="6226578"/>
          </a:xfrm>
        </p:grpSpPr>
        <p:sp>
          <p:nvSpPr>
            <p:cNvPr name="Freeform 3" id="3"/>
            <p:cNvSpPr/>
            <p:nvPr/>
          </p:nvSpPr>
          <p:spPr>
            <a:xfrm flipH="false" flipV="false" rot="0">
              <a:off x="26153" y="9998"/>
              <a:ext cx="22463757" cy="6206529"/>
            </a:xfrm>
            <a:custGeom>
              <a:avLst/>
              <a:gdLst/>
              <a:ahLst/>
              <a:cxnLst/>
              <a:rect r="r" b="b" t="t" l="l"/>
              <a:pathLst>
                <a:path h="6206529" w="22463757">
                  <a:moveTo>
                    <a:pt x="0" y="0"/>
                  </a:moveTo>
                  <a:lnTo>
                    <a:pt x="22463756" y="0"/>
                  </a:lnTo>
                  <a:lnTo>
                    <a:pt x="22463756" y="6206529"/>
                  </a:lnTo>
                  <a:lnTo>
                    <a:pt x="0" y="6206529"/>
                  </a:lnTo>
                  <a:close/>
                </a:path>
              </a:pathLst>
            </a:custGeom>
            <a:solidFill>
              <a:srgbClr val="FFFFFF"/>
            </a:solidFill>
          </p:spPr>
        </p:sp>
        <p:sp>
          <p:nvSpPr>
            <p:cNvPr name="Freeform 4" id="4"/>
            <p:cNvSpPr/>
            <p:nvPr/>
          </p:nvSpPr>
          <p:spPr>
            <a:xfrm flipH="false" flipV="false" rot="0">
              <a:off x="0" y="0"/>
              <a:ext cx="22516064" cy="6226525"/>
            </a:xfrm>
            <a:custGeom>
              <a:avLst/>
              <a:gdLst/>
              <a:ahLst/>
              <a:cxnLst/>
              <a:rect r="r" b="b" t="t" l="l"/>
              <a:pathLst>
                <a:path h="6226525" w="22516064">
                  <a:moveTo>
                    <a:pt x="26153" y="0"/>
                  </a:moveTo>
                  <a:lnTo>
                    <a:pt x="22489909" y="0"/>
                  </a:lnTo>
                  <a:cubicBezTo>
                    <a:pt x="22504460" y="0"/>
                    <a:pt x="22516064" y="4511"/>
                    <a:pt x="22516064" y="9998"/>
                  </a:cubicBezTo>
                  <a:lnTo>
                    <a:pt x="22516064" y="6216527"/>
                  </a:lnTo>
                  <a:cubicBezTo>
                    <a:pt x="22516064" y="6222090"/>
                    <a:pt x="22504267" y="6226525"/>
                    <a:pt x="22489909" y="6226525"/>
                  </a:cubicBezTo>
                  <a:lnTo>
                    <a:pt x="26153" y="6226525"/>
                  </a:lnTo>
                  <a:cubicBezTo>
                    <a:pt x="11602" y="6226525"/>
                    <a:pt x="0" y="6222015"/>
                    <a:pt x="0" y="6216527"/>
                  </a:cubicBezTo>
                  <a:lnTo>
                    <a:pt x="0" y="9998"/>
                  </a:lnTo>
                  <a:cubicBezTo>
                    <a:pt x="0" y="4511"/>
                    <a:pt x="11798" y="0"/>
                    <a:pt x="26153" y="0"/>
                  </a:cubicBezTo>
                  <a:moveTo>
                    <a:pt x="26153" y="20072"/>
                  </a:moveTo>
                  <a:lnTo>
                    <a:pt x="26153" y="9998"/>
                  </a:lnTo>
                  <a:lnTo>
                    <a:pt x="52502" y="9998"/>
                  </a:lnTo>
                  <a:lnTo>
                    <a:pt x="52502" y="6216527"/>
                  </a:lnTo>
                  <a:lnTo>
                    <a:pt x="26153" y="6216527"/>
                  </a:lnTo>
                  <a:lnTo>
                    <a:pt x="26153" y="6206529"/>
                  </a:lnTo>
                  <a:lnTo>
                    <a:pt x="22489909" y="6206529"/>
                  </a:lnTo>
                  <a:lnTo>
                    <a:pt x="22489909" y="6216527"/>
                  </a:lnTo>
                  <a:lnTo>
                    <a:pt x="22463758" y="6216527"/>
                  </a:lnTo>
                  <a:lnTo>
                    <a:pt x="22463758" y="9998"/>
                  </a:lnTo>
                  <a:lnTo>
                    <a:pt x="22489909" y="9998"/>
                  </a:lnTo>
                  <a:lnTo>
                    <a:pt x="22489909" y="20072"/>
                  </a:lnTo>
                  <a:lnTo>
                    <a:pt x="26153" y="20072"/>
                  </a:lnTo>
                  <a:close/>
                </a:path>
              </a:pathLst>
            </a:custGeom>
            <a:solidFill>
              <a:srgbClr val="D0E0D0"/>
            </a:solidFill>
          </p:spPr>
        </p:sp>
      </p:grpSp>
      <p:grpSp>
        <p:nvGrpSpPr>
          <p:cNvPr name="Group 5" id="5"/>
          <p:cNvGrpSpPr/>
          <p:nvPr/>
        </p:nvGrpSpPr>
        <p:grpSpPr>
          <a:xfrm rot="0">
            <a:off x="1137861" y="4060563"/>
            <a:ext cx="15969649" cy="870661"/>
            <a:chOff x="0" y="0"/>
            <a:chExt cx="21194803" cy="1155535"/>
          </a:xfrm>
        </p:grpSpPr>
        <p:sp>
          <p:nvSpPr>
            <p:cNvPr name="Freeform 6" id="6"/>
            <p:cNvSpPr/>
            <p:nvPr/>
          </p:nvSpPr>
          <p:spPr>
            <a:xfrm flipH="false" flipV="false" rot="0">
              <a:off x="26153" y="16891"/>
              <a:ext cx="21142358" cy="1121664"/>
            </a:xfrm>
            <a:custGeom>
              <a:avLst/>
              <a:gdLst/>
              <a:ahLst/>
              <a:cxnLst/>
              <a:rect r="r" b="b" t="t" l="l"/>
              <a:pathLst>
                <a:path h="1121664" w="21142358">
                  <a:moveTo>
                    <a:pt x="0" y="0"/>
                  </a:moveTo>
                  <a:lnTo>
                    <a:pt x="21142358" y="0"/>
                  </a:lnTo>
                  <a:lnTo>
                    <a:pt x="21142358" y="1121664"/>
                  </a:lnTo>
                  <a:lnTo>
                    <a:pt x="0" y="1121664"/>
                  </a:lnTo>
                  <a:close/>
                </a:path>
              </a:pathLst>
            </a:custGeom>
            <a:solidFill>
              <a:srgbClr val="F0FFF0"/>
            </a:solidFill>
          </p:spPr>
        </p:sp>
        <p:sp>
          <p:nvSpPr>
            <p:cNvPr name="Freeform 7" id="7"/>
            <p:cNvSpPr/>
            <p:nvPr/>
          </p:nvSpPr>
          <p:spPr>
            <a:xfrm flipH="false" flipV="false" rot="0">
              <a:off x="0" y="0"/>
              <a:ext cx="21194664" cy="1155448"/>
            </a:xfrm>
            <a:custGeom>
              <a:avLst/>
              <a:gdLst/>
              <a:ahLst/>
              <a:cxnLst/>
              <a:rect r="r" b="b" t="t" l="l"/>
              <a:pathLst>
                <a:path h="1155448" w="21194664">
                  <a:moveTo>
                    <a:pt x="26153" y="0"/>
                  </a:moveTo>
                  <a:lnTo>
                    <a:pt x="21168511" y="0"/>
                  </a:lnTo>
                  <a:cubicBezTo>
                    <a:pt x="21183064" y="0"/>
                    <a:pt x="21194664" y="7620"/>
                    <a:pt x="21194664" y="16891"/>
                  </a:cubicBezTo>
                  <a:lnTo>
                    <a:pt x="21194664" y="1138555"/>
                  </a:lnTo>
                  <a:cubicBezTo>
                    <a:pt x="21194664" y="1147953"/>
                    <a:pt x="21182867" y="1155446"/>
                    <a:pt x="21168511" y="1155446"/>
                  </a:cubicBezTo>
                  <a:lnTo>
                    <a:pt x="26153" y="1155446"/>
                  </a:lnTo>
                  <a:cubicBezTo>
                    <a:pt x="11798" y="1155573"/>
                    <a:pt x="0" y="1147953"/>
                    <a:pt x="0" y="1138555"/>
                  </a:cubicBezTo>
                  <a:lnTo>
                    <a:pt x="0" y="16891"/>
                  </a:lnTo>
                  <a:cubicBezTo>
                    <a:pt x="0" y="7620"/>
                    <a:pt x="11798" y="0"/>
                    <a:pt x="26153" y="0"/>
                  </a:cubicBezTo>
                  <a:moveTo>
                    <a:pt x="26153" y="33909"/>
                  </a:moveTo>
                  <a:lnTo>
                    <a:pt x="26153" y="16891"/>
                  </a:lnTo>
                  <a:lnTo>
                    <a:pt x="52502" y="16891"/>
                  </a:lnTo>
                  <a:lnTo>
                    <a:pt x="52502" y="1138555"/>
                  </a:lnTo>
                  <a:lnTo>
                    <a:pt x="26153" y="1138555"/>
                  </a:lnTo>
                  <a:lnTo>
                    <a:pt x="26153" y="1121664"/>
                  </a:lnTo>
                  <a:lnTo>
                    <a:pt x="21168511" y="1121664"/>
                  </a:lnTo>
                  <a:lnTo>
                    <a:pt x="21168511" y="1138555"/>
                  </a:lnTo>
                  <a:lnTo>
                    <a:pt x="21142359" y="1138555"/>
                  </a:lnTo>
                  <a:lnTo>
                    <a:pt x="21142359" y="16891"/>
                  </a:lnTo>
                  <a:lnTo>
                    <a:pt x="21168511" y="16891"/>
                  </a:lnTo>
                  <a:lnTo>
                    <a:pt x="21168511" y="33909"/>
                  </a:lnTo>
                  <a:lnTo>
                    <a:pt x="26153" y="33909"/>
                  </a:lnTo>
                  <a:close/>
                </a:path>
              </a:pathLst>
            </a:custGeom>
            <a:solidFill>
              <a:srgbClr val="2C5F2D"/>
            </a:solidFill>
          </p:spPr>
        </p:sp>
      </p:grpSp>
      <p:grpSp>
        <p:nvGrpSpPr>
          <p:cNvPr name="Group 8" id="8"/>
          <p:cNvGrpSpPr/>
          <p:nvPr/>
        </p:nvGrpSpPr>
        <p:grpSpPr>
          <a:xfrm rot="0">
            <a:off x="1367130" y="4128129"/>
            <a:ext cx="15364004" cy="946481"/>
            <a:chOff x="0" y="0"/>
            <a:chExt cx="20889112" cy="1286849"/>
          </a:xfrm>
        </p:grpSpPr>
        <p:sp>
          <p:nvSpPr>
            <p:cNvPr name="Freeform 9" id="9"/>
            <p:cNvSpPr/>
            <p:nvPr/>
          </p:nvSpPr>
          <p:spPr>
            <a:xfrm flipH="false" flipV="false" rot="0">
              <a:off x="0" y="0"/>
              <a:ext cx="20889111" cy="1286849"/>
            </a:xfrm>
            <a:custGeom>
              <a:avLst/>
              <a:gdLst/>
              <a:ahLst/>
              <a:cxnLst/>
              <a:rect r="r" b="b" t="t" l="l"/>
              <a:pathLst>
                <a:path h="1286849" w="20889111">
                  <a:moveTo>
                    <a:pt x="0" y="0"/>
                  </a:moveTo>
                  <a:lnTo>
                    <a:pt x="20889111" y="0"/>
                  </a:lnTo>
                  <a:lnTo>
                    <a:pt x="20889111" y="1286849"/>
                  </a:lnTo>
                  <a:lnTo>
                    <a:pt x="0" y="1286849"/>
                  </a:lnTo>
                  <a:close/>
                </a:path>
              </a:pathLst>
            </a:custGeom>
            <a:blipFill>
              <a:blip r:embed="rId3">
                <a:alphaModFix amt="0"/>
              </a:blip>
              <a:stretch>
                <a:fillRect l="0" t="-32253" r="77821" b="-8047"/>
              </a:stretch>
            </a:blipFill>
          </p:spPr>
        </p:sp>
        <p:sp>
          <p:nvSpPr>
            <p:cNvPr name="TextBox 10" id="10"/>
            <p:cNvSpPr txBox="true"/>
            <p:nvPr/>
          </p:nvSpPr>
          <p:spPr>
            <a:xfrm>
              <a:off x="0" y="-57150"/>
              <a:ext cx="20889112" cy="1343999"/>
            </a:xfrm>
            <a:prstGeom prst="rect">
              <a:avLst/>
            </a:prstGeom>
          </p:spPr>
          <p:txBody>
            <a:bodyPr anchor="ctr" rtlCol="false" tIns="0" lIns="0" bIns="0" rIns="0"/>
            <a:lstStyle/>
            <a:p>
              <a:pPr algn="l">
                <a:lnSpc>
                  <a:spcPts val="3599"/>
                </a:lnSpc>
              </a:pPr>
              <a:r>
                <a:rPr lang="en-US" sz="2999" b="true">
                  <a:solidFill>
                    <a:srgbClr val="2C5F2D"/>
                  </a:solidFill>
                  <a:latin typeface="Calibri (MS) Bold"/>
                  <a:ea typeface="Calibri (MS) Bold"/>
                  <a:cs typeface="Calibri (MS) Bold"/>
                  <a:sym typeface="Calibri (MS) Bold"/>
                </a:rPr>
                <a:t>L’impu</a:t>
              </a:r>
              <a:r>
                <a:rPr lang="en-US" sz="2999" b="true">
                  <a:solidFill>
                    <a:srgbClr val="2C5F2D"/>
                  </a:solidFill>
                  <a:latin typeface="Calibri (MS) Bold"/>
                  <a:ea typeface="Calibri (MS) Bold"/>
                  <a:cs typeface="Calibri (MS) Bold"/>
                  <a:sym typeface="Calibri (MS) Bold"/>
                </a:rPr>
                <a:t>reté: </a:t>
              </a:r>
              <a:r>
                <a:rPr lang="en-US" sz="2999">
                  <a:solidFill>
                    <a:srgbClr val="2C5F2D"/>
                  </a:solidFill>
                  <a:latin typeface="Calibri (MS)"/>
                  <a:ea typeface="Calibri (MS)"/>
                  <a:cs typeface="Calibri (MS)"/>
                  <a:sym typeface="Calibri (MS)"/>
                </a:rPr>
                <a:t>mesure à quel point un groupe de données est mélangé entre les classes.</a:t>
              </a:r>
            </a:p>
          </p:txBody>
        </p:sp>
      </p:grpSp>
      <p:grpSp>
        <p:nvGrpSpPr>
          <p:cNvPr name="Group 11" id="11"/>
          <p:cNvGrpSpPr/>
          <p:nvPr/>
        </p:nvGrpSpPr>
        <p:grpSpPr>
          <a:xfrm rot="0">
            <a:off x="1137861" y="5236535"/>
            <a:ext cx="15896102" cy="1009526"/>
            <a:chOff x="0" y="0"/>
            <a:chExt cx="21194803" cy="1346035"/>
          </a:xfrm>
        </p:grpSpPr>
        <p:sp>
          <p:nvSpPr>
            <p:cNvPr name="Freeform 12" id="12"/>
            <p:cNvSpPr/>
            <p:nvPr/>
          </p:nvSpPr>
          <p:spPr>
            <a:xfrm flipH="false" flipV="false" rot="0">
              <a:off x="26153" y="19676"/>
              <a:ext cx="21142358" cy="1306580"/>
            </a:xfrm>
            <a:custGeom>
              <a:avLst/>
              <a:gdLst/>
              <a:ahLst/>
              <a:cxnLst/>
              <a:rect r="r" b="b" t="t" l="l"/>
              <a:pathLst>
                <a:path h="1306580" w="21142358">
                  <a:moveTo>
                    <a:pt x="0" y="0"/>
                  </a:moveTo>
                  <a:lnTo>
                    <a:pt x="21142358" y="0"/>
                  </a:lnTo>
                  <a:lnTo>
                    <a:pt x="21142358" y="1306580"/>
                  </a:lnTo>
                  <a:lnTo>
                    <a:pt x="0" y="1306580"/>
                  </a:lnTo>
                  <a:close/>
                </a:path>
              </a:pathLst>
            </a:custGeom>
            <a:solidFill>
              <a:srgbClr val="FFFFFF"/>
            </a:solidFill>
          </p:spPr>
        </p:sp>
        <p:sp>
          <p:nvSpPr>
            <p:cNvPr name="Freeform 13" id="13"/>
            <p:cNvSpPr/>
            <p:nvPr/>
          </p:nvSpPr>
          <p:spPr>
            <a:xfrm flipH="false" flipV="false" rot="0">
              <a:off x="0" y="0"/>
              <a:ext cx="21194664" cy="1345933"/>
            </a:xfrm>
            <a:custGeom>
              <a:avLst/>
              <a:gdLst/>
              <a:ahLst/>
              <a:cxnLst/>
              <a:rect r="r" b="b" t="t" l="l"/>
              <a:pathLst>
                <a:path h="1345933" w="21194664">
                  <a:moveTo>
                    <a:pt x="26153" y="0"/>
                  </a:moveTo>
                  <a:lnTo>
                    <a:pt x="21168511" y="0"/>
                  </a:lnTo>
                  <a:cubicBezTo>
                    <a:pt x="21183064" y="0"/>
                    <a:pt x="21194664" y="8876"/>
                    <a:pt x="21194664" y="19676"/>
                  </a:cubicBezTo>
                  <a:lnTo>
                    <a:pt x="21194664" y="1326256"/>
                  </a:lnTo>
                  <a:cubicBezTo>
                    <a:pt x="21194664" y="1337203"/>
                    <a:pt x="21182867" y="1345931"/>
                    <a:pt x="21168511" y="1345931"/>
                  </a:cubicBezTo>
                  <a:lnTo>
                    <a:pt x="26153" y="1345931"/>
                  </a:lnTo>
                  <a:cubicBezTo>
                    <a:pt x="11798" y="1346073"/>
                    <a:pt x="0" y="1337203"/>
                    <a:pt x="0" y="1326256"/>
                  </a:cubicBezTo>
                  <a:lnTo>
                    <a:pt x="0" y="19676"/>
                  </a:lnTo>
                  <a:cubicBezTo>
                    <a:pt x="0" y="8876"/>
                    <a:pt x="11798" y="0"/>
                    <a:pt x="26153" y="0"/>
                  </a:cubicBezTo>
                  <a:moveTo>
                    <a:pt x="26153" y="39499"/>
                  </a:moveTo>
                  <a:lnTo>
                    <a:pt x="26153" y="19676"/>
                  </a:lnTo>
                  <a:lnTo>
                    <a:pt x="52502" y="19676"/>
                  </a:lnTo>
                  <a:lnTo>
                    <a:pt x="52502" y="1326256"/>
                  </a:lnTo>
                  <a:lnTo>
                    <a:pt x="26153" y="1326256"/>
                  </a:lnTo>
                  <a:lnTo>
                    <a:pt x="26153" y="1306580"/>
                  </a:lnTo>
                  <a:lnTo>
                    <a:pt x="21168511" y="1306580"/>
                  </a:lnTo>
                  <a:lnTo>
                    <a:pt x="21168511" y="1326256"/>
                  </a:lnTo>
                  <a:lnTo>
                    <a:pt x="21142359" y="1326256"/>
                  </a:lnTo>
                  <a:lnTo>
                    <a:pt x="21142359" y="19676"/>
                  </a:lnTo>
                  <a:lnTo>
                    <a:pt x="21168511" y="19676"/>
                  </a:lnTo>
                  <a:lnTo>
                    <a:pt x="21168511" y="39499"/>
                  </a:lnTo>
                  <a:lnTo>
                    <a:pt x="26153" y="39499"/>
                  </a:lnTo>
                  <a:close/>
                </a:path>
              </a:pathLst>
            </a:custGeom>
            <a:solidFill>
              <a:srgbClr val="3A7BD5"/>
            </a:solidFill>
          </p:spPr>
        </p:sp>
      </p:grpSp>
      <p:grpSp>
        <p:nvGrpSpPr>
          <p:cNvPr name="Group 14" id="14"/>
          <p:cNvGrpSpPr/>
          <p:nvPr/>
        </p:nvGrpSpPr>
        <p:grpSpPr>
          <a:xfrm rot="0">
            <a:off x="1367130" y="5236535"/>
            <a:ext cx="16586141" cy="1490922"/>
            <a:chOff x="0" y="0"/>
            <a:chExt cx="22114855" cy="1987896"/>
          </a:xfrm>
        </p:grpSpPr>
        <p:sp>
          <p:nvSpPr>
            <p:cNvPr name="Freeform 15" id="15"/>
            <p:cNvSpPr/>
            <p:nvPr/>
          </p:nvSpPr>
          <p:spPr>
            <a:xfrm flipH="false" flipV="false" rot="0">
              <a:off x="0" y="0"/>
              <a:ext cx="22114855" cy="1987896"/>
            </a:xfrm>
            <a:custGeom>
              <a:avLst/>
              <a:gdLst/>
              <a:ahLst/>
              <a:cxnLst/>
              <a:rect r="r" b="b" t="t" l="l"/>
              <a:pathLst>
                <a:path h="1987896" w="22114855">
                  <a:moveTo>
                    <a:pt x="0" y="0"/>
                  </a:moveTo>
                  <a:lnTo>
                    <a:pt x="22114855" y="0"/>
                  </a:lnTo>
                  <a:lnTo>
                    <a:pt x="22114855" y="1987896"/>
                  </a:lnTo>
                  <a:lnTo>
                    <a:pt x="0" y="1987896"/>
                  </a:lnTo>
                  <a:close/>
                </a:path>
              </a:pathLst>
            </a:custGeom>
            <a:blipFill>
              <a:blip r:embed="rId3">
                <a:alphaModFix amt="0"/>
              </a:blip>
              <a:stretch>
                <a:fillRect l="0" t="-20879" r="79050" b="30055"/>
              </a:stretch>
            </a:blipFill>
          </p:spPr>
        </p:sp>
        <p:sp>
          <p:nvSpPr>
            <p:cNvPr name="TextBox 16" id="16"/>
            <p:cNvSpPr txBox="true"/>
            <p:nvPr/>
          </p:nvSpPr>
          <p:spPr>
            <a:xfrm>
              <a:off x="0" y="-57150"/>
              <a:ext cx="22114855" cy="2045046"/>
            </a:xfrm>
            <a:prstGeom prst="rect">
              <a:avLst/>
            </a:prstGeom>
          </p:spPr>
          <p:txBody>
            <a:bodyPr anchor="ctr" rtlCol="false" tIns="0" lIns="0" bIns="0" rIns="0"/>
            <a:lstStyle/>
            <a:p>
              <a:pPr algn="just">
                <a:lnSpc>
                  <a:spcPts val="3599"/>
                </a:lnSpc>
              </a:pPr>
              <a:r>
                <a:rPr lang="en-US" sz="2999" b="true">
                  <a:solidFill>
                    <a:srgbClr val="3A7BD5"/>
                  </a:solidFill>
                  <a:latin typeface="Calibri (MS) Bold"/>
                  <a:ea typeface="Calibri (MS) Bold"/>
                  <a:cs typeface="Calibri (MS) Bold"/>
                  <a:sym typeface="Calibri (MS) Bold"/>
                </a:rPr>
                <a:t>Exemple: </a:t>
              </a:r>
              <a:r>
                <a:rPr lang="en-US" sz="2999">
                  <a:solidFill>
                    <a:srgbClr val="3A7BD5"/>
                  </a:solidFill>
                  <a:latin typeface="Calibri (MS)"/>
                  <a:ea typeface="Calibri (MS)"/>
                  <a:cs typeface="Calibri (MS)"/>
                  <a:sym typeface="Calibri (MS)"/>
                </a:rPr>
                <a:t>Groupe 1 : que des “diabétiques” → pur </a:t>
              </a:r>
            </a:p>
            <a:p>
              <a:pPr algn="just">
                <a:lnSpc>
                  <a:spcPts val="3599"/>
                </a:lnSpc>
              </a:pPr>
              <a:r>
                <a:rPr lang="en-US" sz="2999">
                  <a:solidFill>
                    <a:srgbClr val="3A7BD5"/>
                  </a:solidFill>
                  <a:latin typeface="Calibri (MS)"/>
                  <a:ea typeface="Calibri (MS)"/>
                  <a:cs typeface="Calibri (MS)"/>
                  <a:sym typeface="Calibri (MS)"/>
                </a:rPr>
                <a:t>                  Groupe 2 : moitié diabétiques / moitié non → impur </a:t>
              </a:r>
            </a:p>
            <a:p>
              <a:pPr algn="just">
                <a:lnSpc>
                  <a:spcPts val="3599"/>
                </a:lnSpc>
              </a:pPr>
            </a:p>
          </p:txBody>
        </p:sp>
      </p:grpSp>
      <p:grpSp>
        <p:nvGrpSpPr>
          <p:cNvPr name="Group 17" id="17"/>
          <p:cNvGrpSpPr/>
          <p:nvPr/>
        </p:nvGrpSpPr>
        <p:grpSpPr>
          <a:xfrm rot="0">
            <a:off x="1137861" y="6593451"/>
            <a:ext cx="15896102" cy="1572404"/>
            <a:chOff x="0" y="0"/>
            <a:chExt cx="21194803" cy="2096538"/>
          </a:xfrm>
        </p:grpSpPr>
        <p:sp>
          <p:nvSpPr>
            <p:cNvPr name="Freeform 18" id="18"/>
            <p:cNvSpPr/>
            <p:nvPr/>
          </p:nvSpPr>
          <p:spPr>
            <a:xfrm flipH="false" flipV="false" rot="0">
              <a:off x="26153" y="30646"/>
              <a:ext cx="21142358" cy="2035085"/>
            </a:xfrm>
            <a:custGeom>
              <a:avLst/>
              <a:gdLst/>
              <a:ahLst/>
              <a:cxnLst/>
              <a:rect r="r" b="b" t="t" l="l"/>
              <a:pathLst>
                <a:path h="2035085" w="21142358">
                  <a:moveTo>
                    <a:pt x="0" y="0"/>
                  </a:moveTo>
                  <a:lnTo>
                    <a:pt x="21142358" y="0"/>
                  </a:lnTo>
                  <a:lnTo>
                    <a:pt x="21142358" y="2035085"/>
                  </a:lnTo>
                  <a:lnTo>
                    <a:pt x="0" y="2035085"/>
                  </a:lnTo>
                  <a:close/>
                </a:path>
              </a:pathLst>
            </a:custGeom>
            <a:solidFill>
              <a:srgbClr val="F0FFF0"/>
            </a:solidFill>
          </p:spPr>
        </p:sp>
        <p:sp>
          <p:nvSpPr>
            <p:cNvPr name="Freeform 19" id="19"/>
            <p:cNvSpPr/>
            <p:nvPr/>
          </p:nvSpPr>
          <p:spPr>
            <a:xfrm flipH="false" flipV="false" rot="0">
              <a:off x="0" y="0"/>
              <a:ext cx="21194664" cy="2096379"/>
            </a:xfrm>
            <a:custGeom>
              <a:avLst/>
              <a:gdLst/>
              <a:ahLst/>
              <a:cxnLst/>
              <a:rect r="r" b="b" t="t" l="l"/>
              <a:pathLst>
                <a:path h="2096379" w="21194664">
                  <a:moveTo>
                    <a:pt x="26153" y="0"/>
                  </a:moveTo>
                  <a:lnTo>
                    <a:pt x="21168511" y="0"/>
                  </a:lnTo>
                  <a:cubicBezTo>
                    <a:pt x="21183064" y="0"/>
                    <a:pt x="21194664" y="13825"/>
                    <a:pt x="21194664" y="30646"/>
                  </a:cubicBezTo>
                  <a:lnTo>
                    <a:pt x="21194664" y="2065731"/>
                  </a:lnTo>
                  <a:cubicBezTo>
                    <a:pt x="21194664" y="2082782"/>
                    <a:pt x="21182867" y="2096377"/>
                    <a:pt x="21168511" y="2096377"/>
                  </a:cubicBezTo>
                  <a:lnTo>
                    <a:pt x="26153" y="2096377"/>
                  </a:lnTo>
                  <a:cubicBezTo>
                    <a:pt x="11798" y="2096576"/>
                    <a:pt x="0" y="2082782"/>
                    <a:pt x="0" y="2065731"/>
                  </a:cubicBezTo>
                  <a:lnTo>
                    <a:pt x="0" y="30646"/>
                  </a:lnTo>
                  <a:cubicBezTo>
                    <a:pt x="0" y="13825"/>
                    <a:pt x="11798" y="0"/>
                    <a:pt x="26153" y="0"/>
                  </a:cubicBezTo>
                  <a:moveTo>
                    <a:pt x="26153" y="61523"/>
                  </a:moveTo>
                  <a:lnTo>
                    <a:pt x="26153" y="30646"/>
                  </a:lnTo>
                  <a:lnTo>
                    <a:pt x="52502" y="30646"/>
                  </a:lnTo>
                  <a:lnTo>
                    <a:pt x="52502" y="2065731"/>
                  </a:lnTo>
                  <a:lnTo>
                    <a:pt x="26153" y="2065731"/>
                  </a:lnTo>
                  <a:lnTo>
                    <a:pt x="26153" y="2035085"/>
                  </a:lnTo>
                  <a:lnTo>
                    <a:pt x="21168511" y="2035085"/>
                  </a:lnTo>
                  <a:lnTo>
                    <a:pt x="21168511" y="2065731"/>
                  </a:lnTo>
                  <a:lnTo>
                    <a:pt x="21142359" y="2065731"/>
                  </a:lnTo>
                  <a:lnTo>
                    <a:pt x="21142359" y="30646"/>
                  </a:lnTo>
                  <a:lnTo>
                    <a:pt x="21168511" y="30646"/>
                  </a:lnTo>
                  <a:lnTo>
                    <a:pt x="21168511" y="61523"/>
                  </a:lnTo>
                  <a:lnTo>
                    <a:pt x="26153" y="61523"/>
                  </a:lnTo>
                  <a:close/>
                </a:path>
              </a:pathLst>
            </a:custGeom>
            <a:solidFill>
              <a:srgbClr val="8E44AD"/>
            </a:solidFill>
          </p:spPr>
        </p:sp>
      </p:grpSp>
      <p:grpSp>
        <p:nvGrpSpPr>
          <p:cNvPr name="Group 20" id="20"/>
          <p:cNvGrpSpPr/>
          <p:nvPr/>
        </p:nvGrpSpPr>
        <p:grpSpPr>
          <a:xfrm rot="0">
            <a:off x="1367130" y="6632207"/>
            <a:ext cx="15364004" cy="1592560"/>
            <a:chOff x="0" y="0"/>
            <a:chExt cx="20791049" cy="2155102"/>
          </a:xfrm>
        </p:grpSpPr>
        <p:sp>
          <p:nvSpPr>
            <p:cNvPr name="Freeform 21" id="21"/>
            <p:cNvSpPr/>
            <p:nvPr/>
          </p:nvSpPr>
          <p:spPr>
            <a:xfrm flipH="false" flipV="false" rot="0">
              <a:off x="0" y="0"/>
              <a:ext cx="20791049" cy="2155102"/>
            </a:xfrm>
            <a:custGeom>
              <a:avLst/>
              <a:gdLst/>
              <a:ahLst/>
              <a:cxnLst/>
              <a:rect r="r" b="b" t="t" l="l"/>
              <a:pathLst>
                <a:path h="2155102" w="20791049">
                  <a:moveTo>
                    <a:pt x="0" y="0"/>
                  </a:moveTo>
                  <a:lnTo>
                    <a:pt x="20791049" y="0"/>
                  </a:lnTo>
                  <a:lnTo>
                    <a:pt x="20791049" y="2155102"/>
                  </a:lnTo>
                  <a:lnTo>
                    <a:pt x="0" y="2155102"/>
                  </a:lnTo>
                  <a:close/>
                </a:path>
              </a:pathLst>
            </a:custGeom>
            <a:blipFill>
              <a:blip r:embed="rId3">
                <a:alphaModFix amt="0"/>
              </a:blip>
              <a:stretch>
                <a:fillRect l="0" t="-19259" r="77716" b="35482"/>
              </a:stretch>
            </a:blipFill>
          </p:spPr>
        </p:sp>
        <p:sp>
          <p:nvSpPr>
            <p:cNvPr name="TextBox 22" id="22"/>
            <p:cNvSpPr txBox="true"/>
            <p:nvPr/>
          </p:nvSpPr>
          <p:spPr>
            <a:xfrm>
              <a:off x="0" y="-57150"/>
              <a:ext cx="20791049" cy="2212252"/>
            </a:xfrm>
            <a:prstGeom prst="rect">
              <a:avLst/>
            </a:prstGeom>
          </p:spPr>
          <p:txBody>
            <a:bodyPr anchor="ctr" rtlCol="false" tIns="0" lIns="0" bIns="0" rIns="0"/>
            <a:lstStyle/>
            <a:p>
              <a:pPr algn="just">
                <a:lnSpc>
                  <a:spcPts val="3599"/>
                </a:lnSpc>
              </a:pPr>
              <a:r>
                <a:rPr lang="en-US" sz="2999" b="true">
                  <a:solidFill>
                    <a:srgbClr val="8E44AD"/>
                  </a:solidFill>
                  <a:latin typeface="Calibri (MS) Bold"/>
                  <a:ea typeface="Calibri (MS) Bold"/>
                  <a:cs typeface="Calibri (MS) Bold"/>
                  <a:sym typeface="Calibri (MS) Bold"/>
                </a:rPr>
                <a:t>lien avec Gini :</a:t>
              </a:r>
              <a:r>
                <a:rPr lang="en-US" sz="2999">
                  <a:solidFill>
                    <a:srgbClr val="8E44AD"/>
                  </a:solidFill>
                  <a:latin typeface="Calibri (MS)"/>
                  <a:ea typeface="Calibri (MS)"/>
                  <a:cs typeface="Calibri (MS)"/>
                  <a:sym typeface="Calibri (MS)"/>
                </a:rPr>
                <a:t> Le critère de Gini mesure cette impureté : </a:t>
              </a:r>
            </a:p>
            <a:p>
              <a:pPr algn="just">
                <a:lnSpc>
                  <a:spcPts val="3599"/>
                </a:lnSpc>
              </a:pPr>
              <a:r>
                <a:rPr lang="en-US" sz="2999">
                  <a:solidFill>
                    <a:srgbClr val="8E44AD"/>
                  </a:solidFill>
                  <a:latin typeface="Calibri (MS)"/>
                  <a:ea typeface="Calibri (MS)"/>
                  <a:cs typeface="Calibri (MS)"/>
                  <a:sym typeface="Calibri (MS)"/>
                </a:rPr>
                <a:t>Gini = 0 → groupe totalement pur </a:t>
              </a:r>
            </a:p>
            <a:p>
              <a:pPr algn="just">
                <a:lnSpc>
                  <a:spcPts val="3599"/>
                </a:lnSpc>
              </a:pPr>
              <a:r>
                <a:rPr lang="en-US" sz="2999">
                  <a:solidFill>
                    <a:srgbClr val="8E44AD"/>
                  </a:solidFill>
                  <a:latin typeface="Calibri (MS)"/>
                  <a:ea typeface="Calibri (MS)"/>
                  <a:cs typeface="Calibri (MS)"/>
                  <a:sym typeface="Calibri (MS)"/>
                </a:rPr>
                <a:t>Gini élevé → groupe très mélangé</a:t>
              </a:r>
            </a:p>
          </p:txBody>
        </p:sp>
      </p:grpSp>
      <p:grpSp>
        <p:nvGrpSpPr>
          <p:cNvPr name="Group 23" id="23"/>
          <p:cNvGrpSpPr/>
          <p:nvPr/>
        </p:nvGrpSpPr>
        <p:grpSpPr>
          <a:xfrm rot="0">
            <a:off x="-12697" y="-12697"/>
            <a:ext cx="18313403" cy="1671323"/>
            <a:chOff x="0" y="0"/>
            <a:chExt cx="24417871" cy="2228431"/>
          </a:xfrm>
        </p:grpSpPr>
        <p:sp>
          <p:nvSpPr>
            <p:cNvPr name="Freeform 24" id="24"/>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25" id="25"/>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26" id="26"/>
          <p:cNvGrpSpPr/>
          <p:nvPr/>
        </p:nvGrpSpPr>
        <p:grpSpPr>
          <a:xfrm rot="0">
            <a:off x="548640" y="0"/>
            <a:ext cx="17190720" cy="1645920"/>
            <a:chOff x="0" y="0"/>
            <a:chExt cx="22920960" cy="2194560"/>
          </a:xfrm>
        </p:grpSpPr>
        <p:sp>
          <p:nvSpPr>
            <p:cNvPr name="Freeform 27" id="27"/>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28" id="28"/>
            <p:cNvSpPr txBox="true"/>
            <p:nvPr/>
          </p:nvSpPr>
          <p:spPr>
            <a:xfrm>
              <a:off x="0" y="-95250"/>
              <a:ext cx="22920960" cy="2289810"/>
            </a:xfrm>
            <a:prstGeom prst="rect">
              <a:avLst/>
            </a:prstGeom>
          </p:spPr>
          <p:txBody>
            <a:bodyPr anchor="ctr" rtlCol="false" tIns="0" lIns="0" bIns="0" rIns="0"/>
            <a:lstStyle/>
            <a:p>
              <a:pPr algn="l">
                <a:lnSpc>
                  <a:spcPts val="5519"/>
                </a:lnSpc>
              </a:pPr>
              <a:r>
                <a:rPr lang="en-US" sz="4599" b="true">
                  <a:solidFill>
                    <a:srgbClr val="FFFFFF"/>
                  </a:solidFill>
                  <a:latin typeface="Calibri (MS) Bold"/>
                  <a:ea typeface="Calibri (MS) Bold"/>
                  <a:cs typeface="Calibri (MS) Bold"/>
                  <a:sym typeface="Calibri (MS) Bold"/>
                </a:rPr>
                <a:t>L’</a:t>
              </a:r>
              <a:r>
                <a:rPr lang="en-US" sz="4599" b="true">
                  <a:solidFill>
                    <a:srgbClr val="FFFFFF"/>
                  </a:solidFill>
                  <a:latin typeface="Calibri (MS) Bold"/>
                  <a:ea typeface="Calibri (MS) Bold"/>
                  <a:cs typeface="Calibri (MS) Bold"/>
                  <a:sym typeface="Calibri (MS) Bold"/>
                </a:rPr>
                <a:t>impureté - Lien avec Gini</a:t>
              </a:r>
            </a:p>
          </p:txBody>
        </p:sp>
      </p:grpSp>
      <p:sp>
        <p:nvSpPr>
          <p:cNvPr name="TextBox 29" id="29"/>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95250"/>
              <a:ext cx="22920960" cy="2289810"/>
            </a:xfrm>
            <a:prstGeom prst="rect">
              <a:avLst/>
            </a:prstGeom>
          </p:spPr>
          <p:txBody>
            <a:bodyPr anchor="ctr" rtlCol="false" tIns="0" lIns="0" bIns="0" rIns="0"/>
            <a:lstStyle/>
            <a:p>
              <a:pPr algn="l">
                <a:lnSpc>
                  <a:spcPts val="5519"/>
                </a:lnSpc>
              </a:pPr>
              <a:r>
                <a:rPr lang="en-US" sz="4599" b="true">
                  <a:solidFill>
                    <a:srgbClr val="FFFFFF"/>
                  </a:solidFill>
                  <a:latin typeface="Calibri (MS) Bold"/>
                  <a:ea typeface="Calibri (MS) Bold"/>
                  <a:cs typeface="Calibri (MS) Bold"/>
                  <a:sym typeface="Calibri (MS) Bold"/>
                </a:rPr>
                <a:t> </a:t>
              </a:r>
              <a:r>
                <a:rPr lang="en-US" sz="4599" b="true">
                  <a:solidFill>
                    <a:srgbClr val="FFFFFF"/>
                  </a:solidFill>
                  <a:latin typeface="Calibri (MS) Bold"/>
                  <a:ea typeface="Calibri (MS) Bold"/>
                  <a:cs typeface="Calibri (MS) Bold"/>
                  <a:sym typeface="Calibri (MS) Bold"/>
                </a:rPr>
                <a:t>Com</a:t>
              </a:r>
              <a:r>
                <a:rPr lang="en-US" sz="4599" b="true">
                  <a:solidFill>
                    <a:srgbClr val="FFFFFF"/>
                  </a:solidFill>
                  <a:latin typeface="Calibri (MS) Bold"/>
                  <a:ea typeface="Calibri (MS) Bold"/>
                  <a:cs typeface="Calibri (MS) Bold"/>
                  <a:sym typeface="Calibri (MS) Bold"/>
                </a:rPr>
                <a:t>ment CART choisit un split</a:t>
              </a:r>
            </a:p>
          </p:txBody>
        </p:sp>
      </p:grpSp>
      <p:sp>
        <p:nvSpPr>
          <p:cNvPr name="TextBox 8" id="8"/>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11</a:t>
            </a:r>
          </a:p>
        </p:txBody>
      </p:sp>
      <p:grpSp>
        <p:nvGrpSpPr>
          <p:cNvPr name="Group 9" id="9"/>
          <p:cNvGrpSpPr/>
          <p:nvPr/>
        </p:nvGrpSpPr>
        <p:grpSpPr>
          <a:xfrm rot="0">
            <a:off x="1340995" y="2067361"/>
            <a:ext cx="15606010" cy="7436973"/>
            <a:chOff x="0" y="0"/>
            <a:chExt cx="14169428" cy="6752376"/>
          </a:xfrm>
        </p:grpSpPr>
        <p:sp>
          <p:nvSpPr>
            <p:cNvPr name="Freeform 10" id="10"/>
            <p:cNvSpPr/>
            <p:nvPr/>
          </p:nvSpPr>
          <p:spPr>
            <a:xfrm flipH="false" flipV="false" rot="0">
              <a:off x="10426" y="61232"/>
              <a:ext cx="14148520" cy="6629590"/>
            </a:xfrm>
            <a:custGeom>
              <a:avLst/>
              <a:gdLst/>
              <a:ahLst/>
              <a:cxnLst/>
              <a:rect r="r" b="b" t="t" l="l"/>
              <a:pathLst>
                <a:path h="6629590" w="14148520">
                  <a:moveTo>
                    <a:pt x="0" y="0"/>
                  </a:moveTo>
                  <a:lnTo>
                    <a:pt x="14148521" y="0"/>
                  </a:lnTo>
                  <a:lnTo>
                    <a:pt x="14148521" y="6629590"/>
                  </a:lnTo>
                  <a:lnTo>
                    <a:pt x="0" y="6629590"/>
                  </a:lnTo>
                  <a:close/>
                </a:path>
              </a:pathLst>
            </a:custGeom>
            <a:solidFill>
              <a:srgbClr val="E8F5E8"/>
            </a:solidFill>
          </p:spPr>
        </p:sp>
        <p:sp>
          <p:nvSpPr>
            <p:cNvPr name="Freeform 11" id="11"/>
            <p:cNvSpPr/>
            <p:nvPr/>
          </p:nvSpPr>
          <p:spPr>
            <a:xfrm flipH="false" flipV="false" rot="0">
              <a:off x="0" y="0"/>
              <a:ext cx="14169374" cy="6752054"/>
            </a:xfrm>
            <a:custGeom>
              <a:avLst/>
              <a:gdLst/>
              <a:ahLst/>
              <a:cxnLst/>
              <a:rect r="r" b="b" t="t" l="l"/>
              <a:pathLst>
                <a:path h="6752054" w="14169374">
                  <a:moveTo>
                    <a:pt x="10426" y="0"/>
                  </a:moveTo>
                  <a:lnTo>
                    <a:pt x="14158947" y="0"/>
                  </a:lnTo>
                  <a:cubicBezTo>
                    <a:pt x="14164748" y="0"/>
                    <a:pt x="14169374" y="27623"/>
                    <a:pt x="14169374" y="61232"/>
                  </a:cubicBezTo>
                  <a:lnTo>
                    <a:pt x="14169374" y="6690822"/>
                  </a:lnTo>
                  <a:cubicBezTo>
                    <a:pt x="14169374" y="6724891"/>
                    <a:pt x="14164670" y="6752054"/>
                    <a:pt x="14158947" y="6752054"/>
                  </a:cubicBezTo>
                  <a:lnTo>
                    <a:pt x="10426" y="6752054"/>
                  </a:lnTo>
                  <a:cubicBezTo>
                    <a:pt x="4625" y="6752054"/>
                    <a:pt x="0" y="6724430"/>
                    <a:pt x="0" y="6690822"/>
                  </a:cubicBezTo>
                  <a:lnTo>
                    <a:pt x="0" y="61232"/>
                  </a:lnTo>
                  <a:cubicBezTo>
                    <a:pt x="0" y="27623"/>
                    <a:pt x="4704" y="0"/>
                    <a:pt x="10426" y="0"/>
                  </a:cubicBezTo>
                  <a:moveTo>
                    <a:pt x="10426" y="122924"/>
                  </a:moveTo>
                  <a:lnTo>
                    <a:pt x="10426" y="61232"/>
                  </a:lnTo>
                  <a:lnTo>
                    <a:pt x="20931" y="61232"/>
                  </a:lnTo>
                  <a:lnTo>
                    <a:pt x="20931" y="6690822"/>
                  </a:lnTo>
                  <a:lnTo>
                    <a:pt x="10426" y="6690822"/>
                  </a:lnTo>
                  <a:lnTo>
                    <a:pt x="10426" y="6629590"/>
                  </a:lnTo>
                  <a:lnTo>
                    <a:pt x="14158947" y="6629590"/>
                  </a:lnTo>
                  <a:lnTo>
                    <a:pt x="14158947" y="6690822"/>
                  </a:lnTo>
                  <a:lnTo>
                    <a:pt x="14148521" y="6690822"/>
                  </a:lnTo>
                  <a:lnTo>
                    <a:pt x="14148521" y="61232"/>
                  </a:lnTo>
                  <a:lnTo>
                    <a:pt x="14158947" y="61232"/>
                  </a:lnTo>
                  <a:lnTo>
                    <a:pt x="14158947" y="122924"/>
                  </a:lnTo>
                  <a:lnTo>
                    <a:pt x="10426" y="122924"/>
                  </a:lnTo>
                  <a:close/>
                </a:path>
              </a:pathLst>
            </a:custGeom>
            <a:solidFill>
              <a:srgbClr val="5B9E3D"/>
            </a:solidFill>
          </p:spPr>
        </p:sp>
      </p:grpSp>
      <p:grpSp>
        <p:nvGrpSpPr>
          <p:cNvPr name="Group 12" id="12"/>
          <p:cNvGrpSpPr/>
          <p:nvPr/>
        </p:nvGrpSpPr>
        <p:grpSpPr>
          <a:xfrm rot="0">
            <a:off x="1897916" y="2423362"/>
            <a:ext cx="1254890" cy="469940"/>
            <a:chOff x="0" y="0"/>
            <a:chExt cx="1673186" cy="626586"/>
          </a:xfrm>
        </p:grpSpPr>
        <p:sp>
          <p:nvSpPr>
            <p:cNvPr name="Freeform 13" id="13"/>
            <p:cNvSpPr/>
            <p:nvPr/>
          </p:nvSpPr>
          <p:spPr>
            <a:xfrm flipH="false" flipV="false" rot="0">
              <a:off x="42317" y="15847"/>
              <a:ext cx="1588329" cy="594808"/>
            </a:xfrm>
            <a:custGeom>
              <a:avLst/>
              <a:gdLst/>
              <a:ahLst/>
              <a:cxnLst/>
              <a:rect r="r" b="b" t="t" l="l"/>
              <a:pathLst>
                <a:path h="594808" w="1588329">
                  <a:moveTo>
                    <a:pt x="0" y="0"/>
                  </a:moveTo>
                  <a:lnTo>
                    <a:pt x="1588329" y="0"/>
                  </a:lnTo>
                  <a:lnTo>
                    <a:pt x="1588329" y="594809"/>
                  </a:lnTo>
                  <a:lnTo>
                    <a:pt x="0" y="594809"/>
                  </a:lnTo>
                  <a:close/>
                </a:path>
              </a:pathLst>
            </a:custGeom>
            <a:solidFill>
              <a:srgbClr val="B6DBCA"/>
            </a:solidFill>
          </p:spPr>
        </p:sp>
        <p:sp>
          <p:nvSpPr>
            <p:cNvPr name="Freeform 14" id="14"/>
            <p:cNvSpPr/>
            <p:nvPr/>
          </p:nvSpPr>
          <p:spPr>
            <a:xfrm flipH="false" flipV="false" rot="0">
              <a:off x="0" y="0"/>
              <a:ext cx="1672963" cy="626504"/>
            </a:xfrm>
            <a:custGeom>
              <a:avLst/>
              <a:gdLst/>
              <a:ahLst/>
              <a:cxnLst/>
              <a:rect r="r" b="b" t="t" l="l"/>
              <a:pathLst>
                <a:path h="626504" w="1672963">
                  <a:moveTo>
                    <a:pt x="42317" y="0"/>
                  </a:moveTo>
                  <a:lnTo>
                    <a:pt x="1630646" y="0"/>
                  </a:lnTo>
                  <a:cubicBezTo>
                    <a:pt x="1654191" y="0"/>
                    <a:pt x="1672963" y="7149"/>
                    <a:pt x="1672963" y="15847"/>
                  </a:cubicBezTo>
                  <a:lnTo>
                    <a:pt x="1672963" y="610656"/>
                  </a:lnTo>
                  <a:cubicBezTo>
                    <a:pt x="1672963" y="619473"/>
                    <a:pt x="1653873" y="626503"/>
                    <a:pt x="1630646" y="626503"/>
                  </a:cubicBezTo>
                  <a:lnTo>
                    <a:pt x="42317" y="626503"/>
                  </a:lnTo>
                  <a:cubicBezTo>
                    <a:pt x="19090" y="626624"/>
                    <a:pt x="0" y="619473"/>
                    <a:pt x="0" y="610656"/>
                  </a:cubicBezTo>
                  <a:lnTo>
                    <a:pt x="0" y="15847"/>
                  </a:lnTo>
                  <a:cubicBezTo>
                    <a:pt x="0" y="7149"/>
                    <a:pt x="19090" y="0"/>
                    <a:pt x="42317" y="0"/>
                  </a:cubicBezTo>
                  <a:moveTo>
                    <a:pt x="42317" y="31814"/>
                  </a:moveTo>
                  <a:lnTo>
                    <a:pt x="42317" y="15847"/>
                  </a:lnTo>
                  <a:lnTo>
                    <a:pt x="84953" y="15847"/>
                  </a:lnTo>
                  <a:lnTo>
                    <a:pt x="84953" y="610656"/>
                  </a:lnTo>
                  <a:lnTo>
                    <a:pt x="42317" y="610656"/>
                  </a:lnTo>
                  <a:lnTo>
                    <a:pt x="42317" y="594808"/>
                  </a:lnTo>
                  <a:lnTo>
                    <a:pt x="1630646" y="594808"/>
                  </a:lnTo>
                  <a:lnTo>
                    <a:pt x="1630646" y="610656"/>
                  </a:lnTo>
                  <a:lnTo>
                    <a:pt x="1588329" y="610656"/>
                  </a:lnTo>
                  <a:lnTo>
                    <a:pt x="1588329" y="15847"/>
                  </a:lnTo>
                  <a:lnTo>
                    <a:pt x="1630646" y="15847"/>
                  </a:lnTo>
                  <a:lnTo>
                    <a:pt x="1630646" y="31814"/>
                  </a:lnTo>
                  <a:lnTo>
                    <a:pt x="42317" y="31814"/>
                  </a:lnTo>
                  <a:close/>
                </a:path>
              </a:pathLst>
            </a:custGeom>
            <a:solidFill>
              <a:srgbClr val="0D3320"/>
            </a:solidFill>
          </p:spPr>
        </p:sp>
      </p:grpSp>
      <p:grpSp>
        <p:nvGrpSpPr>
          <p:cNvPr name="Group 15" id="15"/>
          <p:cNvGrpSpPr/>
          <p:nvPr/>
        </p:nvGrpSpPr>
        <p:grpSpPr>
          <a:xfrm rot="0">
            <a:off x="1962824" y="2423362"/>
            <a:ext cx="1125074" cy="421326"/>
            <a:chOff x="0" y="0"/>
            <a:chExt cx="1588329" cy="594808"/>
          </a:xfrm>
        </p:grpSpPr>
        <p:sp>
          <p:nvSpPr>
            <p:cNvPr name="Freeform 16" id="16"/>
            <p:cNvSpPr/>
            <p:nvPr/>
          </p:nvSpPr>
          <p:spPr>
            <a:xfrm flipH="false" flipV="false" rot="0">
              <a:off x="0" y="0"/>
              <a:ext cx="1588329" cy="594808"/>
            </a:xfrm>
            <a:custGeom>
              <a:avLst/>
              <a:gdLst/>
              <a:ahLst/>
              <a:cxnLst/>
              <a:rect r="r" b="b" t="t" l="l"/>
              <a:pathLst>
                <a:path h="594808" w="1588329">
                  <a:moveTo>
                    <a:pt x="0" y="0"/>
                  </a:moveTo>
                  <a:lnTo>
                    <a:pt x="1588329" y="0"/>
                  </a:lnTo>
                  <a:lnTo>
                    <a:pt x="1588329" y="594808"/>
                  </a:lnTo>
                  <a:lnTo>
                    <a:pt x="0" y="594808"/>
                  </a:lnTo>
                  <a:close/>
                </a:path>
              </a:pathLst>
            </a:custGeom>
            <a:blipFill>
              <a:blip r:embed="rId3">
                <a:alphaModFix amt="0"/>
              </a:blip>
              <a:stretch>
                <a:fillRect l="-31254" t="0" r="28829" b="-6586"/>
              </a:stretch>
            </a:blipFill>
          </p:spPr>
        </p:sp>
        <p:sp>
          <p:nvSpPr>
            <p:cNvPr name="TextBox 17" id="17"/>
            <p:cNvSpPr txBox="true"/>
            <p:nvPr/>
          </p:nvSpPr>
          <p:spPr>
            <a:xfrm>
              <a:off x="0" y="-47625"/>
              <a:ext cx="1588329" cy="642433"/>
            </a:xfrm>
            <a:prstGeom prst="rect">
              <a:avLst/>
            </a:prstGeom>
          </p:spPr>
          <p:txBody>
            <a:bodyPr anchor="ctr" rtlCol="false" tIns="0" lIns="0" bIns="0" rIns="0"/>
            <a:lstStyle/>
            <a:p>
              <a:pPr algn="ctr">
                <a:lnSpc>
                  <a:spcPts val="2519"/>
                </a:lnSpc>
              </a:pPr>
              <a:r>
                <a:rPr lang="en-US" sz="2099" b="true">
                  <a:solidFill>
                    <a:srgbClr val="1A2340"/>
                  </a:solidFill>
                  <a:latin typeface="Calibri (MS) Bold"/>
                  <a:ea typeface="Calibri (MS) Bold"/>
                  <a:cs typeface="Calibri (MS) Bold"/>
                  <a:sym typeface="Calibri (MS) Bold"/>
                </a:rPr>
                <a:t>1</a:t>
              </a:r>
            </a:p>
          </p:txBody>
        </p:sp>
      </p:grpSp>
      <p:grpSp>
        <p:nvGrpSpPr>
          <p:cNvPr name="Group 18" id="18"/>
          <p:cNvGrpSpPr/>
          <p:nvPr/>
        </p:nvGrpSpPr>
        <p:grpSpPr>
          <a:xfrm rot="0">
            <a:off x="3395876" y="2452432"/>
            <a:ext cx="12737176" cy="441833"/>
            <a:chOff x="0" y="0"/>
            <a:chExt cx="16982901" cy="589111"/>
          </a:xfrm>
        </p:grpSpPr>
        <p:sp>
          <p:nvSpPr>
            <p:cNvPr name="Freeform 19" id="19"/>
            <p:cNvSpPr/>
            <p:nvPr/>
          </p:nvSpPr>
          <p:spPr>
            <a:xfrm flipH="false" flipV="false" rot="0">
              <a:off x="0" y="0"/>
              <a:ext cx="16982901" cy="589111"/>
            </a:xfrm>
            <a:custGeom>
              <a:avLst/>
              <a:gdLst/>
              <a:ahLst/>
              <a:cxnLst/>
              <a:rect r="r" b="b" t="t" l="l"/>
              <a:pathLst>
                <a:path h="589111" w="16982901">
                  <a:moveTo>
                    <a:pt x="0" y="0"/>
                  </a:moveTo>
                  <a:lnTo>
                    <a:pt x="16982901" y="0"/>
                  </a:lnTo>
                  <a:lnTo>
                    <a:pt x="16982901" y="589111"/>
                  </a:lnTo>
                  <a:lnTo>
                    <a:pt x="0" y="589111"/>
                  </a:lnTo>
                  <a:close/>
                </a:path>
              </a:pathLst>
            </a:custGeom>
            <a:blipFill>
              <a:blip r:embed="rId3">
                <a:alphaModFix amt="0"/>
              </a:blip>
              <a:stretch>
                <a:fillRect l="0" t="-174539" r="60084" b="-173878"/>
              </a:stretch>
            </a:blipFill>
          </p:spPr>
        </p:sp>
        <p:sp>
          <p:nvSpPr>
            <p:cNvPr name="TextBox 20" id="20"/>
            <p:cNvSpPr txBox="true"/>
            <p:nvPr/>
          </p:nvSpPr>
          <p:spPr>
            <a:xfrm>
              <a:off x="0" y="-47625"/>
              <a:ext cx="16982901" cy="636736"/>
            </a:xfrm>
            <a:prstGeom prst="rect">
              <a:avLst/>
            </a:prstGeom>
          </p:spPr>
          <p:txBody>
            <a:bodyPr anchor="ctr" rtlCol="false" tIns="0" lIns="0" bIns="0" rIns="0"/>
            <a:lstStyle/>
            <a:p>
              <a:pPr algn="l">
                <a:lnSpc>
                  <a:spcPts val="2639"/>
                </a:lnSpc>
              </a:pPr>
              <a:r>
                <a:rPr lang="en-US" b="true" sz="2199">
                  <a:solidFill>
                    <a:srgbClr val="000000"/>
                  </a:solidFill>
                  <a:latin typeface="Calibri (MS) Bold"/>
                  <a:ea typeface="Calibri (MS) Bold"/>
                  <a:cs typeface="Calibri (MS) Bold"/>
                  <a:sym typeface="Calibri (MS) Bold"/>
                </a:rPr>
                <a:t>Compétition entre variables</a:t>
              </a:r>
            </a:p>
          </p:txBody>
        </p:sp>
      </p:grpSp>
      <p:grpSp>
        <p:nvGrpSpPr>
          <p:cNvPr name="Group 21" id="21"/>
          <p:cNvGrpSpPr/>
          <p:nvPr/>
        </p:nvGrpSpPr>
        <p:grpSpPr>
          <a:xfrm rot="0">
            <a:off x="3395876" y="2881380"/>
            <a:ext cx="12737176" cy="393873"/>
            <a:chOff x="0" y="0"/>
            <a:chExt cx="16982901" cy="525165"/>
          </a:xfrm>
        </p:grpSpPr>
        <p:sp>
          <p:nvSpPr>
            <p:cNvPr name="Freeform 22" id="22"/>
            <p:cNvSpPr/>
            <p:nvPr/>
          </p:nvSpPr>
          <p:spPr>
            <a:xfrm flipH="false" flipV="false" rot="0">
              <a:off x="0" y="0"/>
              <a:ext cx="16982901" cy="525165"/>
            </a:xfrm>
            <a:custGeom>
              <a:avLst/>
              <a:gdLst/>
              <a:ahLst/>
              <a:cxnLst/>
              <a:rect r="r" b="b" t="t" l="l"/>
              <a:pathLst>
                <a:path h="525165" w="16982901">
                  <a:moveTo>
                    <a:pt x="0" y="0"/>
                  </a:moveTo>
                  <a:lnTo>
                    <a:pt x="16982901" y="0"/>
                  </a:lnTo>
                  <a:lnTo>
                    <a:pt x="16982901" y="525165"/>
                  </a:lnTo>
                  <a:lnTo>
                    <a:pt x="0" y="525165"/>
                  </a:lnTo>
                  <a:close/>
                </a:path>
              </a:pathLst>
            </a:custGeom>
            <a:blipFill>
              <a:blip r:embed="rId3">
                <a:alphaModFix amt="0"/>
              </a:blip>
              <a:stretch>
                <a:fillRect l="0" t="-205079" r="60084" b="-197941"/>
              </a:stretch>
            </a:blipFill>
          </p:spPr>
        </p:sp>
        <p:sp>
          <p:nvSpPr>
            <p:cNvPr name="TextBox 23" id="23"/>
            <p:cNvSpPr txBox="true"/>
            <p:nvPr/>
          </p:nvSpPr>
          <p:spPr>
            <a:xfrm>
              <a:off x="0" y="-47625"/>
              <a:ext cx="16982901" cy="572790"/>
            </a:xfrm>
            <a:prstGeom prst="rect">
              <a:avLst/>
            </a:prstGeom>
          </p:spPr>
          <p:txBody>
            <a:bodyPr anchor="ctr" rtlCol="false" tIns="0" lIns="0" bIns="0" rIns="0"/>
            <a:lstStyle/>
            <a:p>
              <a:pPr algn="l">
                <a:lnSpc>
                  <a:spcPts val="2399"/>
                </a:lnSpc>
              </a:pPr>
              <a:r>
                <a:rPr lang="en-US" sz="1999">
                  <a:solidFill>
                    <a:srgbClr val="0D1117"/>
                  </a:solidFill>
                  <a:latin typeface="Calibri (MS)"/>
                  <a:ea typeface="Calibri (MS)"/>
                  <a:cs typeface="Calibri (MS)"/>
                  <a:sym typeface="Calibri (MS)"/>
                </a:rPr>
                <a:t>Toutes les features sont évaluées :</a:t>
              </a:r>
            </a:p>
          </p:txBody>
        </p:sp>
      </p:grpSp>
      <p:grpSp>
        <p:nvGrpSpPr>
          <p:cNvPr name="Group 24" id="24"/>
          <p:cNvGrpSpPr/>
          <p:nvPr/>
        </p:nvGrpSpPr>
        <p:grpSpPr>
          <a:xfrm rot="0">
            <a:off x="3376785" y="3251706"/>
            <a:ext cx="2603943" cy="391773"/>
            <a:chOff x="0" y="0"/>
            <a:chExt cx="3471924" cy="522364"/>
          </a:xfrm>
        </p:grpSpPr>
        <p:sp>
          <p:nvSpPr>
            <p:cNvPr name="Freeform 25" id="25"/>
            <p:cNvSpPr/>
            <p:nvPr/>
          </p:nvSpPr>
          <p:spPr>
            <a:xfrm flipH="false" flipV="false" rot="0">
              <a:off x="25454" y="9532"/>
              <a:ext cx="3421016" cy="503299"/>
            </a:xfrm>
            <a:custGeom>
              <a:avLst/>
              <a:gdLst/>
              <a:ahLst/>
              <a:cxnLst/>
              <a:rect r="r" b="b" t="t" l="l"/>
              <a:pathLst>
                <a:path h="503299" w="3421016">
                  <a:moveTo>
                    <a:pt x="0" y="0"/>
                  </a:moveTo>
                  <a:lnTo>
                    <a:pt x="3421016" y="0"/>
                  </a:lnTo>
                  <a:lnTo>
                    <a:pt x="3421016" y="503300"/>
                  </a:lnTo>
                  <a:lnTo>
                    <a:pt x="0" y="503300"/>
                  </a:lnTo>
                  <a:close/>
                </a:path>
              </a:pathLst>
            </a:custGeom>
            <a:solidFill>
              <a:srgbClr val="0A1628"/>
            </a:solidFill>
          </p:spPr>
        </p:sp>
        <p:sp>
          <p:nvSpPr>
            <p:cNvPr name="Freeform 26" id="26"/>
            <p:cNvSpPr/>
            <p:nvPr/>
          </p:nvSpPr>
          <p:spPr>
            <a:xfrm flipH="false" flipV="false" rot="0">
              <a:off x="0" y="0"/>
              <a:ext cx="3471924" cy="522364"/>
            </a:xfrm>
            <a:custGeom>
              <a:avLst/>
              <a:gdLst/>
              <a:ahLst/>
              <a:cxnLst/>
              <a:rect r="r" b="b" t="t" l="l"/>
              <a:pathLst>
                <a:path h="522364" w="3471924">
                  <a:moveTo>
                    <a:pt x="25454" y="0"/>
                  </a:moveTo>
                  <a:lnTo>
                    <a:pt x="3446470" y="0"/>
                  </a:lnTo>
                  <a:cubicBezTo>
                    <a:pt x="3460470" y="0"/>
                    <a:pt x="3471924" y="4289"/>
                    <a:pt x="3471924" y="9532"/>
                  </a:cubicBezTo>
                  <a:lnTo>
                    <a:pt x="3471924" y="512832"/>
                  </a:lnTo>
                  <a:cubicBezTo>
                    <a:pt x="3471924" y="518074"/>
                    <a:pt x="3460470" y="522364"/>
                    <a:pt x="3446470" y="522364"/>
                  </a:cubicBezTo>
                  <a:lnTo>
                    <a:pt x="25454" y="522364"/>
                  </a:lnTo>
                  <a:cubicBezTo>
                    <a:pt x="11454" y="522364"/>
                    <a:pt x="0" y="518074"/>
                    <a:pt x="0" y="512832"/>
                  </a:cubicBezTo>
                  <a:lnTo>
                    <a:pt x="0" y="9532"/>
                  </a:lnTo>
                  <a:cubicBezTo>
                    <a:pt x="0" y="4289"/>
                    <a:pt x="11454" y="0"/>
                    <a:pt x="25454" y="0"/>
                  </a:cubicBezTo>
                  <a:moveTo>
                    <a:pt x="25454" y="19064"/>
                  </a:moveTo>
                  <a:lnTo>
                    <a:pt x="25454" y="9532"/>
                  </a:lnTo>
                  <a:lnTo>
                    <a:pt x="50908" y="9532"/>
                  </a:lnTo>
                  <a:lnTo>
                    <a:pt x="50908" y="512832"/>
                  </a:lnTo>
                  <a:lnTo>
                    <a:pt x="25454" y="512832"/>
                  </a:lnTo>
                  <a:lnTo>
                    <a:pt x="25454" y="503299"/>
                  </a:lnTo>
                  <a:lnTo>
                    <a:pt x="3446470" y="503299"/>
                  </a:lnTo>
                  <a:lnTo>
                    <a:pt x="3446470" y="512832"/>
                  </a:lnTo>
                  <a:lnTo>
                    <a:pt x="3421016" y="512832"/>
                  </a:lnTo>
                  <a:lnTo>
                    <a:pt x="3421016" y="9532"/>
                  </a:lnTo>
                  <a:lnTo>
                    <a:pt x="3446470" y="9532"/>
                  </a:lnTo>
                  <a:lnTo>
                    <a:pt x="3446470" y="19064"/>
                  </a:lnTo>
                  <a:lnTo>
                    <a:pt x="25454" y="19064"/>
                  </a:lnTo>
                  <a:close/>
                </a:path>
              </a:pathLst>
            </a:custGeom>
            <a:solidFill>
              <a:srgbClr val="D0E0D0"/>
            </a:solidFill>
          </p:spPr>
        </p:sp>
      </p:grpSp>
      <p:grpSp>
        <p:nvGrpSpPr>
          <p:cNvPr name="Group 27" id="27"/>
          <p:cNvGrpSpPr/>
          <p:nvPr/>
        </p:nvGrpSpPr>
        <p:grpSpPr>
          <a:xfrm rot="0">
            <a:off x="3395876" y="3258855"/>
            <a:ext cx="2565762" cy="377474"/>
            <a:chOff x="0" y="0"/>
            <a:chExt cx="3421016" cy="503299"/>
          </a:xfrm>
        </p:grpSpPr>
        <p:sp>
          <p:nvSpPr>
            <p:cNvPr name="Freeform 28" id="28"/>
            <p:cNvSpPr/>
            <p:nvPr/>
          </p:nvSpPr>
          <p:spPr>
            <a:xfrm flipH="false" flipV="false" rot="0">
              <a:off x="0" y="0"/>
              <a:ext cx="3421016" cy="503299"/>
            </a:xfrm>
            <a:custGeom>
              <a:avLst/>
              <a:gdLst/>
              <a:ahLst/>
              <a:cxnLst/>
              <a:rect r="r" b="b" t="t" l="l"/>
              <a:pathLst>
                <a:path h="503299" w="3421016">
                  <a:moveTo>
                    <a:pt x="0" y="0"/>
                  </a:moveTo>
                  <a:lnTo>
                    <a:pt x="3421016" y="0"/>
                  </a:lnTo>
                  <a:lnTo>
                    <a:pt x="3421016" y="503299"/>
                  </a:lnTo>
                  <a:lnTo>
                    <a:pt x="0" y="503299"/>
                  </a:lnTo>
                  <a:close/>
                </a:path>
              </a:pathLst>
            </a:custGeom>
            <a:solidFill>
              <a:srgbClr val="B6DBCA">
                <a:alpha val="0"/>
              </a:srgbClr>
            </a:solidFill>
          </p:spPr>
        </p:sp>
        <p:sp>
          <p:nvSpPr>
            <p:cNvPr name="TextBox 29" id="29"/>
            <p:cNvSpPr txBox="true"/>
            <p:nvPr/>
          </p:nvSpPr>
          <p:spPr>
            <a:xfrm>
              <a:off x="0" y="-38100"/>
              <a:ext cx="3421016" cy="541399"/>
            </a:xfrm>
            <a:prstGeom prst="rect">
              <a:avLst/>
            </a:prstGeom>
          </p:spPr>
          <p:txBody>
            <a:bodyPr anchor="ctr" rtlCol="false" tIns="0" lIns="0" bIns="0" rIns="0"/>
            <a:lstStyle/>
            <a:p>
              <a:pPr algn="ctr">
                <a:lnSpc>
                  <a:spcPts val="2159"/>
                </a:lnSpc>
              </a:pPr>
              <a:r>
                <a:rPr lang="en-US" sz="1799">
                  <a:solidFill>
                    <a:srgbClr val="D0E0D0"/>
                  </a:solidFill>
                  <a:latin typeface="Calibri (MS)"/>
                  <a:ea typeface="Calibri (MS)"/>
                  <a:cs typeface="Calibri (MS)"/>
                  <a:sym typeface="Calibri (MS)"/>
                </a:rPr>
                <a:t>Glucose</a:t>
              </a:r>
            </a:p>
          </p:txBody>
        </p:sp>
      </p:grpSp>
      <p:grpSp>
        <p:nvGrpSpPr>
          <p:cNvPr name="Group 30" id="30"/>
          <p:cNvGrpSpPr/>
          <p:nvPr/>
        </p:nvGrpSpPr>
        <p:grpSpPr>
          <a:xfrm rot="0">
            <a:off x="6217450" y="3251706"/>
            <a:ext cx="2603943" cy="391773"/>
            <a:chOff x="0" y="0"/>
            <a:chExt cx="3471924" cy="522364"/>
          </a:xfrm>
        </p:grpSpPr>
        <p:sp>
          <p:nvSpPr>
            <p:cNvPr name="Freeform 31" id="31"/>
            <p:cNvSpPr/>
            <p:nvPr/>
          </p:nvSpPr>
          <p:spPr>
            <a:xfrm flipH="false" flipV="false" rot="0">
              <a:off x="25454" y="9532"/>
              <a:ext cx="3421016" cy="503299"/>
            </a:xfrm>
            <a:custGeom>
              <a:avLst/>
              <a:gdLst/>
              <a:ahLst/>
              <a:cxnLst/>
              <a:rect r="r" b="b" t="t" l="l"/>
              <a:pathLst>
                <a:path h="503299" w="3421016">
                  <a:moveTo>
                    <a:pt x="0" y="0"/>
                  </a:moveTo>
                  <a:lnTo>
                    <a:pt x="3421016" y="0"/>
                  </a:lnTo>
                  <a:lnTo>
                    <a:pt x="3421016" y="503300"/>
                  </a:lnTo>
                  <a:lnTo>
                    <a:pt x="0" y="503300"/>
                  </a:lnTo>
                  <a:close/>
                </a:path>
              </a:pathLst>
            </a:custGeom>
            <a:solidFill>
              <a:srgbClr val="0A1628"/>
            </a:solidFill>
          </p:spPr>
        </p:sp>
        <p:sp>
          <p:nvSpPr>
            <p:cNvPr name="Freeform 32" id="32"/>
            <p:cNvSpPr/>
            <p:nvPr/>
          </p:nvSpPr>
          <p:spPr>
            <a:xfrm flipH="false" flipV="false" rot="0">
              <a:off x="0" y="0"/>
              <a:ext cx="3471924" cy="522364"/>
            </a:xfrm>
            <a:custGeom>
              <a:avLst/>
              <a:gdLst/>
              <a:ahLst/>
              <a:cxnLst/>
              <a:rect r="r" b="b" t="t" l="l"/>
              <a:pathLst>
                <a:path h="522364" w="3471924">
                  <a:moveTo>
                    <a:pt x="25454" y="0"/>
                  </a:moveTo>
                  <a:lnTo>
                    <a:pt x="3446470" y="0"/>
                  </a:lnTo>
                  <a:cubicBezTo>
                    <a:pt x="3460470" y="0"/>
                    <a:pt x="3471924" y="4289"/>
                    <a:pt x="3471924" y="9532"/>
                  </a:cubicBezTo>
                  <a:lnTo>
                    <a:pt x="3471924" y="512832"/>
                  </a:lnTo>
                  <a:cubicBezTo>
                    <a:pt x="3471924" y="518074"/>
                    <a:pt x="3460470" y="522364"/>
                    <a:pt x="3446470" y="522364"/>
                  </a:cubicBezTo>
                  <a:lnTo>
                    <a:pt x="25454" y="522364"/>
                  </a:lnTo>
                  <a:cubicBezTo>
                    <a:pt x="11454" y="522364"/>
                    <a:pt x="0" y="518074"/>
                    <a:pt x="0" y="512832"/>
                  </a:cubicBezTo>
                  <a:lnTo>
                    <a:pt x="0" y="9532"/>
                  </a:lnTo>
                  <a:cubicBezTo>
                    <a:pt x="0" y="4289"/>
                    <a:pt x="11454" y="0"/>
                    <a:pt x="25454" y="0"/>
                  </a:cubicBezTo>
                  <a:moveTo>
                    <a:pt x="25454" y="19064"/>
                  </a:moveTo>
                  <a:lnTo>
                    <a:pt x="25454" y="9532"/>
                  </a:lnTo>
                  <a:lnTo>
                    <a:pt x="50908" y="9532"/>
                  </a:lnTo>
                  <a:lnTo>
                    <a:pt x="50908" y="512832"/>
                  </a:lnTo>
                  <a:lnTo>
                    <a:pt x="25454" y="512832"/>
                  </a:lnTo>
                  <a:lnTo>
                    <a:pt x="25454" y="503299"/>
                  </a:lnTo>
                  <a:lnTo>
                    <a:pt x="3446470" y="503299"/>
                  </a:lnTo>
                  <a:lnTo>
                    <a:pt x="3446470" y="512832"/>
                  </a:lnTo>
                  <a:lnTo>
                    <a:pt x="3421016" y="512832"/>
                  </a:lnTo>
                  <a:lnTo>
                    <a:pt x="3421016" y="9532"/>
                  </a:lnTo>
                  <a:lnTo>
                    <a:pt x="3446470" y="9532"/>
                  </a:lnTo>
                  <a:lnTo>
                    <a:pt x="3446470" y="19064"/>
                  </a:lnTo>
                  <a:lnTo>
                    <a:pt x="25454" y="19064"/>
                  </a:lnTo>
                  <a:close/>
                </a:path>
              </a:pathLst>
            </a:custGeom>
            <a:solidFill>
              <a:srgbClr val="66BB6A"/>
            </a:solidFill>
          </p:spPr>
        </p:sp>
      </p:grpSp>
      <p:grpSp>
        <p:nvGrpSpPr>
          <p:cNvPr name="Group 33" id="33"/>
          <p:cNvGrpSpPr/>
          <p:nvPr/>
        </p:nvGrpSpPr>
        <p:grpSpPr>
          <a:xfrm rot="0">
            <a:off x="6236541" y="3258855"/>
            <a:ext cx="2565762" cy="377474"/>
            <a:chOff x="0" y="0"/>
            <a:chExt cx="3421016" cy="503299"/>
          </a:xfrm>
        </p:grpSpPr>
        <p:sp>
          <p:nvSpPr>
            <p:cNvPr name="Freeform 34" id="34"/>
            <p:cNvSpPr/>
            <p:nvPr/>
          </p:nvSpPr>
          <p:spPr>
            <a:xfrm flipH="false" flipV="false" rot="0">
              <a:off x="0" y="0"/>
              <a:ext cx="3421016" cy="503299"/>
            </a:xfrm>
            <a:custGeom>
              <a:avLst/>
              <a:gdLst/>
              <a:ahLst/>
              <a:cxnLst/>
              <a:rect r="r" b="b" t="t" l="l"/>
              <a:pathLst>
                <a:path h="503299" w="3421016">
                  <a:moveTo>
                    <a:pt x="0" y="0"/>
                  </a:moveTo>
                  <a:lnTo>
                    <a:pt x="3421016" y="0"/>
                  </a:lnTo>
                  <a:lnTo>
                    <a:pt x="3421016" y="503299"/>
                  </a:lnTo>
                  <a:lnTo>
                    <a:pt x="0" y="503299"/>
                  </a:lnTo>
                  <a:close/>
                </a:path>
              </a:pathLst>
            </a:custGeom>
            <a:blipFill>
              <a:blip r:embed="rId3">
                <a:alphaModFix amt="0"/>
              </a:blip>
              <a:stretch>
                <a:fillRect l="-161" t="0" r="59923" b="-6586"/>
              </a:stretch>
            </a:blipFill>
          </p:spPr>
        </p:sp>
        <p:sp>
          <p:nvSpPr>
            <p:cNvPr name="TextBox 35" id="35"/>
            <p:cNvSpPr txBox="true"/>
            <p:nvPr/>
          </p:nvSpPr>
          <p:spPr>
            <a:xfrm>
              <a:off x="0" y="-38100"/>
              <a:ext cx="3421016" cy="541399"/>
            </a:xfrm>
            <a:prstGeom prst="rect">
              <a:avLst/>
            </a:prstGeom>
          </p:spPr>
          <p:txBody>
            <a:bodyPr anchor="ctr" rtlCol="false" tIns="0" lIns="0" bIns="0" rIns="0"/>
            <a:lstStyle/>
            <a:p>
              <a:pPr algn="ctr">
                <a:lnSpc>
                  <a:spcPts val="2159"/>
                </a:lnSpc>
              </a:pPr>
              <a:r>
                <a:rPr lang="en-US" sz="1799">
                  <a:solidFill>
                    <a:srgbClr val="66BB6A"/>
                  </a:solidFill>
                  <a:latin typeface="Calibri (MS)"/>
                  <a:ea typeface="Calibri (MS)"/>
                  <a:cs typeface="Calibri (MS)"/>
                  <a:sym typeface="Calibri (MS)"/>
                </a:rPr>
                <a:t>BMI</a:t>
              </a:r>
            </a:p>
          </p:txBody>
        </p:sp>
      </p:grpSp>
      <p:grpSp>
        <p:nvGrpSpPr>
          <p:cNvPr name="Group 36" id="36"/>
          <p:cNvGrpSpPr/>
          <p:nvPr/>
        </p:nvGrpSpPr>
        <p:grpSpPr>
          <a:xfrm rot="0">
            <a:off x="9058115" y="3251706"/>
            <a:ext cx="2603943" cy="391773"/>
            <a:chOff x="0" y="0"/>
            <a:chExt cx="3471924" cy="522364"/>
          </a:xfrm>
        </p:grpSpPr>
        <p:sp>
          <p:nvSpPr>
            <p:cNvPr name="Freeform 37" id="37"/>
            <p:cNvSpPr/>
            <p:nvPr/>
          </p:nvSpPr>
          <p:spPr>
            <a:xfrm flipH="false" flipV="false" rot="0">
              <a:off x="25454" y="9532"/>
              <a:ext cx="3421016" cy="503299"/>
            </a:xfrm>
            <a:custGeom>
              <a:avLst/>
              <a:gdLst/>
              <a:ahLst/>
              <a:cxnLst/>
              <a:rect r="r" b="b" t="t" l="l"/>
              <a:pathLst>
                <a:path h="503299" w="3421016">
                  <a:moveTo>
                    <a:pt x="0" y="0"/>
                  </a:moveTo>
                  <a:lnTo>
                    <a:pt x="3421016" y="0"/>
                  </a:lnTo>
                  <a:lnTo>
                    <a:pt x="3421016" y="503300"/>
                  </a:lnTo>
                  <a:lnTo>
                    <a:pt x="0" y="503300"/>
                  </a:lnTo>
                  <a:close/>
                </a:path>
              </a:pathLst>
            </a:custGeom>
            <a:solidFill>
              <a:srgbClr val="0A1628"/>
            </a:solidFill>
          </p:spPr>
        </p:sp>
        <p:sp>
          <p:nvSpPr>
            <p:cNvPr name="Freeform 38" id="38"/>
            <p:cNvSpPr/>
            <p:nvPr/>
          </p:nvSpPr>
          <p:spPr>
            <a:xfrm flipH="false" flipV="false" rot="0">
              <a:off x="0" y="0"/>
              <a:ext cx="3471924" cy="522364"/>
            </a:xfrm>
            <a:custGeom>
              <a:avLst/>
              <a:gdLst/>
              <a:ahLst/>
              <a:cxnLst/>
              <a:rect r="r" b="b" t="t" l="l"/>
              <a:pathLst>
                <a:path h="522364" w="3471924">
                  <a:moveTo>
                    <a:pt x="25454" y="0"/>
                  </a:moveTo>
                  <a:lnTo>
                    <a:pt x="3446470" y="0"/>
                  </a:lnTo>
                  <a:cubicBezTo>
                    <a:pt x="3460470" y="0"/>
                    <a:pt x="3471924" y="4289"/>
                    <a:pt x="3471924" y="9532"/>
                  </a:cubicBezTo>
                  <a:lnTo>
                    <a:pt x="3471924" y="512832"/>
                  </a:lnTo>
                  <a:cubicBezTo>
                    <a:pt x="3471924" y="518074"/>
                    <a:pt x="3460470" y="522364"/>
                    <a:pt x="3446470" y="522364"/>
                  </a:cubicBezTo>
                  <a:lnTo>
                    <a:pt x="25454" y="522364"/>
                  </a:lnTo>
                  <a:cubicBezTo>
                    <a:pt x="11454" y="522364"/>
                    <a:pt x="0" y="518074"/>
                    <a:pt x="0" y="512832"/>
                  </a:cubicBezTo>
                  <a:lnTo>
                    <a:pt x="0" y="9532"/>
                  </a:lnTo>
                  <a:cubicBezTo>
                    <a:pt x="0" y="4289"/>
                    <a:pt x="11454" y="0"/>
                    <a:pt x="25454" y="0"/>
                  </a:cubicBezTo>
                  <a:moveTo>
                    <a:pt x="25454" y="19064"/>
                  </a:moveTo>
                  <a:lnTo>
                    <a:pt x="25454" y="9532"/>
                  </a:lnTo>
                  <a:lnTo>
                    <a:pt x="50908" y="9532"/>
                  </a:lnTo>
                  <a:lnTo>
                    <a:pt x="50908" y="512832"/>
                  </a:lnTo>
                  <a:lnTo>
                    <a:pt x="25454" y="512832"/>
                  </a:lnTo>
                  <a:lnTo>
                    <a:pt x="25454" y="503299"/>
                  </a:lnTo>
                  <a:lnTo>
                    <a:pt x="3446470" y="503299"/>
                  </a:lnTo>
                  <a:lnTo>
                    <a:pt x="3446470" y="512832"/>
                  </a:lnTo>
                  <a:lnTo>
                    <a:pt x="3421016" y="512832"/>
                  </a:lnTo>
                  <a:lnTo>
                    <a:pt x="3421016" y="9532"/>
                  </a:lnTo>
                  <a:lnTo>
                    <a:pt x="3446470" y="9532"/>
                  </a:lnTo>
                  <a:lnTo>
                    <a:pt x="3446470" y="19064"/>
                  </a:lnTo>
                  <a:lnTo>
                    <a:pt x="25454" y="19064"/>
                  </a:lnTo>
                  <a:close/>
                </a:path>
              </a:pathLst>
            </a:custGeom>
            <a:solidFill>
              <a:srgbClr val="FFA726"/>
            </a:solidFill>
          </p:spPr>
        </p:sp>
      </p:grpSp>
      <p:grpSp>
        <p:nvGrpSpPr>
          <p:cNvPr name="Group 39" id="39"/>
          <p:cNvGrpSpPr/>
          <p:nvPr/>
        </p:nvGrpSpPr>
        <p:grpSpPr>
          <a:xfrm rot="0">
            <a:off x="9077206" y="3258855"/>
            <a:ext cx="2565762" cy="377474"/>
            <a:chOff x="0" y="0"/>
            <a:chExt cx="3421016" cy="503299"/>
          </a:xfrm>
        </p:grpSpPr>
        <p:sp>
          <p:nvSpPr>
            <p:cNvPr name="Freeform 40" id="40"/>
            <p:cNvSpPr/>
            <p:nvPr/>
          </p:nvSpPr>
          <p:spPr>
            <a:xfrm flipH="false" flipV="false" rot="0">
              <a:off x="0" y="0"/>
              <a:ext cx="3421016" cy="503299"/>
            </a:xfrm>
            <a:custGeom>
              <a:avLst/>
              <a:gdLst/>
              <a:ahLst/>
              <a:cxnLst/>
              <a:rect r="r" b="b" t="t" l="l"/>
              <a:pathLst>
                <a:path h="503299" w="3421016">
                  <a:moveTo>
                    <a:pt x="0" y="0"/>
                  </a:moveTo>
                  <a:lnTo>
                    <a:pt x="3421016" y="0"/>
                  </a:lnTo>
                  <a:lnTo>
                    <a:pt x="3421016" y="503299"/>
                  </a:lnTo>
                  <a:lnTo>
                    <a:pt x="0" y="503299"/>
                  </a:lnTo>
                  <a:close/>
                </a:path>
              </a:pathLst>
            </a:custGeom>
            <a:blipFill>
              <a:blip r:embed="rId3">
                <a:alphaModFix amt="0"/>
              </a:blip>
              <a:stretch>
                <a:fillRect l="-161" t="0" r="59923" b="-6586"/>
              </a:stretch>
            </a:blipFill>
          </p:spPr>
        </p:sp>
        <p:sp>
          <p:nvSpPr>
            <p:cNvPr name="TextBox 41" id="41"/>
            <p:cNvSpPr txBox="true"/>
            <p:nvPr/>
          </p:nvSpPr>
          <p:spPr>
            <a:xfrm>
              <a:off x="0" y="-38100"/>
              <a:ext cx="3421016" cy="541399"/>
            </a:xfrm>
            <a:prstGeom prst="rect">
              <a:avLst/>
            </a:prstGeom>
          </p:spPr>
          <p:txBody>
            <a:bodyPr anchor="ctr" rtlCol="false" tIns="0" lIns="0" bIns="0" rIns="0"/>
            <a:lstStyle/>
            <a:p>
              <a:pPr algn="ctr">
                <a:lnSpc>
                  <a:spcPts val="2159"/>
                </a:lnSpc>
              </a:pPr>
              <a:r>
                <a:rPr lang="en-US" sz="1799">
                  <a:solidFill>
                    <a:srgbClr val="FFA726"/>
                  </a:solidFill>
                  <a:latin typeface="Calibri (MS)"/>
                  <a:ea typeface="Calibri (MS)"/>
                  <a:cs typeface="Calibri (MS)"/>
                  <a:sym typeface="Calibri (MS)"/>
                </a:rPr>
                <a:t>Age</a:t>
              </a:r>
            </a:p>
          </p:txBody>
        </p:sp>
      </p:grpSp>
      <p:grpSp>
        <p:nvGrpSpPr>
          <p:cNvPr name="Group 42" id="42"/>
          <p:cNvGrpSpPr/>
          <p:nvPr/>
        </p:nvGrpSpPr>
        <p:grpSpPr>
          <a:xfrm rot="0">
            <a:off x="11898780" y="3251706"/>
            <a:ext cx="2603943" cy="391773"/>
            <a:chOff x="0" y="0"/>
            <a:chExt cx="3471924" cy="522364"/>
          </a:xfrm>
        </p:grpSpPr>
        <p:sp>
          <p:nvSpPr>
            <p:cNvPr name="Freeform 43" id="43"/>
            <p:cNvSpPr/>
            <p:nvPr/>
          </p:nvSpPr>
          <p:spPr>
            <a:xfrm flipH="false" flipV="false" rot="0">
              <a:off x="25454" y="9532"/>
              <a:ext cx="3421016" cy="503299"/>
            </a:xfrm>
            <a:custGeom>
              <a:avLst/>
              <a:gdLst/>
              <a:ahLst/>
              <a:cxnLst/>
              <a:rect r="r" b="b" t="t" l="l"/>
              <a:pathLst>
                <a:path h="503299" w="3421016">
                  <a:moveTo>
                    <a:pt x="0" y="0"/>
                  </a:moveTo>
                  <a:lnTo>
                    <a:pt x="3421016" y="0"/>
                  </a:lnTo>
                  <a:lnTo>
                    <a:pt x="3421016" y="503300"/>
                  </a:lnTo>
                  <a:lnTo>
                    <a:pt x="0" y="503300"/>
                  </a:lnTo>
                  <a:close/>
                </a:path>
              </a:pathLst>
            </a:custGeom>
            <a:solidFill>
              <a:srgbClr val="0A1628"/>
            </a:solidFill>
          </p:spPr>
        </p:sp>
        <p:sp>
          <p:nvSpPr>
            <p:cNvPr name="Freeform 44" id="44"/>
            <p:cNvSpPr/>
            <p:nvPr/>
          </p:nvSpPr>
          <p:spPr>
            <a:xfrm flipH="false" flipV="false" rot="0">
              <a:off x="0" y="0"/>
              <a:ext cx="3471924" cy="522364"/>
            </a:xfrm>
            <a:custGeom>
              <a:avLst/>
              <a:gdLst/>
              <a:ahLst/>
              <a:cxnLst/>
              <a:rect r="r" b="b" t="t" l="l"/>
              <a:pathLst>
                <a:path h="522364" w="3471924">
                  <a:moveTo>
                    <a:pt x="25454" y="0"/>
                  </a:moveTo>
                  <a:lnTo>
                    <a:pt x="3446470" y="0"/>
                  </a:lnTo>
                  <a:cubicBezTo>
                    <a:pt x="3460470" y="0"/>
                    <a:pt x="3471924" y="4289"/>
                    <a:pt x="3471924" y="9532"/>
                  </a:cubicBezTo>
                  <a:lnTo>
                    <a:pt x="3471924" y="512832"/>
                  </a:lnTo>
                  <a:cubicBezTo>
                    <a:pt x="3471924" y="518074"/>
                    <a:pt x="3460470" y="522364"/>
                    <a:pt x="3446470" y="522364"/>
                  </a:cubicBezTo>
                  <a:lnTo>
                    <a:pt x="25454" y="522364"/>
                  </a:lnTo>
                  <a:cubicBezTo>
                    <a:pt x="11454" y="522364"/>
                    <a:pt x="0" y="518074"/>
                    <a:pt x="0" y="512832"/>
                  </a:cubicBezTo>
                  <a:lnTo>
                    <a:pt x="0" y="9532"/>
                  </a:lnTo>
                  <a:cubicBezTo>
                    <a:pt x="0" y="4289"/>
                    <a:pt x="11454" y="0"/>
                    <a:pt x="25454" y="0"/>
                  </a:cubicBezTo>
                  <a:moveTo>
                    <a:pt x="25454" y="19064"/>
                  </a:moveTo>
                  <a:lnTo>
                    <a:pt x="25454" y="9532"/>
                  </a:lnTo>
                  <a:lnTo>
                    <a:pt x="50908" y="9532"/>
                  </a:lnTo>
                  <a:lnTo>
                    <a:pt x="50908" y="512832"/>
                  </a:lnTo>
                  <a:lnTo>
                    <a:pt x="25454" y="512832"/>
                  </a:lnTo>
                  <a:lnTo>
                    <a:pt x="25454" y="503299"/>
                  </a:lnTo>
                  <a:lnTo>
                    <a:pt x="3446470" y="503299"/>
                  </a:lnTo>
                  <a:lnTo>
                    <a:pt x="3446470" y="512832"/>
                  </a:lnTo>
                  <a:lnTo>
                    <a:pt x="3421016" y="512832"/>
                  </a:lnTo>
                  <a:lnTo>
                    <a:pt x="3421016" y="9532"/>
                  </a:lnTo>
                  <a:lnTo>
                    <a:pt x="3446470" y="9532"/>
                  </a:lnTo>
                  <a:lnTo>
                    <a:pt x="3446470" y="19064"/>
                  </a:lnTo>
                  <a:lnTo>
                    <a:pt x="25454" y="19064"/>
                  </a:lnTo>
                  <a:close/>
                </a:path>
              </a:pathLst>
            </a:custGeom>
            <a:solidFill>
              <a:srgbClr val="8EAAC8"/>
            </a:solidFill>
          </p:spPr>
        </p:sp>
      </p:grpSp>
      <p:grpSp>
        <p:nvGrpSpPr>
          <p:cNvPr name="Group 45" id="45"/>
          <p:cNvGrpSpPr/>
          <p:nvPr/>
        </p:nvGrpSpPr>
        <p:grpSpPr>
          <a:xfrm rot="0">
            <a:off x="11917871" y="3258855"/>
            <a:ext cx="2565762" cy="377474"/>
            <a:chOff x="0" y="0"/>
            <a:chExt cx="3421016" cy="503299"/>
          </a:xfrm>
        </p:grpSpPr>
        <p:sp>
          <p:nvSpPr>
            <p:cNvPr name="Freeform 46" id="46"/>
            <p:cNvSpPr/>
            <p:nvPr/>
          </p:nvSpPr>
          <p:spPr>
            <a:xfrm flipH="false" flipV="false" rot="0">
              <a:off x="0" y="0"/>
              <a:ext cx="3421016" cy="503299"/>
            </a:xfrm>
            <a:custGeom>
              <a:avLst/>
              <a:gdLst/>
              <a:ahLst/>
              <a:cxnLst/>
              <a:rect r="r" b="b" t="t" l="l"/>
              <a:pathLst>
                <a:path h="503299" w="3421016">
                  <a:moveTo>
                    <a:pt x="0" y="0"/>
                  </a:moveTo>
                  <a:lnTo>
                    <a:pt x="3421016" y="0"/>
                  </a:lnTo>
                  <a:lnTo>
                    <a:pt x="3421016" y="503299"/>
                  </a:lnTo>
                  <a:lnTo>
                    <a:pt x="0" y="503299"/>
                  </a:lnTo>
                  <a:close/>
                </a:path>
              </a:pathLst>
            </a:custGeom>
            <a:blipFill>
              <a:blip r:embed="rId3">
                <a:alphaModFix amt="0"/>
              </a:blip>
              <a:stretch>
                <a:fillRect l="-161" t="0" r="59923" b="-6586"/>
              </a:stretch>
            </a:blipFill>
          </p:spPr>
        </p:sp>
        <p:sp>
          <p:nvSpPr>
            <p:cNvPr name="TextBox 47" id="47"/>
            <p:cNvSpPr txBox="true"/>
            <p:nvPr/>
          </p:nvSpPr>
          <p:spPr>
            <a:xfrm>
              <a:off x="0" y="-38100"/>
              <a:ext cx="3421016" cy="541399"/>
            </a:xfrm>
            <a:prstGeom prst="rect">
              <a:avLst/>
            </a:prstGeom>
          </p:spPr>
          <p:txBody>
            <a:bodyPr anchor="ctr" rtlCol="false" tIns="0" lIns="0" bIns="0" rIns="0"/>
            <a:lstStyle/>
            <a:p>
              <a:pPr algn="ctr">
                <a:lnSpc>
                  <a:spcPts val="2159"/>
                </a:lnSpc>
              </a:pPr>
              <a:r>
                <a:rPr lang="en-US" sz="1799">
                  <a:solidFill>
                    <a:srgbClr val="8EAAC8"/>
                  </a:solidFill>
                  <a:latin typeface="Calibri (MS)"/>
                  <a:ea typeface="Calibri (MS)"/>
                  <a:cs typeface="Calibri (MS)"/>
                  <a:sym typeface="Calibri (MS)"/>
                </a:rPr>
                <a:t>…</a:t>
              </a:r>
            </a:p>
          </p:txBody>
        </p:sp>
      </p:grpSp>
      <p:grpSp>
        <p:nvGrpSpPr>
          <p:cNvPr name="Group 48" id="48"/>
          <p:cNvGrpSpPr/>
          <p:nvPr/>
        </p:nvGrpSpPr>
        <p:grpSpPr>
          <a:xfrm rot="0">
            <a:off x="1913809" y="3714761"/>
            <a:ext cx="14051866" cy="47625"/>
            <a:chOff x="0" y="0"/>
            <a:chExt cx="18735822" cy="63500"/>
          </a:xfrm>
        </p:grpSpPr>
        <p:sp>
          <p:nvSpPr>
            <p:cNvPr name="Freeform 49" id="49"/>
            <p:cNvSpPr/>
            <p:nvPr/>
          </p:nvSpPr>
          <p:spPr>
            <a:xfrm flipH="false" flipV="false" rot="0">
              <a:off x="21318" y="0"/>
              <a:ext cx="18693410" cy="63357"/>
            </a:xfrm>
            <a:custGeom>
              <a:avLst/>
              <a:gdLst/>
              <a:ahLst/>
              <a:cxnLst/>
              <a:rect r="r" b="b" t="t" l="l"/>
              <a:pathLst>
                <a:path h="63357" w="18693410">
                  <a:moveTo>
                    <a:pt x="0" y="0"/>
                  </a:moveTo>
                  <a:lnTo>
                    <a:pt x="18693409" y="0"/>
                  </a:lnTo>
                  <a:lnTo>
                    <a:pt x="18693409" y="63357"/>
                  </a:lnTo>
                  <a:lnTo>
                    <a:pt x="0" y="63357"/>
                  </a:lnTo>
                  <a:close/>
                </a:path>
              </a:pathLst>
            </a:custGeom>
            <a:solidFill>
              <a:srgbClr val="1E3A5F"/>
            </a:solidFill>
          </p:spPr>
        </p:sp>
      </p:grpSp>
      <p:grpSp>
        <p:nvGrpSpPr>
          <p:cNvPr name="Group 50" id="50"/>
          <p:cNvGrpSpPr/>
          <p:nvPr/>
        </p:nvGrpSpPr>
        <p:grpSpPr>
          <a:xfrm rot="0">
            <a:off x="1897916" y="3864628"/>
            <a:ext cx="1254890" cy="469940"/>
            <a:chOff x="0" y="0"/>
            <a:chExt cx="1673186" cy="626586"/>
          </a:xfrm>
        </p:grpSpPr>
        <p:sp>
          <p:nvSpPr>
            <p:cNvPr name="Freeform 51" id="51"/>
            <p:cNvSpPr/>
            <p:nvPr/>
          </p:nvSpPr>
          <p:spPr>
            <a:xfrm flipH="false" flipV="false" rot="0">
              <a:off x="42317" y="15847"/>
              <a:ext cx="1588329" cy="594808"/>
            </a:xfrm>
            <a:custGeom>
              <a:avLst/>
              <a:gdLst/>
              <a:ahLst/>
              <a:cxnLst/>
              <a:rect r="r" b="b" t="t" l="l"/>
              <a:pathLst>
                <a:path h="594808" w="1588329">
                  <a:moveTo>
                    <a:pt x="0" y="0"/>
                  </a:moveTo>
                  <a:lnTo>
                    <a:pt x="1588329" y="0"/>
                  </a:lnTo>
                  <a:lnTo>
                    <a:pt x="1588329" y="594809"/>
                  </a:lnTo>
                  <a:lnTo>
                    <a:pt x="0" y="594809"/>
                  </a:lnTo>
                  <a:close/>
                </a:path>
              </a:pathLst>
            </a:custGeom>
            <a:solidFill>
              <a:srgbClr val="FFD54F"/>
            </a:solidFill>
          </p:spPr>
        </p:sp>
        <p:sp>
          <p:nvSpPr>
            <p:cNvPr name="Freeform 52" id="52"/>
            <p:cNvSpPr/>
            <p:nvPr/>
          </p:nvSpPr>
          <p:spPr>
            <a:xfrm flipH="false" flipV="false" rot="0">
              <a:off x="0" y="0"/>
              <a:ext cx="1672963" cy="626504"/>
            </a:xfrm>
            <a:custGeom>
              <a:avLst/>
              <a:gdLst/>
              <a:ahLst/>
              <a:cxnLst/>
              <a:rect r="r" b="b" t="t" l="l"/>
              <a:pathLst>
                <a:path h="626504" w="1672963">
                  <a:moveTo>
                    <a:pt x="42317" y="0"/>
                  </a:moveTo>
                  <a:lnTo>
                    <a:pt x="1630646" y="0"/>
                  </a:lnTo>
                  <a:cubicBezTo>
                    <a:pt x="1654191" y="0"/>
                    <a:pt x="1672963" y="7149"/>
                    <a:pt x="1672963" y="15847"/>
                  </a:cubicBezTo>
                  <a:lnTo>
                    <a:pt x="1672963" y="610656"/>
                  </a:lnTo>
                  <a:cubicBezTo>
                    <a:pt x="1672963" y="619473"/>
                    <a:pt x="1653873" y="626503"/>
                    <a:pt x="1630646" y="626503"/>
                  </a:cubicBezTo>
                  <a:lnTo>
                    <a:pt x="42317" y="626503"/>
                  </a:lnTo>
                  <a:cubicBezTo>
                    <a:pt x="19090" y="626624"/>
                    <a:pt x="0" y="619473"/>
                    <a:pt x="0" y="610656"/>
                  </a:cubicBezTo>
                  <a:lnTo>
                    <a:pt x="0" y="15847"/>
                  </a:lnTo>
                  <a:cubicBezTo>
                    <a:pt x="0" y="7149"/>
                    <a:pt x="19090" y="0"/>
                    <a:pt x="42317" y="0"/>
                  </a:cubicBezTo>
                  <a:moveTo>
                    <a:pt x="42317" y="31814"/>
                  </a:moveTo>
                  <a:lnTo>
                    <a:pt x="42317" y="15847"/>
                  </a:lnTo>
                  <a:lnTo>
                    <a:pt x="84953" y="15847"/>
                  </a:lnTo>
                  <a:lnTo>
                    <a:pt x="84953" y="610656"/>
                  </a:lnTo>
                  <a:lnTo>
                    <a:pt x="42317" y="610656"/>
                  </a:lnTo>
                  <a:lnTo>
                    <a:pt x="42317" y="594808"/>
                  </a:lnTo>
                  <a:lnTo>
                    <a:pt x="1630646" y="594808"/>
                  </a:lnTo>
                  <a:lnTo>
                    <a:pt x="1630646" y="610656"/>
                  </a:lnTo>
                  <a:lnTo>
                    <a:pt x="1588329" y="610656"/>
                  </a:lnTo>
                  <a:lnTo>
                    <a:pt x="1588329" y="15847"/>
                  </a:lnTo>
                  <a:lnTo>
                    <a:pt x="1630646" y="15847"/>
                  </a:lnTo>
                  <a:lnTo>
                    <a:pt x="1630646" y="31814"/>
                  </a:lnTo>
                  <a:lnTo>
                    <a:pt x="42317" y="31814"/>
                  </a:lnTo>
                  <a:close/>
                </a:path>
              </a:pathLst>
            </a:custGeom>
            <a:solidFill>
              <a:srgbClr val="FFD54F"/>
            </a:solidFill>
          </p:spPr>
        </p:sp>
      </p:grpSp>
      <p:grpSp>
        <p:nvGrpSpPr>
          <p:cNvPr name="Group 53" id="53"/>
          <p:cNvGrpSpPr/>
          <p:nvPr/>
        </p:nvGrpSpPr>
        <p:grpSpPr>
          <a:xfrm rot="0">
            <a:off x="1929726" y="3876540"/>
            <a:ext cx="1191247" cy="446106"/>
            <a:chOff x="0" y="0"/>
            <a:chExt cx="1588329" cy="594808"/>
          </a:xfrm>
        </p:grpSpPr>
        <p:sp>
          <p:nvSpPr>
            <p:cNvPr name="Freeform 54" id="54"/>
            <p:cNvSpPr/>
            <p:nvPr/>
          </p:nvSpPr>
          <p:spPr>
            <a:xfrm flipH="false" flipV="false" rot="0">
              <a:off x="0" y="0"/>
              <a:ext cx="1588329" cy="594808"/>
            </a:xfrm>
            <a:custGeom>
              <a:avLst/>
              <a:gdLst/>
              <a:ahLst/>
              <a:cxnLst/>
              <a:rect r="r" b="b" t="t" l="l"/>
              <a:pathLst>
                <a:path h="594808" w="1588329">
                  <a:moveTo>
                    <a:pt x="0" y="0"/>
                  </a:moveTo>
                  <a:lnTo>
                    <a:pt x="1588329" y="0"/>
                  </a:lnTo>
                  <a:lnTo>
                    <a:pt x="1588329" y="594808"/>
                  </a:lnTo>
                  <a:lnTo>
                    <a:pt x="0" y="594808"/>
                  </a:lnTo>
                  <a:close/>
                </a:path>
              </a:pathLst>
            </a:custGeom>
            <a:blipFill>
              <a:blip r:embed="rId3">
                <a:alphaModFix amt="0"/>
              </a:blip>
              <a:stretch>
                <a:fillRect l="-31254" t="0" r="28829" b="-6586"/>
              </a:stretch>
            </a:blipFill>
          </p:spPr>
        </p:sp>
        <p:sp>
          <p:nvSpPr>
            <p:cNvPr name="TextBox 55" id="55"/>
            <p:cNvSpPr txBox="true"/>
            <p:nvPr/>
          </p:nvSpPr>
          <p:spPr>
            <a:xfrm>
              <a:off x="0" y="-47625"/>
              <a:ext cx="1588329" cy="642433"/>
            </a:xfrm>
            <a:prstGeom prst="rect">
              <a:avLst/>
            </a:prstGeom>
          </p:spPr>
          <p:txBody>
            <a:bodyPr anchor="ctr" rtlCol="false" tIns="0" lIns="0" bIns="0" rIns="0"/>
            <a:lstStyle/>
            <a:p>
              <a:pPr algn="ctr">
                <a:lnSpc>
                  <a:spcPts val="2519"/>
                </a:lnSpc>
              </a:pPr>
              <a:r>
                <a:rPr lang="en-US" sz="2099" b="true">
                  <a:solidFill>
                    <a:srgbClr val="1A2340"/>
                  </a:solidFill>
                  <a:latin typeface="Calibri (MS) Bold"/>
                  <a:ea typeface="Calibri (MS) Bold"/>
                  <a:cs typeface="Calibri (MS) Bold"/>
                  <a:sym typeface="Calibri (MS) Bold"/>
                </a:rPr>
                <a:t>2</a:t>
              </a:r>
            </a:p>
          </p:txBody>
        </p:sp>
      </p:grpSp>
      <p:grpSp>
        <p:nvGrpSpPr>
          <p:cNvPr name="Group 56" id="56"/>
          <p:cNvGrpSpPr/>
          <p:nvPr/>
        </p:nvGrpSpPr>
        <p:grpSpPr>
          <a:xfrm rot="0">
            <a:off x="3395876" y="3893698"/>
            <a:ext cx="12737176" cy="441833"/>
            <a:chOff x="0" y="0"/>
            <a:chExt cx="16982901" cy="589111"/>
          </a:xfrm>
        </p:grpSpPr>
        <p:sp>
          <p:nvSpPr>
            <p:cNvPr name="Freeform 57" id="57"/>
            <p:cNvSpPr/>
            <p:nvPr/>
          </p:nvSpPr>
          <p:spPr>
            <a:xfrm flipH="false" flipV="false" rot="0">
              <a:off x="0" y="0"/>
              <a:ext cx="16982901" cy="589111"/>
            </a:xfrm>
            <a:custGeom>
              <a:avLst/>
              <a:gdLst/>
              <a:ahLst/>
              <a:cxnLst/>
              <a:rect r="r" b="b" t="t" l="l"/>
              <a:pathLst>
                <a:path h="589111" w="16982901">
                  <a:moveTo>
                    <a:pt x="0" y="0"/>
                  </a:moveTo>
                  <a:lnTo>
                    <a:pt x="16982901" y="0"/>
                  </a:lnTo>
                  <a:lnTo>
                    <a:pt x="16982901" y="589111"/>
                  </a:lnTo>
                  <a:lnTo>
                    <a:pt x="0" y="589111"/>
                  </a:lnTo>
                  <a:close/>
                </a:path>
              </a:pathLst>
            </a:custGeom>
            <a:blipFill>
              <a:blip r:embed="rId3">
                <a:alphaModFix amt="0"/>
              </a:blip>
              <a:stretch>
                <a:fillRect l="0" t="-174539" r="60084" b="-173878"/>
              </a:stretch>
            </a:blipFill>
          </p:spPr>
        </p:sp>
        <p:sp>
          <p:nvSpPr>
            <p:cNvPr name="TextBox 58" id="58"/>
            <p:cNvSpPr txBox="true"/>
            <p:nvPr/>
          </p:nvSpPr>
          <p:spPr>
            <a:xfrm>
              <a:off x="0" y="-47625"/>
              <a:ext cx="16982901" cy="636736"/>
            </a:xfrm>
            <a:prstGeom prst="rect">
              <a:avLst/>
            </a:prstGeom>
          </p:spPr>
          <p:txBody>
            <a:bodyPr anchor="ctr" rtlCol="false" tIns="0" lIns="0" bIns="0" rIns="0"/>
            <a:lstStyle/>
            <a:p>
              <a:pPr algn="l">
                <a:lnSpc>
                  <a:spcPts val="2639"/>
                </a:lnSpc>
              </a:pPr>
              <a:r>
                <a:rPr lang="en-US" b="true" sz="2199">
                  <a:solidFill>
                    <a:srgbClr val="000000"/>
                  </a:solidFill>
                  <a:latin typeface="Calibri (MS) Bold"/>
                  <a:ea typeface="Calibri (MS) Bold"/>
                  <a:cs typeface="Calibri (MS) Bold"/>
                  <a:sym typeface="Calibri (MS) Bold"/>
                </a:rPr>
                <a:t>Choix des seuils </a:t>
              </a:r>
            </a:p>
          </p:txBody>
        </p:sp>
      </p:grpSp>
      <p:grpSp>
        <p:nvGrpSpPr>
          <p:cNvPr name="Group 59" id="59"/>
          <p:cNvGrpSpPr/>
          <p:nvPr/>
        </p:nvGrpSpPr>
        <p:grpSpPr>
          <a:xfrm rot="0">
            <a:off x="2002270" y="4384129"/>
            <a:ext cx="13874969" cy="460404"/>
            <a:chOff x="0" y="0"/>
            <a:chExt cx="18499959" cy="613873"/>
          </a:xfrm>
        </p:grpSpPr>
        <p:sp>
          <p:nvSpPr>
            <p:cNvPr name="Freeform 60" id="60"/>
            <p:cNvSpPr/>
            <p:nvPr/>
          </p:nvSpPr>
          <p:spPr>
            <a:xfrm flipH="false" flipV="false" rot="0">
              <a:off x="25454" y="9532"/>
              <a:ext cx="18449051" cy="594808"/>
            </a:xfrm>
            <a:custGeom>
              <a:avLst/>
              <a:gdLst/>
              <a:ahLst/>
              <a:cxnLst/>
              <a:rect r="r" b="b" t="t" l="l"/>
              <a:pathLst>
                <a:path h="594808" w="18449051">
                  <a:moveTo>
                    <a:pt x="0" y="0"/>
                  </a:moveTo>
                  <a:lnTo>
                    <a:pt x="18449051" y="0"/>
                  </a:lnTo>
                  <a:lnTo>
                    <a:pt x="18449051" y="594808"/>
                  </a:lnTo>
                  <a:lnTo>
                    <a:pt x="0" y="594808"/>
                  </a:lnTo>
                  <a:close/>
                </a:path>
              </a:pathLst>
            </a:custGeom>
            <a:solidFill>
              <a:srgbClr val="2A0A0A"/>
            </a:solidFill>
          </p:spPr>
        </p:sp>
        <p:sp>
          <p:nvSpPr>
            <p:cNvPr name="Freeform 61" id="61"/>
            <p:cNvSpPr/>
            <p:nvPr/>
          </p:nvSpPr>
          <p:spPr>
            <a:xfrm flipH="false" flipV="false" rot="0">
              <a:off x="0" y="0"/>
              <a:ext cx="18499959" cy="613873"/>
            </a:xfrm>
            <a:custGeom>
              <a:avLst/>
              <a:gdLst/>
              <a:ahLst/>
              <a:cxnLst/>
              <a:rect r="r" b="b" t="t" l="l"/>
              <a:pathLst>
                <a:path h="613873" w="18499959">
                  <a:moveTo>
                    <a:pt x="25454" y="0"/>
                  </a:moveTo>
                  <a:lnTo>
                    <a:pt x="18474505" y="0"/>
                  </a:lnTo>
                  <a:cubicBezTo>
                    <a:pt x="18488506" y="0"/>
                    <a:pt x="18499959" y="4289"/>
                    <a:pt x="18499959" y="9532"/>
                  </a:cubicBezTo>
                  <a:lnTo>
                    <a:pt x="18499959" y="604340"/>
                  </a:lnTo>
                  <a:cubicBezTo>
                    <a:pt x="18499959" y="609583"/>
                    <a:pt x="18488506" y="613873"/>
                    <a:pt x="18474505" y="613873"/>
                  </a:cubicBezTo>
                  <a:lnTo>
                    <a:pt x="25454" y="613873"/>
                  </a:lnTo>
                  <a:cubicBezTo>
                    <a:pt x="11454" y="613873"/>
                    <a:pt x="0" y="609583"/>
                    <a:pt x="0" y="604340"/>
                  </a:cubicBezTo>
                  <a:lnTo>
                    <a:pt x="0" y="9532"/>
                  </a:lnTo>
                  <a:cubicBezTo>
                    <a:pt x="0" y="4289"/>
                    <a:pt x="11454" y="0"/>
                    <a:pt x="25454" y="0"/>
                  </a:cubicBezTo>
                  <a:moveTo>
                    <a:pt x="25454" y="19064"/>
                  </a:moveTo>
                  <a:lnTo>
                    <a:pt x="25454" y="9532"/>
                  </a:lnTo>
                  <a:lnTo>
                    <a:pt x="50908" y="9532"/>
                  </a:lnTo>
                  <a:lnTo>
                    <a:pt x="50908" y="604340"/>
                  </a:lnTo>
                  <a:lnTo>
                    <a:pt x="25454" y="604340"/>
                  </a:lnTo>
                  <a:lnTo>
                    <a:pt x="25454" y="594808"/>
                  </a:lnTo>
                  <a:lnTo>
                    <a:pt x="18474505" y="594808"/>
                  </a:lnTo>
                  <a:lnTo>
                    <a:pt x="18474505" y="604340"/>
                  </a:lnTo>
                  <a:lnTo>
                    <a:pt x="18449052" y="604340"/>
                  </a:lnTo>
                  <a:lnTo>
                    <a:pt x="18449052" y="9532"/>
                  </a:lnTo>
                  <a:lnTo>
                    <a:pt x="18474505" y="9532"/>
                  </a:lnTo>
                  <a:lnTo>
                    <a:pt x="18474505" y="19064"/>
                  </a:lnTo>
                  <a:lnTo>
                    <a:pt x="25454" y="19064"/>
                  </a:lnTo>
                  <a:close/>
                </a:path>
              </a:pathLst>
            </a:custGeom>
            <a:solidFill>
              <a:srgbClr val="EF5350"/>
            </a:solidFill>
          </p:spPr>
        </p:sp>
      </p:grpSp>
      <p:grpSp>
        <p:nvGrpSpPr>
          <p:cNvPr name="Group 62" id="62"/>
          <p:cNvGrpSpPr/>
          <p:nvPr/>
        </p:nvGrpSpPr>
        <p:grpSpPr>
          <a:xfrm rot="0">
            <a:off x="2204629" y="4391278"/>
            <a:ext cx="13516068" cy="446106"/>
            <a:chOff x="0" y="0"/>
            <a:chExt cx="18021424" cy="594808"/>
          </a:xfrm>
        </p:grpSpPr>
        <p:sp>
          <p:nvSpPr>
            <p:cNvPr name="Freeform 63" id="63"/>
            <p:cNvSpPr/>
            <p:nvPr/>
          </p:nvSpPr>
          <p:spPr>
            <a:xfrm flipH="false" flipV="false" rot="0">
              <a:off x="0" y="0"/>
              <a:ext cx="18021424" cy="594808"/>
            </a:xfrm>
            <a:custGeom>
              <a:avLst/>
              <a:gdLst/>
              <a:ahLst/>
              <a:cxnLst/>
              <a:rect r="r" b="b" t="t" l="l"/>
              <a:pathLst>
                <a:path h="594808" w="18021424">
                  <a:moveTo>
                    <a:pt x="0" y="0"/>
                  </a:moveTo>
                  <a:lnTo>
                    <a:pt x="18021424" y="0"/>
                  </a:lnTo>
                  <a:lnTo>
                    <a:pt x="18021424" y="594808"/>
                  </a:lnTo>
                  <a:lnTo>
                    <a:pt x="0" y="594808"/>
                  </a:lnTo>
                  <a:close/>
                </a:path>
              </a:pathLst>
            </a:custGeom>
            <a:blipFill>
              <a:blip r:embed="rId3">
                <a:alphaModFix amt="0"/>
              </a:blip>
              <a:stretch>
                <a:fillRect l="0" t="-182348" r="60084" b="-188934"/>
              </a:stretch>
            </a:blipFill>
          </p:spPr>
        </p:sp>
        <p:sp>
          <p:nvSpPr>
            <p:cNvPr name="TextBox 64" id="64"/>
            <p:cNvSpPr txBox="true"/>
            <p:nvPr/>
          </p:nvSpPr>
          <p:spPr>
            <a:xfrm>
              <a:off x="0" y="-47625"/>
              <a:ext cx="18021424" cy="642433"/>
            </a:xfrm>
            <a:prstGeom prst="rect">
              <a:avLst/>
            </a:prstGeom>
          </p:spPr>
          <p:txBody>
            <a:bodyPr anchor="ctr" rtlCol="false" tIns="0" lIns="0" bIns="0" rIns="0"/>
            <a:lstStyle/>
            <a:p>
              <a:pPr algn="l">
                <a:lnSpc>
                  <a:spcPts val="2399"/>
                </a:lnSpc>
              </a:pPr>
              <a:r>
                <a:rPr lang="en-US" sz="1999" b="true">
                  <a:solidFill>
                    <a:srgbClr val="EF5350"/>
                  </a:solidFill>
                  <a:latin typeface="Calibri (MS) Bold"/>
                  <a:ea typeface="Calibri (MS) Bold"/>
                  <a:cs typeface="Calibri (MS) Bold"/>
                  <a:sym typeface="Calibri (MS) Bold"/>
                </a:rPr>
                <a:t>❌ </a:t>
              </a:r>
              <a:r>
                <a:rPr lang="en-US" sz="1999" b="true">
                  <a:solidFill>
                    <a:srgbClr val="FFFFFF"/>
                  </a:solidFill>
                  <a:latin typeface="Calibri (MS) Bold"/>
                  <a:ea typeface="Calibri (MS) Bold"/>
                  <a:cs typeface="Calibri (MS) Bold"/>
                  <a:sym typeface="Calibri (MS) Bold"/>
                </a:rPr>
                <a:t>CART </a:t>
              </a:r>
              <a:r>
                <a:rPr lang="en-US" sz="1999" i="true">
                  <a:solidFill>
                    <a:srgbClr val="EF5350"/>
                  </a:solidFill>
                  <a:latin typeface="Calibri (MS) Italics"/>
                  <a:ea typeface="Calibri (MS) Italics"/>
                  <a:cs typeface="Calibri (MS) Italics"/>
                  <a:sym typeface="Calibri (MS) Italics"/>
                </a:rPr>
                <a:t>ne teste pas</a:t>
              </a:r>
              <a:r>
                <a:rPr lang="en-US" sz="1999">
                  <a:solidFill>
                    <a:srgbClr val="8EAAC8"/>
                  </a:solidFill>
                  <a:latin typeface="Calibri (MS)"/>
                  <a:ea typeface="Calibri (MS)"/>
                  <a:cs typeface="Calibri (MS)"/>
                  <a:sym typeface="Calibri (MS)"/>
                </a:rPr>
                <a:t> des seuils aléatoires</a:t>
              </a:r>
            </a:p>
          </p:txBody>
        </p:sp>
      </p:grpSp>
      <p:grpSp>
        <p:nvGrpSpPr>
          <p:cNvPr name="Group 65" id="65"/>
          <p:cNvGrpSpPr/>
          <p:nvPr/>
        </p:nvGrpSpPr>
        <p:grpSpPr>
          <a:xfrm rot="0">
            <a:off x="2002270" y="4898867"/>
            <a:ext cx="13874969" cy="666300"/>
            <a:chOff x="0" y="0"/>
            <a:chExt cx="18499959" cy="888400"/>
          </a:xfrm>
        </p:grpSpPr>
        <p:sp>
          <p:nvSpPr>
            <p:cNvPr name="Freeform 66" id="66"/>
            <p:cNvSpPr/>
            <p:nvPr/>
          </p:nvSpPr>
          <p:spPr>
            <a:xfrm flipH="false" flipV="false" rot="0">
              <a:off x="25454" y="9532"/>
              <a:ext cx="18449051" cy="869335"/>
            </a:xfrm>
            <a:custGeom>
              <a:avLst/>
              <a:gdLst/>
              <a:ahLst/>
              <a:cxnLst/>
              <a:rect r="r" b="b" t="t" l="l"/>
              <a:pathLst>
                <a:path h="869335" w="18449051">
                  <a:moveTo>
                    <a:pt x="0" y="0"/>
                  </a:moveTo>
                  <a:lnTo>
                    <a:pt x="18449051" y="0"/>
                  </a:lnTo>
                  <a:lnTo>
                    <a:pt x="18449051" y="869335"/>
                  </a:lnTo>
                  <a:lnTo>
                    <a:pt x="0" y="869335"/>
                  </a:lnTo>
                  <a:close/>
                </a:path>
              </a:pathLst>
            </a:custGeom>
            <a:solidFill>
              <a:srgbClr val="0A1E0A"/>
            </a:solidFill>
          </p:spPr>
        </p:sp>
        <p:sp>
          <p:nvSpPr>
            <p:cNvPr name="Freeform 67" id="67"/>
            <p:cNvSpPr/>
            <p:nvPr/>
          </p:nvSpPr>
          <p:spPr>
            <a:xfrm flipH="false" flipV="false" rot="0">
              <a:off x="0" y="0"/>
              <a:ext cx="18499959" cy="888400"/>
            </a:xfrm>
            <a:custGeom>
              <a:avLst/>
              <a:gdLst/>
              <a:ahLst/>
              <a:cxnLst/>
              <a:rect r="r" b="b" t="t" l="l"/>
              <a:pathLst>
                <a:path h="888400" w="18499959">
                  <a:moveTo>
                    <a:pt x="25454" y="0"/>
                  </a:moveTo>
                  <a:lnTo>
                    <a:pt x="18474505" y="0"/>
                  </a:lnTo>
                  <a:cubicBezTo>
                    <a:pt x="18488506" y="0"/>
                    <a:pt x="18499959" y="4289"/>
                    <a:pt x="18499959" y="9532"/>
                  </a:cubicBezTo>
                  <a:lnTo>
                    <a:pt x="18499959" y="878867"/>
                  </a:lnTo>
                  <a:cubicBezTo>
                    <a:pt x="18499959" y="884110"/>
                    <a:pt x="18488506" y="888400"/>
                    <a:pt x="18474505" y="888400"/>
                  </a:cubicBezTo>
                  <a:lnTo>
                    <a:pt x="25454" y="888400"/>
                  </a:lnTo>
                  <a:cubicBezTo>
                    <a:pt x="11454" y="888400"/>
                    <a:pt x="0" y="884110"/>
                    <a:pt x="0" y="878867"/>
                  </a:cubicBezTo>
                  <a:lnTo>
                    <a:pt x="0" y="9532"/>
                  </a:lnTo>
                  <a:cubicBezTo>
                    <a:pt x="0" y="4289"/>
                    <a:pt x="11454" y="0"/>
                    <a:pt x="25454" y="0"/>
                  </a:cubicBezTo>
                  <a:moveTo>
                    <a:pt x="25454" y="19064"/>
                  </a:moveTo>
                  <a:lnTo>
                    <a:pt x="25454" y="9532"/>
                  </a:lnTo>
                  <a:lnTo>
                    <a:pt x="50908" y="9532"/>
                  </a:lnTo>
                  <a:lnTo>
                    <a:pt x="50908" y="878867"/>
                  </a:lnTo>
                  <a:lnTo>
                    <a:pt x="25454" y="878867"/>
                  </a:lnTo>
                  <a:lnTo>
                    <a:pt x="25454" y="869335"/>
                  </a:lnTo>
                  <a:lnTo>
                    <a:pt x="18474505" y="869335"/>
                  </a:lnTo>
                  <a:lnTo>
                    <a:pt x="18474505" y="878867"/>
                  </a:lnTo>
                  <a:lnTo>
                    <a:pt x="18449052" y="878867"/>
                  </a:lnTo>
                  <a:lnTo>
                    <a:pt x="18449052" y="9532"/>
                  </a:lnTo>
                  <a:lnTo>
                    <a:pt x="18474505" y="9532"/>
                  </a:lnTo>
                  <a:lnTo>
                    <a:pt x="18474505" y="19064"/>
                  </a:lnTo>
                  <a:lnTo>
                    <a:pt x="25454" y="19064"/>
                  </a:lnTo>
                  <a:close/>
                </a:path>
              </a:pathLst>
            </a:custGeom>
            <a:solidFill>
              <a:srgbClr val="66BB6A"/>
            </a:solidFill>
          </p:spPr>
        </p:sp>
      </p:grpSp>
      <p:grpSp>
        <p:nvGrpSpPr>
          <p:cNvPr name="Group 68" id="68"/>
          <p:cNvGrpSpPr/>
          <p:nvPr/>
        </p:nvGrpSpPr>
        <p:grpSpPr>
          <a:xfrm rot="0">
            <a:off x="2204629" y="4906016"/>
            <a:ext cx="13516068" cy="652001"/>
            <a:chOff x="0" y="0"/>
            <a:chExt cx="18021424" cy="869335"/>
          </a:xfrm>
        </p:grpSpPr>
        <p:sp>
          <p:nvSpPr>
            <p:cNvPr name="Freeform 69" id="69"/>
            <p:cNvSpPr/>
            <p:nvPr/>
          </p:nvSpPr>
          <p:spPr>
            <a:xfrm flipH="false" flipV="false" rot="0">
              <a:off x="0" y="0"/>
              <a:ext cx="18021424" cy="869335"/>
            </a:xfrm>
            <a:custGeom>
              <a:avLst/>
              <a:gdLst/>
              <a:ahLst/>
              <a:cxnLst/>
              <a:rect r="r" b="b" t="t" l="l"/>
              <a:pathLst>
                <a:path h="869335" w="18021424">
                  <a:moveTo>
                    <a:pt x="0" y="0"/>
                  </a:moveTo>
                  <a:lnTo>
                    <a:pt x="18021424" y="0"/>
                  </a:lnTo>
                  <a:lnTo>
                    <a:pt x="18021424" y="869335"/>
                  </a:lnTo>
                  <a:lnTo>
                    <a:pt x="0" y="869335"/>
                  </a:lnTo>
                  <a:close/>
                </a:path>
              </a:pathLst>
            </a:custGeom>
            <a:blipFill>
              <a:blip r:embed="rId3">
                <a:alphaModFix amt="0"/>
              </a:blip>
              <a:stretch>
                <a:fillRect l="0" t="-107935" r="60084" b="-114521"/>
              </a:stretch>
            </a:blipFill>
          </p:spPr>
        </p:sp>
        <p:sp>
          <p:nvSpPr>
            <p:cNvPr name="TextBox 70" id="70"/>
            <p:cNvSpPr txBox="true"/>
            <p:nvPr/>
          </p:nvSpPr>
          <p:spPr>
            <a:xfrm>
              <a:off x="0" y="-47625"/>
              <a:ext cx="18021424" cy="916960"/>
            </a:xfrm>
            <a:prstGeom prst="rect">
              <a:avLst/>
            </a:prstGeom>
          </p:spPr>
          <p:txBody>
            <a:bodyPr anchor="ctr" rtlCol="false" tIns="0" lIns="0" bIns="0" rIns="0"/>
            <a:lstStyle/>
            <a:p>
              <a:pPr algn="l">
                <a:lnSpc>
                  <a:spcPts val="2399"/>
                </a:lnSpc>
              </a:pPr>
              <a:r>
                <a:rPr lang="en-US" sz="1999" b="true">
                  <a:solidFill>
                    <a:srgbClr val="66BB6A"/>
                  </a:solidFill>
                  <a:latin typeface="Calibri (MS) Bold"/>
                  <a:ea typeface="Calibri (MS) Bold"/>
                  <a:cs typeface="Calibri (MS) Bold"/>
                  <a:sym typeface="Calibri (MS) Bold"/>
                </a:rPr>
                <a:t>✔ </a:t>
              </a:r>
              <a:r>
                <a:rPr lang="en-US" sz="1999">
                  <a:solidFill>
                    <a:srgbClr val="FFFFFF"/>
                  </a:solidFill>
                  <a:latin typeface="Calibri (MS)"/>
                  <a:ea typeface="Calibri (MS)"/>
                  <a:cs typeface="Calibri (MS)"/>
                  <a:sym typeface="Calibri (MS)"/>
                </a:rPr>
                <a:t>Teste uniquement les seuils candidats entre deux valeurs triées où la classe change</a:t>
              </a:r>
            </a:p>
          </p:txBody>
        </p:sp>
      </p:grpSp>
      <p:grpSp>
        <p:nvGrpSpPr>
          <p:cNvPr name="Group 71" id="71"/>
          <p:cNvGrpSpPr/>
          <p:nvPr/>
        </p:nvGrpSpPr>
        <p:grpSpPr>
          <a:xfrm rot="0">
            <a:off x="2021360" y="5626649"/>
            <a:ext cx="13836788" cy="393873"/>
            <a:chOff x="0" y="0"/>
            <a:chExt cx="18449051" cy="525165"/>
          </a:xfrm>
        </p:grpSpPr>
        <p:sp>
          <p:nvSpPr>
            <p:cNvPr name="Freeform 72" id="72"/>
            <p:cNvSpPr/>
            <p:nvPr/>
          </p:nvSpPr>
          <p:spPr>
            <a:xfrm flipH="false" flipV="false" rot="0">
              <a:off x="0" y="0"/>
              <a:ext cx="18449051" cy="525165"/>
            </a:xfrm>
            <a:custGeom>
              <a:avLst/>
              <a:gdLst/>
              <a:ahLst/>
              <a:cxnLst/>
              <a:rect r="r" b="b" t="t" l="l"/>
              <a:pathLst>
                <a:path h="525165" w="18449051">
                  <a:moveTo>
                    <a:pt x="0" y="0"/>
                  </a:moveTo>
                  <a:lnTo>
                    <a:pt x="18449051" y="0"/>
                  </a:lnTo>
                  <a:lnTo>
                    <a:pt x="18449051" y="525165"/>
                  </a:lnTo>
                  <a:lnTo>
                    <a:pt x="0" y="525165"/>
                  </a:lnTo>
                  <a:close/>
                </a:path>
              </a:pathLst>
            </a:custGeom>
            <a:blipFill>
              <a:blip r:embed="rId3">
                <a:alphaModFix amt="0"/>
              </a:blip>
              <a:stretch>
                <a:fillRect l="0" t="-222149" r="60084" b="-224297"/>
              </a:stretch>
            </a:blipFill>
          </p:spPr>
        </p:sp>
        <p:sp>
          <p:nvSpPr>
            <p:cNvPr name="TextBox 73" id="73"/>
            <p:cNvSpPr txBox="true"/>
            <p:nvPr/>
          </p:nvSpPr>
          <p:spPr>
            <a:xfrm>
              <a:off x="0" y="-47625"/>
              <a:ext cx="18449051" cy="572790"/>
            </a:xfrm>
            <a:prstGeom prst="rect">
              <a:avLst/>
            </a:prstGeom>
          </p:spPr>
          <p:txBody>
            <a:bodyPr anchor="ctr" rtlCol="false" tIns="0" lIns="0" bIns="0" rIns="0"/>
            <a:lstStyle/>
            <a:p>
              <a:pPr algn="l">
                <a:lnSpc>
                  <a:spcPts val="2399"/>
                </a:lnSpc>
              </a:pPr>
              <a:r>
                <a:rPr lang="en-US" sz="1999" i="true">
                  <a:solidFill>
                    <a:srgbClr val="C0392B"/>
                  </a:solidFill>
                  <a:latin typeface="Calibri (MS) Italics"/>
                  <a:ea typeface="Calibri (MS) Italics"/>
                  <a:cs typeface="Calibri (MS) Italics"/>
                  <a:sym typeface="Calibri (MS) Italics"/>
                </a:rPr>
                <a:t>👉 Réduit énormément la complexité</a:t>
              </a:r>
            </a:p>
          </p:txBody>
        </p:sp>
      </p:grpSp>
      <p:grpSp>
        <p:nvGrpSpPr>
          <p:cNvPr name="Group 74" id="74"/>
          <p:cNvGrpSpPr/>
          <p:nvPr/>
        </p:nvGrpSpPr>
        <p:grpSpPr>
          <a:xfrm rot="0">
            <a:off x="1913809" y="6031082"/>
            <a:ext cx="14051866" cy="47625"/>
            <a:chOff x="0" y="0"/>
            <a:chExt cx="18735822" cy="63500"/>
          </a:xfrm>
        </p:grpSpPr>
        <p:sp>
          <p:nvSpPr>
            <p:cNvPr name="Freeform 75" id="75"/>
            <p:cNvSpPr/>
            <p:nvPr/>
          </p:nvSpPr>
          <p:spPr>
            <a:xfrm flipH="false" flipV="false" rot="0">
              <a:off x="21318" y="0"/>
              <a:ext cx="18693410" cy="63357"/>
            </a:xfrm>
            <a:custGeom>
              <a:avLst/>
              <a:gdLst/>
              <a:ahLst/>
              <a:cxnLst/>
              <a:rect r="r" b="b" t="t" l="l"/>
              <a:pathLst>
                <a:path h="63357" w="18693410">
                  <a:moveTo>
                    <a:pt x="0" y="0"/>
                  </a:moveTo>
                  <a:lnTo>
                    <a:pt x="18693409" y="0"/>
                  </a:lnTo>
                  <a:lnTo>
                    <a:pt x="18693409" y="63357"/>
                  </a:lnTo>
                  <a:lnTo>
                    <a:pt x="0" y="63357"/>
                  </a:lnTo>
                  <a:close/>
                </a:path>
              </a:pathLst>
            </a:custGeom>
            <a:solidFill>
              <a:srgbClr val="1E3A5F"/>
            </a:solidFill>
          </p:spPr>
        </p:sp>
      </p:grpSp>
      <p:grpSp>
        <p:nvGrpSpPr>
          <p:cNvPr name="Group 76" id="76"/>
          <p:cNvGrpSpPr/>
          <p:nvPr/>
        </p:nvGrpSpPr>
        <p:grpSpPr>
          <a:xfrm rot="0">
            <a:off x="1897916" y="6180949"/>
            <a:ext cx="1254890" cy="469940"/>
            <a:chOff x="0" y="0"/>
            <a:chExt cx="1673186" cy="626586"/>
          </a:xfrm>
        </p:grpSpPr>
        <p:sp>
          <p:nvSpPr>
            <p:cNvPr name="Freeform 77" id="77"/>
            <p:cNvSpPr/>
            <p:nvPr/>
          </p:nvSpPr>
          <p:spPr>
            <a:xfrm flipH="false" flipV="false" rot="0">
              <a:off x="42317" y="15847"/>
              <a:ext cx="1588329" cy="594808"/>
            </a:xfrm>
            <a:custGeom>
              <a:avLst/>
              <a:gdLst/>
              <a:ahLst/>
              <a:cxnLst/>
              <a:rect r="r" b="b" t="t" l="l"/>
              <a:pathLst>
                <a:path h="594808" w="1588329">
                  <a:moveTo>
                    <a:pt x="0" y="0"/>
                  </a:moveTo>
                  <a:lnTo>
                    <a:pt x="1588329" y="0"/>
                  </a:lnTo>
                  <a:lnTo>
                    <a:pt x="1588329" y="594809"/>
                  </a:lnTo>
                  <a:lnTo>
                    <a:pt x="0" y="594809"/>
                  </a:lnTo>
                  <a:close/>
                </a:path>
              </a:pathLst>
            </a:custGeom>
            <a:solidFill>
              <a:srgbClr val="66BB6A"/>
            </a:solidFill>
          </p:spPr>
        </p:sp>
        <p:sp>
          <p:nvSpPr>
            <p:cNvPr name="Freeform 78" id="78"/>
            <p:cNvSpPr/>
            <p:nvPr/>
          </p:nvSpPr>
          <p:spPr>
            <a:xfrm flipH="false" flipV="false" rot="0">
              <a:off x="0" y="0"/>
              <a:ext cx="1672963" cy="626504"/>
            </a:xfrm>
            <a:custGeom>
              <a:avLst/>
              <a:gdLst/>
              <a:ahLst/>
              <a:cxnLst/>
              <a:rect r="r" b="b" t="t" l="l"/>
              <a:pathLst>
                <a:path h="626504" w="1672963">
                  <a:moveTo>
                    <a:pt x="42317" y="0"/>
                  </a:moveTo>
                  <a:lnTo>
                    <a:pt x="1630646" y="0"/>
                  </a:lnTo>
                  <a:cubicBezTo>
                    <a:pt x="1654191" y="0"/>
                    <a:pt x="1672963" y="7149"/>
                    <a:pt x="1672963" y="15847"/>
                  </a:cubicBezTo>
                  <a:lnTo>
                    <a:pt x="1672963" y="610656"/>
                  </a:lnTo>
                  <a:cubicBezTo>
                    <a:pt x="1672963" y="619473"/>
                    <a:pt x="1653873" y="626503"/>
                    <a:pt x="1630646" y="626503"/>
                  </a:cubicBezTo>
                  <a:lnTo>
                    <a:pt x="42317" y="626503"/>
                  </a:lnTo>
                  <a:cubicBezTo>
                    <a:pt x="19090" y="626624"/>
                    <a:pt x="0" y="619473"/>
                    <a:pt x="0" y="610656"/>
                  </a:cubicBezTo>
                  <a:lnTo>
                    <a:pt x="0" y="15847"/>
                  </a:lnTo>
                  <a:cubicBezTo>
                    <a:pt x="0" y="7149"/>
                    <a:pt x="19090" y="0"/>
                    <a:pt x="42317" y="0"/>
                  </a:cubicBezTo>
                  <a:moveTo>
                    <a:pt x="42317" y="31814"/>
                  </a:moveTo>
                  <a:lnTo>
                    <a:pt x="42317" y="15847"/>
                  </a:lnTo>
                  <a:lnTo>
                    <a:pt x="84953" y="15847"/>
                  </a:lnTo>
                  <a:lnTo>
                    <a:pt x="84953" y="610656"/>
                  </a:lnTo>
                  <a:lnTo>
                    <a:pt x="42317" y="610656"/>
                  </a:lnTo>
                  <a:lnTo>
                    <a:pt x="42317" y="594808"/>
                  </a:lnTo>
                  <a:lnTo>
                    <a:pt x="1630646" y="594808"/>
                  </a:lnTo>
                  <a:lnTo>
                    <a:pt x="1630646" y="610656"/>
                  </a:lnTo>
                  <a:lnTo>
                    <a:pt x="1588329" y="610656"/>
                  </a:lnTo>
                  <a:lnTo>
                    <a:pt x="1588329" y="15847"/>
                  </a:lnTo>
                  <a:lnTo>
                    <a:pt x="1630646" y="15847"/>
                  </a:lnTo>
                  <a:lnTo>
                    <a:pt x="1630646" y="31814"/>
                  </a:lnTo>
                  <a:lnTo>
                    <a:pt x="42317" y="31814"/>
                  </a:lnTo>
                  <a:close/>
                </a:path>
              </a:pathLst>
            </a:custGeom>
            <a:solidFill>
              <a:srgbClr val="66BB6A"/>
            </a:solidFill>
          </p:spPr>
        </p:sp>
      </p:grpSp>
      <p:grpSp>
        <p:nvGrpSpPr>
          <p:cNvPr name="Group 79" id="79"/>
          <p:cNvGrpSpPr/>
          <p:nvPr/>
        </p:nvGrpSpPr>
        <p:grpSpPr>
          <a:xfrm rot="0">
            <a:off x="1929726" y="6192861"/>
            <a:ext cx="1191247" cy="446106"/>
            <a:chOff x="0" y="0"/>
            <a:chExt cx="1588329" cy="594808"/>
          </a:xfrm>
        </p:grpSpPr>
        <p:sp>
          <p:nvSpPr>
            <p:cNvPr name="Freeform 80" id="80"/>
            <p:cNvSpPr/>
            <p:nvPr/>
          </p:nvSpPr>
          <p:spPr>
            <a:xfrm flipH="false" flipV="false" rot="0">
              <a:off x="0" y="0"/>
              <a:ext cx="1588329" cy="594808"/>
            </a:xfrm>
            <a:custGeom>
              <a:avLst/>
              <a:gdLst/>
              <a:ahLst/>
              <a:cxnLst/>
              <a:rect r="r" b="b" t="t" l="l"/>
              <a:pathLst>
                <a:path h="594808" w="1588329">
                  <a:moveTo>
                    <a:pt x="0" y="0"/>
                  </a:moveTo>
                  <a:lnTo>
                    <a:pt x="1588329" y="0"/>
                  </a:lnTo>
                  <a:lnTo>
                    <a:pt x="1588329" y="594808"/>
                  </a:lnTo>
                  <a:lnTo>
                    <a:pt x="0" y="594808"/>
                  </a:lnTo>
                  <a:close/>
                </a:path>
              </a:pathLst>
            </a:custGeom>
            <a:blipFill>
              <a:blip r:embed="rId3">
                <a:alphaModFix amt="0"/>
              </a:blip>
              <a:stretch>
                <a:fillRect l="-31254" t="0" r="28829" b="-6586"/>
              </a:stretch>
            </a:blipFill>
          </p:spPr>
        </p:sp>
        <p:sp>
          <p:nvSpPr>
            <p:cNvPr name="TextBox 81" id="81"/>
            <p:cNvSpPr txBox="true"/>
            <p:nvPr/>
          </p:nvSpPr>
          <p:spPr>
            <a:xfrm>
              <a:off x="0" y="-47625"/>
              <a:ext cx="1588329" cy="642433"/>
            </a:xfrm>
            <a:prstGeom prst="rect">
              <a:avLst/>
            </a:prstGeom>
          </p:spPr>
          <p:txBody>
            <a:bodyPr anchor="ctr" rtlCol="false" tIns="0" lIns="0" bIns="0" rIns="0"/>
            <a:lstStyle/>
            <a:p>
              <a:pPr algn="ctr">
                <a:lnSpc>
                  <a:spcPts val="2519"/>
                </a:lnSpc>
              </a:pPr>
              <a:r>
                <a:rPr lang="en-US" sz="2099" b="true">
                  <a:solidFill>
                    <a:srgbClr val="1A2340"/>
                  </a:solidFill>
                  <a:latin typeface="Calibri (MS) Bold"/>
                  <a:ea typeface="Calibri (MS) Bold"/>
                  <a:cs typeface="Calibri (MS) Bold"/>
                  <a:sym typeface="Calibri (MS) Bold"/>
                </a:rPr>
                <a:t>3</a:t>
              </a:r>
            </a:p>
          </p:txBody>
        </p:sp>
      </p:grpSp>
      <p:grpSp>
        <p:nvGrpSpPr>
          <p:cNvPr name="Group 82" id="82"/>
          <p:cNvGrpSpPr/>
          <p:nvPr/>
        </p:nvGrpSpPr>
        <p:grpSpPr>
          <a:xfrm rot="0">
            <a:off x="3395876" y="6210019"/>
            <a:ext cx="12737176" cy="441833"/>
            <a:chOff x="0" y="0"/>
            <a:chExt cx="16982901" cy="589111"/>
          </a:xfrm>
        </p:grpSpPr>
        <p:sp>
          <p:nvSpPr>
            <p:cNvPr name="Freeform 83" id="83"/>
            <p:cNvSpPr/>
            <p:nvPr/>
          </p:nvSpPr>
          <p:spPr>
            <a:xfrm flipH="false" flipV="false" rot="0">
              <a:off x="0" y="0"/>
              <a:ext cx="16982901" cy="589111"/>
            </a:xfrm>
            <a:custGeom>
              <a:avLst/>
              <a:gdLst/>
              <a:ahLst/>
              <a:cxnLst/>
              <a:rect r="r" b="b" t="t" l="l"/>
              <a:pathLst>
                <a:path h="589111" w="16982901">
                  <a:moveTo>
                    <a:pt x="0" y="0"/>
                  </a:moveTo>
                  <a:lnTo>
                    <a:pt x="16982901" y="0"/>
                  </a:lnTo>
                  <a:lnTo>
                    <a:pt x="16982901" y="589111"/>
                  </a:lnTo>
                  <a:lnTo>
                    <a:pt x="0" y="589111"/>
                  </a:lnTo>
                  <a:close/>
                </a:path>
              </a:pathLst>
            </a:custGeom>
            <a:blipFill>
              <a:blip r:embed="rId3">
                <a:alphaModFix amt="0"/>
              </a:blip>
              <a:stretch>
                <a:fillRect l="0" t="-174539" r="60084" b="-173878"/>
              </a:stretch>
            </a:blipFill>
          </p:spPr>
        </p:sp>
        <p:sp>
          <p:nvSpPr>
            <p:cNvPr name="TextBox 84" id="84"/>
            <p:cNvSpPr txBox="true"/>
            <p:nvPr/>
          </p:nvSpPr>
          <p:spPr>
            <a:xfrm>
              <a:off x="0" y="-47625"/>
              <a:ext cx="16982901" cy="636736"/>
            </a:xfrm>
            <a:prstGeom prst="rect">
              <a:avLst/>
            </a:prstGeom>
          </p:spPr>
          <p:txBody>
            <a:bodyPr anchor="ctr" rtlCol="false" tIns="0" lIns="0" bIns="0" rIns="0"/>
            <a:lstStyle/>
            <a:p>
              <a:pPr algn="l">
                <a:lnSpc>
                  <a:spcPts val="2639"/>
                </a:lnSpc>
              </a:pPr>
              <a:r>
                <a:rPr lang="en-US" b="true" sz="2199">
                  <a:solidFill>
                    <a:srgbClr val="000000"/>
                  </a:solidFill>
                  <a:latin typeface="Calibri (MS) Bold"/>
                  <a:ea typeface="Calibri (MS) Bold"/>
                  <a:cs typeface="Calibri (MS) Bold"/>
                  <a:sym typeface="Calibri (MS) Bold"/>
                </a:rPr>
                <a:t>Sélection du meilleur split</a:t>
              </a:r>
            </a:p>
          </p:txBody>
        </p:sp>
      </p:grpSp>
      <p:grpSp>
        <p:nvGrpSpPr>
          <p:cNvPr name="Group 85" id="85"/>
          <p:cNvGrpSpPr/>
          <p:nvPr/>
        </p:nvGrpSpPr>
        <p:grpSpPr>
          <a:xfrm rot="0">
            <a:off x="2021360" y="6673283"/>
            <a:ext cx="13836788" cy="689148"/>
            <a:chOff x="0" y="0"/>
            <a:chExt cx="18449051" cy="918865"/>
          </a:xfrm>
        </p:grpSpPr>
        <p:sp>
          <p:nvSpPr>
            <p:cNvPr name="Freeform 86" id="86"/>
            <p:cNvSpPr/>
            <p:nvPr/>
          </p:nvSpPr>
          <p:spPr>
            <a:xfrm flipH="false" flipV="false" rot="0">
              <a:off x="0" y="0"/>
              <a:ext cx="18449051" cy="918865"/>
            </a:xfrm>
            <a:custGeom>
              <a:avLst/>
              <a:gdLst/>
              <a:ahLst/>
              <a:cxnLst/>
              <a:rect r="r" b="b" t="t" l="l"/>
              <a:pathLst>
                <a:path h="918865" w="18449051">
                  <a:moveTo>
                    <a:pt x="0" y="0"/>
                  </a:moveTo>
                  <a:lnTo>
                    <a:pt x="18449051" y="0"/>
                  </a:lnTo>
                  <a:lnTo>
                    <a:pt x="18449051" y="918865"/>
                  </a:lnTo>
                  <a:lnTo>
                    <a:pt x="0" y="918865"/>
                  </a:lnTo>
                  <a:close/>
                </a:path>
              </a:pathLst>
            </a:custGeom>
            <a:blipFill>
              <a:blip r:embed="rId3">
                <a:alphaModFix amt="0"/>
              </a:blip>
              <a:stretch>
                <a:fillRect l="0" t="-109717" r="60084" b="-102596"/>
              </a:stretch>
            </a:blipFill>
          </p:spPr>
        </p:sp>
        <p:sp>
          <p:nvSpPr>
            <p:cNvPr name="TextBox 87" id="87"/>
            <p:cNvSpPr txBox="true"/>
            <p:nvPr/>
          </p:nvSpPr>
          <p:spPr>
            <a:xfrm>
              <a:off x="0" y="-47625"/>
              <a:ext cx="18449051" cy="966490"/>
            </a:xfrm>
            <a:prstGeom prst="rect">
              <a:avLst/>
            </a:prstGeom>
          </p:spPr>
          <p:txBody>
            <a:bodyPr anchor="ctr" rtlCol="false" tIns="0" lIns="0" bIns="0" rIns="0"/>
            <a:lstStyle/>
            <a:p>
              <a:pPr algn="l">
                <a:lnSpc>
                  <a:spcPts val="2399"/>
                </a:lnSpc>
              </a:pPr>
              <a:r>
                <a:rPr lang="en-US" sz="1999">
                  <a:solidFill>
                    <a:srgbClr val="0D3320"/>
                  </a:solidFill>
                  <a:latin typeface="Calibri (MS)"/>
                  <a:ea typeface="Calibri (MS)"/>
                  <a:cs typeface="Calibri (MS)"/>
                  <a:sym typeface="Calibri (MS)"/>
                </a:rPr>
                <a:t>Pour chaque feature → calculer tous les seuils candidats</a:t>
              </a:r>
            </a:p>
            <a:p>
              <a:pPr algn="l">
                <a:lnSpc>
                  <a:spcPts val="2399"/>
                </a:lnSpc>
              </a:pPr>
              <a:r>
                <a:rPr lang="en-US" sz="1999">
                  <a:solidFill>
                    <a:srgbClr val="0D3320"/>
                  </a:solidFill>
                  <a:latin typeface="Calibri (MS)"/>
                  <a:ea typeface="Calibri (MS)"/>
                  <a:cs typeface="Calibri (MS)"/>
                  <a:sym typeface="Calibri (MS)"/>
                </a:rPr>
                <a:t>→ mesurer la réduction de Gini :</a:t>
              </a:r>
            </a:p>
          </p:txBody>
        </p:sp>
      </p:grpSp>
      <p:grpSp>
        <p:nvGrpSpPr>
          <p:cNvPr name="Group 88" id="88"/>
          <p:cNvGrpSpPr/>
          <p:nvPr/>
        </p:nvGrpSpPr>
        <p:grpSpPr>
          <a:xfrm rot="0">
            <a:off x="1995898" y="7298591"/>
            <a:ext cx="13881340" cy="671063"/>
            <a:chOff x="0" y="0"/>
            <a:chExt cx="18508454" cy="894750"/>
          </a:xfrm>
        </p:grpSpPr>
        <p:sp>
          <p:nvSpPr>
            <p:cNvPr name="Freeform 89" id="89"/>
            <p:cNvSpPr/>
            <p:nvPr/>
          </p:nvSpPr>
          <p:spPr>
            <a:xfrm flipH="false" flipV="false" rot="0">
              <a:off x="34029" y="12749"/>
              <a:ext cx="18440617" cy="869335"/>
            </a:xfrm>
            <a:custGeom>
              <a:avLst/>
              <a:gdLst/>
              <a:ahLst/>
              <a:cxnLst/>
              <a:rect r="r" b="b" t="t" l="l"/>
              <a:pathLst>
                <a:path h="869335" w="18440617">
                  <a:moveTo>
                    <a:pt x="0" y="0"/>
                  </a:moveTo>
                  <a:lnTo>
                    <a:pt x="18440617" y="0"/>
                  </a:lnTo>
                  <a:lnTo>
                    <a:pt x="18440617" y="869335"/>
                  </a:lnTo>
                  <a:lnTo>
                    <a:pt x="0" y="869335"/>
                  </a:lnTo>
                  <a:close/>
                </a:path>
              </a:pathLst>
            </a:custGeom>
            <a:solidFill>
              <a:srgbClr val="0A1E0A"/>
            </a:solidFill>
          </p:spPr>
        </p:sp>
        <p:sp>
          <p:nvSpPr>
            <p:cNvPr name="Freeform 90" id="90"/>
            <p:cNvSpPr/>
            <p:nvPr/>
          </p:nvSpPr>
          <p:spPr>
            <a:xfrm flipH="false" flipV="false" rot="0">
              <a:off x="0" y="0"/>
              <a:ext cx="18508543" cy="894839"/>
            </a:xfrm>
            <a:custGeom>
              <a:avLst/>
              <a:gdLst/>
              <a:ahLst/>
              <a:cxnLst/>
              <a:rect r="r" b="b" t="t" l="l"/>
              <a:pathLst>
                <a:path h="894839" w="18508543">
                  <a:moveTo>
                    <a:pt x="34029" y="0"/>
                  </a:moveTo>
                  <a:lnTo>
                    <a:pt x="18474646" y="0"/>
                  </a:lnTo>
                  <a:cubicBezTo>
                    <a:pt x="18493411" y="0"/>
                    <a:pt x="18508543" y="5719"/>
                    <a:pt x="18508543" y="12749"/>
                  </a:cubicBezTo>
                  <a:lnTo>
                    <a:pt x="18508543" y="882084"/>
                  </a:lnTo>
                  <a:cubicBezTo>
                    <a:pt x="18508543" y="889114"/>
                    <a:pt x="18493411" y="894839"/>
                    <a:pt x="18474646" y="894839"/>
                  </a:cubicBezTo>
                  <a:lnTo>
                    <a:pt x="34029" y="894839"/>
                  </a:lnTo>
                  <a:cubicBezTo>
                    <a:pt x="15265" y="894715"/>
                    <a:pt x="0" y="889115"/>
                    <a:pt x="0" y="882084"/>
                  </a:cubicBezTo>
                  <a:lnTo>
                    <a:pt x="0" y="12749"/>
                  </a:lnTo>
                  <a:cubicBezTo>
                    <a:pt x="0" y="5719"/>
                    <a:pt x="15265" y="0"/>
                    <a:pt x="34029" y="0"/>
                  </a:cubicBezTo>
                  <a:moveTo>
                    <a:pt x="34029" y="25379"/>
                  </a:moveTo>
                  <a:lnTo>
                    <a:pt x="34029" y="12749"/>
                  </a:lnTo>
                  <a:lnTo>
                    <a:pt x="67740" y="12749"/>
                  </a:lnTo>
                  <a:lnTo>
                    <a:pt x="67740" y="882084"/>
                  </a:lnTo>
                  <a:lnTo>
                    <a:pt x="34029" y="882084"/>
                  </a:lnTo>
                  <a:lnTo>
                    <a:pt x="34029" y="869335"/>
                  </a:lnTo>
                  <a:lnTo>
                    <a:pt x="18474646" y="869335"/>
                  </a:lnTo>
                  <a:lnTo>
                    <a:pt x="18474646" y="882084"/>
                  </a:lnTo>
                  <a:lnTo>
                    <a:pt x="18440617" y="882084"/>
                  </a:lnTo>
                  <a:lnTo>
                    <a:pt x="18440617" y="12749"/>
                  </a:lnTo>
                  <a:lnTo>
                    <a:pt x="18474646" y="12749"/>
                  </a:lnTo>
                  <a:lnTo>
                    <a:pt x="18474646" y="25379"/>
                  </a:lnTo>
                  <a:lnTo>
                    <a:pt x="34029" y="25379"/>
                  </a:lnTo>
                  <a:close/>
                </a:path>
              </a:pathLst>
            </a:custGeom>
            <a:solidFill>
              <a:srgbClr val="FFD54F"/>
            </a:solidFill>
          </p:spPr>
        </p:sp>
      </p:grpSp>
      <p:grpSp>
        <p:nvGrpSpPr>
          <p:cNvPr name="Group 91" id="91"/>
          <p:cNvGrpSpPr/>
          <p:nvPr/>
        </p:nvGrpSpPr>
        <p:grpSpPr>
          <a:xfrm rot="0">
            <a:off x="2406030" y="7329133"/>
            <a:ext cx="12792545" cy="652001"/>
            <a:chOff x="0" y="0"/>
            <a:chExt cx="17056726" cy="869335"/>
          </a:xfrm>
        </p:grpSpPr>
        <p:sp>
          <p:nvSpPr>
            <p:cNvPr name="Freeform 92" id="92"/>
            <p:cNvSpPr/>
            <p:nvPr/>
          </p:nvSpPr>
          <p:spPr>
            <a:xfrm flipH="false" flipV="false" rot="0">
              <a:off x="0" y="0"/>
              <a:ext cx="17056726" cy="869335"/>
            </a:xfrm>
            <a:custGeom>
              <a:avLst/>
              <a:gdLst/>
              <a:ahLst/>
              <a:cxnLst/>
              <a:rect r="r" b="b" t="t" l="l"/>
              <a:pathLst>
                <a:path h="869335" w="17056726">
                  <a:moveTo>
                    <a:pt x="0" y="0"/>
                  </a:moveTo>
                  <a:lnTo>
                    <a:pt x="17056726" y="0"/>
                  </a:lnTo>
                  <a:lnTo>
                    <a:pt x="17056726" y="869335"/>
                  </a:lnTo>
                  <a:lnTo>
                    <a:pt x="0" y="869335"/>
                  </a:lnTo>
                  <a:close/>
                </a:path>
              </a:pathLst>
            </a:custGeom>
            <a:blipFill>
              <a:blip r:embed="rId3">
                <a:alphaModFix amt="0"/>
              </a:blip>
              <a:stretch>
                <a:fillRect l="0" t="-111760" r="56826" b="-118347"/>
              </a:stretch>
            </a:blipFill>
          </p:spPr>
        </p:sp>
        <p:sp>
          <p:nvSpPr>
            <p:cNvPr name="TextBox 93" id="93"/>
            <p:cNvSpPr txBox="true"/>
            <p:nvPr/>
          </p:nvSpPr>
          <p:spPr>
            <a:xfrm>
              <a:off x="0" y="-47625"/>
              <a:ext cx="17056726" cy="916960"/>
            </a:xfrm>
            <a:prstGeom prst="rect">
              <a:avLst/>
            </a:prstGeom>
          </p:spPr>
          <p:txBody>
            <a:bodyPr anchor="ctr" rtlCol="false" tIns="0" lIns="0" bIns="0" rIns="0"/>
            <a:lstStyle/>
            <a:p>
              <a:pPr algn="ctr">
                <a:lnSpc>
                  <a:spcPts val="2639"/>
                </a:lnSpc>
              </a:pPr>
              <a:r>
                <a:rPr lang="en-US" sz="2199" b="true">
                  <a:solidFill>
                    <a:srgbClr val="FFD54F"/>
                  </a:solidFill>
                  <a:latin typeface="Calibri (MS) Bold"/>
                  <a:ea typeface="Calibri (MS) Bold"/>
                  <a:cs typeface="Calibri (MS) Bold"/>
                  <a:sym typeface="Calibri (MS) Bold"/>
                </a:rPr>
                <a:t>ΔGini = Giniparent − Σ (nᵢ/n) · Giniᵢ</a:t>
              </a:r>
            </a:p>
          </p:txBody>
        </p:sp>
      </p:grpSp>
      <p:grpSp>
        <p:nvGrpSpPr>
          <p:cNvPr name="Group 94" id="94"/>
          <p:cNvGrpSpPr/>
          <p:nvPr/>
        </p:nvGrpSpPr>
        <p:grpSpPr>
          <a:xfrm rot="0">
            <a:off x="2021360" y="8028760"/>
            <a:ext cx="13836788" cy="393873"/>
            <a:chOff x="0" y="0"/>
            <a:chExt cx="18449051" cy="525165"/>
          </a:xfrm>
        </p:grpSpPr>
        <p:sp>
          <p:nvSpPr>
            <p:cNvPr name="Freeform 95" id="95"/>
            <p:cNvSpPr/>
            <p:nvPr/>
          </p:nvSpPr>
          <p:spPr>
            <a:xfrm flipH="false" flipV="false" rot="0">
              <a:off x="0" y="0"/>
              <a:ext cx="18449051" cy="525165"/>
            </a:xfrm>
            <a:custGeom>
              <a:avLst/>
              <a:gdLst/>
              <a:ahLst/>
              <a:cxnLst/>
              <a:rect r="r" b="b" t="t" l="l"/>
              <a:pathLst>
                <a:path h="525165" w="18449051">
                  <a:moveTo>
                    <a:pt x="0" y="0"/>
                  </a:moveTo>
                  <a:lnTo>
                    <a:pt x="18449051" y="0"/>
                  </a:lnTo>
                  <a:lnTo>
                    <a:pt x="18449051" y="525165"/>
                  </a:lnTo>
                  <a:lnTo>
                    <a:pt x="0" y="525165"/>
                  </a:lnTo>
                  <a:close/>
                </a:path>
              </a:pathLst>
            </a:custGeom>
            <a:blipFill>
              <a:blip r:embed="rId3">
                <a:alphaModFix amt="0"/>
              </a:blip>
              <a:stretch>
                <a:fillRect l="0" t="-222149" r="60084" b="-224297"/>
              </a:stretch>
            </a:blipFill>
          </p:spPr>
        </p:sp>
        <p:sp>
          <p:nvSpPr>
            <p:cNvPr name="TextBox 96" id="96"/>
            <p:cNvSpPr txBox="true"/>
            <p:nvPr/>
          </p:nvSpPr>
          <p:spPr>
            <a:xfrm>
              <a:off x="0" y="-47625"/>
              <a:ext cx="18449051" cy="572790"/>
            </a:xfrm>
            <a:prstGeom prst="rect">
              <a:avLst/>
            </a:prstGeom>
          </p:spPr>
          <p:txBody>
            <a:bodyPr anchor="ctr" rtlCol="false" tIns="0" lIns="0" bIns="0" rIns="0"/>
            <a:lstStyle/>
            <a:p>
              <a:pPr algn="l">
                <a:lnSpc>
                  <a:spcPts val="2399"/>
                </a:lnSpc>
              </a:pPr>
              <a:r>
                <a:rPr lang="en-US" sz="1999" i="true">
                  <a:solidFill>
                    <a:srgbClr val="2A0A0A"/>
                  </a:solidFill>
                  <a:latin typeface="Calibri (MS) Italics"/>
                  <a:ea typeface="Calibri (MS) Italics"/>
                  <a:cs typeface="Calibri (MS) Italics"/>
                  <a:sym typeface="Calibri (MS) Italics"/>
                </a:rPr>
                <a:t>👉 Retenir le split qui maximise la réduction d'impureté</a:t>
              </a:r>
            </a:p>
          </p:txBody>
        </p:sp>
      </p:grpSp>
      <p:grpSp>
        <p:nvGrpSpPr>
          <p:cNvPr name="Group 97" id="97"/>
          <p:cNvGrpSpPr/>
          <p:nvPr/>
        </p:nvGrpSpPr>
        <p:grpSpPr>
          <a:xfrm rot="0">
            <a:off x="2021360" y="8474866"/>
            <a:ext cx="13836788" cy="379419"/>
            <a:chOff x="0" y="0"/>
            <a:chExt cx="18449051" cy="505891"/>
          </a:xfrm>
        </p:grpSpPr>
        <p:sp>
          <p:nvSpPr>
            <p:cNvPr name="Freeform 98" id="98"/>
            <p:cNvSpPr/>
            <p:nvPr/>
          </p:nvSpPr>
          <p:spPr>
            <a:xfrm flipH="false" flipV="false" rot="0">
              <a:off x="0" y="0"/>
              <a:ext cx="18449051" cy="505891"/>
            </a:xfrm>
            <a:custGeom>
              <a:avLst/>
              <a:gdLst/>
              <a:ahLst/>
              <a:cxnLst/>
              <a:rect r="r" b="b" t="t" l="l"/>
              <a:pathLst>
                <a:path h="505891" w="18449051">
                  <a:moveTo>
                    <a:pt x="0" y="0"/>
                  </a:moveTo>
                  <a:lnTo>
                    <a:pt x="18449051" y="0"/>
                  </a:lnTo>
                  <a:lnTo>
                    <a:pt x="18449051" y="505891"/>
                  </a:lnTo>
                  <a:lnTo>
                    <a:pt x="0" y="505891"/>
                  </a:lnTo>
                  <a:close/>
                </a:path>
              </a:pathLst>
            </a:custGeom>
            <a:blipFill>
              <a:blip r:embed="rId3">
                <a:alphaModFix amt="0"/>
              </a:blip>
              <a:stretch>
                <a:fillRect l="0" t="-230612" r="60084" b="-236652"/>
              </a:stretch>
            </a:blipFill>
          </p:spPr>
        </p:sp>
        <p:sp>
          <p:nvSpPr>
            <p:cNvPr name="TextBox 99" id="99"/>
            <p:cNvSpPr txBox="true"/>
            <p:nvPr/>
          </p:nvSpPr>
          <p:spPr>
            <a:xfrm>
              <a:off x="0" y="-38100"/>
              <a:ext cx="18449051" cy="543991"/>
            </a:xfrm>
            <a:prstGeom prst="rect">
              <a:avLst/>
            </a:prstGeom>
          </p:spPr>
          <p:txBody>
            <a:bodyPr anchor="ctr" rtlCol="false" tIns="0" lIns="0" bIns="0" rIns="0"/>
            <a:lstStyle/>
            <a:p>
              <a:pPr algn="l">
                <a:lnSpc>
                  <a:spcPts val="2279"/>
                </a:lnSpc>
              </a:pPr>
              <a:r>
                <a:rPr lang="en-US" sz="1899" i="true">
                  <a:solidFill>
                    <a:srgbClr val="000000"/>
                  </a:solidFill>
                  <a:latin typeface="Calibri (MS) Italics"/>
                  <a:ea typeface="Calibri (MS) Italics"/>
                  <a:cs typeface="Calibri (MS) Italics"/>
                  <a:sym typeface="Calibri (MS) Italics"/>
                </a:rPr>
                <a:t>Le split retenu maximise la réduction d'impureté</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   A1 —Principe d’un arbre de décision Binaire</a:t>
              </a:r>
            </a:p>
          </p:txBody>
        </p:sp>
      </p:grpSp>
      <p:grpSp>
        <p:nvGrpSpPr>
          <p:cNvPr name="Group 8" id="8"/>
          <p:cNvGrpSpPr/>
          <p:nvPr/>
        </p:nvGrpSpPr>
        <p:grpSpPr>
          <a:xfrm rot="0">
            <a:off x="8629659" y="1953850"/>
            <a:ext cx="9109701" cy="2955388"/>
            <a:chOff x="0" y="0"/>
            <a:chExt cx="14261796" cy="4626841"/>
          </a:xfrm>
        </p:grpSpPr>
        <p:sp>
          <p:nvSpPr>
            <p:cNvPr name="Freeform 9" id="9"/>
            <p:cNvSpPr/>
            <p:nvPr/>
          </p:nvSpPr>
          <p:spPr>
            <a:xfrm flipH="false" flipV="false" rot="0">
              <a:off x="10494" y="41957"/>
              <a:ext cx="14240752" cy="4542706"/>
            </a:xfrm>
            <a:custGeom>
              <a:avLst/>
              <a:gdLst/>
              <a:ahLst/>
              <a:cxnLst/>
              <a:rect r="r" b="b" t="t" l="l"/>
              <a:pathLst>
                <a:path h="4542706" w="14240752">
                  <a:moveTo>
                    <a:pt x="0" y="0"/>
                  </a:moveTo>
                  <a:lnTo>
                    <a:pt x="14240752" y="0"/>
                  </a:lnTo>
                  <a:lnTo>
                    <a:pt x="14240752" y="4542706"/>
                  </a:lnTo>
                  <a:lnTo>
                    <a:pt x="0" y="4542706"/>
                  </a:lnTo>
                  <a:close/>
                </a:path>
              </a:pathLst>
            </a:custGeom>
            <a:solidFill>
              <a:srgbClr val="E8F5E8"/>
            </a:solidFill>
          </p:spPr>
        </p:sp>
        <p:sp>
          <p:nvSpPr>
            <p:cNvPr name="Freeform 10" id="10"/>
            <p:cNvSpPr/>
            <p:nvPr/>
          </p:nvSpPr>
          <p:spPr>
            <a:xfrm flipH="false" flipV="false" rot="0">
              <a:off x="0" y="0"/>
              <a:ext cx="14261742" cy="4626620"/>
            </a:xfrm>
            <a:custGeom>
              <a:avLst/>
              <a:gdLst/>
              <a:ahLst/>
              <a:cxnLst/>
              <a:rect r="r" b="b" t="t" l="l"/>
              <a:pathLst>
                <a:path h="4626620" w="14261742">
                  <a:moveTo>
                    <a:pt x="10494" y="0"/>
                  </a:moveTo>
                  <a:lnTo>
                    <a:pt x="14251246" y="0"/>
                  </a:lnTo>
                  <a:cubicBezTo>
                    <a:pt x="14257086" y="0"/>
                    <a:pt x="14261742" y="18928"/>
                    <a:pt x="14261742" y="41957"/>
                  </a:cubicBezTo>
                  <a:lnTo>
                    <a:pt x="14261742" y="4584663"/>
                  </a:lnTo>
                  <a:cubicBezTo>
                    <a:pt x="14261742" y="4608007"/>
                    <a:pt x="14257007" y="4626620"/>
                    <a:pt x="14251246" y="4626620"/>
                  </a:cubicBezTo>
                  <a:lnTo>
                    <a:pt x="10494" y="4626620"/>
                  </a:lnTo>
                  <a:cubicBezTo>
                    <a:pt x="4655" y="4626620"/>
                    <a:pt x="0" y="4607692"/>
                    <a:pt x="0" y="4584663"/>
                  </a:cubicBezTo>
                  <a:lnTo>
                    <a:pt x="0" y="41957"/>
                  </a:lnTo>
                  <a:cubicBezTo>
                    <a:pt x="0" y="18928"/>
                    <a:pt x="4734" y="0"/>
                    <a:pt x="10494" y="0"/>
                  </a:cubicBezTo>
                  <a:moveTo>
                    <a:pt x="10494" y="84229"/>
                  </a:moveTo>
                  <a:lnTo>
                    <a:pt x="10494" y="41957"/>
                  </a:lnTo>
                  <a:lnTo>
                    <a:pt x="21068" y="41957"/>
                  </a:lnTo>
                  <a:lnTo>
                    <a:pt x="21068" y="4584663"/>
                  </a:lnTo>
                  <a:lnTo>
                    <a:pt x="10494" y="4584663"/>
                  </a:lnTo>
                  <a:lnTo>
                    <a:pt x="10494" y="4542706"/>
                  </a:lnTo>
                  <a:lnTo>
                    <a:pt x="14251246" y="4542706"/>
                  </a:lnTo>
                  <a:lnTo>
                    <a:pt x="14251246" y="4584663"/>
                  </a:lnTo>
                  <a:lnTo>
                    <a:pt x="14240752" y="4584663"/>
                  </a:lnTo>
                  <a:lnTo>
                    <a:pt x="14240752" y="41957"/>
                  </a:lnTo>
                  <a:lnTo>
                    <a:pt x="14251246" y="41957"/>
                  </a:lnTo>
                  <a:lnTo>
                    <a:pt x="14251246" y="84229"/>
                  </a:lnTo>
                  <a:lnTo>
                    <a:pt x="10494" y="84229"/>
                  </a:lnTo>
                  <a:close/>
                </a:path>
              </a:pathLst>
            </a:custGeom>
            <a:solidFill>
              <a:srgbClr val="5B9E3D"/>
            </a:solidFill>
          </p:spPr>
        </p:sp>
      </p:grpSp>
      <p:sp>
        <p:nvSpPr>
          <p:cNvPr name="Freeform 11" id="11"/>
          <p:cNvSpPr/>
          <p:nvPr/>
        </p:nvSpPr>
        <p:spPr>
          <a:xfrm flipH="false" flipV="false" rot="0">
            <a:off x="252775" y="2533077"/>
            <a:ext cx="7974295" cy="4258629"/>
          </a:xfrm>
          <a:custGeom>
            <a:avLst/>
            <a:gdLst/>
            <a:ahLst/>
            <a:cxnLst/>
            <a:rect r="r" b="b" t="t" l="l"/>
            <a:pathLst>
              <a:path h="4258629" w="7974295">
                <a:moveTo>
                  <a:pt x="0" y="0"/>
                </a:moveTo>
                <a:lnTo>
                  <a:pt x="7974295" y="0"/>
                </a:lnTo>
                <a:lnTo>
                  <a:pt x="7974295" y="4258629"/>
                </a:lnTo>
                <a:lnTo>
                  <a:pt x="0" y="4258629"/>
                </a:lnTo>
                <a:lnTo>
                  <a:pt x="0" y="0"/>
                </a:lnTo>
                <a:close/>
              </a:path>
            </a:pathLst>
          </a:custGeom>
          <a:blipFill>
            <a:blip r:embed="rId4"/>
            <a:stretch>
              <a:fillRect l="0" t="0" r="-1722" b="0"/>
            </a:stretch>
          </a:blipFill>
        </p:spPr>
      </p:sp>
      <p:sp>
        <p:nvSpPr>
          <p:cNvPr name="TextBox 12" id="12"/>
          <p:cNvSpPr txBox="true"/>
          <p:nvPr/>
        </p:nvSpPr>
        <p:spPr>
          <a:xfrm rot="0">
            <a:off x="8726759" y="2629045"/>
            <a:ext cx="9259530" cy="2400300"/>
          </a:xfrm>
          <a:prstGeom prst="rect">
            <a:avLst/>
          </a:prstGeom>
        </p:spPr>
        <p:txBody>
          <a:bodyPr anchor="t" rtlCol="false" tIns="0" lIns="0" bIns="0" rIns="0">
            <a:spAutoFit/>
          </a:bodyPr>
          <a:lstStyle/>
          <a:p>
            <a:pPr algn="l">
              <a:lnSpc>
                <a:spcPts val="3117"/>
              </a:lnSpc>
            </a:pPr>
            <a:r>
              <a:rPr lang="en-US" sz="2597">
                <a:solidFill>
                  <a:srgbClr val="000000"/>
                </a:solidFill>
                <a:latin typeface="Calibri (MS)"/>
                <a:ea typeface="Calibri (MS)"/>
                <a:cs typeface="Calibri (MS)"/>
                <a:sym typeface="Calibri (MS)"/>
              </a:rPr>
              <a:t>Un a</a:t>
            </a:r>
            <a:r>
              <a:rPr lang="en-US" sz="2597">
                <a:solidFill>
                  <a:srgbClr val="000000"/>
                </a:solidFill>
                <a:latin typeface="Calibri (MS)"/>
                <a:ea typeface="Calibri (MS)"/>
                <a:cs typeface="Calibri (MS)"/>
                <a:sym typeface="Calibri (MS)"/>
              </a:rPr>
              <a:t>rbre de décision binaire:</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Coupe les données en plusieurs sous-groupes</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Chaque nœud = une question (ex : Glucose &lt;127.5 ?)</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Chaque feuille = une décision (0 ou 1)</a:t>
            </a:r>
          </a:p>
          <a:p>
            <a:pPr algn="l">
              <a:lnSpc>
                <a:spcPts val="3117"/>
              </a:lnSpc>
            </a:pPr>
            <a:r>
              <a:rPr lang="en-US" b="true" sz="2597">
                <a:solidFill>
                  <a:srgbClr val="000000"/>
                </a:solidFill>
                <a:latin typeface="Calibri (MS) Bold"/>
                <a:ea typeface="Calibri (MS) Bold"/>
                <a:cs typeface="Calibri (MS) Bold"/>
                <a:sym typeface="Calibri (MS) Bold"/>
              </a:rPr>
              <a:t>       Objectif : </a:t>
            </a:r>
            <a:r>
              <a:rPr lang="en-US" sz="2597">
                <a:solidFill>
                  <a:srgbClr val="000000"/>
                </a:solidFill>
                <a:latin typeface="Calibri (MS)"/>
                <a:ea typeface="Calibri (MS)"/>
                <a:cs typeface="Calibri (MS)"/>
                <a:sym typeface="Calibri (MS)"/>
              </a:rPr>
              <a:t>minimiser l’impureté des nœuds</a:t>
            </a:r>
          </a:p>
          <a:p>
            <a:pPr algn="l">
              <a:lnSpc>
                <a:spcPts val="3117"/>
              </a:lnSpc>
            </a:pPr>
          </a:p>
        </p:txBody>
      </p:sp>
      <p:grpSp>
        <p:nvGrpSpPr>
          <p:cNvPr name="Group 13" id="13"/>
          <p:cNvGrpSpPr/>
          <p:nvPr/>
        </p:nvGrpSpPr>
        <p:grpSpPr>
          <a:xfrm rot="0">
            <a:off x="8629659" y="5029345"/>
            <a:ext cx="9147801" cy="1411980"/>
            <a:chOff x="0" y="0"/>
            <a:chExt cx="14321444" cy="2210541"/>
          </a:xfrm>
        </p:grpSpPr>
        <p:sp>
          <p:nvSpPr>
            <p:cNvPr name="Freeform 14" id="14"/>
            <p:cNvSpPr/>
            <p:nvPr/>
          </p:nvSpPr>
          <p:spPr>
            <a:xfrm flipH="false" flipV="false" rot="0">
              <a:off x="10538" y="20046"/>
              <a:ext cx="14300312" cy="2170344"/>
            </a:xfrm>
            <a:custGeom>
              <a:avLst/>
              <a:gdLst/>
              <a:ahLst/>
              <a:cxnLst/>
              <a:rect r="r" b="b" t="t" l="l"/>
              <a:pathLst>
                <a:path h="2170344" w="14300312">
                  <a:moveTo>
                    <a:pt x="0" y="0"/>
                  </a:moveTo>
                  <a:lnTo>
                    <a:pt x="14300313" y="0"/>
                  </a:lnTo>
                  <a:lnTo>
                    <a:pt x="14300313" y="2170344"/>
                  </a:lnTo>
                  <a:lnTo>
                    <a:pt x="0" y="2170344"/>
                  </a:lnTo>
                  <a:close/>
                </a:path>
              </a:pathLst>
            </a:custGeom>
            <a:solidFill>
              <a:srgbClr val="E8F5E8"/>
            </a:solidFill>
          </p:spPr>
        </p:sp>
        <p:sp>
          <p:nvSpPr>
            <p:cNvPr name="Freeform 15" id="15"/>
            <p:cNvSpPr/>
            <p:nvPr/>
          </p:nvSpPr>
          <p:spPr>
            <a:xfrm flipH="false" flipV="false" rot="0">
              <a:off x="0" y="0"/>
              <a:ext cx="14321389" cy="2210435"/>
            </a:xfrm>
            <a:custGeom>
              <a:avLst/>
              <a:gdLst/>
              <a:ahLst/>
              <a:cxnLst/>
              <a:rect r="r" b="b" t="t" l="l"/>
              <a:pathLst>
                <a:path h="2210435" w="14321389">
                  <a:moveTo>
                    <a:pt x="10538" y="0"/>
                  </a:moveTo>
                  <a:lnTo>
                    <a:pt x="14310851" y="0"/>
                  </a:lnTo>
                  <a:cubicBezTo>
                    <a:pt x="14316714" y="0"/>
                    <a:pt x="14321389" y="9043"/>
                    <a:pt x="14321389" y="20046"/>
                  </a:cubicBezTo>
                  <a:lnTo>
                    <a:pt x="14321389" y="2190390"/>
                  </a:lnTo>
                  <a:cubicBezTo>
                    <a:pt x="14321389" y="2201543"/>
                    <a:pt x="14316636" y="2210435"/>
                    <a:pt x="14310851" y="2210435"/>
                  </a:cubicBezTo>
                  <a:lnTo>
                    <a:pt x="10538" y="2210435"/>
                  </a:lnTo>
                  <a:cubicBezTo>
                    <a:pt x="4675" y="2210435"/>
                    <a:pt x="0" y="2201392"/>
                    <a:pt x="0" y="2190390"/>
                  </a:cubicBezTo>
                  <a:lnTo>
                    <a:pt x="0" y="20046"/>
                  </a:lnTo>
                  <a:cubicBezTo>
                    <a:pt x="0" y="9043"/>
                    <a:pt x="4754" y="0"/>
                    <a:pt x="10538" y="0"/>
                  </a:cubicBezTo>
                  <a:moveTo>
                    <a:pt x="10538" y="40242"/>
                  </a:moveTo>
                  <a:lnTo>
                    <a:pt x="10538" y="20046"/>
                  </a:lnTo>
                  <a:lnTo>
                    <a:pt x="21156" y="20046"/>
                  </a:lnTo>
                  <a:lnTo>
                    <a:pt x="21156" y="2190390"/>
                  </a:lnTo>
                  <a:lnTo>
                    <a:pt x="10538" y="2190390"/>
                  </a:lnTo>
                  <a:lnTo>
                    <a:pt x="10538" y="2170344"/>
                  </a:lnTo>
                  <a:lnTo>
                    <a:pt x="14310851" y="2170344"/>
                  </a:lnTo>
                  <a:lnTo>
                    <a:pt x="14310851" y="2190390"/>
                  </a:lnTo>
                  <a:lnTo>
                    <a:pt x="14300313" y="2190390"/>
                  </a:lnTo>
                  <a:lnTo>
                    <a:pt x="14300313" y="20046"/>
                  </a:lnTo>
                  <a:lnTo>
                    <a:pt x="14310851" y="20046"/>
                  </a:lnTo>
                  <a:lnTo>
                    <a:pt x="14310851" y="40242"/>
                  </a:lnTo>
                  <a:lnTo>
                    <a:pt x="10538" y="40242"/>
                  </a:lnTo>
                  <a:close/>
                </a:path>
              </a:pathLst>
            </a:custGeom>
            <a:solidFill>
              <a:srgbClr val="5B9E3D"/>
            </a:solidFill>
          </p:spPr>
        </p:sp>
      </p:grpSp>
      <p:sp>
        <p:nvSpPr>
          <p:cNvPr name="TextBox 16" id="16"/>
          <p:cNvSpPr txBox="true"/>
          <p:nvPr/>
        </p:nvSpPr>
        <p:spPr>
          <a:xfrm rot="0">
            <a:off x="8686366" y="5477020"/>
            <a:ext cx="9259530" cy="838200"/>
          </a:xfrm>
          <a:prstGeom prst="rect">
            <a:avLst/>
          </a:prstGeom>
        </p:spPr>
        <p:txBody>
          <a:bodyPr anchor="t" rtlCol="false" tIns="0" lIns="0" bIns="0" rIns="0">
            <a:spAutoFit/>
          </a:bodyPr>
          <a:lstStyle/>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Pour choisir la meilleu</a:t>
            </a:r>
            <a:r>
              <a:rPr lang="en-US" sz="2597">
                <a:solidFill>
                  <a:srgbClr val="000000"/>
                </a:solidFill>
                <a:latin typeface="Calibri (MS)"/>
                <a:ea typeface="Calibri (MS)"/>
                <a:cs typeface="Calibri (MS)"/>
                <a:sym typeface="Calibri (MS)"/>
              </a:rPr>
              <a:t>re question, on utilise l’indice de Gini. </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Pl</a:t>
            </a:r>
            <a:r>
              <a:rPr lang="en-US" sz="2597">
                <a:solidFill>
                  <a:srgbClr val="000000"/>
                </a:solidFill>
                <a:latin typeface="Calibri (MS)"/>
                <a:ea typeface="Calibri (MS)"/>
                <a:cs typeface="Calibri (MS)"/>
                <a:sym typeface="Calibri (MS)"/>
              </a:rPr>
              <a:t>us le Gini est faible, plus le nœud contient une seule classe.</a:t>
            </a:r>
          </a:p>
        </p:txBody>
      </p:sp>
      <p:grpSp>
        <p:nvGrpSpPr>
          <p:cNvPr name="Group 17" id="17"/>
          <p:cNvGrpSpPr/>
          <p:nvPr/>
        </p:nvGrpSpPr>
        <p:grpSpPr>
          <a:xfrm rot="0">
            <a:off x="252775" y="7206977"/>
            <a:ext cx="7974295" cy="2350427"/>
            <a:chOff x="0" y="0"/>
            <a:chExt cx="14428678" cy="4252859"/>
          </a:xfrm>
        </p:grpSpPr>
        <p:sp>
          <p:nvSpPr>
            <p:cNvPr name="Freeform 18" id="18"/>
            <p:cNvSpPr/>
            <p:nvPr/>
          </p:nvSpPr>
          <p:spPr>
            <a:xfrm flipH="false" flipV="false" rot="0">
              <a:off x="10617" y="38566"/>
              <a:ext cx="14407388" cy="4175525"/>
            </a:xfrm>
            <a:custGeom>
              <a:avLst/>
              <a:gdLst/>
              <a:ahLst/>
              <a:cxnLst/>
              <a:rect r="r" b="b" t="t" l="l"/>
              <a:pathLst>
                <a:path h="4175525" w="14407388">
                  <a:moveTo>
                    <a:pt x="0" y="0"/>
                  </a:moveTo>
                  <a:lnTo>
                    <a:pt x="14407388" y="0"/>
                  </a:lnTo>
                  <a:lnTo>
                    <a:pt x="14407388" y="4175524"/>
                  </a:lnTo>
                  <a:lnTo>
                    <a:pt x="0" y="4175524"/>
                  </a:lnTo>
                  <a:close/>
                </a:path>
              </a:pathLst>
            </a:custGeom>
            <a:solidFill>
              <a:srgbClr val="E8F5E8"/>
            </a:solidFill>
          </p:spPr>
        </p:sp>
        <p:sp>
          <p:nvSpPr>
            <p:cNvPr name="Freeform 19" id="19"/>
            <p:cNvSpPr/>
            <p:nvPr/>
          </p:nvSpPr>
          <p:spPr>
            <a:xfrm flipH="false" flipV="false" rot="0">
              <a:off x="0" y="0"/>
              <a:ext cx="14428623" cy="4252656"/>
            </a:xfrm>
            <a:custGeom>
              <a:avLst/>
              <a:gdLst/>
              <a:ahLst/>
              <a:cxnLst/>
              <a:rect r="r" b="b" t="t" l="l"/>
              <a:pathLst>
                <a:path h="4252656" w="14428623">
                  <a:moveTo>
                    <a:pt x="10617" y="0"/>
                  </a:moveTo>
                  <a:lnTo>
                    <a:pt x="14418005" y="0"/>
                  </a:lnTo>
                  <a:cubicBezTo>
                    <a:pt x="14423912" y="0"/>
                    <a:pt x="14428623" y="17398"/>
                    <a:pt x="14428623" y="38566"/>
                  </a:cubicBezTo>
                  <a:lnTo>
                    <a:pt x="14428623" y="4214090"/>
                  </a:lnTo>
                  <a:cubicBezTo>
                    <a:pt x="14428623" y="4235548"/>
                    <a:pt x="14423834" y="4252656"/>
                    <a:pt x="14418005" y="4252656"/>
                  </a:cubicBezTo>
                  <a:lnTo>
                    <a:pt x="10617" y="4252656"/>
                  </a:lnTo>
                  <a:cubicBezTo>
                    <a:pt x="4710" y="4252656"/>
                    <a:pt x="0" y="4235258"/>
                    <a:pt x="0" y="4214090"/>
                  </a:cubicBezTo>
                  <a:lnTo>
                    <a:pt x="0" y="38566"/>
                  </a:lnTo>
                  <a:cubicBezTo>
                    <a:pt x="0" y="17398"/>
                    <a:pt x="4790" y="0"/>
                    <a:pt x="10617" y="0"/>
                  </a:cubicBezTo>
                  <a:moveTo>
                    <a:pt x="10617" y="77421"/>
                  </a:moveTo>
                  <a:lnTo>
                    <a:pt x="10617" y="38566"/>
                  </a:lnTo>
                  <a:lnTo>
                    <a:pt x="21314" y="38566"/>
                  </a:lnTo>
                  <a:lnTo>
                    <a:pt x="21314" y="4214090"/>
                  </a:lnTo>
                  <a:lnTo>
                    <a:pt x="10617" y="4214090"/>
                  </a:lnTo>
                  <a:lnTo>
                    <a:pt x="10617" y="4175525"/>
                  </a:lnTo>
                  <a:lnTo>
                    <a:pt x="14418005" y="4175525"/>
                  </a:lnTo>
                  <a:lnTo>
                    <a:pt x="14418005" y="4214090"/>
                  </a:lnTo>
                  <a:lnTo>
                    <a:pt x="14407389" y="4214090"/>
                  </a:lnTo>
                  <a:lnTo>
                    <a:pt x="14407389" y="38566"/>
                  </a:lnTo>
                  <a:lnTo>
                    <a:pt x="14418005" y="38566"/>
                  </a:lnTo>
                  <a:lnTo>
                    <a:pt x="14418005" y="77421"/>
                  </a:lnTo>
                  <a:lnTo>
                    <a:pt x="10617" y="77421"/>
                  </a:lnTo>
                  <a:close/>
                </a:path>
              </a:pathLst>
            </a:custGeom>
            <a:solidFill>
              <a:srgbClr val="5B9E3D"/>
            </a:solidFill>
          </p:spPr>
        </p:sp>
      </p:grpSp>
      <p:sp>
        <p:nvSpPr>
          <p:cNvPr name="TextBox 20" id="20"/>
          <p:cNvSpPr txBox="true"/>
          <p:nvPr/>
        </p:nvSpPr>
        <p:spPr>
          <a:xfrm rot="0">
            <a:off x="252775" y="7157104"/>
            <a:ext cx="7411042" cy="2400300"/>
          </a:xfrm>
          <a:prstGeom prst="rect">
            <a:avLst/>
          </a:prstGeom>
        </p:spPr>
        <p:txBody>
          <a:bodyPr anchor="t" rtlCol="false" tIns="0" lIns="0" bIns="0" rIns="0">
            <a:spAutoFit/>
          </a:bodyPr>
          <a:lstStyle/>
          <a:p>
            <a:pPr algn="l">
              <a:lnSpc>
                <a:spcPts val="3117"/>
              </a:lnSpc>
            </a:pPr>
            <a:r>
              <a:rPr lang="en-US" sz="2597" b="true">
                <a:solidFill>
                  <a:srgbClr val="000000"/>
                </a:solidFill>
                <a:latin typeface="Calibri (MS) Bold"/>
                <a:ea typeface="Calibri (MS) Bold"/>
                <a:cs typeface="Calibri (MS) Bold"/>
                <a:sym typeface="Calibri (MS) Bold"/>
              </a:rPr>
              <a:t>Significa</a:t>
            </a:r>
            <a:r>
              <a:rPr lang="en-US" b="true" sz="2597">
                <a:solidFill>
                  <a:srgbClr val="000000"/>
                </a:solidFill>
                <a:latin typeface="Calibri (MS) Bold"/>
                <a:ea typeface="Calibri (MS) Bold"/>
                <a:cs typeface="Calibri (MS) Bold"/>
                <a:sym typeface="Calibri (MS) Bold"/>
              </a:rPr>
              <a:t>tion des éléments :</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gini : mesure d’impureté (plus petit = mieux)</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samples : nombre d’individus</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value : [non diabétique, diabétique]</a:t>
            </a:r>
          </a:p>
          <a:p>
            <a:pPr algn="l" marL="560898" indent="-280449" lvl="1">
              <a:lnSpc>
                <a:spcPts val="3117"/>
              </a:lnSpc>
              <a:buFont typeface="Arial"/>
              <a:buChar char="•"/>
            </a:pPr>
            <a:r>
              <a:rPr lang="en-US" sz="2597">
                <a:solidFill>
                  <a:srgbClr val="000000"/>
                </a:solidFill>
                <a:latin typeface="Calibri (MS)"/>
                <a:ea typeface="Calibri (MS)"/>
                <a:cs typeface="Calibri (MS)"/>
                <a:sym typeface="Calibri (MS)"/>
              </a:rPr>
              <a:t>class : prédiction finale</a:t>
            </a:r>
          </a:p>
          <a:p>
            <a:pPr algn="l">
              <a:lnSpc>
                <a:spcPts val="3117"/>
              </a:lnSpc>
            </a:pPr>
          </a:p>
        </p:txBody>
      </p:sp>
      <p:sp>
        <p:nvSpPr>
          <p:cNvPr name="Freeform 21" id="21"/>
          <p:cNvSpPr/>
          <p:nvPr/>
        </p:nvSpPr>
        <p:spPr>
          <a:xfrm flipH="false" flipV="false" rot="0">
            <a:off x="8686366" y="4204758"/>
            <a:ext cx="457634" cy="457634"/>
          </a:xfrm>
          <a:custGeom>
            <a:avLst/>
            <a:gdLst/>
            <a:ahLst/>
            <a:cxnLst/>
            <a:rect r="r" b="b" t="t" l="l"/>
            <a:pathLst>
              <a:path h="457634" w="457634">
                <a:moveTo>
                  <a:pt x="0" y="0"/>
                </a:moveTo>
                <a:lnTo>
                  <a:pt x="457634" y="0"/>
                </a:lnTo>
                <a:lnTo>
                  <a:pt x="457634" y="457634"/>
                </a:lnTo>
                <a:lnTo>
                  <a:pt x="0" y="457634"/>
                </a:lnTo>
                <a:lnTo>
                  <a:pt x="0" y="0"/>
                </a:lnTo>
                <a:close/>
              </a:path>
            </a:pathLst>
          </a:custGeom>
          <a:blipFill>
            <a:blip r:embed="rId5"/>
            <a:stretch>
              <a:fillRect l="0" t="0" r="0" b="0"/>
            </a:stretch>
          </a:blipFill>
        </p:spPr>
      </p:sp>
      <p:sp>
        <p:nvSpPr>
          <p:cNvPr name="TextBox 22" id="2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12</a:t>
            </a:r>
          </a:p>
        </p:txBody>
      </p:sp>
      <p:sp>
        <p:nvSpPr>
          <p:cNvPr name="TextBox 23" id="23"/>
          <p:cNvSpPr txBox="true"/>
          <p:nvPr/>
        </p:nvSpPr>
        <p:spPr>
          <a:xfrm rot="0">
            <a:off x="5005446" y="2113977"/>
            <a:ext cx="9109701" cy="419100"/>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Calibri (MS) Bold"/>
                <a:ea typeface="Calibri (MS) Bold"/>
                <a:cs typeface="Calibri (MS) Bold"/>
                <a:sym typeface="Calibri (MS) Bold"/>
              </a:rPr>
              <a:t>📌 Structure</a:t>
            </a:r>
          </a:p>
        </p:txBody>
      </p:sp>
      <p:grpSp>
        <p:nvGrpSpPr>
          <p:cNvPr name="Group 24" id="24"/>
          <p:cNvGrpSpPr/>
          <p:nvPr/>
        </p:nvGrpSpPr>
        <p:grpSpPr>
          <a:xfrm rot="0">
            <a:off x="8662737" y="6791706"/>
            <a:ext cx="9050701" cy="3006230"/>
            <a:chOff x="0" y="0"/>
            <a:chExt cx="14169428" cy="4706438"/>
          </a:xfrm>
        </p:grpSpPr>
        <p:sp>
          <p:nvSpPr>
            <p:cNvPr name="Freeform 25" id="25"/>
            <p:cNvSpPr/>
            <p:nvPr/>
          </p:nvSpPr>
          <p:spPr>
            <a:xfrm flipH="false" flipV="false" rot="0">
              <a:off x="10426" y="42679"/>
              <a:ext cx="14148520" cy="4620856"/>
            </a:xfrm>
            <a:custGeom>
              <a:avLst/>
              <a:gdLst/>
              <a:ahLst/>
              <a:cxnLst/>
              <a:rect r="r" b="b" t="t" l="l"/>
              <a:pathLst>
                <a:path h="4620856" w="14148520">
                  <a:moveTo>
                    <a:pt x="0" y="0"/>
                  </a:moveTo>
                  <a:lnTo>
                    <a:pt x="14148521" y="0"/>
                  </a:lnTo>
                  <a:lnTo>
                    <a:pt x="14148521" y="4620856"/>
                  </a:lnTo>
                  <a:lnTo>
                    <a:pt x="0" y="4620856"/>
                  </a:lnTo>
                  <a:close/>
                </a:path>
              </a:pathLst>
            </a:custGeom>
            <a:solidFill>
              <a:srgbClr val="E8F5E8"/>
            </a:solidFill>
          </p:spPr>
        </p:sp>
        <p:sp>
          <p:nvSpPr>
            <p:cNvPr name="Freeform 26" id="26"/>
            <p:cNvSpPr/>
            <p:nvPr/>
          </p:nvSpPr>
          <p:spPr>
            <a:xfrm flipH="false" flipV="false" rot="0">
              <a:off x="0" y="0"/>
              <a:ext cx="14169374" cy="4706214"/>
            </a:xfrm>
            <a:custGeom>
              <a:avLst/>
              <a:gdLst/>
              <a:ahLst/>
              <a:cxnLst/>
              <a:rect r="r" b="b" t="t" l="l"/>
              <a:pathLst>
                <a:path h="4706214" w="14169374">
                  <a:moveTo>
                    <a:pt x="10426" y="0"/>
                  </a:moveTo>
                  <a:lnTo>
                    <a:pt x="14158947" y="0"/>
                  </a:lnTo>
                  <a:cubicBezTo>
                    <a:pt x="14164748" y="0"/>
                    <a:pt x="14169374" y="19254"/>
                    <a:pt x="14169374" y="42679"/>
                  </a:cubicBezTo>
                  <a:lnTo>
                    <a:pt x="14169374" y="4663535"/>
                  </a:lnTo>
                  <a:cubicBezTo>
                    <a:pt x="14169374" y="4687281"/>
                    <a:pt x="14164670" y="4706214"/>
                    <a:pt x="14158947" y="4706214"/>
                  </a:cubicBezTo>
                  <a:lnTo>
                    <a:pt x="10426" y="4706214"/>
                  </a:lnTo>
                  <a:cubicBezTo>
                    <a:pt x="4625" y="4706214"/>
                    <a:pt x="0" y="4686960"/>
                    <a:pt x="0" y="4663535"/>
                  </a:cubicBezTo>
                  <a:lnTo>
                    <a:pt x="0" y="42679"/>
                  </a:lnTo>
                  <a:cubicBezTo>
                    <a:pt x="0" y="19254"/>
                    <a:pt x="4704" y="0"/>
                    <a:pt x="10426" y="0"/>
                  </a:cubicBezTo>
                  <a:moveTo>
                    <a:pt x="10426" y="85678"/>
                  </a:moveTo>
                  <a:lnTo>
                    <a:pt x="10426" y="42679"/>
                  </a:lnTo>
                  <a:lnTo>
                    <a:pt x="20931" y="42679"/>
                  </a:lnTo>
                  <a:lnTo>
                    <a:pt x="20931" y="4663535"/>
                  </a:lnTo>
                  <a:lnTo>
                    <a:pt x="10426" y="4663535"/>
                  </a:lnTo>
                  <a:lnTo>
                    <a:pt x="10426" y="4620856"/>
                  </a:lnTo>
                  <a:lnTo>
                    <a:pt x="14158947" y="4620856"/>
                  </a:lnTo>
                  <a:lnTo>
                    <a:pt x="14158947" y="4663535"/>
                  </a:lnTo>
                  <a:lnTo>
                    <a:pt x="14148521" y="4663535"/>
                  </a:lnTo>
                  <a:lnTo>
                    <a:pt x="14148521" y="42679"/>
                  </a:lnTo>
                  <a:lnTo>
                    <a:pt x="14158947" y="42679"/>
                  </a:lnTo>
                  <a:lnTo>
                    <a:pt x="14158947" y="85678"/>
                  </a:lnTo>
                  <a:lnTo>
                    <a:pt x="10426" y="85678"/>
                  </a:lnTo>
                  <a:close/>
                </a:path>
              </a:pathLst>
            </a:custGeom>
            <a:solidFill>
              <a:srgbClr val="5B9E3D"/>
            </a:solidFill>
          </p:spPr>
        </p:sp>
      </p:grpSp>
      <p:sp>
        <p:nvSpPr>
          <p:cNvPr name="TextBox 27" id="27"/>
          <p:cNvSpPr txBox="true"/>
          <p:nvPr/>
        </p:nvSpPr>
        <p:spPr>
          <a:xfrm rot="0">
            <a:off x="8915183" y="6964090"/>
            <a:ext cx="9259530" cy="419100"/>
          </a:xfrm>
          <a:prstGeom prst="rect">
            <a:avLst/>
          </a:prstGeom>
        </p:spPr>
        <p:txBody>
          <a:bodyPr anchor="t" rtlCol="false" tIns="0" lIns="0" bIns="0" rIns="0">
            <a:spAutoFit/>
          </a:bodyPr>
          <a:lstStyle/>
          <a:p>
            <a:pPr algn="l">
              <a:lnSpc>
                <a:spcPts val="2997"/>
              </a:lnSpc>
            </a:pPr>
            <a:r>
              <a:rPr lang="en-US" sz="2497" b="true">
                <a:solidFill>
                  <a:srgbClr val="000000"/>
                </a:solidFill>
                <a:latin typeface="Calibri (MS) Bold"/>
                <a:ea typeface="Calibri (MS) Bold"/>
                <a:cs typeface="Calibri (MS) Bold"/>
                <a:sym typeface="Calibri (MS) Bold"/>
              </a:rPr>
              <a:t>🔁 Const</a:t>
            </a:r>
            <a:r>
              <a:rPr lang="en-US" b="true" sz="2497">
                <a:solidFill>
                  <a:srgbClr val="000000"/>
                </a:solidFill>
                <a:latin typeface="Calibri (MS) Bold"/>
                <a:ea typeface="Calibri (MS) Bold"/>
                <a:cs typeface="Calibri (MS) Bold"/>
                <a:sym typeface="Calibri (MS) Bold"/>
              </a:rPr>
              <a:t>ruction récursive</a:t>
            </a:r>
          </a:p>
        </p:txBody>
      </p:sp>
      <p:grpSp>
        <p:nvGrpSpPr>
          <p:cNvPr name="Group 28" id="28"/>
          <p:cNvGrpSpPr/>
          <p:nvPr/>
        </p:nvGrpSpPr>
        <p:grpSpPr>
          <a:xfrm rot="0">
            <a:off x="9030700" y="7554640"/>
            <a:ext cx="6384404" cy="402336"/>
            <a:chOff x="0" y="0"/>
            <a:chExt cx="8512538" cy="536448"/>
          </a:xfrm>
        </p:grpSpPr>
        <p:sp>
          <p:nvSpPr>
            <p:cNvPr name="Freeform 29" id="29"/>
            <p:cNvSpPr/>
            <p:nvPr/>
          </p:nvSpPr>
          <p:spPr>
            <a:xfrm flipH="false" flipV="false" rot="0">
              <a:off x="0" y="0"/>
              <a:ext cx="8512538" cy="536448"/>
            </a:xfrm>
            <a:custGeom>
              <a:avLst/>
              <a:gdLst/>
              <a:ahLst/>
              <a:cxnLst/>
              <a:rect r="r" b="b" t="t" l="l"/>
              <a:pathLst>
                <a:path h="536448" w="8512538">
                  <a:moveTo>
                    <a:pt x="0" y="0"/>
                  </a:moveTo>
                  <a:lnTo>
                    <a:pt x="8512538" y="0"/>
                  </a:lnTo>
                  <a:lnTo>
                    <a:pt x="8512538" y="536448"/>
                  </a:lnTo>
                  <a:lnTo>
                    <a:pt x="0" y="536448"/>
                  </a:lnTo>
                  <a:close/>
                </a:path>
              </a:pathLst>
            </a:custGeom>
            <a:blipFill>
              <a:blip r:embed="rId3">
                <a:alphaModFix amt="0"/>
              </a:blip>
              <a:stretch>
                <a:fillRect l="0" t="-206848" r="16930" b="-206848"/>
              </a:stretch>
            </a:blipFill>
          </p:spPr>
        </p:sp>
        <p:sp>
          <p:nvSpPr>
            <p:cNvPr name="TextBox 30" id="30"/>
            <p:cNvSpPr txBox="true"/>
            <p:nvPr/>
          </p:nvSpPr>
          <p:spPr>
            <a:xfrm>
              <a:off x="0" y="-47625"/>
              <a:ext cx="8512538" cy="584073"/>
            </a:xfrm>
            <a:prstGeom prst="rect">
              <a:avLst/>
            </a:prstGeom>
          </p:spPr>
          <p:txBody>
            <a:bodyPr anchor="ctr" rtlCol="false" tIns="0" lIns="0" bIns="0" rIns="0"/>
            <a:lstStyle/>
            <a:p>
              <a:pPr algn="l">
                <a:lnSpc>
                  <a:spcPts val="2399"/>
                </a:lnSpc>
              </a:pPr>
              <a:r>
                <a:rPr lang="en-US" sz="1999">
                  <a:solidFill>
                    <a:srgbClr val="2C5F2D"/>
                  </a:solidFill>
                  <a:latin typeface="Calibri (MS)"/>
                  <a:ea typeface="Calibri (MS)"/>
                  <a:cs typeface="Calibri (MS)"/>
                  <a:sym typeface="Calibri (MS)"/>
                </a:rPr>
                <a:t>L'arbre se construit en répétant ce processus jusqu'à :</a:t>
              </a:r>
            </a:p>
          </p:txBody>
        </p:sp>
      </p:grpSp>
      <p:grpSp>
        <p:nvGrpSpPr>
          <p:cNvPr name="Group 31" id="31"/>
          <p:cNvGrpSpPr/>
          <p:nvPr/>
        </p:nvGrpSpPr>
        <p:grpSpPr>
          <a:xfrm rot="0">
            <a:off x="8915183" y="7907065"/>
            <a:ext cx="6054963" cy="1645920"/>
            <a:chOff x="0" y="0"/>
            <a:chExt cx="8073284" cy="2194560"/>
          </a:xfrm>
        </p:grpSpPr>
        <p:sp>
          <p:nvSpPr>
            <p:cNvPr name="Freeform 32" id="32"/>
            <p:cNvSpPr/>
            <p:nvPr/>
          </p:nvSpPr>
          <p:spPr>
            <a:xfrm flipH="false" flipV="false" rot="0">
              <a:off x="0" y="0"/>
              <a:ext cx="8073284" cy="2194560"/>
            </a:xfrm>
            <a:custGeom>
              <a:avLst/>
              <a:gdLst/>
              <a:ahLst/>
              <a:cxnLst/>
              <a:rect r="r" b="b" t="t" l="l"/>
              <a:pathLst>
                <a:path h="2194560" w="8073284">
                  <a:moveTo>
                    <a:pt x="0" y="0"/>
                  </a:moveTo>
                  <a:lnTo>
                    <a:pt x="8073284" y="0"/>
                  </a:lnTo>
                  <a:lnTo>
                    <a:pt x="8073284" y="2194560"/>
                  </a:lnTo>
                  <a:lnTo>
                    <a:pt x="0" y="2194560"/>
                  </a:lnTo>
                  <a:close/>
                </a:path>
              </a:pathLst>
            </a:custGeom>
            <a:blipFill>
              <a:blip r:embed="rId3">
                <a:alphaModFix amt="0"/>
              </a:blip>
              <a:stretch>
                <a:fillRect l="0" t="-10620" r="15430" b="-10620"/>
              </a:stretch>
            </a:blipFill>
          </p:spPr>
        </p:sp>
        <p:sp>
          <p:nvSpPr>
            <p:cNvPr name="TextBox 33" id="33"/>
            <p:cNvSpPr txBox="true"/>
            <p:nvPr/>
          </p:nvSpPr>
          <p:spPr>
            <a:xfrm>
              <a:off x="0" y="-47625"/>
              <a:ext cx="8073284" cy="2242185"/>
            </a:xfrm>
            <a:prstGeom prst="rect">
              <a:avLst/>
            </a:prstGeom>
          </p:spPr>
          <p:txBody>
            <a:bodyPr anchor="ctr" rtlCol="false" tIns="0" lIns="0" bIns="0" rIns="0"/>
            <a:lstStyle/>
            <a:p>
              <a:pPr algn="l">
                <a:lnSpc>
                  <a:spcPts val="2999"/>
                </a:lnSpc>
              </a:pPr>
              <a:r>
                <a:rPr lang="en-US" sz="2499">
                  <a:solidFill>
                    <a:srgbClr val="000000"/>
                  </a:solidFill>
                  <a:latin typeface="Calibri (MS)"/>
                  <a:ea typeface="Calibri (MS)"/>
                  <a:cs typeface="Calibri (MS)"/>
                  <a:sym typeface="Calibri (MS)"/>
                </a:rPr>
                <a:t>▪ Profondeur maximale atteinte</a:t>
              </a:r>
            </a:p>
            <a:p>
              <a:pPr algn="l">
                <a:lnSpc>
                  <a:spcPts val="2999"/>
                </a:lnSpc>
              </a:pPr>
              <a:r>
                <a:rPr lang="en-US" sz="2499">
                  <a:solidFill>
                    <a:srgbClr val="000000"/>
                  </a:solidFill>
                  <a:latin typeface="Calibri (MS)"/>
                  <a:ea typeface="Calibri (MS)"/>
                  <a:cs typeface="Calibri (MS)"/>
                  <a:sym typeface="Calibri (MS)"/>
                </a:rPr>
                <a:t>▪ Nœud pur  (Gini = 0)</a:t>
              </a:r>
            </a:p>
            <a:p>
              <a:pPr algn="l">
                <a:lnSpc>
                  <a:spcPts val="2999"/>
                </a:lnSpc>
              </a:pPr>
              <a:r>
                <a:rPr lang="en-US" sz="2499">
                  <a:solidFill>
                    <a:srgbClr val="000000"/>
                  </a:solidFill>
                  <a:latin typeface="Calibri (MS)"/>
                  <a:ea typeface="Calibri (MS)"/>
                  <a:cs typeface="Calibri (MS)"/>
                  <a:sym typeface="Calibri (MS)"/>
                </a:rPr>
                <a:t>▪ Nombre minimum d'échantillons atteint</a:t>
              </a:r>
            </a:p>
          </p:txBody>
        </p:sp>
      </p:grpSp>
      <p:grpSp>
        <p:nvGrpSpPr>
          <p:cNvPr name="Group 34" id="34"/>
          <p:cNvGrpSpPr/>
          <p:nvPr/>
        </p:nvGrpSpPr>
        <p:grpSpPr>
          <a:xfrm rot="0">
            <a:off x="8915183" y="5143500"/>
            <a:ext cx="5394960" cy="512064"/>
            <a:chOff x="0" y="0"/>
            <a:chExt cx="7193280" cy="682752"/>
          </a:xfrm>
        </p:grpSpPr>
        <p:sp>
          <p:nvSpPr>
            <p:cNvPr name="Freeform 35" id="35"/>
            <p:cNvSpPr/>
            <p:nvPr/>
          </p:nvSpPr>
          <p:spPr>
            <a:xfrm flipH="false" flipV="false" rot="0">
              <a:off x="0" y="0"/>
              <a:ext cx="7193280" cy="682752"/>
            </a:xfrm>
            <a:custGeom>
              <a:avLst/>
              <a:gdLst/>
              <a:ahLst/>
              <a:cxnLst/>
              <a:rect r="r" b="b" t="t" l="l"/>
              <a:pathLst>
                <a:path h="682752" w="7193280">
                  <a:moveTo>
                    <a:pt x="0" y="0"/>
                  </a:moveTo>
                  <a:lnTo>
                    <a:pt x="7193280" y="0"/>
                  </a:lnTo>
                  <a:lnTo>
                    <a:pt x="7193280" y="682752"/>
                  </a:lnTo>
                  <a:lnTo>
                    <a:pt x="0" y="682752"/>
                  </a:lnTo>
                  <a:close/>
                </a:path>
              </a:pathLst>
            </a:custGeom>
            <a:blipFill>
              <a:blip r:embed="rId3">
                <a:alphaModFix amt="0"/>
              </a:blip>
              <a:stretch>
                <a:fillRect l="0" t="-155288" r="0" b="-155288"/>
              </a:stretch>
            </a:blipFill>
          </p:spPr>
        </p:sp>
        <p:sp>
          <p:nvSpPr>
            <p:cNvPr name="TextBox 36" id="36"/>
            <p:cNvSpPr txBox="true"/>
            <p:nvPr/>
          </p:nvSpPr>
          <p:spPr>
            <a:xfrm>
              <a:off x="0" y="-57150"/>
              <a:ext cx="7193280" cy="739902"/>
            </a:xfrm>
            <a:prstGeom prst="rect">
              <a:avLst/>
            </a:prstGeom>
          </p:spPr>
          <p:txBody>
            <a:bodyPr anchor="ctr" rtlCol="false" tIns="0" lIns="0" bIns="0" rIns="0"/>
            <a:lstStyle/>
            <a:p>
              <a:pPr algn="l">
                <a:lnSpc>
                  <a:spcPts val="2879"/>
                </a:lnSpc>
              </a:pPr>
              <a:r>
                <a:rPr lang="en-US" b="true" sz="2399">
                  <a:solidFill>
                    <a:srgbClr val="000000"/>
                  </a:solidFill>
                  <a:latin typeface="Calibri (MS) Bold"/>
                  <a:ea typeface="Calibri (MS) Bold"/>
                  <a:cs typeface="Calibri (MS) Bold"/>
                  <a:sym typeface="Calibri (MS) Bold"/>
                </a:rPr>
                <a:t>🎯  Objectif — Indice de Gini</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Arbre de Décision Binaire : Comparaison ID3 / C4.5 / CART</a:t>
              </a:r>
            </a:p>
          </p:txBody>
        </p:sp>
      </p:grpSp>
      <p:grpSp>
        <p:nvGrpSpPr>
          <p:cNvPr name="Group 8" id="8"/>
          <p:cNvGrpSpPr/>
          <p:nvPr/>
        </p:nvGrpSpPr>
        <p:grpSpPr>
          <a:xfrm rot="0">
            <a:off x="535943" y="1907543"/>
            <a:ext cx="4605159" cy="869340"/>
            <a:chOff x="0" y="0"/>
            <a:chExt cx="6637898" cy="1253071"/>
          </a:xfrm>
        </p:grpSpPr>
        <p:sp>
          <p:nvSpPr>
            <p:cNvPr name="Freeform 9" id="9"/>
            <p:cNvSpPr/>
            <p:nvPr/>
          </p:nvSpPr>
          <p:spPr>
            <a:xfrm flipH="false" flipV="false" rot="0">
              <a:off x="19049" y="16891"/>
              <a:ext cx="6599700" cy="1219200"/>
            </a:xfrm>
            <a:custGeom>
              <a:avLst/>
              <a:gdLst/>
              <a:ahLst/>
              <a:cxnLst/>
              <a:rect r="r" b="b" t="t" l="l"/>
              <a:pathLst>
                <a:path h="1219200" w="6599700">
                  <a:moveTo>
                    <a:pt x="0" y="0"/>
                  </a:moveTo>
                  <a:lnTo>
                    <a:pt x="6599700" y="0"/>
                  </a:lnTo>
                  <a:lnTo>
                    <a:pt x="6599700" y="1219200"/>
                  </a:lnTo>
                  <a:lnTo>
                    <a:pt x="0" y="1219200"/>
                  </a:lnTo>
                  <a:close/>
                </a:path>
              </a:pathLst>
            </a:custGeom>
            <a:solidFill>
              <a:srgbClr val="2C5F2D"/>
            </a:solidFill>
          </p:spPr>
        </p:sp>
        <p:sp>
          <p:nvSpPr>
            <p:cNvPr name="Freeform 10" id="10"/>
            <p:cNvSpPr/>
            <p:nvPr/>
          </p:nvSpPr>
          <p:spPr>
            <a:xfrm flipH="false" flipV="false" rot="0">
              <a:off x="0" y="0"/>
              <a:ext cx="6637797" cy="1252984"/>
            </a:xfrm>
            <a:custGeom>
              <a:avLst/>
              <a:gdLst/>
              <a:ahLst/>
              <a:cxnLst/>
              <a:rect r="r" b="b" t="t" l="l"/>
              <a:pathLst>
                <a:path h="1252984" w="6637797">
                  <a:moveTo>
                    <a:pt x="19049" y="0"/>
                  </a:moveTo>
                  <a:lnTo>
                    <a:pt x="6618749" y="0"/>
                  </a:lnTo>
                  <a:cubicBezTo>
                    <a:pt x="6629347" y="0"/>
                    <a:pt x="6637797" y="7620"/>
                    <a:pt x="6637797" y="16891"/>
                  </a:cubicBezTo>
                  <a:lnTo>
                    <a:pt x="6637797" y="1236091"/>
                  </a:lnTo>
                  <a:cubicBezTo>
                    <a:pt x="6637797" y="1245489"/>
                    <a:pt x="6629204" y="1252982"/>
                    <a:pt x="6618749" y="1252982"/>
                  </a:cubicBezTo>
                  <a:lnTo>
                    <a:pt x="19049" y="1252982"/>
                  </a:lnTo>
                  <a:cubicBezTo>
                    <a:pt x="8593" y="1253109"/>
                    <a:pt x="0" y="1245489"/>
                    <a:pt x="0" y="1236091"/>
                  </a:cubicBezTo>
                  <a:lnTo>
                    <a:pt x="0" y="16891"/>
                  </a:lnTo>
                  <a:cubicBezTo>
                    <a:pt x="0" y="7620"/>
                    <a:pt x="8593" y="0"/>
                    <a:pt x="19049" y="0"/>
                  </a:cubicBezTo>
                  <a:moveTo>
                    <a:pt x="19049" y="33909"/>
                  </a:moveTo>
                  <a:lnTo>
                    <a:pt x="19049" y="16891"/>
                  </a:lnTo>
                  <a:lnTo>
                    <a:pt x="38240" y="16891"/>
                  </a:lnTo>
                  <a:lnTo>
                    <a:pt x="38240" y="1236091"/>
                  </a:lnTo>
                  <a:lnTo>
                    <a:pt x="19049" y="1236091"/>
                  </a:lnTo>
                  <a:lnTo>
                    <a:pt x="19049" y="1219200"/>
                  </a:lnTo>
                  <a:lnTo>
                    <a:pt x="6618749" y="1219200"/>
                  </a:lnTo>
                  <a:lnTo>
                    <a:pt x="6618749" y="1236091"/>
                  </a:lnTo>
                  <a:lnTo>
                    <a:pt x="6599700" y="1236091"/>
                  </a:lnTo>
                  <a:lnTo>
                    <a:pt x="6599700" y="16891"/>
                  </a:lnTo>
                  <a:lnTo>
                    <a:pt x="6618749" y="16891"/>
                  </a:lnTo>
                  <a:lnTo>
                    <a:pt x="6618749" y="33909"/>
                  </a:lnTo>
                  <a:lnTo>
                    <a:pt x="19049" y="33909"/>
                  </a:lnTo>
                  <a:close/>
                </a:path>
              </a:pathLst>
            </a:custGeom>
            <a:solidFill>
              <a:srgbClr val="C8D8C8"/>
            </a:solidFill>
          </p:spPr>
        </p:sp>
      </p:grpSp>
      <p:grpSp>
        <p:nvGrpSpPr>
          <p:cNvPr name="Group 11" id="11"/>
          <p:cNvGrpSpPr/>
          <p:nvPr/>
        </p:nvGrpSpPr>
        <p:grpSpPr>
          <a:xfrm rot="0">
            <a:off x="682733" y="1950298"/>
            <a:ext cx="4387881" cy="761257"/>
            <a:chOff x="0" y="0"/>
            <a:chExt cx="6324713" cy="1097280"/>
          </a:xfrm>
        </p:grpSpPr>
        <p:sp>
          <p:nvSpPr>
            <p:cNvPr name="Freeform 12" id="12"/>
            <p:cNvSpPr/>
            <p:nvPr/>
          </p:nvSpPr>
          <p:spPr>
            <a:xfrm flipH="false" flipV="false" rot="0">
              <a:off x="0" y="0"/>
              <a:ext cx="6324713" cy="1097280"/>
            </a:xfrm>
            <a:custGeom>
              <a:avLst/>
              <a:gdLst/>
              <a:ahLst/>
              <a:cxnLst/>
              <a:rect r="r" b="b" t="t" l="l"/>
              <a:pathLst>
                <a:path h="1097280" w="6324713">
                  <a:moveTo>
                    <a:pt x="0" y="0"/>
                  </a:moveTo>
                  <a:lnTo>
                    <a:pt x="6324713" y="0"/>
                  </a:lnTo>
                  <a:lnTo>
                    <a:pt x="6324713" y="1097280"/>
                  </a:lnTo>
                  <a:lnTo>
                    <a:pt x="0" y="1097280"/>
                  </a:lnTo>
                  <a:close/>
                </a:path>
              </a:pathLst>
            </a:custGeom>
            <a:blipFill>
              <a:blip r:embed="rId3">
                <a:alphaModFix amt="0"/>
              </a:blip>
              <a:stretch>
                <a:fillRect l="0" t="-49590" r="11326" b="-49590"/>
              </a:stretch>
            </a:blipFill>
          </p:spPr>
        </p:sp>
        <p:sp>
          <p:nvSpPr>
            <p:cNvPr name="TextBox 13" id="13"/>
            <p:cNvSpPr txBox="true"/>
            <p:nvPr/>
          </p:nvSpPr>
          <p:spPr>
            <a:xfrm>
              <a:off x="0" y="-38100"/>
              <a:ext cx="6324713" cy="113538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Critère</a:t>
              </a:r>
            </a:p>
          </p:txBody>
        </p:sp>
      </p:grpSp>
      <p:grpSp>
        <p:nvGrpSpPr>
          <p:cNvPr name="Group 14" id="14"/>
          <p:cNvGrpSpPr/>
          <p:nvPr/>
        </p:nvGrpSpPr>
        <p:grpSpPr>
          <a:xfrm rot="0">
            <a:off x="5114602" y="1907543"/>
            <a:ext cx="3842049" cy="869340"/>
            <a:chOff x="0" y="0"/>
            <a:chExt cx="5537948" cy="1253071"/>
          </a:xfrm>
        </p:grpSpPr>
        <p:sp>
          <p:nvSpPr>
            <p:cNvPr name="Freeform 15" id="15"/>
            <p:cNvSpPr/>
            <p:nvPr/>
          </p:nvSpPr>
          <p:spPr>
            <a:xfrm flipH="false" flipV="false" rot="0">
              <a:off x="19049" y="16891"/>
              <a:ext cx="5499750" cy="1219200"/>
            </a:xfrm>
            <a:custGeom>
              <a:avLst/>
              <a:gdLst/>
              <a:ahLst/>
              <a:cxnLst/>
              <a:rect r="r" b="b" t="t" l="l"/>
              <a:pathLst>
                <a:path h="1219200" w="5499750">
                  <a:moveTo>
                    <a:pt x="0" y="0"/>
                  </a:moveTo>
                  <a:lnTo>
                    <a:pt x="5499750" y="0"/>
                  </a:lnTo>
                  <a:lnTo>
                    <a:pt x="5499750" y="1219200"/>
                  </a:lnTo>
                  <a:lnTo>
                    <a:pt x="0" y="1219200"/>
                  </a:lnTo>
                  <a:close/>
                </a:path>
              </a:pathLst>
            </a:custGeom>
            <a:solidFill>
              <a:srgbClr val="2C5F2D"/>
            </a:solidFill>
          </p:spPr>
        </p:sp>
        <p:sp>
          <p:nvSpPr>
            <p:cNvPr name="Freeform 16" id="16"/>
            <p:cNvSpPr/>
            <p:nvPr/>
          </p:nvSpPr>
          <p:spPr>
            <a:xfrm flipH="false" flipV="false" rot="0">
              <a:off x="0" y="0"/>
              <a:ext cx="5537848" cy="1252984"/>
            </a:xfrm>
            <a:custGeom>
              <a:avLst/>
              <a:gdLst/>
              <a:ahLst/>
              <a:cxnLst/>
              <a:rect r="r" b="b" t="t" l="l"/>
              <a:pathLst>
                <a:path h="1252984" w="5537848">
                  <a:moveTo>
                    <a:pt x="19049" y="0"/>
                  </a:moveTo>
                  <a:lnTo>
                    <a:pt x="5518799" y="0"/>
                  </a:lnTo>
                  <a:cubicBezTo>
                    <a:pt x="5529397" y="0"/>
                    <a:pt x="5537848" y="7620"/>
                    <a:pt x="5537848" y="16891"/>
                  </a:cubicBezTo>
                  <a:lnTo>
                    <a:pt x="5537848" y="1236091"/>
                  </a:lnTo>
                  <a:cubicBezTo>
                    <a:pt x="5537848" y="1245489"/>
                    <a:pt x="5529254" y="1252982"/>
                    <a:pt x="5518799" y="1252982"/>
                  </a:cubicBezTo>
                  <a:lnTo>
                    <a:pt x="19049" y="1252982"/>
                  </a:lnTo>
                  <a:cubicBezTo>
                    <a:pt x="8593" y="1253109"/>
                    <a:pt x="0" y="1245489"/>
                    <a:pt x="0" y="1236091"/>
                  </a:cubicBezTo>
                  <a:lnTo>
                    <a:pt x="0" y="16891"/>
                  </a:lnTo>
                  <a:cubicBezTo>
                    <a:pt x="0" y="7620"/>
                    <a:pt x="8593" y="0"/>
                    <a:pt x="19049" y="0"/>
                  </a:cubicBezTo>
                  <a:moveTo>
                    <a:pt x="19049" y="33909"/>
                  </a:moveTo>
                  <a:lnTo>
                    <a:pt x="19049" y="16891"/>
                  </a:lnTo>
                  <a:lnTo>
                    <a:pt x="38240" y="16891"/>
                  </a:lnTo>
                  <a:lnTo>
                    <a:pt x="38240" y="1236091"/>
                  </a:lnTo>
                  <a:lnTo>
                    <a:pt x="19049" y="1236091"/>
                  </a:lnTo>
                  <a:lnTo>
                    <a:pt x="19049" y="1219200"/>
                  </a:lnTo>
                  <a:lnTo>
                    <a:pt x="5518799" y="1219200"/>
                  </a:lnTo>
                  <a:lnTo>
                    <a:pt x="5518799" y="1236091"/>
                  </a:lnTo>
                  <a:lnTo>
                    <a:pt x="5499750" y="1236091"/>
                  </a:lnTo>
                  <a:lnTo>
                    <a:pt x="5499750" y="16891"/>
                  </a:lnTo>
                  <a:lnTo>
                    <a:pt x="5518799" y="16891"/>
                  </a:lnTo>
                  <a:lnTo>
                    <a:pt x="5518799" y="33909"/>
                  </a:lnTo>
                  <a:lnTo>
                    <a:pt x="19049" y="33909"/>
                  </a:lnTo>
                  <a:close/>
                </a:path>
              </a:pathLst>
            </a:custGeom>
            <a:solidFill>
              <a:srgbClr val="C8D8C8"/>
            </a:solidFill>
          </p:spPr>
        </p:sp>
      </p:grpSp>
      <p:grpSp>
        <p:nvGrpSpPr>
          <p:cNvPr name="Group 17" id="17"/>
          <p:cNvGrpSpPr/>
          <p:nvPr/>
        </p:nvGrpSpPr>
        <p:grpSpPr>
          <a:xfrm rot="0">
            <a:off x="5261391" y="1953122"/>
            <a:ext cx="3624771" cy="761257"/>
            <a:chOff x="0" y="0"/>
            <a:chExt cx="5224763" cy="1097280"/>
          </a:xfrm>
        </p:grpSpPr>
        <p:sp>
          <p:nvSpPr>
            <p:cNvPr name="Freeform 18" id="18"/>
            <p:cNvSpPr/>
            <p:nvPr/>
          </p:nvSpPr>
          <p:spPr>
            <a:xfrm flipH="false" flipV="false" rot="0">
              <a:off x="0" y="0"/>
              <a:ext cx="5224762" cy="1097280"/>
            </a:xfrm>
            <a:custGeom>
              <a:avLst/>
              <a:gdLst/>
              <a:ahLst/>
              <a:cxnLst/>
              <a:rect r="r" b="b" t="t" l="l"/>
              <a:pathLst>
                <a:path h="1097280" w="5224762">
                  <a:moveTo>
                    <a:pt x="0" y="0"/>
                  </a:moveTo>
                  <a:lnTo>
                    <a:pt x="5224762" y="0"/>
                  </a:lnTo>
                  <a:lnTo>
                    <a:pt x="5224762" y="1097280"/>
                  </a:lnTo>
                  <a:lnTo>
                    <a:pt x="0" y="1097280"/>
                  </a:lnTo>
                  <a:close/>
                </a:path>
              </a:pathLst>
            </a:custGeom>
            <a:blipFill>
              <a:blip r:embed="rId3">
                <a:alphaModFix amt="0"/>
              </a:blip>
              <a:stretch>
                <a:fillRect l="0" t="-32270" r="11326" b="-32270"/>
              </a:stretch>
            </a:blipFill>
          </p:spPr>
        </p:sp>
        <p:sp>
          <p:nvSpPr>
            <p:cNvPr name="TextBox 19" id="19"/>
            <p:cNvSpPr txBox="true"/>
            <p:nvPr/>
          </p:nvSpPr>
          <p:spPr>
            <a:xfrm>
              <a:off x="0" y="-38100"/>
              <a:ext cx="5224763" cy="113538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ID3</a:t>
              </a:r>
            </a:p>
          </p:txBody>
        </p:sp>
      </p:grpSp>
      <p:grpSp>
        <p:nvGrpSpPr>
          <p:cNvPr name="Group 20" id="20"/>
          <p:cNvGrpSpPr/>
          <p:nvPr/>
        </p:nvGrpSpPr>
        <p:grpSpPr>
          <a:xfrm rot="0">
            <a:off x="8930150" y="1907543"/>
            <a:ext cx="3842049" cy="869340"/>
            <a:chOff x="0" y="0"/>
            <a:chExt cx="5537948" cy="1253071"/>
          </a:xfrm>
        </p:grpSpPr>
        <p:sp>
          <p:nvSpPr>
            <p:cNvPr name="Freeform 21" id="21"/>
            <p:cNvSpPr/>
            <p:nvPr/>
          </p:nvSpPr>
          <p:spPr>
            <a:xfrm flipH="false" flipV="false" rot="0">
              <a:off x="19049" y="16891"/>
              <a:ext cx="5499750" cy="1219200"/>
            </a:xfrm>
            <a:custGeom>
              <a:avLst/>
              <a:gdLst/>
              <a:ahLst/>
              <a:cxnLst/>
              <a:rect r="r" b="b" t="t" l="l"/>
              <a:pathLst>
                <a:path h="1219200" w="5499750">
                  <a:moveTo>
                    <a:pt x="0" y="0"/>
                  </a:moveTo>
                  <a:lnTo>
                    <a:pt x="5499750" y="0"/>
                  </a:lnTo>
                  <a:lnTo>
                    <a:pt x="5499750" y="1219200"/>
                  </a:lnTo>
                  <a:lnTo>
                    <a:pt x="0" y="1219200"/>
                  </a:lnTo>
                  <a:close/>
                </a:path>
              </a:pathLst>
            </a:custGeom>
            <a:solidFill>
              <a:srgbClr val="2C5F2D"/>
            </a:solidFill>
          </p:spPr>
        </p:sp>
        <p:sp>
          <p:nvSpPr>
            <p:cNvPr name="Freeform 22" id="22"/>
            <p:cNvSpPr/>
            <p:nvPr/>
          </p:nvSpPr>
          <p:spPr>
            <a:xfrm flipH="false" flipV="false" rot="0">
              <a:off x="0" y="0"/>
              <a:ext cx="5537848" cy="1252984"/>
            </a:xfrm>
            <a:custGeom>
              <a:avLst/>
              <a:gdLst/>
              <a:ahLst/>
              <a:cxnLst/>
              <a:rect r="r" b="b" t="t" l="l"/>
              <a:pathLst>
                <a:path h="1252984" w="5537848">
                  <a:moveTo>
                    <a:pt x="19049" y="0"/>
                  </a:moveTo>
                  <a:lnTo>
                    <a:pt x="5518799" y="0"/>
                  </a:lnTo>
                  <a:cubicBezTo>
                    <a:pt x="5529397" y="0"/>
                    <a:pt x="5537848" y="7620"/>
                    <a:pt x="5537848" y="16891"/>
                  </a:cubicBezTo>
                  <a:lnTo>
                    <a:pt x="5537848" y="1236091"/>
                  </a:lnTo>
                  <a:cubicBezTo>
                    <a:pt x="5537848" y="1245489"/>
                    <a:pt x="5529254" y="1252982"/>
                    <a:pt x="5518799" y="1252982"/>
                  </a:cubicBezTo>
                  <a:lnTo>
                    <a:pt x="19049" y="1252982"/>
                  </a:lnTo>
                  <a:cubicBezTo>
                    <a:pt x="8593" y="1253109"/>
                    <a:pt x="0" y="1245489"/>
                    <a:pt x="0" y="1236091"/>
                  </a:cubicBezTo>
                  <a:lnTo>
                    <a:pt x="0" y="16891"/>
                  </a:lnTo>
                  <a:cubicBezTo>
                    <a:pt x="0" y="7620"/>
                    <a:pt x="8593" y="0"/>
                    <a:pt x="19049" y="0"/>
                  </a:cubicBezTo>
                  <a:moveTo>
                    <a:pt x="19049" y="33909"/>
                  </a:moveTo>
                  <a:lnTo>
                    <a:pt x="19049" y="16891"/>
                  </a:lnTo>
                  <a:lnTo>
                    <a:pt x="38240" y="16891"/>
                  </a:lnTo>
                  <a:lnTo>
                    <a:pt x="38240" y="1236091"/>
                  </a:lnTo>
                  <a:lnTo>
                    <a:pt x="19049" y="1236091"/>
                  </a:lnTo>
                  <a:lnTo>
                    <a:pt x="19049" y="1219200"/>
                  </a:lnTo>
                  <a:lnTo>
                    <a:pt x="5518799" y="1219200"/>
                  </a:lnTo>
                  <a:lnTo>
                    <a:pt x="5518799" y="1236091"/>
                  </a:lnTo>
                  <a:lnTo>
                    <a:pt x="5499750" y="1236091"/>
                  </a:lnTo>
                  <a:lnTo>
                    <a:pt x="5499750" y="16891"/>
                  </a:lnTo>
                  <a:lnTo>
                    <a:pt x="5518799" y="16891"/>
                  </a:lnTo>
                  <a:lnTo>
                    <a:pt x="5518799" y="33909"/>
                  </a:lnTo>
                  <a:lnTo>
                    <a:pt x="19049" y="33909"/>
                  </a:lnTo>
                  <a:close/>
                </a:path>
              </a:pathLst>
            </a:custGeom>
            <a:solidFill>
              <a:srgbClr val="C8D8C8"/>
            </a:solidFill>
          </p:spPr>
        </p:sp>
      </p:grpSp>
      <p:grpSp>
        <p:nvGrpSpPr>
          <p:cNvPr name="Group 23" id="23"/>
          <p:cNvGrpSpPr/>
          <p:nvPr/>
        </p:nvGrpSpPr>
        <p:grpSpPr>
          <a:xfrm rot="0">
            <a:off x="9076940" y="1953122"/>
            <a:ext cx="3624771" cy="761257"/>
            <a:chOff x="0" y="0"/>
            <a:chExt cx="5224763" cy="1097280"/>
          </a:xfrm>
        </p:grpSpPr>
        <p:sp>
          <p:nvSpPr>
            <p:cNvPr name="Freeform 24" id="24"/>
            <p:cNvSpPr/>
            <p:nvPr/>
          </p:nvSpPr>
          <p:spPr>
            <a:xfrm flipH="false" flipV="false" rot="0">
              <a:off x="0" y="0"/>
              <a:ext cx="5224762" cy="1097280"/>
            </a:xfrm>
            <a:custGeom>
              <a:avLst/>
              <a:gdLst/>
              <a:ahLst/>
              <a:cxnLst/>
              <a:rect r="r" b="b" t="t" l="l"/>
              <a:pathLst>
                <a:path h="1097280" w="5224762">
                  <a:moveTo>
                    <a:pt x="0" y="0"/>
                  </a:moveTo>
                  <a:lnTo>
                    <a:pt x="5224762" y="0"/>
                  </a:lnTo>
                  <a:lnTo>
                    <a:pt x="5224762" y="1097280"/>
                  </a:lnTo>
                  <a:lnTo>
                    <a:pt x="0" y="1097280"/>
                  </a:lnTo>
                  <a:close/>
                </a:path>
              </a:pathLst>
            </a:custGeom>
            <a:blipFill>
              <a:blip r:embed="rId3">
                <a:alphaModFix amt="0"/>
              </a:blip>
              <a:stretch>
                <a:fillRect l="0" t="-32270" r="11326" b="-32270"/>
              </a:stretch>
            </a:blipFill>
          </p:spPr>
        </p:sp>
        <p:sp>
          <p:nvSpPr>
            <p:cNvPr name="TextBox 25" id="25"/>
            <p:cNvSpPr txBox="true"/>
            <p:nvPr/>
          </p:nvSpPr>
          <p:spPr>
            <a:xfrm>
              <a:off x="0" y="-38100"/>
              <a:ext cx="5224763" cy="113538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C4.5</a:t>
              </a:r>
            </a:p>
          </p:txBody>
        </p:sp>
      </p:grpSp>
      <p:grpSp>
        <p:nvGrpSpPr>
          <p:cNvPr name="Group 26" id="26"/>
          <p:cNvGrpSpPr/>
          <p:nvPr/>
        </p:nvGrpSpPr>
        <p:grpSpPr>
          <a:xfrm rot="0">
            <a:off x="12745699" y="1907543"/>
            <a:ext cx="5368268" cy="869340"/>
            <a:chOff x="0" y="0"/>
            <a:chExt cx="7737848" cy="1253071"/>
          </a:xfrm>
        </p:grpSpPr>
        <p:sp>
          <p:nvSpPr>
            <p:cNvPr name="Freeform 27" id="27"/>
            <p:cNvSpPr/>
            <p:nvPr/>
          </p:nvSpPr>
          <p:spPr>
            <a:xfrm flipH="false" flipV="false" rot="0">
              <a:off x="19049" y="16891"/>
              <a:ext cx="7699650" cy="1219200"/>
            </a:xfrm>
            <a:custGeom>
              <a:avLst/>
              <a:gdLst/>
              <a:ahLst/>
              <a:cxnLst/>
              <a:rect r="r" b="b" t="t" l="l"/>
              <a:pathLst>
                <a:path h="1219200" w="7699650">
                  <a:moveTo>
                    <a:pt x="0" y="0"/>
                  </a:moveTo>
                  <a:lnTo>
                    <a:pt x="7699650" y="0"/>
                  </a:lnTo>
                  <a:lnTo>
                    <a:pt x="7699650" y="1219200"/>
                  </a:lnTo>
                  <a:lnTo>
                    <a:pt x="0" y="1219200"/>
                  </a:lnTo>
                  <a:close/>
                </a:path>
              </a:pathLst>
            </a:custGeom>
            <a:solidFill>
              <a:srgbClr val="2C5F2D"/>
            </a:solidFill>
          </p:spPr>
        </p:sp>
        <p:sp>
          <p:nvSpPr>
            <p:cNvPr name="Freeform 28" id="28"/>
            <p:cNvSpPr/>
            <p:nvPr/>
          </p:nvSpPr>
          <p:spPr>
            <a:xfrm flipH="false" flipV="false" rot="0">
              <a:off x="0" y="0"/>
              <a:ext cx="7737747" cy="1252984"/>
            </a:xfrm>
            <a:custGeom>
              <a:avLst/>
              <a:gdLst/>
              <a:ahLst/>
              <a:cxnLst/>
              <a:rect r="r" b="b" t="t" l="l"/>
              <a:pathLst>
                <a:path h="1252984" w="7737747">
                  <a:moveTo>
                    <a:pt x="19049" y="0"/>
                  </a:moveTo>
                  <a:lnTo>
                    <a:pt x="7718699" y="0"/>
                  </a:lnTo>
                  <a:cubicBezTo>
                    <a:pt x="7729297" y="0"/>
                    <a:pt x="7737747" y="7620"/>
                    <a:pt x="7737747" y="16891"/>
                  </a:cubicBezTo>
                  <a:lnTo>
                    <a:pt x="7737747" y="1236091"/>
                  </a:lnTo>
                  <a:cubicBezTo>
                    <a:pt x="7737747" y="1245489"/>
                    <a:pt x="7729154" y="1252982"/>
                    <a:pt x="7718699" y="1252982"/>
                  </a:cubicBezTo>
                  <a:lnTo>
                    <a:pt x="19049" y="1252982"/>
                  </a:lnTo>
                  <a:cubicBezTo>
                    <a:pt x="8593" y="1253109"/>
                    <a:pt x="0" y="1245489"/>
                    <a:pt x="0" y="1236091"/>
                  </a:cubicBezTo>
                  <a:lnTo>
                    <a:pt x="0" y="16891"/>
                  </a:lnTo>
                  <a:cubicBezTo>
                    <a:pt x="0" y="7620"/>
                    <a:pt x="8593" y="0"/>
                    <a:pt x="19049" y="0"/>
                  </a:cubicBezTo>
                  <a:moveTo>
                    <a:pt x="19049" y="33909"/>
                  </a:moveTo>
                  <a:lnTo>
                    <a:pt x="19049" y="16891"/>
                  </a:lnTo>
                  <a:lnTo>
                    <a:pt x="38240" y="16891"/>
                  </a:lnTo>
                  <a:lnTo>
                    <a:pt x="38240" y="1236091"/>
                  </a:lnTo>
                  <a:lnTo>
                    <a:pt x="19049" y="1236091"/>
                  </a:lnTo>
                  <a:lnTo>
                    <a:pt x="19049" y="1219200"/>
                  </a:lnTo>
                  <a:lnTo>
                    <a:pt x="7718699" y="1219200"/>
                  </a:lnTo>
                  <a:lnTo>
                    <a:pt x="7718699" y="1236091"/>
                  </a:lnTo>
                  <a:lnTo>
                    <a:pt x="7699650" y="1236091"/>
                  </a:lnTo>
                  <a:lnTo>
                    <a:pt x="7699650" y="16891"/>
                  </a:lnTo>
                  <a:lnTo>
                    <a:pt x="7718699" y="16891"/>
                  </a:lnTo>
                  <a:lnTo>
                    <a:pt x="7718699" y="33909"/>
                  </a:lnTo>
                  <a:lnTo>
                    <a:pt x="19049" y="33909"/>
                  </a:lnTo>
                  <a:close/>
                </a:path>
              </a:pathLst>
            </a:custGeom>
            <a:solidFill>
              <a:srgbClr val="C8D8C8"/>
            </a:solidFill>
          </p:spPr>
        </p:sp>
      </p:grpSp>
      <p:grpSp>
        <p:nvGrpSpPr>
          <p:cNvPr name="Group 29" id="29"/>
          <p:cNvGrpSpPr/>
          <p:nvPr/>
        </p:nvGrpSpPr>
        <p:grpSpPr>
          <a:xfrm rot="0">
            <a:off x="12892488" y="1953122"/>
            <a:ext cx="5150991" cy="761257"/>
            <a:chOff x="0" y="0"/>
            <a:chExt cx="7424663" cy="1097280"/>
          </a:xfrm>
        </p:grpSpPr>
        <p:sp>
          <p:nvSpPr>
            <p:cNvPr name="Freeform 30" id="30"/>
            <p:cNvSpPr/>
            <p:nvPr/>
          </p:nvSpPr>
          <p:spPr>
            <a:xfrm flipH="false" flipV="false" rot="0">
              <a:off x="0" y="0"/>
              <a:ext cx="7424663" cy="1097280"/>
            </a:xfrm>
            <a:custGeom>
              <a:avLst/>
              <a:gdLst/>
              <a:ahLst/>
              <a:cxnLst/>
              <a:rect r="r" b="b" t="t" l="l"/>
              <a:pathLst>
                <a:path h="1097280" w="7424663">
                  <a:moveTo>
                    <a:pt x="0" y="0"/>
                  </a:moveTo>
                  <a:lnTo>
                    <a:pt x="7424663" y="0"/>
                  </a:lnTo>
                  <a:lnTo>
                    <a:pt x="7424663" y="1097280"/>
                  </a:lnTo>
                  <a:lnTo>
                    <a:pt x="0" y="1097280"/>
                  </a:lnTo>
                  <a:close/>
                </a:path>
              </a:pathLst>
            </a:custGeom>
            <a:blipFill>
              <a:blip r:embed="rId3">
                <a:alphaModFix amt="0"/>
              </a:blip>
              <a:stretch>
                <a:fillRect l="0" t="-66910" r="11326" b="-66910"/>
              </a:stretch>
            </a:blipFill>
          </p:spPr>
        </p:sp>
        <p:sp>
          <p:nvSpPr>
            <p:cNvPr name="TextBox 31" id="31"/>
            <p:cNvSpPr txBox="true"/>
            <p:nvPr/>
          </p:nvSpPr>
          <p:spPr>
            <a:xfrm>
              <a:off x="0" y="-38100"/>
              <a:ext cx="7424663" cy="1135380"/>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CART</a:t>
              </a:r>
            </a:p>
          </p:txBody>
        </p:sp>
      </p:grpSp>
      <p:grpSp>
        <p:nvGrpSpPr>
          <p:cNvPr name="Group 32" id="32"/>
          <p:cNvGrpSpPr/>
          <p:nvPr/>
        </p:nvGrpSpPr>
        <p:grpSpPr>
          <a:xfrm rot="0">
            <a:off x="535943" y="2753385"/>
            <a:ext cx="4605159" cy="1004675"/>
            <a:chOff x="0" y="0"/>
            <a:chExt cx="6637898" cy="1448143"/>
          </a:xfrm>
        </p:grpSpPr>
        <p:sp>
          <p:nvSpPr>
            <p:cNvPr name="Freeform 33" id="33"/>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FFFFFF"/>
            </a:solidFill>
          </p:spPr>
        </p:sp>
        <p:sp>
          <p:nvSpPr>
            <p:cNvPr name="Freeform 34" id="34"/>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35" id="35"/>
          <p:cNvGrpSpPr/>
          <p:nvPr/>
        </p:nvGrpSpPr>
        <p:grpSpPr>
          <a:xfrm rot="0">
            <a:off x="682733" y="2815880"/>
            <a:ext cx="4387881" cy="879675"/>
            <a:chOff x="0" y="0"/>
            <a:chExt cx="6324713" cy="1267968"/>
          </a:xfrm>
        </p:grpSpPr>
        <p:sp>
          <p:nvSpPr>
            <p:cNvPr name="Freeform 36" id="36"/>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37" id="37"/>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Critère de split</a:t>
              </a:r>
            </a:p>
          </p:txBody>
        </p:sp>
      </p:grpSp>
      <p:grpSp>
        <p:nvGrpSpPr>
          <p:cNvPr name="Group 38" id="38"/>
          <p:cNvGrpSpPr/>
          <p:nvPr/>
        </p:nvGrpSpPr>
        <p:grpSpPr>
          <a:xfrm rot="0">
            <a:off x="5114602" y="2753385"/>
            <a:ext cx="3842049" cy="1004675"/>
            <a:chOff x="0" y="0"/>
            <a:chExt cx="5537948" cy="1448143"/>
          </a:xfrm>
        </p:grpSpPr>
        <p:sp>
          <p:nvSpPr>
            <p:cNvPr name="Freeform 39" id="39"/>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40" id="40"/>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41" id="41"/>
          <p:cNvGrpSpPr/>
          <p:nvPr/>
        </p:nvGrpSpPr>
        <p:grpSpPr>
          <a:xfrm rot="0">
            <a:off x="5261391" y="2815880"/>
            <a:ext cx="3624771" cy="879675"/>
            <a:chOff x="0" y="0"/>
            <a:chExt cx="5224763" cy="1267968"/>
          </a:xfrm>
        </p:grpSpPr>
        <p:sp>
          <p:nvSpPr>
            <p:cNvPr name="Freeform 42" id="42"/>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43" id="43"/>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Gain d'information</a:t>
              </a:r>
            </a:p>
            <a:p>
              <a:pPr algn="l">
                <a:lnSpc>
                  <a:spcPts val="2520"/>
                </a:lnSpc>
              </a:pPr>
            </a:p>
          </p:txBody>
        </p:sp>
      </p:grpSp>
      <p:grpSp>
        <p:nvGrpSpPr>
          <p:cNvPr name="Group 44" id="44"/>
          <p:cNvGrpSpPr/>
          <p:nvPr/>
        </p:nvGrpSpPr>
        <p:grpSpPr>
          <a:xfrm rot="0">
            <a:off x="8930150" y="2753385"/>
            <a:ext cx="3842049" cy="1004675"/>
            <a:chOff x="0" y="0"/>
            <a:chExt cx="5537948" cy="1448143"/>
          </a:xfrm>
        </p:grpSpPr>
        <p:sp>
          <p:nvSpPr>
            <p:cNvPr name="Freeform 45" id="45"/>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46" id="46"/>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47" id="47"/>
          <p:cNvGrpSpPr/>
          <p:nvPr/>
        </p:nvGrpSpPr>
        <p:grpSpPr>
          <a:xfrm rot="0">
            <a:off x="9076940" y="2815880"/>
            <a:ext cx="3624771" cy="879675"/>
            <a:chOff x="0" y="0"/>
            <a:chExt cx="5224763" cy="1267968"/>
          </a:xfrm>
        </p:grpSpPr>
        <p:sp>
          <p:nvSpPr>
            <p:cNvPr name="Freeform 48" id="48"/>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49" id="49"/>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Gain Ratio</a:t>
              </a:r>
            </a:p>
            <a:p>
              <a:pPr algn="l">
                <a:lnSpc>
                  <a:spcPts val="2520"/>
                </a:lnSpc>
              </a:pPr>
            </a:p>
          </p:txBody>
        </p:sp>
      </p:grpSp>
      <p:grpSp>
        <p:nvGrpSpPr>
          <p:cNvPr name="Group 50" id="50"/>
          <p:cNvGrpSpPr/>
          <p:nvPr/>
        </p:nvGrpSpPr>
        <p:grpSpPr>
          <a:xfrm rot="0">
            <a:off x="12745699" y="2753385"/>
            <a:ext cx="5368268" cy="1004675"/>
            <a:chOff x="0" y="0"/>
            <a:chExt cx="7737848" cy="1448143"/>
          </a:xfrm>
        </p:grpSpPr>
        <p:sp>
          <p:nvSpPr>
            <p:cNvPr name="Freeform 51" id="51"/>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FFFFFF"/>
            </a:solidFill>
          </p:spPr>
        </p:sp>
        <p:sp>
          <p:nvSpPr>
            <p:cNvPr name="Freeform 52" id="52"/>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53" id="53"/>
          <p:cNvGrpSpPr/>
          <p:nvPr/>
        </p:nvGrpSpPr>
        <p:grpSpPr>
          <a:xfrm rot="0">
            <a:off x="12892488" y="2711556"/>
            <a:ext cx="5150991" cy="1046504"/>
            <a:chOff x="0" y="0"/>
            <a:chExt cx="7424663" cy="1508435"/>
          </a:xfrm>
        </p:grpSpPr>
        <p:sp>
          <p:nvSpPr>
            <p:cNvPr name="Freeform 54" id="54"/>
            <p:cNvSpPr/>
            <p:nvPr/>
          </p:nvSpPr>
          <p:spPr>
            <a:xfrm flipH="false" flipV="false" rot="0">
              <a:off x="0" y="0"/>
              <a:ext cx="7424663" cy="1508435"/>
            </a:xfrm>
            <a:custGeom>
              <a:avLst/>
              <a:gdLst/>
              <a:ahLst/>
              <a:cxnLst/>
              <a:rect r="r" b="b" t="t" l="l"/>
              <a:pathLst>
                <a:path h="1508435" w="7424663">
                  <a:moveTo>
                    <a:pt x="0" y="0"/>
                  </a:moveTo>
                  <a:lnTo>
                    <a:pt x="7424663" y="0"/>
                  </a:lnTo>
                  <a:lnTo>
                    <a:pt x="7424663" y="1508435"/>
                  </a:lnTo>
                  <a:lnTo>
                    <a:pt x="0" y="1508435"/>
                  </a:lnTo>
                  <a:close/>
                </a:path>
              </a:pathLst>
            </a:custGeom>
            <a:blipFill>
              <a:blip r:embed="rId3">
                <a:alphaModFix amt="0"/>
              </a:blip>
              <a:stretch>
                <a:fillRect l="0" t="-43014" r="11326" b="-27073"/>
              </a:stretch>
            </a:blipFill>
          </p:spPr>
        </p:sp>
        <p:sp>
          <p:nvSpPr>
            <p:cNvPr name="TextBox 55" id="55"/>
            <p:cNvSpPr txBox="true"/>
            <p:nvPr/>
          </p:nvSpPr>
          <p:spPr>
            <a:xfrm>
              <a:off x="0" y="-47625"/>
              <a:ext cx="7424663" cy="1556060"/>
            </a:xfrm>
            <a:prstGeom prst="rect">
              <a:avLst/>
            </a:prstGeom>
          </p:spPr>
          <p:txBody>
            <a:bodyPr anchor="ctr" rtlCol="false" tIns="0" lIns="0" bIns="0" rIns="0"/>
            <a:lstStyle/>
            <a:p>
              <a:pPr algn="l">
                <a:lnSpc>
                  <a:spcPts val="2520"/>
                </a:lnSpc>
              </a:pPr>
            </a:p>
            <a:p>
              <a:pPr algn="l">
                <a:lnSpc>
                  <a:spcPts val="2520"/>
                </a:lnSpc>
              </a:pPr>
              <a:r>
                <a:rPr lang="en-US" sz="2100">
                  <a:solidFill>
                    <a:srgbClr val="1A2E1A"/>
                  </a:solidFill>
                  <a:latin typeface="Calibri (MS)"/>
                  <a:ea typeface="Calibri (MS)"/>
                  <a:cs typeface="Calibri (MS)"/>
                  <a:sym typeface="Calibri (MS)"/>
                </a:rPr>
                <a:t>Gini (classification) / MSE (régression)</a:t>
              </a:r>
            </a:p>
            <a:p>
              <a:pPr algn="l">
                <a:lnSpc>
                  <a:spcPts val="2520"/>
                </a:lnSpc>
              </a:pPr>
            </a:p>
          </p:txBody>
        </p:sp>
      </p:grpSp>
      <p:grpSp>
        <p:nvGrpSpPr>
          <p:cNvPr name="Group 56" id="56"/>
          <p:cNvGrpSpPr/>
          <p:nvPr/>
        </p:nvGrpSpPr>
        <p:grpSpPr>
          <a:xfrm rot="0">
            <a:off x="535943" y="3734561"/>
            <a:ext cx="4605159" cy="1004675"/>
            <a:chOff x="0" y="0"/>
            <a:chExt cx="6637898" cy="1448143"/>
          </a:xfrm>
        </p:grpSpPr>
        <p:sp>
          <p:nvSpPr>
            <p:cNvPr name="Freeform 57" id="57"/>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EEF5EE"/>
            </a:solidFill>
          </p:spPr>
        </p:sp>
        <p:sp>
          <p:nvSpPr>
            <p:cNvPr name="Freeform 58" id="58"/>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59" id="59"/>
          <p:cNvGrpSpPr/>
          <p:nvPr/>
        </p:nvGrpSpPr>
        <p:grpSpPr>
          <a:xfrm rot="0">
            <a:off x="682733" y="3797056"/>
            <a:ext cx="4387881" cy="879675"/>
            <a:chOff x="0" y="0"/>
            <a:chExt cx="6324713" cy="1267968"/>
          </a:xfrm>
        </p:grpSpPr>
        <p:sp>
          <p:nvSpPr>
            <p:cNvPr name="Freeform 60" id="60"/>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61" id="61"/>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Type de variables descriptives</a:t>
              </a:r>
            </a:p>
          </p:txBody>
        </p:sp>
      </p:grpSp>
      <p:grpSp>
        <p:nvGrpSpPr>
          <p:cNvPr name="Group 62" id="62"/>
          <p:cNvGrpSpPr/>
          <p:nvPr/>
        </p:nvGrpSpPr>
        <p:grpSpPr>
          <a:xfrm rot="0">
            <a:off x="5114602" y="3734561"/>
            <a:ext cx="3842049" cy="1004675"/>
            <a:chOff x="0" y="0"/>
            <a:chExt cx="5537948" cy="1448143"/>
          </a:xfrm>
        </p:grpSpPr>
        <p:sp>
          <p:nvSpPr>
            <p:cNvPr name="Freeform 63" id="63"/>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64" id="64"/>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65" id="65"/>
          <p:cNvGrpSpPr/>
          <p:nvPr/>
        </p:nvGrpSpPr>
        <p:grpSpPr>
          <a:xfrm rot="0">
            <a:off x="5261391" y="3797056"/>
            <a:ext cx="3624771" cy="879675"/>
            <a:chOff x="0" y="0"/>
            <a:chExt cx="5224763" cy="1267968"/>
          </a:xfrm>
        </p:grpSpPr>
        <p:sp>
          <p:nvSpPr>
            <p:cNvPr name="Freeform 66" id="66"/>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67" id="67"/>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Catégorielles</a:t>
              </a:r>
            </a:p>
            <a:p>
              <a:pPr algn="l">
                <a:lnSpc>
                  <a:spcPts val="2520"/>
                </a:lnSpc>
              </a:pPr>
              <a:r>
                <a:rPr lang="en-US" sz="2100">
                  <a:solidFill>
                    <a:srgbClr val="1A2E1A"/>
                  </a:solidFill>
                  <a:latin typeface="Calibri (MS)"/>
                  <a:ea typeface="Calibri (MS)"/>
                  <a:cs typeface="Calibri (MS)"/>
                  <a:sym typeface="Calibri (MS)"/>
                </a:rPr>
                <a:t>uniquement</a:t>
              </a:r>
            </a:p>
          </p:txBody>
        </p:sp>
      </p:grpSp>
      <p:grpSp>
        <p:nvGrpSpPr>
          <p:cNvPr name="Group 68" id="68"/>
          <p:cNvGrpSpPr/>
          <p:nvPr/>
        </p:nvGrpSpPr>
        <p:grpSpPr>
          <a:xfrm rot="0">
            <a:off x="8930150" y="3734561"/>
            <a:ext cx="3842049" cy="1004675"/>
            <a:chOff x="0" y="0"/>
            <a:chExt cx="5537948" cy="1448143"/>
          </a:xfrm>
        </p:grpSpPr>
        <p:sp>
          <p:nvSpPr>
            <p:cNvPr name="Freeform 69" id="69"/>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70" id="70"/>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71" id="71"/>
          <p:cNvGrpSpPr/>
          <p:nvPr/>
        </p:nvGrpSpPr>
        <p:grpSpPr>
          <a:xfrm rot="0">
            <a:off x="9076940" y="3797056"/>
            <a:ext cx="3624771" cy="879675"/>
            <a:chOff x="0" y="0"/>
            <a:chExt cx="5224763" cy="1267968"/>
          </a:xfrm>
        </p:grpSpPr>
        <p:sp>
          <p:nvSpPr>
            <p:cNvPr name="Freeform 72" id="72"/>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73" id="73"/>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Catégorielles +</a:t>
              </a:r>
            </a:p>
            <a:p>
              <a:pPr algn="l">
                <a:lnSpc>
                  <a:spcPts val="2520"/>
                </a:lnSpc>
              </a:pPr>
              <a:r>
                <a:rPr lang="en-US" sz="2100">
                  <a:solidFill>
                    <a:srgbClr val="1A2E1A"/>
                  </a:solidFill>
                  <a:latin typeface="Calibri (MS)"/>
                  <a:ea typeface="Calibri (MS)"/>
                  <a:cs typeface="Calibri (MS)"/>
                  <a:sym typeface="Calibri (MS)"/>
                </a:rPr>
                <a:t>numériques</a:t>
              </a:r>
            </a:p>
          </p:txBody>
        </p:sp>
      </p:grpSp>
      <p:grpSp>
        <p:nvGrpSpPr>
          <p:cNvPr name="Group 74" id="74"/>
          <p:cNvGrpSpPr/>
          <p:nvPr/>
        </p:nvGrpSpPr>
        <p:grpSpPr>
          <a:xfrm rot="0">
            <a:off x="12745699" y="3734561"/>
            <a:ext cx="5368268" cy="1004675"/>
            <a:chOff x="0" y="0"/>
            <a:chExt cx="7737848" cy="1448143"/>
          </a:xfrm>
        </p:grpSpPr>
        <p:sp>
          <p:nvSpPr>
            <p:cNvPr name="Freeform 75" id="75"/>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EEF5EE"/>
            </a:solidFill>
          </p:spPr>
        </p:sp>
        <p:sp>
          <p:nvSpPr>
            <p:cNvPr name="Freeform 76" id="76"/>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77" id="77"/>
          <p:cNvGrpSpPr/>
          <p:nvPr/>
        </p:nvGrpSpPr>
        <p:grpSpPr>
          <a:xfrm rot="0">
            <a:off x="12892488" y="3797056"/>
            <a:ext cx="5150991" cy="879675"/>
            <a:chOff x="0" y="0"/>
            <a:chExt cx="7424663" cy="1267968"/>
          </a:xfrm>
        </p:grpSpPr>
        <p:sp>
          <p:nvSpPr>
            <p:cNvPr name="Freeform 78" id="78"/>
            <p:cNvSpPr/>
            <p:nvPr/>
          </p:nvSpPr>
          <p:spPr>
            <a:xfrm flipH="false" flipV="false" rot="0">
              <a:off x="0" y="0"/>
              <a:ext cx="7424663" cy="1267968"/>
            </a:xfrm>
            <a:custGeom>
              <a:avLst/>
              <a:gdLst/>
              <a:ahLst/>
              <a:cxnLst/>
              <a:rect r="r" b="b" t="t" l="l"/>
              <a:pathLst>
                <a:path h="1267968" w="7424663">
                  <a:moveTo>
                    <a:pt x="0" y="0"/>
                  </a:moveTo>
                  <a:lnTo>
                    <a:pt x="7424663" y="0"/>
                  </a:lnTo>
                  <a:lnTo>
                    <a:pt x="7424663" y="1267968"/>
                  </a:lnTo>
                  <a:lnTo>
                    <a:pt x="0" y="1267968"/>
                  </a:lnTo>
                  <a:close/>
                </a:path>
              </a:pathLst>
            </a:custGeom>
            <a:blipFill>
              <a:blip r:embed="rId3">
                <a:alphaModFix amt="0"/>
              </a:blip>
              <a:stretch>
                <a:fillRect l="0" t="-51172" r="11326" b="-51172"/>
              </a:stretch>
            </a:blipFill>
          </p:spPr>
        </p:sp>
        <p:sp>
          <p:nvSpPr>
            <p:cNvPr name="TextBox 79" id="79"/>
            <p:cNvSpPr txBox="true"/>
            <p:nvPr/>
          </p:nvSpPr>
          <p:spPr>
            <a:xfrm>
              <a:off x="0" y="-47625"/>
              <a:ext cx="74246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Tous </a:t>
              </a:r>
              <a:r>
                <a:rPr lang="en-US" sz="2100">
                  <a:solidFill>
                    <a:srgbClr val="1A2E1A"/>
                  </a:solidFill>
                  <a:latin typeface="Calibri (MS)"/>
                  <a:ea typeface="Calibri (MS)"/>
                  <a:cs typeface="Calibri (MS)"/>
                  <a:sym typeface="Calibri (MS)"/>
                </a:rPr>
                <a:t>types</a:t>
              </a:r>
            </a:p>
          </p:txBody>
        </p:sp>
      </p:grpSp>
      <p:grpSp>
        <p:nvGrpSpPr>
          <p:cNvPr name="Group 80" id="80"/>
          <p:cNvGrpSpPr/>
          <p:nvPr/>
        </p:nvGrpSpPr>
        <p:grpSpPr>
          <a:xfrm rot="0">
            <a:off x="535943" y="4715737"/>
            <a:ext cx="4605159" cy="1004675"/>
            <a:chOff x="0" y="0"/>
            <a:chExt cx="6637898" cy="1448143"/>
          </a:xfrm>
        </p:grpSpPr>
        <p:sp>
          <p:nvSpPr>
            <p:cNvPr name="Freeform 81" id="81"/>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FFFFFF"/>
            </a:solidFill>
          </p:spPr>
        </p:sp>
        <p:sp>
          <p:nvSpPr>
            <p:cNvPr name="Freeform 82" id="82"/>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83" id="83"/>
          <p:cNvGrpSpPr/>
          <p:nvPr/>
        </p:nvGrpSpPr>
        <p:grpSpPr>
          <a:xfrm rot="0">
            <a:off x="682733" y="4778232"/>
            <a:ext cx="4387881" cy="879675"/>
            <a:chOff x="0" y="0"/>
            <a:chExt cx="6324713" cy="1267968"/>
          </a:xfrm>
        </p:grpSpPr>
        <p:sp>
          <p:nvSpPr>
            <p:cNvPr name="Freeform 84" id="84"/>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85" id="85"/>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Arbre binaire ?</a:t>
              </a:r>
            </a:p>
          </p:txBody>
        </p:sp>
      </p:grpSp>
      <p:grpSp>
        <p:nvGrpSpPr>
          <p:cNvPr name="Group 86" id="86"/>
          <p:cNvGrpSpPr/>
          <p:nvPr/>
        </p:nvGrpSpPr>
        <p:grpSpPr>
          <a:xfrm rot="0">
            <a:off x="5114602" y="4715737"/>
            <a:ext cx="3842049" cy="1004675"/>
            <a:chOff x="0" y="0"/>
            <a:chExt cx="5537948" cy="1448143"/>
          </a:xfrm>
        </p:grpSpPr>
        <p:sp>
          <p:nvSpPr>
            <p:cNvPr name="Freeform 87" id="87"/>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88" id="88"/>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89" id="89"/>
          <p:cNvGrpSpPr/>
          <p:nvPr/>
        </p:nvGrpSpPr>
        <p:grpSpPr>
          <a:xfrm rot="0">
            <a:off x="5261391" y="4778232"/>
            <a:ext cx="3624771" cy="879675"/>
            <a:chOff x="0" y="0"/>
            <a:chExt cx="5224763" cy="1267968"/>
          </a:xfrm>
        </p:grpSpPr>
        <p:sp>
          <p:nvSpPr>
            <p:cNvPr name="Freeform 90" id="90"/>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91" id="91"/>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Non (multi-branches)</a:t>
              </a:r>
            </a:p>
          </p:txBody>
        </p:sp>
      </p:grpSp>
      <p:grpSp>
        <p:nvGrpSpPr>
          <p:cNvPr name="Group 92" id="92"/>
          <p:cNvGrpSpPr/>
          <p:nvPr/>
        </p:nvGrpSpPr>
        <p:grpSpPr>
          <a:xfrm rot="0">
            <a:off x="8930150" y="4715737"/>
            <a:ext cx="3842049" cy="1004675"/>
            <a:chOff x="0" y="0"/>
            <a:chExt cx="5537948" cy="1448143"/>
          </a:xfrm>
        </p:grpSpPr>
        <p:sp>
          <p:nvSpPr>
            <p:cNvPr name="Freeform 93" id="93"/>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94" id="94"/>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95" id="95"/>
          <p:cNvGrpSpPr/>
          <p:nvPr/>
        </p:nvGrpSpPr>
        <p:grpSpPr>
          <a:xfrm rot="0">
            <a:off x="9076940" y="4556710"/>
            <a:ext cx="3624771" cy="1360829"/>
            <a:chOff x="0" y="0"/>
            <a:chExt cx="5224763" cy="1961505"/>
          </a:xfrm>
        </p:grpSpPr>
        <p:sp>
          <p:nvSpPr>
            <p:cNvPr name="Freeform 96" id="96"/>
            <p:cNvSpPr/>
            <p:nvPr/>
          </p:nvSpPr>
          <p:spPr>
            <a:xfrm flipH="false" flipV="false" rot="0">
              <a:off x="0" y="0"/>
              <a:ext cx="5224762" cy="1961505"/>
            </a:xfrm>
            <a:custGeom>
              <a:avLst/>
              <a:gdLst/>
              <a:ahLst/>
              <a:cxnLst/>
              <a:rect r="r" b="b" t="t" l="l"/>
              <a:pathLst>
                <a:path h="1961505" w="5224762">
                  <a:moveTo>
                    <a:pt x="0" y="0"/>
                  </a:moveTo>
                  <a:lnTo>
                    <a:pt x="5224762" y="0"/>
                  </a:lnTo>
                  <a:lnTo>
                    <a:pt x="5224762" y="1961505"/>
                  </a:lnTo>
                  <a:lnTo>
                    <a:pt x="0" y="1961505"/>
                  </a:lnTo>
                  <a:close/>
                </a:path>
              </a:pathLst>
            </a:custGeom>
            <a:blipFill>
              <a:blip r:embed="rId3">
                <a:alphaModFix amt="0"/>
              </a:blip>
              <a:stretch>
                <a:fillRect l="0" t="-13701" r="11326" b="21656"/>
              </a:stretch>
            </a:blipFill>
          </p:spPr>
        </p:sp>
        <p:sp>
          <p:nvSpPr>
            <p:cNvPr name="TextBox 97" id="97"/>
            <p:cNvSpPr txBox="true"/>
            <p:nvPr/>
          </p:nvSpPr>
          <p:spPr>
            <a:xfrm>
              <a:off x="0" y="-47625"/>
              <a:ext cx="5224763" cy="2009130"/>
            </a:xfrm>
            <a:prstGeom prst="rect">
              <a:avLst/>
            </a:prstGeom>
          </p:spPr>
          <p:txBody>
            <a:bodyPr anchor="ctr" rtlCol="false" tIns="0" lIns="0" bIns="0" rIns="0"/>
            <a:lstStyle/>
            <a:p>
              <a:pPr algn="l">
                <a:lnSpc>
                  <a:spcPts val="2520"/>
                </a:lnSpc>
              </a:pPr>
            </a:p>
            <a:p>
              <a:pPr algn="l">
                <a:lnSpc>
                  <a:spcPts val="2520"/>
                </a:lnSpc>
              </a:pPr>
              <a:r>
                <a:rPr lang="en-US" sz="2100">
                  <a:solidFill>
                    <a:srgbClr val="1A2E1A"/>
                  </a:solidFill>
                  <a:latin typeface="Calibri (MS)"/>
                  <a:ea typeface="Calibri (MS)"/>
                  <a:cs typeface="Calibri (MS)"/>
                  <a:sym typeface="Calibri (MS)"/>
                </a:rPr>
                <a:t>M</a:t>
              </a:r>
              <a:r>
                <a:rPr lang="en-US" sz="2100">
                  <a:solidFill>
                    <a:srgbClr val="1A2E1A"/>
                  </a:solidFill>
                  <a:latin typeface="Calibri (MS)"/>
                  <a:ea typeface="Calibri (MS)"/>
                  <a:cs typeface="Calibri (MS)"/>
                  <a:sym typeface="Calibri (MS)"/>
                </a:rPr>
                <a:t>ulti-branches → souvent binaire</a:t>
              </a:r>
            </a:p>
            <a:p>
              <a:pPr algn="l">
                <a:lnSpc>
                  <a:spcPts val="2520"/>
                </a:lnSpc>
              </a:pPr>
            </a:p>
          </p:txBody>
        </p:sp>
      </p:grpSp>
      <p:grpSp>
        <p:nvGrpSpPr>
          <p:cNvPr name="Group 98" id="98"/>
          <p:cNvGrpSpPr/>
          <p:nvPr/>
        </p:nvGrpSpPr>
        <p:grpSpPr>
          <a:xfrm rot="0">
            <a:off x="12745699" y="4715737"/>
            <a:ext cx="5368268" cy="1004675"/>
            <a:chOff x="0" y="0"/>
            <a:chExt cx="7737848" cy="1448143"/>
          </a:xfrm>
        </p:grpSpPr>
        <p:sp>
          <p:nvSpPr>
            <p:cNvPr name="Freeform 99" id="99"/>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FFFFFF"/>
            </a:solidFill>
          </p:spPr>
        </p:sp>
        <p:sp>
          <p:nvSpPr>
            <p:cNvPr name="Freeform 100" id="100"/>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101" id="101"/>
          <p:cNvGrpSpPr/>
          <p:nvPr/>
        </p:nvGrpSpPr>
        <p:grpSpPr>
          <a:xfrm rot="0">
            <a:off x="12892488" y="4778232"/>
            <a:ext cx="5150991" cy="879675"/>
            <a:chOff x="0" y="0"/>
            <a:chExt cx="7424663" cy="1267968"/>
          </a:xfrm>
        </p:grpSpPr>
        <p:sp>
          <p:nvSpPr>
            <p:cNvPr name="Freeform 102" id="102"/>
            <p:cNvSpPr/>
            <p:nvPr/>
          </p:nvSpPr>
          <p:spPr>
            <a:xfrm flipH="false" flipV="false" rot="0">
              <a:off x="0" y="0"/>
              <a:ext cx="7424663" cy="1267968"/>
            </a:xfrm>
            <a:custGeom>
              <a:avLst/>
              <a:gdLst/>
              <a:ahLst/>
              <a:cxnLst/>
              <a:rect r="r" b="b" t="t" l="l"/>
              <a:pathLst>
                <a:path h="1267968" w="7424663">
                  <a:moveTo>
                    <a:pt x="0" y="0"/>
                  </a:moveTo>
                  <a:lnTo>
                    <a:pt x="7424663" y="0"/>
                  </a:lnTo>
                  <a:lnTo>
                    <a:pt x="7424663" y="1267968"/>
                  </a:lnTo>
                  <a:lnTo>
                    <a:pt x="0" y="1267968"/>
                  </a:lnTo>
                  <a:close/>
                </a:path>
              </a:pathLst>
            </a:custGeom>
            <a:blipFill>
              <a:blip r:embed="rId3">
                <a:alphaModFix amt="0"/>
              </a:blip>
              <a:stretch>
                <a:fillRect l="0" t="-51172" r="11326" b="-51172"/>
              </a:stretch>
            </a:blipFill>
          </p:spPr>
        </p:sp>
        <p:sp>
          <p:nvSpPr>
            <p:cNvPr name="TextBox 103" id="103"/>
            <p:cNvSpPr txBox="true"/>
            <p:nvPr/>
          </p:nvSpPr>
          <p:spPr>
            <a:xfrm>
              <a:off x="0" y="-47625"/>
              <a:ext cx="74246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 Toujours binaire</a:t>
              </a:r>
            </a:p>
          </p:txBody>
        </p:sp>
      </p:grpSp>
      <p:grpSp>
        <p:nvGrpSpPr>
          <p:cNvPr name="Group 104" id="104"/>
          <p:cNvGrpSpPr/>
          <p:nvPr/>
        </p:nvGrpSpPr>
        <p:grpSpPr>
          <a:xfrm rot="0">
            <a:off x="535943" y="5696913"/>
            <a:ext cx="4605159" cy="1004675"/>
            <a:chOff x="0" y="0"/>
            <a:chExt cx="6637898" cy="1448143"/>
          </a:xfrm>
        </p:grpSpPr>
        <p:sp>
          <p:nvSpPr>
            <p:cNvPr name="Freeform 105" id="105"/>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EEF5EE"/>
            </a:solidFill>
          </p:spPr>
        </p:sp>
        <p:sp>
          <p:nvSpPr>
            <p:cNvPr name="Freeform 106" id="106"/>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107" id="107"/>
          <p:cNvGrpSpPr/>
          <p:nvPr/>
        </p:nvGrpSpPr>
        <p:grpSpPr>
          <a:xfrm rot="0">
            <a:off x="682733" y="5759408"/>
            <a:ext cx="4387881" cy="879675"/>
            <a:chOff x="0" y="0"/>
            <a:chExt cx="6324713" cy="1267968"/>
          </a:xfrm>
        </p:grpSpPr>
        <p:sp>
          <p:nvSpPr>
            <p:cNvPr name="Freeform 108" id="108"/>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109" id="109"/>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Élagage </a:t>
              </a:r>
            </a:p>
          </p:txBody>
        </p:sp>
      </p:grpSp>
      <p:grpSp>
        <p:nvGrpSpPr>
          <p:cNvPr name="Group 110" id="110"/>
          <p:cNvGrpSpPr/>
          <p:nvPr/>
        </p:nvGrpSpPr>
        <p:grpSpPr>
          <a:xfrm rot="0">
            <a:off x="5114602" y="5696913"/>
            <a:ext cx="3842049" cy="1004675"/>
            <a:chOff x="0" y="0"/>
            <a:chExt cx="5537948" cy="1448143"/>
          </a:xfrm>
        </p:grpSpPr>
        <p:sp>
          <p:nvSpPr>
            <p:cNvPr name="Freeform 111" id="111"/>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112" id="112"/>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13" id="113"/>
          <p:cNvGrpSpPr/>
          <p:nvPr/>
        </p:nvGrpSpPr>
        <p:grpSpPr>
          <a:xfrm rot="0">
            <a:off x="5261391" y="5759408"/>
            <a:ext cx="3624771" cy="879675"/>
            <a:chOff x="0" y="0"/>
            <a:chExt cx="5224763" cy="1267968"/>
          </a:xfrm>
        </p:grpSpPr>
        <p:sp>
          <p:nvSpPr>
            <p:cNvPr name="Freeform 114" id="114"/>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115" id="115"/>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Aucun</a:t>
              </a:r>
            </a:p>
          </p:txBody>
        </p:sp>
      </p:grpSp>
      <p:grpSp>
        <p:nvGrpSpPr>
          <p:cNvPr name="Group 116" id="116"/>
          <p:cNvGrpSpPr/>
          <p:nvPr/>
        </p:nvGrpSpPr>
        <p:grpSpPr>
          <a:xfrm rot="0">
            <a:off x="8930150" y="5696913"/>
            <a:ext cx="3842049" cy="1004675"/>
            <a:chOff x="0" y="0"/>
            <a:chExt cx="5537948" cy="1448143"/>
          </a:xfrm>
        </p:grpSpPr>
        <p:sp>
          <p:nvSpPr>
            <p:cNvPr name="Freeform 117" id="117"/>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118" id="118"/>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19" id="119"/>
          <p:cNvGrpSpPr/>
          <p:nvPr/>
        </p:nvGrpSpPr>
        <p:grpSpPr>
          <a:xfrm rot="0">
            <a:off x="9076940" y="5759408"/>
            <a:ext cx="3624771" cy="1046504"/>
            <a:chOff x="0" y="0"/>
            <a:chExt cx="5224763" cy="1508435"/>
          </a:xfrm>
        </p:grpSpPr>
        <p:sp>
          <p:nvSpPr>
            <p:cNvPr name="Freeform 120" id="120"/>
            <p:cNvSpPr/>
            <p:nvPr/>
          </p:nvSpPr>
          <p:spPr>
            <a:xfrm flipH="false" flipV="false" rot="0">
              <a:off x="0" y="0"/>
              <a:ext cx="5224762" cy="1508435"/>
            </a:xfrm>
            <a:custGeom>
              <a:avLst/>
              <a:gdLst/>
              <a:ahLst/>
              <a:cxnLst/>
              <a:rect r="r" b="b" t="t" l="l"/>
              <a:pathLst>
                <a:path h="1508435" w="5224762">
                  <a:moveTo>
                    <a:pt x="0" y="0"/>
                  </a:moveTo>
                  <a:lnTo>
                    <a:pt x="5224762" y="0"/>
                  </a:lnTo>
                  <a:lnTo>
                    <a:pt x="5224762" y="1508435"/>
                  </a:lnTo>
                  <a:lnTo>
                    <a:pt x="0" y="1508435"/>
                  </a:lnTo>
                  <a:close/>
                </a:path>
              </a:pathLst>
            </a:custGeom>
            <a:blipFill>
              <a:blip r:embed="rId3">
                <a:alphaModFix amt="0"/>
              </a:blip>
              <a:stretch>
                <a:fillRect l="0" t="-17816" r="11326" b="-1874"/>
              </a:stretch>
            </a:blipFill>
          </p:spPr>
        </p:sp>
        <p:sp>
          <p:nvSpPr>
            <p:cNvPr name="TextBox 121" id="121"/>
            <p:cNvSpPr txBox="true"/>
            <p:nvPr/>
          </p:nvSpPr>
          <p:spPr>
            <a:xfrm>
              <a:off x="0" y="-47625"/>
              <a:ext cx="5224763" cy="1556060"/>
            </a:xfrm>
            <a:prstGeom prst="rect">
              <a:avLst/>
            </a:prstGeom>
          </p:spPr>
          <p:txBody>
            <a:bodyPr anchor="ctr" rtlCol="false" tIns="0" lIns="0" bIns="0" rIns="0"/>
            <a:lstStyle/>
            <a:p>
              <a:pPr algn="l">
                <a:lnSpc>
                  <a:spcPts val="2520"/>
                </a:lnSpc>
              </a:pPr>
            </a:p>
            <a:p>
              <a:pPr algn="l">
                <a:lnSpc>
                  <a:spcPts val="2520"/>
                </a:lnSpc>
              </a:pPr>
              <a:r>
                <a:rPr lang="en-US" sz="2100">
                  <a:solidFill>
                    <a:srgbClr val="1A2E1A"/>
                  </a:solidFill>
                  <a:latin typeface="Calibri (MS)"/>
                  <a:ea typeface="Calibri (MS)"/>
                  <a:cs typeface="Calibri (MS)"/>
                  <a:sym typeface="Calibri (MS)"/>
                </a:rPr>
                <a:t>Post-élagage</a:t>
              </a:r>
            </a:p>
            <a:p>
              <a:pPr algn="l">
                <a:lnSpc>
                  <a:spcPts val="2520"/>
                </a:lnSpc>
              </a:pPr>
            </a:p>
          </p:txBody>
        </p:sp>
      </p:grpSp>
      <p:grpSp>
        <p:nvGrpSpPr>
          <p:cNvPr name="Group 122" id="122"/>
          <p:cNvGrpSpPr/>
          <p:nvPr/>
        </p:nvGrpSpPr>
        <p:grpSpPr>
          <a:xfrm rot="0">
            <a:off x="12745699" y="5696913"/>
            <a:ext cx="5368268" cy="1004675"/>
            <a:chOff x="0" y="0"/>
            <a:chExt cx="7737848" cy="1448143"/>
          </a:xfrm>
        </p:grpSpPr>
        <p:sp>
          <p:nvSpPr>
            <p:cNvPr name="Freeform 123" id="123"/>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EEF5EE"/>
            </a:solidFill>
          </p:spPr>
        </p:sp>
        <p:sp>
          <p:nvSpPr>
            <p:cNvPr name="Freeform 124" id="124"/>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125" id="125"/>
          <p:cNvGrpSpPr/>
          <p:nvPr/>
        </p:nvGrpSpPr>
        <p:grpSpPr>
          <a:xfrm rot="0">
            <a:off x="12892488" y="5759408"/>
            <a:ext cx="5150991" cy="879675"/>
            <a:chOff x="0" y="0"/>
            <a:chExt cx="7424663" cy="1267968"/>
          </a:xfrm>
        </p:grpSpPr>
        <p:sp>
          <p:nvSpPr>
            <p:cNvPr name="Freeform 126" id="126"/>
            <p:cNvSpPr/>
            <p:nvPr/>
          </p:nvSpPr>
          <p:spPr>
            <a:xfrm flipH="false" flipV="false" rot="0">
              <a:off x="0" y="0"/>
              <a:ext cx="7424663" cy="1267968"/>
            </a:xfrm>
            <a:custGeom>
              <a:avLst/>
              <a:gdLst/>
              <a:ahLst/>
              <a:cxnLst/>
              <a:rect r="r" b="b" t="t" l="l"/>
              <a:pathLst>
                <a:path h="1267968" w="7424663">
                  <a:moveTo>
                    <a:pt x="0" y="0"/>
                  </a:moveTo>
                  <a:lnTo>
                    <a:pt x="7424663" y="0"/>
                  </a:lnTo>
                  <a:lnTo>
                    <a:pt x="7424663" y="1267968"/>
                  </a:lnTo>
                  <a:lnTo>
                    <a:pt x="0" y="1267968"/>
                  </a:lnTo>
                  <a:close/>
                </a:path>
              </a:pathLst>
            </a:custGeom>
            <a:blipFill>
              <a:blip r:embed="rId3">
                <a:alphaModFix amt="0"/>
              </a:blip>
              <a:stretch>
                <a:fillRect l="0" t="-51172" r="11326" b="-51172"/>
              </a:stretch>
            </a:blipFill>
          </p:spPr>
        </p:sp>
        <p:sp>
          <p:nvSpPr>
            <p:cNvPr name="TextBox 127" id="127"/>
            <p:cNvSpPr txBox="true"/>
            <p:nvPr/>
          </p:nvSpPr>
          <p:spPr>
            <a:xfrm>
              <a:off x="0" y="-47625"/>
              <a:ext cx="74246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 P</a:t>
              </a:r>
              <a:r>
                <a:rPr lang="en-US" sz="2100">
                  <a:solidFill>
                    <a:srgbClr val="1A2E1A"/>
                  </a:solidFill>
                  <a:latin typeface="Calibri (MS)"/>
                  <a:ea typeface="Calibri (MS)"/>
                  <a:cs typeface="Calibri (MS)"/>
                  <a:sym typeface="Calibri (MS)"/>
                </a:rPr>
                <a:t>ost élagage</a:t>
              </a:r>
            </a:p>
          </p:txBody>
        </p:sp>
      </p:grpSp>
      <p:grpSp>
        <p:nvGrpSpPr>
          <p:cNvPr name="Group 128" id="128"/>
          <p:cNvGrpSpPr/>
          <p:nvPr/>
        </p:nvGrpSpPr>
        <p:grpSpPr>
          <a:xfrm rot="0">
            <a:off x="535943" y="6678089"/>
            <a:ext cx="4605159" cy="1004675"/>
            <a:chOff x="0" y="0"/>
            <a:chExt cx="6637898" cy="1448143"/>
          </a:xfrm>
        </p:grpSpPr>
        <p:sp>
          <p:nvSpPr>
            <p:cNvPr name="Freeform 129" id="129"/>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FFFFFF"/>
            </a:solidFill>
          </p:spPr>
        </p:sp>
        <p:sp>
          <p:nvSpPr>
            <p:cNvPr name="Freeform 130" id="130"/>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131" id="131"/>
          <p:cNvGrpSpPr/>
          <p:nvPr/>
        </p:nvGrpSpPr>
        <p:grpSpPr>
          <a:xfrm rot="0">
            <a:off x="644582" y="6806363"/>
            <a:ext cx="4387881" cy="879675"/>
            <a:chOff x="0" y="0"/>
            <a:chExt cx="6324713" cy="1267968"/>
          </a:xfrm>
        </p:grpSpPr>
        <p:sp>
          <p:nvSpPr>
            <p:cNvPr name="Freeform 132" id="132"/>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133" id="133"/>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Ov</a:t>
              </a:r>
              <a:r>
                <a:rPr lang="en-US" sz="2100" b="true">
                  <a:solidFill>
                    <a:srgbClr val="1A2E1A"/>
                  </a:solidFill>
                  <a:latin typeface="Calibri (MS) Bold"/>
                  <a:ea typeface="Calibri (MS) Bold"/>
                  <a:cs typeface="Calibri (MS) Bold"/>
                  <a:sym typeface="Calibri (MS) Bold"/>
                </a:rPr>
                <a:t>erfitting</a:t>
              </a:r>
            </a:p>
          </p:txBody>
        </p:sp>
      </p:grpSp>
      <p:grpSp>
        <p:nvGrpSpPr>
          <p:cNvPr name="Group 134" id="134"/>
          <p:cNvGrpSpPr/>
          <p:nvPr/>
        </p:nvGrpSpPr>
        <p:grpSpPr>
          <a:xfrm rot="0">
            <a:off x="5114602" y="6678089"/>
            <a:ext cx="3842049" cy="1004675"/>
            <a:chOff x="0" y="0"/>
            <a:chExt cx="5537948" cy="1448143"/>
          </a:xfrm>
        </p:grpSpPr>
        <p:sp>
          <p:nvSpPr>
            <p:cNvPr name="Freeform 135" id="135"/>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136" id="136"/>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37" id="137"/>
          <p:cNvGrpSpPr/>
          <p:nvPr/>
        </p:nvGrpSpPr>
        <p:grpSpPr>
          <a:xfrm rot="0">
            <a:off x="5261391" y="6657170"/>
            <a:ext cx="3695260" cy="1046504"/>
            <a:chOff x="0" y="0"/>
            <a:chExt cx="5326365" cy="1508435"/>
          </a:xfrm>
        </p:grpSpPr>
        <p:sp>
          <p:nvSpPr>
            <p:cNvPr name="Freeform 138" id="138"/>
            <p:cNvSpPr/>
            <p:nvPr/>
          </p:nvSpPr>
          <p:spPr>
            <a:xfrm flipH="false" flipV="false" rot="0">
              <a:off x="0" y="0"/>
              <a:ext cx="5326365" cy="1508435"/>
            </a:xfrm>
            <a:custGeom>
              <a:avLst/>
              <a:gdLst/>
              <a:ahLst/>
              <a:cxnLst/>
              <a:rect r="r" b="b" t="t" l="l"/>
              <a:pathLst>
                <a:path h="1508435" w="5326365">
                  <a:moveTo>
                    <a:pt x="0" y="0"/>
                  </a:moveTo>
                  <a:lnTo>
                    <a:pt x="5326365" y="0"/>
                  </a:lnTo>
                  <a:lnTo>
                    <a:pt x="5326365" y="1508435"/>
                  </a:lnTo>
                  <a:lnTo>
                    <a:pt x="0" y="1508435"/>
                  </a:lnTo>
                  <a:close/>
                </a:path>
              </a:pathLst>
            </a:custGeom>
            <a:blipFill>
              <a:blip r:embed="rId3">
                <a:alphaModFix amt="0"/>
              </a:blip>
              <a:stretch>
                <a:fillRect l="0" t="-17816" r="13018" b="-1874"/>
              </a:stretch>
            </a:blipFill>
          </p:spPr>
        </p:sp>
        <p:sp>
          <p:nvSpPr>
            <p:cNvPr name="TextBox 139" id="139"/>
            <p:cNvSpPr txBox="true"/>
            <p:nvPr/>
          </p:nvSpPr>
          <p:spPr>
            <a:xfrm>
              <a:off x="0" y="-38100"/>
              <a:ext cx="5326365" cy="1546535"/>
            </a:xfrm>
            <a:prstGeom prst="rect">
              <a:avLst/>
            </a:prstGeom>
          </p:spPr>
          <p:txBody>
            <a:bodyPr anchor="ctr" rtlCol="false" tIns="0" lIns="0" bIns="0" rIns="0"/>
            <a:lstStyle/>
            <a:p>
              <a:pPr algn="l">
                <a:lnSpc>
                  <a:spcPts val="2280"/>
                </a:lnSpc>
              </a:pPr>
            </a:p>
          </p:txBody>
        </p:sp>
      </p:grpSp>
      <p:grpSp>
        <p:nvGrpSpPr>
          <p:cNvPr name="Group 140" id="140"/>
          <p:cNvGrpSpPr/>
          <p:nvPr/>
        </p:nvGrpSpPr>
        <p:grpSpPr>
          <a:xfrm rot="0">
            <a:off x="8930150" y="6678089"/>
            <a:ext cx="3842049" cy="1004675"/>
            <a:chOff x="0" y="0"/>
            <a:chExt cx="5537948" cy="1448143"/>
          </a:xfrm>
        </p:grpSpPr>
        <p:sp>
          <p:nvSpPr>
            <p:cNvPr name="Freeform 141" id="141"/>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142" id="142"/>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43" id="143"/>
          <p:cNvGrpSpPr/>
          <p:nvPr/>
        </p:nvGrpSpPr>
        <p:grpSpPr>
          <a:xfrm rot="0">
            <a:off x="9076940" y="6740585"/>
            <a:ext cx="3624771" cy="879675"/>
            <a:chOff x="0" y="0"/>
            <a:chExt cx="5224763" cy="1267968"/>
          </a:xfrm>
        </p:grpSpPr>
        <p:sp>
          <p:nvSpPr>
            <p:cNvPr name="Freeform 144" id="144"/>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145" id="145"/>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Réduit grâce à l’élagage</a:t>
              </a:r>
            </a:p>
          </p:txBody>
        </p:sp>
      </p:grpSp>
      <p:grpSp>
        <p:nvGrpSpPr>
          <p:cNvPr name="Group 146" id="146"/>
          <p:cNvGrpSpPr/>
          <p:nvPr/>
        </p:nvGrpSpPr>
        <p:grpSpPr>
          <a:xfrm rot="0">
            <a:off x="12745699" y="6678089"/>
            <a:ext cx="5368268" cy="1004675"/>
            <a:chOff x="0" y="0"/>
            <a:chExt cx="7737848" cy="1448143"/>
          </a:xfrm>
        </p:grpSpPr>
        <p:sp>
          <p:nvSpPr>
            <p:cNvPr name="Freeform 147" id="147"/>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FFFFFF"/>
            </a:solidFill>
          </p:spPr>
        </p:sp>
        <p:sp>
          <p:nvSpPr>
            <p:cNvPr name="Freeform 148" id="148"/>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149" id="149"/>
          <p:cNvGrpSpPr/>
          <p:nvPr/>
        </p:nvGrpSpPr>
        <p:grpSpPr>
          <a:xfrm rot="0">
            <a:off x="12908721" y="6897747"/>
            <a:ext cx="5150991" cy="879675"/>
            <a:chOff x="0" y="0"/>
            <a:chExt cx="7424663" cy="1267968"/>
          </a:xfrm>
        </p:grpSpPr>
        <p:sp>
          <p:nvSpPr>
            <p:cNvPr name="Freeform 150" id="150"/>
            <p:cNvSpPr/>
            <p:nvPr/>
          </p:nvSpPr>
          <p:spPr>
            <a:xfrm flipH="false" flipV="false" rot="0">
              <a:off x="0" y="0"/>
              <a:ext cx="7424663" cy="1267968"/>
            </a:xfrm>
            <a:custGeom>
              <a:avLst/>
              <a:gdLst/>
              <a:ahLst/>
              <a:cxnLst/>
              <a:rect r="r" b="b" t="t" l="l"/>
              <a:pathLst>
                <a:path h="1267968" w="7424663">
                  <a:moveTo>
                    <a:pt x="0" y="0"/>
                  </a:moveTo>
                  <a:lnTo>
                    <a:pt x="7424663" y="0"/>
                  </a:lnTo>
                  <a:lnTo>
                    <a:pt x="7424663" y="1267968"/>
                  </a:lnTo>
                  <a:lnTo>
                    <a:pt x="0" y="1267968"/>
                  </a:lnTo>
                  <a:close/>
                </a:path>
              </a:pathLst>
            </a:custGeom>
            <a:blipFill>
              <a:blip r:embed="rId3">
                <a:alphaModFix amt="0"/>
              </a:blip>
              <a:stretch>
                <a:fillRect l="0" t="-51172" r="11326" b="-51172"/>
              </a:stretch>
            </a:blipFill>
          </p:spPr>
        </p:sp>
        <p:sp>
          <p:nvSpPr>
            <p:cNvPr name="TextBox 151" id="151"/>
            <p:cNvSpPr txBox="true"/>
            <p:nvPr/>
          </p:nvSpPr>
          <p:spPr>
            <a:xfrm>
              <a:off x="0" y="-47625"/>
              <a:ext cx="74246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Réduit grâce à pruning + structure binaire</a:t>
              </a:r>
            </a:p>
            <a:p>
              <a:pPr algn="l">
                <a:lnSpc>
                  <a:spcPts val="2520"/>
                </a:lnSpc>
              </a:pPr>
            </a:p>
          </p:txBody>
        </p:sp>
      </p:grpSp>
      <p:grpSp>
        <p:nvGrpSpPr>
          <p:cNvPr name="Group 152" id="152"/>
          <p:cNvGrpSpPr/>
          <p:nvPr/>
        </p:nvGrpSpPr>
        <p:grpSpPr>
          <a:xfrm rot="0">
            <a:off x="535943" y="7659265"/>
            <a:ext cx="4605159" cy="1004675"/>
            <a:chOff x="0" y="0"/>
            <a:chExt cx="6637898" cy="1448143"/>
          </a:xfrm>
        </p:grpSpPr>
        <p:sp>
          <p:nvSpPr>
            <p:cNvPr name="Freeform 153" id="153"/>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EEF5EE"/>
            </a:solidFill>
          </p:spPr>
        </p:sp>
        <p:sp>
          <p:nvSpPr>
            <p:cNvPr name="Freeform 154" id="154"/>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155" id="155"/>
          <p:cNvGrpSpPr/>
          <p:nvPr/>
        </p:nvGrpSpPr>
        <p:grpSpPr>
          <a:xfrm rot="0">
            <a:off x="682733" y="7721761"/>
            <a:ext cx="4387881" cy="879675"/>
            <a:chOff x="0" y="0"/>
            <a:chExt cx="6324713" cy="1267968"/>
          </a:xfrm>
        </p:grpSpPr>
        <p:sp>
          <p:nvSpPr>
            <p:cNvPr name="Freeform 156" id="156"/>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157" id="157"/>
            <p:cNvSpPr txBox="true"/>
            <p:nvPr/>
          </p:nvSpPr>
          <p:spPr>
            <a:xfrm>
              <a:off x="0" y="-47625"/>
              <a:ext cx="6324713" cy="1315593"/>
            </a:xfrm>
            <a:prstGeom prst="rect">
              <a:avLst/>
            </a:prstGeom>
          </p:spPr>
          <p:txBody>
            <a:bodyPr anchor="ctr" rtlCol="false" tIns="0" lIns="0" bIns="0" rIns="0"/>
            <a:lstStyle/>
            <a:p>
              <a:pPr algn="l">
                <a:lnSpc>
                  <a:spcPts val="2520"/>
                </a:lnSpc>
              </a:pPr>
            </a:p>
          </p:txBody>
        </p:sp>
      </p:grpSp>
      <p:grpSp>
        <p:nvGrpSpPr>
          <p:cNvPr name="Group 158" id="158"/>
          <p:cNvGrpSpPr/>
          <p:nvPr/>
        </p:nvGrpSpPr>
        <p:grpSpPr>
          <a:xfrm rot="0">
            <a:off x="5114602" y="7659265"/>
            <a:ext cx="3842049" cy="1004675"/>
            <a:chOff x="0" y="0"/>
            <a:chExt cx="5537948" cy="1448143"/>
          </a:xfrm>
        </p:grpSpPr>
        <p:sp>
          <p:nvSpPr>
            <p:cNvPr name="Freeform 159" id="159"/>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160" id="160"/>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61" id="161"/>
          <p:cNvGrpSpPr/>
          <p:nvPr/>
        </p:nvGrpSpPr>
        <p:grpSpPr>
          <a:xfrm rot="0">
            <a:off x="5261391" y="7721761"/>
            <a:ext cx="3624771" cy="950919"/>
            <a:chOff x="0" y="0"/>
            <a:chExt cx="5224763" cy="1370659"/>
          </a:xfrm>
        </p:grpSpPr>
        <p:sp>
          <p:nvSpPr>
            <p:cNvPr name="Freeform 162" id="162"/>
            <p:cNvSpPr/>
            <p:nvPr/>
          </p:nvSpPr>
          <p:spPr>
            <a:xfrm flipH="false" flipV="false" rot="0">
              <a:off x="0" y="0"/>
              <a:ext cx="5224762" cy="1370659"/>
            </a:xfrm>
            <a:custGeom>
              <a:avLst/>
              <a:gdLst/>
              <a:ahLst/>
              <a:cxnLst/>
              <a:rect r="r" b="b" t="t" l="l"/>
              <a:pathLst>
                <a:path h="1370659" w="5224762">
                  <a:moveTo>
                    <a:pt x="0" y="0"/>
                  </a:moveTo>
                  <a:lnTo>
                    <a:pt x="5224762" y="0"/>
                  </a:lnTo>
                  <a:lnTo>
                    <a:pt x="5224762" y="1370659"/>
                  </a:lnTo>
                  <a:lnTo>
                    <a:pt x="0" y="1370659"/>
                  </a:lnTo>
                  <a:close/>
                </a:path>
              </a:pathLst>
            </a:custGeom>
            <a:blipFill>
              <a:blip r:embed="rId3">
                <a:alphaModFix amt="0"/>
              </a:blip>
              <a:stretch>
                <a:fillRect l="0" t="-19607" r="11326" b="-12115"/>
              </a:stretch>
            </a:blipFill>
          </p:spPr>
        </p:sp>
        <p:sp>
          <p:nvSpPr>
            <p:cNvPr name="TextBox 163" id="163"/>
            <p:cNvSpPr txBox="true"/>
            <p:nvPr/>
          </p:nvSpPr>
          <p:spPr>
            <a:xfrm>
              <a:off x="0" y="-38100"/>
              <a:ext cx="5224763" cy="1408759"/>
            </a:xfrm>
            <a:prstGeom prst="rect">
              <a:avLst/>
            </a:prstGeom>
          </p:spPr>
          <p:txBody>
            <a:bodyPr anchor="ctr" rtlCol="false" tIns="0" lIns="0" bIns="0" rIns="0"/>
            <a:lstStyle/>
            <a:p>
              <a:pPr algn="l">
                <a:lnSpc>
                  <a:spcPts val="2280"/>
                </a:lnSpc>
              </a:pPr>
              <a:r>
                <a:rPr lang="en-US" sz="1900">
                  <a:solidFill>
                    <a:srgbClr val="000000"/>
                  </a:solidFill>
                  <a:latin typeface="Calibri (MS)"/>
                  <a:ea typeface="Calibri (MS)"/>
                  <a:cs typeface="Calibri (MS)"/>
                  <a:sym typeface="Calibri (MS)"/>
                </a:rPr>
                <a:t>ne gère pas directement les numériques (discrétisation obligatoire)</a:t>
              </a:r>
            </a:p>
          </p:txBody>
        </p:sp>
      </p:grpSp>
      <p:grpSp>
        <p:nvGrpSpPr>
          <p:cNvPr name="Group 164" id="164"/>
          <p:cNvGrpSpPr/>
          <p:nvPr/>
        </p:nvGrpSpPr>
        <p:grpSpPr>
          <a:xfrm rot="0">
            <a:off x="8930150" y="7659265"/>
            <a:ext cx="3842049" cy="1004675"/>
            <a:chOff x="0" y="0"/>
            <a:chExt cx="5537948" cy="1448143"/>
          </a:xfrm>
        </p:grpSpPr>
        <p:sp>
          <p:nvSpPr>
            <p:cNvPr name="Freeform 165" id="165"/>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EEF5EE"/>
            </a:solidFill>
          </p:spPr>
        </p:sp>
        <p:sp>
          <p:nvSpPr>
            <p:cNvPr name="Freeform 166" id="166"/>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67" id="167"/>
          <p:cNvGrpSpPr/>
          <p:nvPr/>
        </p:nvGrpSpPr>
        <p:grpSpPr>
          <a:xfrm rot="0">
            <a:off x="9076940" y="7721761"/>
            <a:ext cx="3624771" cy="879675"/>
            <a:chOff x="0" y="0"/>
            <a:chExt cx="5224763" cy="1267968"/>
          </a:xfrm>
        </p:grpSpPr>
        <p:sp>
          <p:nvSpPr>
            <p:cNvPr name="Freeform 168" id="168"/>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169" id="169"/>
            <p:cNvSpPr txBox="true"/>
            <p:nvPr/>
          </p:nvSpPr>
          <p:spPr>
            <a:xfrm>
              <a:off x="0" y="-47625"/>
              <a:ext cx="5224763" cy="1315593"/>
            </a:xfrm>
            <a:prstGeom prst="rect">
              <a:avLst/>
            </a:prstGeom>
          </p:spPr>
          <p:txBody>
            <a:bodyPr anchor="ctr" rtlCol="false" tIns="0" lIns="0" bIns="0" rIns="0"/>
            <a:lstStyle/>
            <a:p>
              <a:pPr algn="l">
                <a:lnSpc>
                  <a:spcPts val="2520"/>
                </a:lnSpc>
              </a:pPr>
            </a:p>
          </p:txBody>
        </p:sp>
      </p:grpSp>
      <p:grpSp>
        <p:nvGrpSpPr>
          <p:cNvPr name="Group 170" id="170"/>
          <p:cNvGrpSpPr/>
          <p:nvPr/>
        </p:nvGrpSpPr>
        <p:grpSpPr>
          <a:xfrm rot="0">
            <a:off x="12745699" y="7659265"/>
            <a:ext cx="5368268" cy="1004675"/>
            <a:chOff x="0" y="0"/>
            <a:chExt cx="7737848" cy="1448143"/>
          </a:xfrm>
        </p:grpSpPr>
        <p:sp>
          <p:nvSpPr>
            <p:cNvPr name="Freeform 171" id="171"/>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EEF5EE"/>
            </a:solidFill>
          </p:spPr>
        </p:sp>
        <p:sp>
          <p:nvSpPr>
            <p:cNvPr name="Freeform 172" id="172"/>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173" id="173"/>
          <p:cNvGrpSpPr/>
          <p:nvPr/>
        </p:nvGrpSpPr>
        <p:grpSpPr>
          <a:xfrm rot="0">
            <a:off x="12892488" y="7869257"/>
            <a:ext cx="5150991" cy="732179"/>
            <a:chOff x="0" y="0"/>
            <a:chExt cx="7424663" cy="1055366"/>
          </a:xfrm>
        </p:grpSpPr>
        <p:sp>
          <p:nvSpPr>
            <p:cNvPr name="Freeform 174" id="174"/>
            <p:cNvSpPr/>
            <p:nvPr/>
          </p:nvSpPr>
          <p:spPr>
            <a:xfrm flipH="false" flipV="false" rot="0">
              <a:off x="0" y="0"/>
              <a:ext cx="7424663" cy="1055366"/>
            </a:xfrm>
            <a:custGeom>
              <a:avLst/>
              <a:gdLst/>
              <a:ahLst/>
              <a:cxnLst/>
              <a:rect r="r" b="b" t="t" l="l"/>
              <a:pathLst>
                <a:path h="1055366" w="7424663">
                  <a:moveTo>
                    <a:pt x="0" y="0"/>
                  </a:moveTo>
                  <a:lnTo>
                    <a:pt x="7424663" y="0"/>
                  </a:lnTo>
                  <a:lnTo>
                    <a:pt x="7424663" y="1055366"/>
                  </a:lnTo>
                  <a:lnTo>
                    <a:pt x="0" y="1055366"/>
                  </a:lnTo>
                  <a:close/>
                </a:path>
              </a:pathLst>
            </a:custGeom>
            <a:blipFill>
              <a:blip r:embed="rId3">
                <a:alphaModFix amt="0"/>
              </a:blip>
              <a:stretch>
                <a:fillRect l="0" t="-61480" r="11326" b="-81625"/>
              </a:stretch>
            </a:blipFill>
          </p:spPr>
        </p:sp>
        <p:sp>
          <p:nvSpPr>
            <p:cNvPr name="TextBox 175" id="175"/>
            <p:cNvSpPr txBox="true"/>
            <p:nvPr/>
          </p:nvSpPr>
          <p:spPr>
            <a:xfrm>
              <a:off x="0" y="-47625"/>
              <a:ext cx="7424663" cy="1102991"/>
            </a:xfrm>
            <a:prstGeom prst="rect">
              <a:avLst/>
            </a:prstGeom>
          </p:spPr>
          <p:txBody>
            <a:bodyPr anchor="ctr" rtlCol="false" tIns="0" lIns="0" bIns="0" rIns="0"/>
            <a:lstStyle/>
            <a:p>
              <a:pPr algn="l">
                <a:lnSpc>
                  <a:spcPts val="2520"/>
                </a:lnSpc>
              </a:pPr>
            </a:p>
          </p:txBody>
        </p:sp>
      </p:grpSp>
      <p:grpSp>
        <p:nvGrpSpPr>
          <p:cNvPr name="Group 176" id="176"/>
          <p:cNvGrpSpPr/>
          <p:nvPr/>
        </p:nvGrpSpPr>
        <p:grpSpPr>
          <a:xfrm rot="0">
            <a:off x="548640" y="8638993"/>
            <a:ext cx="4605159" cy="1004675"/>
            <a:chOff x="0" y="0"/>
            <a:chExt cx="6637898" cy="1448143"/>
          </a:xfrm>
        </p:grpSpPr>
        <p:sp>
          <p:nvSpPr>
            <p:cNvPr name="Freeform 177" id="177"/>
            <p:cNvSpPr/>
            <p:nvPr/>
          </p:nvSpPr>
          <p:spPr>
            <a:xfrm flipH="false" flipV="false" rot="0">
              <a:off x="19049" y="16891"/>
              <a:ext cx="6599700" cy="1414272"/>
            </a:xfrm>
            <a:custGeom>
              <a:avLst/>
              <a:gdLst/>
              <a:ahLst/>
              <a:cxnLst/>
              <a:rect r="r" b="b" t="t" l="l"/>
              <a:pathLst>
                <a:path h="1414272" w="6599700">
                  <a:moveTo>
                    <a:pt x="0" y="0"/>
                  </a:moveTo>
                  <a:lnTo>
                    <a:pt x="6599700" y="0"/>
                  </a:lnTo>
                  <a:lnTo>
                    <a:pt x="6599700" y="1414272"/>
                  </a:lnTo>
                  <a:lnTo>
                    <a:pt x="0" y="1414272"/>
                  </a:lnTo>
                  <a:close/>
                </a:path>
              </a:pathLst>
            </a:custGeom>
            <a:solidFill>
              <a:srgbClr val="FFFFFF"/>
            </a:solidFill>
          </p:spPr>
        </p:sp>
        <p:sp>
          <p:nvSpPr>
            <p:cNvPr name="Freeform 178" id="178"/>
            <p:cNvSpPr/>
            <p:nvPr/>
          </p:nvSpPr>
          <p:spPr>
            <a:xfrm flipH="false" flipV="false" rot="0">
              <a:off x="0" y="0"/>
              <a:ext cx="6637797" cy="1448054"/>
            </a:xfrm>
            <a:custGeom>
              <a:avLst/>
              <a:gdLst/>
              <a:ahLst/>
              <a:cxnLst/>
              <a:rect r="r" b="b" t="t" l="l"/>
              <a:pathLst>
                <a:path h="1448054" w="6637797">
                  <a:moveTo>
                    <a:pt x="19049" y="0"/>
                  </a:moveTo>
                  <a:lnTo>
                    <a:pt x="6618749" y="0"/>
                  </a:lnTo>
                  <a:cubicBezTo>
                    <a:pt x="6629347" y="0"/>
                    <a:pt x="6637797" y="7620"/>
                    <a:pt x="6637797" y="16891"/>
                  </a:cubicBezTo>
                  <a:lnTo>
                    <a:pt x="6637797" y="1431163"/>
                  </a:lnTo>
                  <a:cubicBezTo>
                    <a:pt x="6637797" y="1440561"/>
                    <a:pt x="6629204" y="1448054"/>
                    <a:pt x="661874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6618749" y="1414272"/>
                  </a:lnTo>
                  <a:lnTo>
                    <a:pt x="6618749" y="1431163"/>
                  </a:lnTo>
                  <a:lnTo>
                    <a:pt x="6599700" y="1431163"/>
                  </a:lnTo>
                  <a:lnTo>
                    <a:pt x="6599700" y="16891"/>
                  </a:lnTo>
                  <a:lnTo>
                    <a:pt x="6618749" y="16891"/>
                  </a:lnTo>
                  <a:lnTo>
                    <a:pt x="6618749" y="33909"/>
                  </a:lnTo>
                  <a:lnTo>
                    <a:pt x="19049" y="33909"/>
                  </a:lnTo>
                  <a:close/>
                </a:path>
              </a:pathLst>
            </a:custGeom>
            <a:solidFill>
              <a:srgbClr val="D0E0D0"/>
            </a:solidFill>
          </p:spPr>
        </p:sp>
      </p:grpSp>
      <p:grpSp>
        <p:nvGrpSpPr>
          <p:cNvPr name="Group 179" id="179"/>
          <p:cNvGrpSpPr/>
          <p:nvPr/>
        </p:nvGrpSpPr>
        <p:grpSpPr>
          <a:xfrm rot="0">
            <a:off x="682733" y="8763992"/>
            <a:ext cx="4387881" cy="879675"/>
            <a:chOff x="0" y="0"/>
            <a:chExt cx="6324713" cy="1267968"/>
          </a:xfrm>
        </p:grpSpPr>
        <p:sp>
          <p:nvSpPr>
            <p:cNvPr name="Freeform 180" id="180"/>
            <p:cNvSpPr/>
            <p:nvPr/>
          </p:nvSpPr>
          <p:spPr>
            <a:xfrm flipH="false" flipV="false" rot="0">
              <a:off x="0" y="0"/>
              <a:ext cx="6324713" cy="1267968"/>
            </a:xfrm>
            <a:custGeom>
              <a:avLst/>
              <a:gdLst/>
              <a:ahLst/>
              <a:cxnLst/>
              <a:rect r="r" b="b" t="t" l="l"/>
              <a:pathLst>
                <a:path h="1267968" w="6324713">
                  <a:moveTo>
                    <a:pt x="0" y="0"/>
                  </a:moveTo>
                  <a:lnTo>
                    <a:pt x="6324713" y="0"/>
                  </a:lnTo>
                  <a:lnTo>
                    <a:pt x="6324713" y="1267968"/>
                  </a:lnTo>
                  <a:lnTo>
                    <a:pt x="0" y="1267968"/>
                  </a:lnTo>
                  <a:close/>
                </a:path>
              </a:pathLst>
            </a:custGeom>
            <a:blipFill>
              <a:blip r:embed="rId3">
                <a:alphaModFix amt="0"/>
              </a:blip>
              <a:stretch>
                <a:fillRect l="0" t="-36183" r="11326" b="-36183"/>
              </a:stretch>
            </a:blipFill>
          </p:spPr>
        </p:sp>
        <p:sp>
          <p:nvSpPr>
            <p:cNvPr name="TextBox 181" id="181"/>
            <p:cNvSpPr txBox="true"/>
            <p:nvPr/>
          </p:nvSpPr>
          <p:spPr>
            <a:xfrm>
              <a:off x="0" y="-47625"/>
              <a:ext cx="6324713" cy="1315593"/>
            </a:xfrm>
            <a:prstGeom prst="rect">
              <a:avLst/>
            </a:prstGeom>
          </p:spPr>
          <p:txBody>
            <a:bodyPr anchor="ctr" rtlCol="false" tIns="0" lIns="0" bIns="0" rIns="0"/>
            <a:lstStyle/>
            <a:p>
              <a:pPr algn="l">
                <a:lnSpc>
                  <a:spcPts val="2520"/>
                </a:lnSpc>
              </a:pPr>
              <a:r>
                <a:rPr lang="en-US" sz="2100" b="true">
                  <a:solidFill>
                    <a:srgbClr val="1A2E1A"/>
                  </a:solidFill>
                  <a:latin typeface="Calibri (MS) Bold"/>
                  <a:ea typeface="Calibri (MS) Bold"/>
                  <a:cs typeface="Calibri (MS) Bold"/>
                  <a:sym typeface="Calibri (MS) Bold"/>
                </a:rPr>
                <a:t>Typ</a:t>
              </a:r>
              <a:r>
                <a:rPr lang="en-US" sz="2100" b="true">
                  <a:solidFill>
                    <a:srgbClr val="1A2E1A"/>
                  </a:solidFill>
                  <a:latin typeface="Calibri (MS) Bold"/>
                  <a:ea typeface="Calibri (MS) Bold"/>
                  <a:cs typeface="Calibri (MS) Bold"/>
                  <a:sym typeface="Calibri (MS) Bold"/>
                </a:rPr>
                <a:t>e de problème</a:t>
              </a:r>
            </a:p>
          </p:txBody>
        </p:sp>
      </p:grpSp>
      <p:grpSp>
        <p:nvGrpSpPr>
          <p:cNvPr name="Group 182" id="182"/>
          <p:cNvGrpSpPr/>
          <p:nvPr/>
        </p:nvGrpSpPr>
        <p:grpSpPr>
          <a:xfrm rot="0">
            <a:off x="5127298" y="8638993"/>
            <a:ext cx="3842049" cy="1004675"/>
            <a:chOff x="0" y="0"/>
            <a:chExt cx="5537948" cy="1448143"/>
          </a:xfrm>
        </p:grpSpPr>
        <p:sp>
          <p:nvSpPr>
            <p:cNvPr name="Freeform 183" id="183"/>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184" id="184"/>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85" id="185"/>
          <p:cNvGrpSpPr/>
          <p:nvPr/>
        </p:nvGrpSpPr>
        <p:grpSpPr>
          <a:xfrm rot="0">
            <a:off x="5274088" y="8701488"/>
            <a:ext cx="3624771" cy="879675"/>
            <a:chOff x="0" y="0"/>
            <a:chExt cx="5224763" cy="1267968"/>
          </a:xfrm>
        </p:grpSpPr>
        <p:sp>
          <p:nvSpPr>
            <p:cNvPr name="Freeform 186" id="186"/>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187" id="187"/>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cl</a:t>
              </a:r>
              <a:r>
                <a:rPr lang="en-US" sz="2100">
                  <a:solidFill>
                    <a:srgbClr val="1A2E1A"/>
                  </a:solidFill>
                  <a:latin typeface="Calibri (MS)"/>
                  <a:ea typeface="Calibri (MS)"/>
                  <a:cs typeface="Calibri (MS)"/>
                  <a:sym typeface="Calibri (MS)"/>
                </a:rPr>
                <a:t>assification</a:t>
              </a:r>
            </a:p>
          </p:txBody>
        </p:sp>
      </p:grpSp>
      <p:grpSp>
        <p:nvGrpSpPr>
          <p:cNvPr name="Group 188" id="188"/>
          <p:cNvGrpSpPr/>
          <p:nvPr/>
        </p:nvGrpSpPr>
        <p:grpSpPr>
          <a:xfrm rot="0">
            <a:off x="8942847" y="8638993"/>
            <a:ext cx="3842049" cy="1004675"/>
            <a:chOff x="0" y="0"/>
            <a:chExt cx="5537948" cy="1448143"/>
          </a:xfrm>
        </p:grpSpPr>
        <p:sp>
          <p:nvSpPr>
            <p:cNvPr name="Freeform 189" id="189"/>
            <p:cNvSpPr/>
            <p:nvPr/>
          </p:nvSpPr>
          <p:spPr>
            <a:xfrm flipH="false" flipV="false" rot="0">
              <a:off x="19049" y="16891"/>
              <a:ext cx="5499750" cy="1414272"/>
            </a:xfrm>
            <a:custGeom>
              <a:avLst/>
              <a:gdLst/>
              <a:ahLst/>
              <a:cxnLst/>
              <a:rect r="r" b="b" t="t" l="l"/>
              <a:pathLst>
                <a:path h="1414272" w="5499750">
                  <a:moveTo>
                    <a:pt x="0" y="0"/>
                  </a:moveTo>
                  <a:lnTo>
                    <a:pt x="5499750" y="0"/>
                  </a:lnTo>
                  <a:lnTo>
                    <a:pt x="5499750" y="1414272"/>
                  </a:lnTo>
                  <a:lnTo>
                    <a:pt x="0" y="1414272"/>
                  </a:lnTo>
                  <a:close/>
                </a:path>
              </a:pathLst>
            </a:custGeom>
            <a:solidFill>
              <a:srgbClr val="FFFFFF"/>
            </a:solidFill>
          </p:spPr>
        </p:sp>
        <p:sp>
          <p:nvSpPr>
            <p:cNvPr name="Freeform 190" id="190"/>
            <p:cNvSpPr/>
            <p:nvPr/>
          </p:nvSpPr>
          <p:spPr>
            <a:xfrm flipH="false" flipV="false" rot="0">
              <a:off x="0" y="0"/>
              <a:ext cx="5537848" cy="1448054"/>
            </a:xfrm>
            <a:custGeom>
              <a:avLst/>
              <a:gdLst/>
              <a:ahLst/>
              <a:cxnLst/>
              <a:rect r="r" b="b" t="t" l="l"/>
              <a:pathLst>
                <a:path h="1448054" w="5537848">
                  <a:moveTo>
                    <a:pt x="19049" y="0"/>
                  </a:moveTo>
                  <a:lnTo>
                    <a:pt x="5518799" y="0"/>
                  </a:lnTo>
                  <a:cubicBezTo>
                    <a:pt x="5529397" y="0"/>
                    <a:pt x="5537848" y="7620"/>
                    <a:pt x="5537848" y="16891"/>
                  </a:cubicBezTo>
                  <a:lnTo>
                    <a:pt x="5537848" y="1431163"/>
                  </a:lnTo>
                  <a:cubicBezTo>
                    <a:pt x="5537848" y="1440561"/>
                    <a:pt x="5529254" y="1448054"/>
                    <a:pt x="55187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5518799" y="1414272"/>
                  </a:lnTo>
                  <a:lnTo>
                    <a:pt x="5518799" y="1431163"/>
                  </a:lnTo>
                  <a:lnTo>
                    <a:pt x="5499750" y="1431163"/>
                  </a:lnTo>
                  <a:lnTo>
                    <a:pt x="5499750" y="16891"/>
                  </a:lnTo>
                  <a:lnTo>
                    <a:pt x="5518799" y="16891"/>
                  </a:lnTo>
                  <a:lnTo>
                    <a:pt x="5518799" y="33909"/>
                  </a:lnTo>
                  <a:lnTo>
                    <a:pt x="19049" y="33909"/>
                  </a:lnTo>
                  <a:close/>
                </a:path>
              </a:pathLst>
            </a:custGeom>
            <a:solidFill>
              <a:srgbClr val="D0E0D0"/>
            </a:solidFill>
          </p:spPr>
        </p:sp>
      </p:grpSp>
      <p:grpSp>
        <p:nvGrpSpPr>
          <p:cNvPr name="Group 191" id="191"/>
          <p:cNvGrpSpPr/>
          <p:nvPr/>
        </p:nvGrpSpPr>
        <p:grpSpPr>
          <a:xfrm rot="0">
            <a:off x="9089636" y="8701488"/>
            <a:ext cx="3624771" cy="879675"/>
            <a:chOff x="0" y="0"/>
            <a:chExt cx="5224763" cy="1267968"/>
          </a:xfrm>
        </p:grpSpPr>
        <p:sp>
          <p:nvSpPr>
            <p:cNvPr name="Freeform 192" id="192"/>
            <p:cNvSpPr/>
            <p:nvPr/>
          </p:nvSpPr>
          <p:spPr>
            <a:xfrm flipH="false" flipV="false" rot="0">
              <a:off x="0" y="0"/>
              <a:ext cx="5224762" cy="1267968"/>
            </a:xfrm>
            <a:custGeom>
              <a:avLst/>
              <a:gdLst/>
              <a:ahLst/>
              <a:cxnLst/>
              <a:rect r="r" b="b" t="t" l="l"/>
              <a:pathLst>
                <a:path h="1267968" w="5224762">
                  <a:moveTo>
                    <a:pt x="0" y="0"/>
                  </a:moveTo>
                  <a:lnTo>
                    <a:pt x="5224762" y="0"/>
                  </a:lnTo>
                  <a:lnTo>
                    <a:pt x="5224762" y="1267968"/>
                  </a:lnTo>
                  <a:lnTo>
                    <a:pt x="0" y="1267968"/>
                  </a:lnTo>
                  <a:close/>
                </a:path>
              </a:pathLst>
            </a:custGeom>
            <a:blipFill>
              <a:blip r:embed="rId3">
                <a:alphaModFix amt="0"/>
              </a:blip>
              <a:stretch>
                <a:fillRect l="0" t="-21195" r="11326" b="-21195"/>
              </a:stretch>
            </a:blipFill>
          </p:spPr>
        </p:sp>
        <p:sp>
          <p:nvSpPr>
            <p:cNvPr name="TextBox 193" id="193"/>
            <p:cNvSpPr txBox="true"/>
            <p:nvPr/>
          </p:nvSpPr>
          <p:spPr>
            <a:xfrm>
              <a:off x="0" y="-47625"/>
              <a:ext cx="52247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cl</a:t>
              </a:r>
              <a:r>
                <a:rPr lang="en-US" sz="2100">
                  <a:solidFill>
                    <a:srgbClr val="1A2E1A"/>
                  </a:solidFill>
                  <a:latin typeface="Calibri (MS)"/>
                  <a:ea typeface="Calibri (MS)"/>
                  <a:cs typeface="Calibri (MS)"/>
                  <a:sym typeface="Calibri (MS)"/>
                </a:rPr>
                <a:t>assification </a:t>
              </a:r>
            </a:p>
          </p:txBody>
        </p:sp>
      </p:grpSp>
      <p:grpSp>
        <p:nvGrpSpPr>
          <p:cNvPr name="Group 194" id="194"/>
          <p:cNvGrpSpPr/>
          <p:nvPr/>
        </p:nvGrpSpPr>
        <p:grpSpPr>
          <a:xfrm rot="0">
            <a:off x="12758396" y="8638993"/>
            <a:ext cx="5368268" cy="1004675"/>
            <a:chOff x="0" y="0"/>
            <a:chExt cx="7737848" cy="1448143"/>
          </a:xfrm>
        </p:grpSpPr>
        <p:sp>
          <p:nvSpPr>
            <p:cNvPr name="Freeform 195" id="195"/>
            <p:cNvSpPr/>
            <p:nvPr/>
          </p:nvSpPr>
          <p:spPr>
            <a:xfrm flipH="false" flipV="false" rot="0">
              <a:off x="19049" y="16891"/>
              <a:ext cx="7699650" cy="1414272"/>
            </a:xfrm>
            <a:custGeom>
              <a:avLst/>
              <a:gdLst/>
              <a:ahLst/>
              <a:cxnLst/>
              <a:rect r="r" b="b" t="t" l="l"/>
              <a:pathLst>
                <a:path h="1414272" w="7699650">
                  <a:moveTo>
                    <a:pt x="0" y="0"/>
                  </a:moveTo>
                  <a:lnTo>
                    <a:pt x="7699650" y="0"/>
                  </a:lnTo>
                  <a:lnTo>
                    <a:pt x="7699650" y="1414272"/>
                  </a:lnTo>
                  <a:lnTo>
                    <a:pt x="0" y="1414272"/>
                  </a:lnTo>
                  <a:close/>
                </a:path>
              </a:pathLst>
            </a:custGeom>
            <a:solidFill>
              <a:srgbClr val="FFFFFF"/>
            </a:solidFill>
          </p:spPr>
        </p:sp>
        <p:sp>
          <p:nvSpPr>
            <p:cNvPr name="Freeform 196" id="196"/>
            <p:cNvSpPr/>
            <p:nvPr/>
          </p:nvSpPr>
          <p:spPr>
            <a:xfrm flipH="false" flipV="false" rot="0">
              <a:off x="0" y="0"/>
              <a:ext cx="7737747" cy="1448054"/>
            </a:xfrm>
            <a:custGeom>
              <a:avLst/>
              <a:gdLst/>
              <a:ahLst/>
              <a:cxnLst/>
              <a:rect r="r" b="b" t="t" l="l"/>
              <a:pathLst>
                <a:path h="1448054" w="7737747">
                  <a:moveTo>
                    <a:pt x="19049" y="0"/>
                  </a:moveTo>
                  <a:lnTo>
                    <a:pt x="7718699" y="0"/>
                  </a:lnTo>
                  <a:cubicBezTo>
                    <a:pt x="7729297" y="0"/>
                    <a:pt x="7737747" y="7620"/>
                    <a:pt x="7737747" y="16891"/>
                  </a:cubicBezTo>
                  <a:lnTo>
                    <a:pt x="7737747" y="1431163"/>
                  </a:lnTo>
                  <a:cubicBezTo>
                    <a:pt x="7737747" y="1440561"/>
                    <a:pt x="7729154" y="1448054"/>
                    <a:pt x="7718699" y="1448054"/>
                  </a:cubicBezTo>
                  <a:lnTo>
                    <a:pt x="19049" y="1448054"/>
                  </a:lnTo>
                  <a:cubicBezTo>
                    <a:pt x="8450" y="1448054"/>
                    <a:pt x="0" y="1440434"/>
                    <a:pt x="0" y="1431163"/>
                  </a:cubicBezTo>
                  <a:lnTo>
                    <a:pt x="0" y="16891"/>
                  </a:lnTo>
                  <a:cubicBezTo>
                    <a:pt x="0" y="7620"/>
                    <a:pt x="8593" y="0"/>
                    <a:pt x="19049" y="0"/>
                  </a:cubicBezTo>
                  <a:moveTo>
                    <a:pt x="19049" y="33909"/>
                  </a:moveTo>
                  <a:lnTo>
                    <a:pt x="19049" y="16891"/>
                  </a:lnTo>
                  <a:lnTo>
                    <a:pt x="38240" y="16891"/>
                  </a:lnTo>
                  <a:lnTo>
                    <a:pt x="38240" y="1431163"/>
                  </a:lnTo>
                  <a:lnTo>
                    <a:pt x="19049" y="1431163"/>
                  </a:lnTo>
                  <a:lnTo>
                    <a:pt x="19049" y="1414272"/>
                  </a:lnTo>
                  <a:lnTo>
                    <a:pt x="7718699" y="1414272"/>
                  </a:lnTo>
                  <a:lnTo>
                    <a:pt x="7718699" y="1431163"/>
                  </a:lnTo>
                  <a:lnTo>
                    <a:pt x="7699650" y="1431163"/>
                  </a:lnTo>
                  <a:lnTo>
                    <a:pt x="7699650" y="16891"/>
                  </a:lnTo>
                  <a:lnTo>
                    <a:pt x="7718699" y="16891"/>
                  </a:lnTo>
                  <a:lnTo>
                    <a:pt x="7718699" y="33909"/>
                  </a:lnTo>
                  <a:lnTo>
                    <a:pt x="19049" y="33909"/>
                  </a:lnTo>
                  <a:close/>
                </a:path>
              </a:pathLst>
            </a:custGeom>
            <a:solidFill>
              <a:srgbClr val="D0E0D0"/>
            </a:solidFill>
          </p:spPr>
        </p:sp>
      </p:grpSp>
      <p:grpSp>
        <p:nvGrpSpPr>
          <p:cNvPr name="Group 197" id="197"/>
          <p:cNvGrpSpPr/>
          <p:nvPr/>
        </p:nvGrpSpPr>
        <p:grpSpPr>
          <a:xfrm rot="0">
            <a:off x="12908721" y="8763992"/>
            <a:ext cx="5150991" cy="879675"/>
            <a:chOff x="0" y="0"/>
            <a:chExt cx="7424663" cy="1267968"/>
          </a:xfrm>
        </p:grpSpPr>
        <p:sp>
          <p:nvSpPr>
            <p:cNvPr name="Freeform 198" id="198"/>
            <p:cNvSpPr/>
            <p:nvPr/>
          </p:nvSpPr>
          <p:spPr>
            <a:xfrm flipH="false" flipV="false" rot="0">
              <a:off x="0" y="0"/>
              <a:ext cx="7424663" cy="1267968"/>
            </a:xfrm>
            <a:custGeom>
              <a:avLst/>
              <a:gdLst/>
              <a:ahLst/>
              <a:cxnLst/>
              <a:rect r="r" b="b" t="t" l="l"/>
              <a:pathLst>
                <a:path h="1267968" w="7424663">
                  <a:moveTo>
                    <a:pt x="0" y="0"/>
                  </a:moveTo>
                  <a:lnTo>
                    <a:pt x="7424663" y="0"/>
                  </a:lnTo>
                  <a:lnTo>
                    <a:pt x="7424663" y="1267968"/>
                  </a:lnTo>
                  <a:lnTo>
                    <a:pt x="0" y="1267968"/>
                  </a:lnTo>
                  <a:close/>
                </a:path>
              </a:pathLst>
            </a:custGeom>
            <a:blipFill>
              <a:blip r:embed="rId3">
                <a:alphaModFix amt="0"/>
              </a:blip>
              <a:stretch>
                <a:fillRect l="0" t="-51172" r="11326" b="-51172"/>
              </a:stretch>
            </a:blipFill>
          </p:spPr>
        </p:sp>
        <p:sp>
          <p:nvSpPr>
            <p:cNvPr name="TextBox 199" id="199"/>
            <p:cNvSpPr txBox="true"/>
            <p:nvPr/>
          </p:nvSpPr>
          <p:spPr>
            <a:xfrm>
              <a:off x="0" y="-47625"/>
              <a:ext cx="7424663" cy="1315593"/>
            </a:xfrm>
            <a:prstGeom prst="rect">
              <a:avLst/>
            </a:prstGeom>
          </p:spPr>
          <p:txBody>
            <a:bodyPr anchor="ctr" rtlCol="false" tIns="0" lIns="0" bIns="0" rIns="0"/>
            <a:lstStyle/>
            <a:p>
              <a:pPr algn="l">
                <a:lnSpc>
                  <a:spcPts val="2520"/>
                </a:lnSpc>
              </a:pPr>
              <a:r>
                <a:rPr lang="en-US" sz="2100">
                  <a:solidFill>
                    <a:srgbClr val="1A2E1A"/>
                  </a:solidFill>
                  <a:latin typeface="Calibri (MS)"/>
                  <a:ea typeface="Calibri (MS)"/>
                  <a:cs typeface="Calibri (MS)"/>
                  <a:sym typeface="Calibri (MS)"/>
                </a:rPr>
                <a:t>classification + régression (avec MSE pour régression)</a:t>
              </a:r>
            </a:p>
          </p:txBody>
        </p:sp>
      </p:grpSp>
      <p:sp>
        <p:nvSpPr>
          <p:cNvPr name="TextBox 200" id="200"/>
          <p:cNvSpPr txBox="true"/>
          <p:nvPr/>
        </p:nvSpPr>
        <p:spPr>
          <a:xfrm rot="0">
            <a:off x="-445525" y="7956811"/>
            <a:ext cx="4387881" cy="361950"/>
          </a:xfrm>
          <a:prstGeom prst="rect">
            <a:avLst/>
          </a:prstGeom>
        </p:spPr>
        <p:txBody>
          <a:bodyPr anchor="t" rtlCol="false" tIns="0" lIns="0" bIns="0" rIns="0">
            <a:spAutoFit/>
          </a:bodyPr>
          <a:lstStyle/>
          <a:p>
            <a:pPr algn="ctr">
              <a:lnSpc>
                <a:spcPts val="2519"/>
              </a:lnSpc>
              <a:spcBef>
                <a:spcPct val="0"/>
              </a:spcBef>
            </a:pPr>
            <a:r>
              <a:rPr lang="en-US" b="true" sz="2099">
                <a:solidFill>
                  <a:srgbClr val="000000"/>
                </a:solidFill>
                <a:latin typeface="Calibri (MS) Bold"/>
                <a:ea typeface="Calibri (MS) Bold"/>
                <a:cs typeface="Calibri (MS) Bold"/>
                <a:sym typeface="Calibri (MS) Bold"/>
              </a:rPr>
              <a:t>Valeurs numériques </a:t>
            </a:r>
          </a:p>
        </p:txBody>
      </p:sp>
      <p:sp>
        <p:nvSpPr>
          <p:cNvPr name="TextBox 201" id="201"/>
          <p:cNvSpPr txBox="true"/>
          <p:nvPr/>
        </p:nvSpPr>
        <p:spPr>
          <a:xfrm rot="0">
            <a:off x="8435382" y="7956811"/>
            <a:ext cx="3624771" cy="3619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Calibri (MS)"/>
                <a:ea typeface="Calibri (MS)"/>
                <a:cs typeface="Calibri (MS)"/>
                <a:sym typeface="Calibri (MS)"/>
              </a:rPr>
              <a:t>Gérées (probabilités)</a:t>
            </a:r>
          </a:p>
        </p:txBody>
      </p:sp>
      <p:sp>
        <p:nvSpPr>
          <p:cNvPr name="TextBox 202" id="202"/>
          <p:cNvSpPr txBox="true"/>
          <p:nvPr/>
        </p:nvSpPr>
        <p:spPr>
          <a:xfrm rot="0">
            <a:off x="12819824" y="7930414"/>
            <a:ext cx="5150991" cy="3619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Calibri (MS)"/>
                <a:ea typeface="Calibri (MS)"/>
                <a:cs typeface="Calibri (MS)"/>
                <a:sym typeface="Calibri (MS)"/>
              </a:rPr>
              <a:t>très efficace sur numériques (splits binaires)</a:t>
            </a:r>
          </a:p>
        </p:txBody>
      </p:sp>
      <p:sp>
        <p:nvSpPr>
          <p:cNvPr name="TextBox 203" id="203"/>
          <p:cNvSpPr txBox="true"/>
          <p:nvPr/>
        </p:nvSpPr>
        <p:spPr>
          <a:xfrm rot="0">
            <a:off x="5274088" y="6975635"/>
            <a:ext cx="1380411" cy="361950"/>
          </a:xfrm>
          <a:prstGeom prst="rect">
            <a:avLst/>
          </a:prstGeom>
        </p:spPr>
        <p:txBody>
          <a:bodyPr anchor="t" rtlCol="false" tIns="0" lIns="0" bIns="0" rIns="0">
            <a:spAutoFit/>
          </a:bodyPr>
          <a:lstStyle/>
          <a:p>
            <a:pPr algn="ctr">
              <a:lnSpc>
                <a:spcPts val="2520"/>
              </a:lnSpc>
              <a:spcBef>
                <a:spcPct val="0"/>
              </a:spcBef>
            </a:pPr>
            <a:r>
              <a:rPr lang="en-US" sz="2100">
                <a:solidFill>
                  <a:srgbClr val="000000"/>
                </a:solidFill>
                <a:latin typeface="Calibri (MS)"/>
                <a:ea typeface="Calibri (MS)"/>
                <a:cs typeface="Calibri (MS)"/>
                <a:sym typeface="Calibri (MS)"/>
              </a:rPr>
              <a:t>Plus sensible</a:t>
            </a:r>
          </a:p>
        </p:txBody>
      </p:sp>
      <p:sp>
        <p:nvSpPr>
          <p:cNvPr name="TextBox 204" id="204"/>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Élagage (Pruning) dans</a:t>
              </a:r>
              <a:r>
                <a:rPr lang="en-US" sz="4000" b="true">
                  <a:solidFill>
                    <a:srgbClr val="FFFFFF"/>
                  </a:solidFill>
                  <a:latin typeface="Calibri (MS) Bold"/>
                  <a:ea typeface="Calibri (MS) Bold"/>
                  <a:cs typeface="Calibri (MS) Bold"/>
                  <a:sym typeface="Calibri (MS) Bold"/>
                </a:rPr>
                <a:t> les arbres de décision</a:t>
              </a:r>
            </a:p>
          </p:txBody>
        </p:sp>
      </p:grpSp>
      <p:grpSp>
        <p:nvGrpSpPr>
          <p:cNvPr name="Group 8" id="8"/>
          <p:cNvGrpSpPr/>
          <p:nvPr/>
        </p:nvGrpSpPr>
        <p:grpSpPr>
          <a:xfrm rot="0">
            <a:off x="1901496" y="2516119"/>
            <a:ext cx="14485019" cy="1054368"/>
            <a:chOff x="0" y="0"/>
            <a:chExt cx="27313039" cy="1988122"/>
          </a:xfrm>
        </p:grpSpPr>
        <p:sp>
          <p:nvSpPr>
            <p:cNvPr name="Freeform 9" id="9"/>
            <p:cNvSpPr/>
            <p:nvPr/>
          </p:nvSpPr>
          <p:spPr>
            <a:xfrm flipH="false" flipV="false" rot="0">
              <a:off x="20098" y="18029"/>
              <a:ext cx="27272738" cy="1951970"/>
            </a:xfrm>
            <a:custGeom>
              <a:avLst/>
              <a:gdLst/>
              <a:ahLst/>
              <a:cxnLst/>
              <a:rect r="r" b="b" t="t" l="l"/>
              <a:pathLst>
                <a:path h="1951970" w="27272738">
                  <a:moveTo>
                    <a:pt x="0" y="0"/>
                  </a:moveTo>
                  <a:lnTo>
                    <a:pt x="27272738" y="0"/>
                  </a:lnTo>
                  <a:lnTo>
                    <a:pt x="27272738" y="1951970"/>
                  </a:lnTo>
                  <a:lnTo>
                    <a:pt x="0" y="1951970"/>
                  </a:lnTo>
                  <a:close/>
                </a:path>
              </a:pathLst>
            </a:custGeom>
            <a:solidFill>
              <a:srgbClr val="E8F5E8"/>
            </a:solidFill>
          </p:spPr>
        </p:sp>
        <p:sp>
          <p:nvSpPr>
            <p:cNvPr name="Freeform 10" id="10"/>
            <p:cNvSpPr/>
            <p:nvPr/>
          </p:nvSpPr>
          <p:spPr>
            <a:xfrm flipH="false" flipV="false" rot="0">
              <a:off x="0" y="0"/>
              <a:ext cx="27312934" cy="1988027"/>
            </a:xfrm>
            <a:custGeom>
              <a:avLst/>
              <a:gdLst/>
              <a:ahLst/>
              <a:cxnLst/>
              <a:rect r="r" b="b" t="t" l="l"/>
              <a:pathLst>
                <a:path h="1988027" w="27312934">
                  <a:moveTo>
                    <a:pt x="20098" y="0"/>
                  </a:moveTo>
                  <a:lnTo>
                    <a:pt x="27292836" y="0"/>
                  </a:lnTo>
                  <a:cubicBezTo>
                    <a:pt x="27304017" y="0"/>
                    <a:pt x="27312934" y="8133"/>
                    <a:pt x="27312934" y="18029"/>
                  </a:cubicBezTo>
                  <a:lnTo>
                    <a:pt x="27312934" y="1969999"/>
                  </a:lnTo>
                  <a:cubicBezTo>
                    <a:pt x="27312934" y="1980030"/>
                    <a:pt x="27303868" y="1988027"/>
                    <a:pt x="27292836" y="1988027"/>
                  </a:cubicBezTo>
                  <a:lnTo>
                    <a:pt x="20098" y="1988027"/>
                  </a:lnTo>
                  <a:cubicBezTo>
                    <a:pt x="8916" y="1988027"/>
                    <a:pt x="0" y="1979894"/>
                    <a:pt x="0" y="1969999"/>
                  </a:cubicBezTo>
                  <a:lnTo>
                    <a:pt x="0" y="18029"/>
                  </a:lnTo>
                  <a:cubicBezTo>
                    <a:pt x="0" y="8133"/>
                    <a:pt x="9067" y="0"/>
                    <a:pt x="20098" y="0"/>
                  </a:cubicBezTo>
                  <a:moveTo>
                    <a:pt x="20098" y="36193"/>
                  </a:moveTo>
                  <a:lnTo>
                    <a:pt x="20098" y="18029"/>
                  </a:lnTo>
                  <a:lnTo>
                    <a:pt x="40347" y="18029"/>
                  </a:lnTo>
                  <a:lnTo>
                    <a:pt x="40347" y="1969999"/>
                  </a:lnTo>
                  <a:lnTo>
                    <a:pt x="20098" y="1969999"/>
                  </a:lnTo>
                  <a:lnTo>
                    <a:pt x="20098" y="1951970"/>
                  </a:lnTo>
                  <a:lnTo>
                    <a:pt x="27292836" y="1951970"/>
                  </a:lnTo>
                  <a:lnTo>
                    <a:pt x="27292836" y="1969999"/>
                  </a:lnTo>
                  <a:lnTo>
                    <a:pt x="27272738" y="1969999"/>
                  </a:lnTo>
                  <a:lnTo>
                    <a:pt x="27272738" y="18029"/>
                  </a:lnTo>
                  <a:lnTo>
                    <a:pt x="27292836" y="18029"/>
                  </a:lnTo>
                  <a:lnTo>
                    <a:pt x="27292836" y="36193"/>
                  </a:lnTo>
                  <a:lnTo>
                    <a:pt x="20098" y="36193"/>
                  </a:lnTo>
                  <a:close/>
                </a:path>
              </a:pathLst>
            </a:custGeom>
            <a:solidFill>
              <a:srgbClr val="5B9E3D"/>
            </a:solidFill>
          </p:spPr>
        </p:sp>
      </p:grpSp>
      <p:sp>
        <p:nvSpPr>
          <p:cNvPr name="TextBox 11" id="11"/>
          <p:cNvSpPr txBox="true"/>
          <p:nvPr/>
        </p:nvSpPr>
        <p:spPr>
          <a:xfrm rot="0">
            <a:off x="2111168" y="2624286"/>
            <a:ext cx="14275346" cy="1285875"/>
          </a:xfrm>
          <a:prstGeom prst="rect">
            <a:avLst/>
          </a:prstGeom>
        </p:spPr>
        <p:txBody>
          <a:bodyPr anchor="t" rtlCol="false" tIns="0" lIns="0" bIns="0" rIns="0">
            <a:spAutoFit/>
          </a:bodyPr>
          <a:lstStyle/>
          <a:p>
            <a:pPr algn="l">
              <a:lnSpc>
                <a:spcPts val="3244"/>
              </a:lnSpc>
            </a:pPr>
            <a:r>
              <a:rPr lang="en-US" sz="2704">
                <a:solidFill>
                  <a:srgbClr val="000000"/>
                </a:solidFill>
                <a:latin typeface="Calibri (MS)"/>
                <a:ea typeface="Calibri (MS)"/>
                <a:cs typeface="Calibri (MS)"/>
                <a:sym typeface="Calibri (MS)"/>
              </a:rPr>
              <a:t>L’élagag</a:t>
            </a:r>
            <a:r>
              <a:rPr lang="en-US" sz="2704">
                <a:solidFill>
                  <a:srgbClr val="000000"/>
                </a:solidFill>
                <a:latin typeface="Calibri (MS)"/>
                <a:ea typeface="Calibri (MS)"/>
                <a:cs typeface="Calibri (MS)"/>
                <a:sym typeface="Calibri (MS)"/>
              </a:rPr>
              <a:t>e est une technique utilisée pour réduire la taille d’un arbre de décision en supprimant certaines branches.</a:t>
            </a:r>
          </a:p>
          <a:p>
            <a:pPr algn="l">
              <a:lnSpc>
                <a:spcPts val="3244"/>
              </a:lnSpc>
            </a:pPr>
          </a:p>
        </p:txBody>
      </p:sp>
      <p:grpSp>
        <p:nvGrpSpPr>
          <p:cNvPr name="Group 12" id="12"/>
          <p:cNvGrpSpPr/>
          <p:nvPr/>
        </p:nvGrpSpPr>
        <p:grpSpPr>
          <a:xfrm rot="0">
            <a:off x="1901496" y="3866837"/>
            <a:ext cx="14485019" cy="1838071"/>
            <a:chOff x="0" y="0"/>
            <a:chExt cx="27313039" cy="3465877"/>
          </a:xfrm>
        </p:grpSpPr>
        <p:sp>
          <p:nvSpPr>
            <p:cNvPr name="Freeform 13" id="13"/>
            <p:cNvSpPr/>
            <p:nvPr/>
          </p:nvSpPr>
          <p:spPr>
            <a:xfrm flipH="false" flipV="false" rot="0">
              <a:off x="20098" y="31429"/>
              <a:ext cx="27272738" cy="3402853"/>
            </a:xfrm>
            <a:custGeom>
              <a:avLst/>
              <a:gdLst/>
              <a:ahLst/>
              <a:cxnLst/>
              <a:rect r="r" b="b" t="t" l="l"/>
              <a:pathLst>
                <a:path h="3402853" w="27272738">
                  <a:moveTo>
                    <a:pt x="0" y="0"/>
                  </a:moveTo>
                  <a:lnTo>
                    <a:pt x="27272738" y="0"/>
                  </a:lnTo>
                  <a:lnTo>
                    <a:pt x="27272738" y="3402853"/>
                  </a:lnTo>
                  <a:lnTo>
                    <a:pt x="0" y="3402853"/>
                  </a:lnTo>
                  <a:close/>
                </a:path>
              </a:pathLst>
            </a:custGeom>
            <a:solidFill>
              <a:srgbClr val="E8F5E8"/>
            </a:solidFill>
          </p:spPr>
        </p:sp>
        <p:sp>
          <p:nvSpPr>
            <p:cNvPr name="Freeform 14" id="14"/>
            <p:cNvSpPr/>
            <p:nvPr/>
          </p:nvSpPr>
          <p:spPr>
            <a:xfrm flipH="false" flipV="false" rot="0">
              <a:off x="0" y="0"/>
              <a:ext cx="27312934" cy="3465712"/>
            </a:xfrm>
            <a:custGeom>
              <a:avLst/>
              <a:gdLst/>
              <a:ahLst/>
              <a:cxnLst/>
              <a:rect r="r" b="b" t="t" l="l"/>
              <a:pathLst>
                <a:path h="3465712" w="27312934">
                  <a:moveTo>
                    <a:pt x="20098" y="0"/>
                  </a:moveTo>
                  <a:lnTo>
                    <a:pt x="27292836" y="0"/>
                  </a:lnTo>
                  <a:cubicBezTo>
                    <a:pt x="27304017" y="0"/>
                    <a:pt x="27312934" y="14179"/>
                    <a:pt x="27312934" y="31429"/>
                  </a:cubicBezTo>
                  <a:lnTo>
                    <a:pt x="27312934" y="3434282"/>
                  </a:lnTo>
                  <a:cubicBezTo>
                    <a:pt x="27312934" y="3451770"/>
                    <a:pt x="27303868" y="3465712"/>
                    <a:pt x="27292836" y="3465712"/>
                  </a:cubicBezTo>
                  <a:lnTo>
                    <a:pt x="20098" y="3465712"/>
                  </a:lnTo>
                  <a:cubicBezTo>
                    <a:pt x="8916" y="3465712"/>
                    <a:pt x="0" y="3451533"/>
                    <a:pt x="0" y="3434282"/>
                  </a:cubicBezTo>
                  <a:lnTo>
                    <a:pt x="0" y="31429"/>
                  </a:lnTo>
                  <a:cubicBezTo>
                    <a:pt x="0" y="14179"/>
                    <a:pt x="9067" y="0"/>
                    <a:pt x="20098" y="0"/>
                  </a:cubicBezTo>
                  <a:moveTo>
                    <a:pt x="20098" y="63095"/>
                  </a:moveTo>
                  <a:lnTo>
                    <a:pt x="20098" y="31429"/>
                  </a:lnTo>
                  <a:lnTo>
                    <a:pt x="40347" y="31429"/>
                  </a:lnTo>
                  <a:lnTo>
                    <a:pt x="40347" y="3434282"/>
                  </a:lnTo>
                  <a:lnTo>
                    <a:pt x="20098" y="3434282"/>
                  </a:lnTo>
                  <a:lnTo>
                    <a:pt x="20098" y="3402853"/>
                  </a:lnTo>
                  <a:lnTo>
                    <a:pt x="27292836" y="3402853"/>
                  </a:lnTo>
                  <a:lnTo>
                    <a:pt x="27292836" y="3434282"/>
                  </a:lnTo>
                  <a:lnTo>
                    <a:pt x="27272738" y="3434282"/>
                  </a:lnTo>
                  <a:lnTo>
                    <a:pt x="27272738" y="31429"/>
                  </a:lnTo>
                  <a:lnTo>
                    <a:pt x="27292836" y="31429"/>
                  </a:lnTo>
                  <a:lnTo>
                    <a:pt x="27292836" y="63095"/>
                  </a:lnTo>
                  <a:lnTo>
                    <a:pt x="20098" y="63095"/>
                  </a:lnTo>
                  <a:close/>
                </a:path>
              </a:pathLst>
            </a:custGeom>
            <a:solidFill>
              <a:srgbClr val="5B9E3D"/>
            </a:solidFill>
          </p:spPr>
        </p:sp>
      </p:grpSp>
      <p:grpSp>
        <p:nvGrpSpPr>
          <p:cNvPr name="Group 15" id="15"/>
          <p:cNvGrpSpPr/>
          <p:nvPr/>
        </p:nvGrpSpPr>
        <p:grpSpPr>
          <a:xfrm rot="0">
            <a:off x="1901496" y="6001258"/>
            <a:ext cx="14485019" cy="1054368"/>
            <a:chOff x="0" y="0"/>
            <a:chExt cx="27313039" cy="1988122"/>
          </a:xfrm>
        </p:grpSpPr>
        <p:sp>
          <p:nvSpPr>
            <p:cNvPr name="Freeform 16" id="16"/>
            <p:cNvSpPr/>
            <p:nvPr/>
          </p:nvSpPr>
          <p:spPr>
            <a:xfrm flipH="false" flipV="false" rot="0">
              <a:off x="20098" y="18029"/>
              <a:ext cx="27272738" cy="1951970"/>
            </a:xfrm>
            <a:custGeom>
              <a:avLst/>
              <a:gdLst/>
              <a:ahLst/>
              <a:cxnLst/>
              <a:rect r="r" b="b" t="t" l="l"/>
              <a:pathLst>
                <a:path h="1951970" w="27272738">
                  <a:moveTo>
                    <a:pt x="0" y="0"/>
                  </a:moveTo>
                  <a:lnTo>
                    <a:pt x="27272738" y="0"/>
                  </a:lnTo>
                  <a:lnTo>
                    <a:pt x="27272738" y="1951970"/>
                  </a:lnTo>
                  <a:lnTo>
                    <a:pt x="0" y="1951970"/>
                  </a:lnTo>
                  <a:close/>
                </a:path>
              </a:pathLst>
            </a:custGeom>
            <a:solidFill>
              <a:srgbClr val="E8F5E8"/>
            </a:solidFill>
          </p:spPr>
        </p:sp>
        <p:sp>
          <p:nvSpPr>
            <p:cNvPr name="Freeform 17" id="17"/>
            <p:cNvSpPr/>
            <p:nvPr/>
          </p:nvSpPr>
          <p:spPr>
            <a:xfrm flipH="false" flipV="false" rot="0">
              <a:off x="0" y="0"/>
              <a:ext cx="27312934" cy="1988027"/>
            </a:xfrm>
            <a:custGeom>
              <a:avLst/>
              <a:gdLst/>
              <a:ahLst/>
              <a:cxnLst/>
              <a:rect r="r" b="b" t="t" l="l"/>
              <a:pathLst>
                <a:path h="1988027" w="27312934">
                  <a:moveTo>
                    <a:pt x="20098" y="0"/>
                  </a:moveTo>
                  <a:lnTo>
                    <a:pt x="27292836" y="0"/>
                  </a:lnTo>
                  <a:cubicBezTo>
                    <a:pt x="27304017" y="0"/>
                    <a:pt x="27312934" y="8133"/>
                    <a:pt x="27312934" y="18029"/>
                  </a:cubicBezTo>
                  <a:lnTo>
                    <a:pt x="27312934" y="1969999"/>
                  </a:lnTo>
                  <a:cubicBezTo>
                    <a:pt x="27312934" y="1980030"/>
                    <a:pt x="27303868" y="1988027"/>
                    <a:pt x="27292836" y="1988027"/>
                  </a:cubicBezTo>
                  <a:lnTo>
                    <a:pt x="20098" y="1988027"/>
                  </a:lnTo>
                  <a:cubicBezTo>
                    <a:pt x="8916" y="1988027"/>
                    <a:pt x="0" y="1979894"/>
                    <a:pt x="0" y="1969999"/>
                  </a:cubicBezTo>
                  <a:lnTo>
                    <a:pt x="0" y="18029"/>
                  </a:lnTo>
                  <a:cubicBezTo>
                    <a:pt x="0" y="8133"/>
                    <a:pt x="9067" y="0"/>
                    <a:pt x="20098" y="0"/>
                  </a:cubicBezTo>
                  <a:moveTo>
                    <a:pt x="20098" y="36193"/>
                  </a:moveTo>
                  <a:lnTo>
                    <a:pt x="20098" y="18029"/>
                  </a:lnTo>
                  <a:lnTo>
                    <a:pt x="40347" y="18029"/>
                  </a:lnTo>
                  <a:lnTo>
                    <a:pt x="40347" y="1969999"/>
                  </a:lnTo>
                  <a:lnTo>
                    <a:pt x="20098" y="1969999"/>
                  </a:lnTo>
                  <a:lnTo>
                    <a:pt x="20098" y="1951970"/>
                  </a:lnTo>
                  <a:lnTo>
                    <a:pt x="27292836" y="1951970"/>
                  </a:lnTo>
                  <a:lnTo>
                    <a:pt x="27292836" y="1969999"/>
                  </a:lnTo>
                  <a:lnTo>
                    <a:pt x="27272738" y="1969999"/>
                  </a:lnTo>
                  <a:lnTo>
                    <a:pt x="27272738" y="18029"/>
                  </a:lnTo>
                  <a:lnTo>
                    <a:pt x="27292836" y="18029"/>
                  </a:lnTo>
                  <a:lnTo>
                    <a:pt x="27292836" y="36193"/>
                  </a:lnTo>
                  <a:lnTo>
                    <a:pt x="20098" y="36193"/>
                  </a:lnTo>
                  <a:close/>
                </a:path>
              </a:pathLst>
            </a:custGeom>
            <a:solidFill>
              <a:srgbClr val="5B9E3D"/>
            </a:solidFill>
          </p:spPr>
        </p:sp>
      </p:grpSp>
      <p:sp>
        <p:nvSpPr>
          <p:cNvPr name="Freeform 18" id="18"/>
          <p:cNvSpPr/>
          <p:nvPr/>
        </p:nvSpPr>
        <p:spPr>
          <a:xfrm flipH="false" flipV="false" rot="0">
            <a:off x="864956" y="8172450"/>
            <a:ext cx="1036539" cy="1145875"/>
          </a:xfrm>
          <a:custGeom>
            <a:avLst/>
            <a:gdLst/>
            <a:ahLst/>
            <a:cxnLst/>
            <a:rect r="r" b="b" t="t" l="l"/>
            <a:pathLst>
              <a:path h="1145875" w="1036539">
                <a:moveTo>
                  <a:pt x="0" y="0"/>
                </a:moveTo>
                <a:lnTo>
                  <a:pt x="1036540" y="0"/>
                </a:lnTo>
                <a:lnTo>
                  <a:pt x="1036540" y="1145875"/>
                </a:lnTo>
                <a:lnTo>
                  <a:pt x="0" y="11458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2111168" y="4007150"/>
            <a:ext cx="11581715" cy="1905000"/>
          </a:xfrm>
          <a:prstGeom prst="rect">
            <a:avLst/>
          </a:prstGeom>
        </p:spPr>
        <p:txBody>
          <a:bodyPr anchor="t" rtlCol="false" tIns="0" lIns="0" bIns="0" rIns="0">
            <a:spAutoFit/>
          </a:bodyPr>
          <a:lstStyle/>
          <a:p>
            <a:pPr algn="l">
              <a:lnSpc>
                <a:spcPts val="2990"/>
              </a:lnSpc>
            </a:pPr>
            <a:r>
              <a:rPr lang="en-US" sz="2492">
                <a:solidFill>
                  <a:srgbClr val="000000"/>
                </a:solidFill>
                <a:latin typeface="Calibri (MS)"/>
                <a:ea typeface="Calibri (MS)"/>
                <a:cs typeface="Calibri (MS)"/>
                <a:sym typeface="Calibri (MS)"/>
              </a:rPr>
              <a:t>Un a</a:t>
            </a:r>
            <a:r>
              <a:rPr lang="en-US" sz="2492">
                <a:solidFill>
                  <a:srgbClr val="000000"/>
                </a:solidFill>
                <a:latin typeface="Calibri (MS)"/>
                <a:ea typeface="Calibri (MS)"/>
                <a:cs typeface="Calibri (MS)"/>
                <a:sym typeface="Calibri (MS)"/>
              </a:rPr>
              <a:t>rbre trop profond peut :</a:t>
            </a:r>
          </a:p>
          <a:p>
            <a:pPr algn="l" marL="538028" indent="-269014" lvl="1">
              <a:lnSpc>
                <a:spcPts val="2990"/>
              </a:lnSpc>
              <a:buFont typeface="Arial"/>
              <a:buChar char="•"/>
            </a:pPr>
            <a:r>
              <a:rPr lang="en-US" sz="2492">
                <a:solidFill>
                  <a:srgbClr val="000000"/>
                </a:solidFill>
                <a:latin typeface="Calibri (MS)"/>
                <a:ea typeface="Calibri (MS)"/>
                <a:cs typeface="Calibri (MS)"/>
                <a:sym typeface="Calibri (MS)"/>
              </a:rPr>
              <a:t>apprendre tous les détails des données d’entraînement</a:t>
            </a:r>
          </a:p>
          <a:p>
            <a:pPr algn="l" marL="538028" indent="-269014" lvl="1">
              <a:lnSpc>
                <a:spcPts val="2990"/>
              </a:lnSpc>
              <a:buFont typeface="Arial"/>
              <a:buChar char="•"/>
            </a:pPr>
            <a:r>
              <a:rPr lang="en-US" sz="2492">
                <a:solidFill>
                  <a:srgbClr val="000000"/>
                </a:solidFill>
                <a:latin typeface="Calibri (MS)"/>
                <a:ea typeface="Calibri (MS)"/>
                <a:cs typeface="Calibri (MS)"/>
                <a:sym typeface="Calibri (MS)"/>
              </a:rPr>
              <a:t>mais mal généraliser sur de nouvelles données</a:t>
            </a:r>
          </a:p>
          <a:p>
            <a:pPr algn="l">
              <a:lnSpc>
                <a:spcPts val="2990"/>
              </a:lnSpc>
            </a:pPr>
            <a:r>
              <a:rPr lang="en-US" sz="2492">
                <a:solidFill>
                  <a:srgbClr val="000000"/>
                </a:solidFill>
                <a:latin typeface="Calibri (MS)"/>
                <a:ea typeface="Calibri (MS)"/>
                <a:cs typeface="Calibri (MS)"/>
                <a:sym typeface="Calibri (MS)"/>
              </a:rPr>
              <a:t>👉 C’est ce qu’on appelle le surapprentissage (overfitting)</a:t>
            </a:r>
          </a:p>
          <a:p>
            <a:pPr algn="l">
              <a:lnSpc>
                <a:spcPts val="2990"/>
              </a:lnSpc>
            </a:pPr>
          </a:p>
        </p:txBody>
      </p:sp>
      <p:sp>
        <p:nvSpPr>
          <p:cNvPr name="TextBox 20" id="20"/>
          <p:cNvSpPr txBox="true"/>
          <p:nvPr/>
        </p:nvSpPr>
        <p:spPr>
          <a:xfrm rot="0">
            <a:off x="2111168" y="6109425"/>
            <a:ext cx="14275346" cy="1285875"/>
          </a:xfrm>
          <a:prstGeom prst="rect">
            <a:avLst/>
          </a:prstGeom>
        </p:spPr>
        <p:txBody>
          <a:bodyPr anchor="t" rtlCol="false" tIns="0" lIns="0" bIns="0" rIns="0">
            <a:spAutoFit/>
          </a:bodyPr>
          <a:lstStyle/>
          <a:p>
            <a:pPr algn="l">
              <a:lnSpc>
                <a:spcPts val="3244"/>
              </a:lnSpc>
            </a:pPr>
            <a:r>
              <a:rPr lang="en-US" sz="2704">
                <a:solidFill>
                  <a:srgbClr val="000000"/>
                </a:solidFill>
                <a:latin typeface="Calibri (MS)"/>
                <a:ea typeface="Calibri (MS)"/>
                <a:cs typeface="Calibri (MS)"/>
                <a:sym typeface="Calibri (MS)"/>
              </a:rPr>
              <a:t>Comm</a:t>
            </a:r>
            <a:r>
              <a:rPr lang="en-US" sz="2704">
                <a:solidFill>
                  <a:srgbClr val="000000"/>
                </a:solidFill>
                <a:latin typeface="Calibri (MS)"/>
                <a:ea typeface="Calibri (MS)"/>
                <a:cs typeface="Calibri (MS)"/>
                <a:sym typeface="Calibri (MS)"/>
              </a:rPr>
              <a:t>ent ça marche ?</a:t>
            </a:r>
          </a:p>
          <a:p>
            <a:pPr algn="l">
              <a:lnSpc>
                <a:spcPts val="3244"/>
              </a:lnSpc>
            </a:pPr>
            <a:r>
              <a:rPr lang="en-US" sz="2704">
                <a:solidFill>
                  <a:srgbClr val="000000"/>
                </a:solidFill>
                <a:latin typeface="Calibri (MS)"/>
                <a:ea typeface="Calibri (MS)"/>
                <a:cs typeface="Calibri (MS)"/>
                <a:sym typeface="Calibri (MS)"/>
              </a:rPr>
              <a:t>On supprime les branches qui apportent peu ou pas d’amélioration dans la prédiction.</a:t>
            </a:r>
          </a:p>
          <a:p>
            <a:pPr algn="l">
              <a:lnSpc>
                <a:spcPts val="3244"/>
              </a:lnSpc>
            </a:pPr>
          </a:p>
        </p:txBody>
      </p:sp>
      <p:sp>
        <p:nvSpPr>
          <p:cNvPr name="TextBox 21" id="21"/>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14</a:t>
            </a:r>
          </a:p>
        </p:txBody>
      </p:sp>
      <p:sp>
        <p:nvSpPr>
          <p:cNvPr name="TextBox 22" id="22"/>
          <p:cNvSpPr txBox="true"/>
          <p:nvPr/>
        </p:nvSpPr>
        <p:spPr>
          <a:xfrm rot="0">
            <a:off x="2111168" y="8115300"/>
            <a:ext cx="15148132" cy="1228725"/>
          </a:xfrm>
          <a:prstGeom prst="rect">
            <a:avLst/>
          </a:prstGeom>
        </p:spPr>
        <p:txBody>
          <a:bodyPr anchor="t" rtlCol="false" tIns="0" lIns="0" bIns="0" rIns="0">
            <a:spAutoFit/>
          </a:bodyPr>
          <a:lstStyle/>
          <a:p>
            <a:pPr algn="l">
              <a:lnSpc>
                <a:spcPts val="3119"/>
              </a:lnSpc>
            </a:pPr>
            <a:r>
              <a:rPr lang="en-US" b="true" sz="2599">
                <a:solidFill>
                  <a:srgbClr val="000000"/>
                </a:solidFill>
                <a:latin typeface="Calibri (MS) Bold"/>
                <a:ea typeface="Calibri (MS) Bold"/>
                <a:cs typeface="Calibri (MS) Bold"/>
                <a:sym typeface="Calibri (MS) Bold"/>
              </a:rPr>
              <a:t>Note importante — </a:t>
            </a:r>
            <a:r>
              <a:rPr lang="en-US" sz="2599">
                <a:solidFill>
                  <a:srgbClr val="000000"/>
                </a:solidFill>
                <a:latin typeface="Calibri (MS)"/>
                <a:ea typeface="Calibri (MS)"/>
                <a:cs typeface="Calibri (MS)"/>
                <a:sym typeface="Calibri (MS)"/>
              </a:rPr>
              <a:t>La Random Forest n'élague PAS ses arbres. Elle gère l'overfitting différemment : par le bootstrap, qui expose chaque arbre à des données différentes, et par la feature randomness, qui dé-corrèle les arbres entre eux. C'est précisément pour ça qu'elle n'a pas besoin d'élaguer.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 Types d’élagage</a:t>
              </a:r>
            </a:p>
          </p:txBody>
        </p:sp>
      </p:grpSp>
      <p:grpSp>
        <p:nvGrpSpPr>
          <p:cNvPr name="Group 8" id="8"/>
          <p:cNvGrpSpPr/>
          <p:nvPr/>
        </p:nvGrpSpPr>
        <p:grpSpPr>
          <a:xfrm rot="0">
            <a:off x="1028700" y="2544092"/>
            <a:ext cx="16468991" cy="2599408"/>
            <a:chOff x="0" y="0"/>
            <a:chExt cx="21958654" cy="3465877"/>
          </a:xfrm>
        </p:grpSpPr>
        <p:sp>
          <p:nvSpPr>
            <p:cNvPr name="Freeform 9" id="9"/>
            <p:cNvSpPr/>
            <p:nvPr/>
          </p:nvSpPr>
          <p:spPr>
            <a:xfrm flipH="false" flipV="false" rot="0">
              <a:off x="16158" y="31429"/>
              <a:ext cx="21926253" cy="3402853"/>
            </a:xfrm>
            <a:custGeom>
              <a:avLst/>
              <a:gdLst/>
              <a:ahLst/>
              <a:cxnLst/>
              <a:rect r="r" b="b" t="t" l="l"/>
              <a:pathLst>
                <a:path h="3402853" w="21926253">
                  <a:moveTo>
                    <a:pt x="0" y="0"/>
                  </a:moveTo>
                  <a:lnTo>
                    <a:pt x="21926253" y="0"/>
                  </a:lnTo>
                  <a:lnTo>
                    <a:pt x="21926253" y="3402853"/>
                  </a:lnTo>
                  <a:lnTo>
                    <a:pt x="0" y="3402853"/>
                  </a:lnTo>
                  <a:close/>
                </a:path>
              </a:pathLst>
            </a:custGeom>
            <a:solidFill>
              <a:srgbClr val="E8F5E8"/>
            </a:solidFill>
          </p:spPr>
        </p:sp>
        <p:sp>
          <p:nvSpPr>
            <p:cNvPr name="Freeform 10" id="10"/>
            <p:cNvSpPr/>
            <p:nvPr/>
          </p:nvSpPr>
          <p:spPr>
            <a:xfrm flipH="false" flipV="false" rot="0">
              <a:off x="0" y="0"/>
              <a:ext cx="21958570" cy="3465712"/>
            </a:xfrm>
            <a:custGeom>
              <a:avLst/>
              <a:gdLst/>
              <a:ahLst/>
              <a:cxnLst/>
              <a:rect r="r" b="b" t="t" l="l"/>
              <a:pathLst>
                <a:path h="3465712" w="21958570">
                  <a:moveTo>
                    <a:pt x="16158" y="0"/>
                  </a:moveTo>
                  <a:lnTo>
                    <a:pt x="21942411" y="0"/>
                  </a:lnTo>
                  <a:cubicBezTo>
                    <a:pt x="21951401" y="0"/>
                    <a:pt x="21958570" y="14179"/>
                    <a:pt x="21958570" y="31429"/>
                  </a:cubicBezTo>
                  <a:lnTo>
                    <a:pt x="21958570" y="3434282"/>
                  </a:lnTo>
                  <a:cubicBezTo>
                    <a:pt x="21958570" y="3451770"/>
                    <a:pt x="21951282" y="3465712"/>
                    <a:pt x="21942411" y="3465712"/>
                  </a:cubicBezTo>
                  <a:lnTo>
                    <a:pt x="16158" y="3465712"/>
                  </a:lnTo>
                  <a:cubicBezTo>
                    <a:pt x="7168" y="3465712"/>
                    <a:pt x="0" y="3451533"/>
                    <a:pt x="0" y="3434282"/>
                  </a:cubicBezTo>
                  <a:lnTo>
                    <a:pt x="0" y="31429"/>
                  </a:lnTo>
                  <a:cubicBezTo>
                    <a:pt x="0" y="14179"/>
                    <a:pt x="7289" y="0"/>
                    <a:pt x="16158" y="0"/>
                  </a:cubicBezTo>
                  <a:moveTo>
                    <a:pt x="16158" y="63095"/>
                  </a:moveTo>
                  <a:lnTo>
                    <a:pt x="16158" y="31429"/>
                  </a:lnTo>
                  <a:lnTo>
                    <a:pt x="32437" y="31429"/>
                  </a:lnTo>
                  <a:lnTo>
                    <a:pt x="32437" y="3434282"/>
                  </a:lnTo>
                  <a:lnTo>
                    <a:pt x="16158" y="3434282"/>
                  </a:lnTo>
                  <a:lnTo>
                    <a:pt x="16158" y="3402853"/>
                  </a:lnTo>
                  <a:lnTo>
                    <a:pt x="21942411" y="3402853"/>
                  </a:lnTo>
                  <a:lnTo>
                    <a:pt x="21942411" y="3434282"/>
                  </a:lnTo>
                  <a:lnTo>
                    <a:pt x="21926254" y="3434282"/>
                  </a:lnTo>
                  <a:lnTo>
                    <a:pt x="21926254" y="31429"/>
                  </a:lnTo>
                  <a:lnTo>
                    <a:pt x="21942411" y="31429"/>
                  </a:lnTo>
                  <a:lnTo>
                    <a:pt x="21942411" y="63095"/>
                  </a:lnTo>
                  <a:lnTo>
                    <a:pt x="16158" y="63095"/>
                  </a:lnTo>
                  <a:close/>
                </a:path>
              </a:pathLst>
            </a:custGeom>
            <a:solidFill>
              <a:srgbClr val="5B9E3D"/>
            </a:solidFill>
          </p:spPr>
        </p:sp>
      </p:grpSp>
      <p:sp>
        <p:nvSpPr>
          <p:cNvPr name="TextBox 11" id="11"/>
          <p:cNvSpPr txBox="true"/>
          <p:nvPr/>
        </p:nvSpPr>
        <p:spPr>
          <a:xfrm rot="0">
            <a:off x="1267091" y="2743200"/>
            <a:ext cx="13168030" cy="2400300"/>
          </a:xfrm>
          <a:prstGeom prst="rect">
            <a:avLst/>
          </a:prstGeom>
        </p:spPr>
        <p:txBody>
          <a:bodyPr anchor="t" rtlCol="false" tIns="0" lIns="0" bIns="0" rIns="0">
            <a:spAutoFit/>
          </a:bodyPr>
          <a:lstStyle/>
          <a:p>
            <a:pPr algn="l">
              <a:lnSpc>
                <a:spcPts val="3719"/>
              </a:lnSpc>
            </a:pPr>
            <a:r>
              <a:rPr lang="en-US" sz="3099">
                <a:solidFill>
                  <a:srgbClr val="000000"/>
                </a:solidFill>
                <a:latin typeface="Calibri (MS)"/>
                <a:ea typeface="Calibri (MS)"/>
                <a:cs typeface="Calibri (MS)"/>
                <a:sym typeface="Calibri (MS)"/>
              </a:rPr>
              <a:t>1. P</a:t>
            </a:r>
            <a:r>
              <a:rPr lang="en-US" sz="3099">
                <a:solidFill>
                  <a:srgbClr val="000000"/>
                </a:solidFill>
                <a:latin typeface="Calibri (MS)"/>
                <a:ea typeface="Calibri (MS)"/>
                <a:cs typeface="Calibri (MS)"/>
                <a:sym typeface="Calibri (MS)"/>
              </a:rPr>
              <a:t>ré-élagage (Pre-pruning)</a:t>
            </a:r>
          </a:p>
          <a:p>
            <a:pPr algn="l" marL="669285" indent="-334642" lvl="1">
              <a:lnSpc>
                <a:spcPts val="3719"/>
              </a:lnSpc>
              <a:buFont typeface="Arial"/>
              <a:buChar char="•"/>
            </a:pPr>
            <a:r>
              <a:rPr lang="en-US" sz="3099">
                <a:solidFill>
                  <a:srgbClr val="000000"/>
                </a:solidFill>
                <a:latin typeface="Calibri (MS)"/>
                <a:ea typeface="Calibri (MS)"/>
                <a:cs typeface="Calibri (MS)"/>
                <a:sym typeface="Calibri (MS)"/>
              </a:rPr>
              <a:t>On </a:t>
            </a:r>
            <a:r>
              <a:rPr lang="en-US" sz="3099">
                <a:solidFill>
                  <a:srgbClr val="000000"/>
                </a:solidFill>
                <a:latin typeface="Calibri (MS)"/>
                <a:ea typeface="Calibri (MS)"/>
                <a:cs typeface="Calibri (MS)"/>
                <a:sym typeface="Calibri (MS)"/>
              </a:rPr>
              <a:t>arrête la croissance de l’arbre tôt</a:t>
            </a:r>
          </a:p>
          <a:p>
            <a:pPr algn="l" marL="669285" indent="-334642" lvl="1">
              <a:lnSpc>
                <a:spcPts val="3719"/>
              </a:lnSpc>
              <a:buFont typeface="Arial"/>
              <a:buChar char="•"/>
            </a:pPr>
            <a:r>
              <a:rPr lang="en-US" sz="3099">
                <a:solidFill>
                  <a:srgbClr val="000000"/>
                </a:solidFill>
                <a:latin typeface="Calibri (MS)"/>
                <a:ea typeface="Calibri (MS)"/>
                <a:cs typeface="Calibri (MS)"/>
                <a:sym typeface="Calibri (MS)"/>
              </a:rPr>
              <a:t>Exemple : profondeur max, nombre minimum d’échantillons</a:t>
            </a:r>
          </a:p>
          <a:p>
            <a:pPr algn="l">
              <a:lnSpc>
                <a:spcPts val="3719"/>
              </a:lnSpc>
            </a:pPr>
            <a:r>
              <a:rPr lang="en-US" sz="3099">
                <a:solidFill>
                  <a:srgbClr val="000000"/>
                </a:solidFill>
                <a:latin typeface="Calibri (MS)"/>
                <a:ea typeface="Calibri (MS)"/>
                <a:cs typeface="Calibri (MS)"/>
                <a:sym typeface="Calibri (MS)"/>
              </a:rPr>
              <a:t>👉 Plus rapide, mais risque de sous-apprentissage</a:t>
            </a:r>
          </a:p>
          <a:p>
            <a:pPr algn="l">
              <a:lnSpc>
                <a:spcPts val="3719"/>
              </a:lnSpc>
            </a:pPr>
          </a:p>
        </p:txBody>
      </p:sp>
      <p:grpSp>
        <p:nvGrpSpPr>
          <p:cNvPr name="Group 12" id="12"/>
          <p:cNvGrpSpPr/>
          <p:nvPr/>
        </p:nvGrpSpPr>
        <p:grpSpPr>
          <a:xfrm rot="0">
            <a:off x="1028700" y="5854391"/>
            <a:ext cx="16468991" cy="2599408"/>
            <a:chOff x="0" y="0"/>
            <a:chExt cx="21958654" cy="3465877"/>
          </a:xfrm>
        </p:grpSpPr>
        <p:sp>
          <p:nvSpPr>
            <p:cNvPr name="Freeform 13" id="13"/>
            <p:cNvSpPr/>
            <p:nvPr/>
          </p:nvSpPr>
          <p:spPr>
            <a:xfrm flipH="false" flipV="false" rot="0">
              <a:off x="16158" y="31429"/>
              <a:ext cx="21926253" cy="3402853"/>
            </a:xfrm>
            <a:custGeom>
              <a:avLst/>
              <a:gdLst/>
              <a:ahLst/>
              <a:cxnLst/>
              <a:rect r="r" b="b" t="t" l="l"/>
              <a:pathLst>
                <a:path h="3402853" w="21926253">
                  <a:moveTo>
                    <a:pt x="0" y="0"/>
                  </a:moveTo>
                  <a:lnTo>
                    <a:pt x="21926253" y="0"/>
                  </a:lnTo>
                  <a:lnTo>
                    <a:pt x="21926253" y="3402853"/>
                  </a:lnTo>
                  <a:lnTo>
                    <a:pt x="0" y="3402853"/>
                  </a:lnTo>
                  <a:close/>
                </a:path>
              </a:pathLst>
            </a:custGeom>
            <a:solidFill>
              <a:srgbClr val="E8F5E8"/>
            </a:solidFill>
          </p:spPr>
        </p:sp>
        <p:sp>
          <p:nvSpPr>
            <p:cNvPr name="Freeform 14" id="14"/>
            <p:cNvSpPr/>
            <p:nvPr/>
          </p:nvSpPr>
          <p:spPr>
            <a:xfrm flipH="false" flipV="false" rot="0">
              <a:off x="0" y="0"/>
              <a:ext cx="21958570" cy="3465712"/>
            </a:xfrm>
            <a:custGeom>
              <a:avLst/>
              <a:gdLst/>
              <a:ahLst/>
              <a:cxnLst/>
              <a:rect r="r" b="b" t="t" l="l"/>
              <a:pathLst>
                <a:path h="3465712" w="21958570">
                  <a:moveTo>
                    <a:pt x="16158" y="0"/>
                  </a:moveTo>
                  <a:lnTo>
                    <a:pt x="21942411" y="0"/>
                  </a:lnTo>
                  <a:cubicBezTo>
                    <a:pt x="21951401" y="0"/>
                    <a:pt x="21958570" y="14179"/>
                    <a:pt x="21958570" y="31429"/>
                  </a:cubicBezTo>
                  <a:lnTo>
                    <a:pt x="21958570" y="3434282"/>
                  </a:lnTo>
                  <a:cubicBezTo>
                    <a:pt x="21958570" y="3451770"/>
                    <a:pt x="21951282" y="3465712"/>
                    <a:pt x="21942411" y="3465712"/>
                  </a:cubicBezTo>
                  <a:lnTo>
                    <a:pt x="16158" y="3465712"/>
                  </a:lnTo>
                  <a:cubicBezTo>
                    <a:pt x="7168" y="3465712"/>
                    <a:pt x="0" y="3451533"/>
                    <a:pt x="0" y="3434282"/>
                  </a:cubicBezTo>
                  <a:lnTo>
                    <a:pt x="0" y="31429"/>
                  </a:lnTo>
                  <a:cubicBezTo>
                    <a:pt x="0" y="14179"/>
                    <a:pt x="7289" y="0"/>
                    <a:pt x="16158" y="0"/>
                  </a:cubicBezTo>
                  <a:moveTo>
                    <a:pt x="16158" y="63095"/>
                  </a:moveTo>
                  <a:lnTo>
                    <a:pt x="16158" y="31429"/>
                  </a:lnTo>
                  <a:lnTo>
                    <a:pt x="32437" y="31429"/>
                  </a:lnTo>
                  <a:lnTo>
                    <a:pt x="32437" y="3434282"/>
                  </a:lnTo>
                  <a:lnTo>
                    <a:pt x="16158" y="3434282"/>
                  </a:lnTo>
                  <a:lnTo>
                    <a:pt x="16158" y="3402853"/>
                  </a:lnTo>
                  <a:lnTo>
                    <a:pt x="21942411" y="3402853"/>
                  </a:lnTo>
                  <a:lnTo>
                    <a:pt x="21942411" y="3434282"/>
                  </a:lnTo>
                  <a:lnTo>
                    <a:pt x="21926254" y="3434282"/>
                  </a:lnTo>
                  <a:lnTo>
                    <a:pt x="21926254" y="31429"/>
                  </a:lnTo>
                  <a:lnTo>
                    <a:pt x="21942411" y="31429"/>
                  </a:lnTo>
                  <a:lnTo>
                    <a:pt x="21942411" y="63095"/>
                  </a:lnTo>
                  <a:lnTo>
                    <a:pt x="16158" y="63095"/>
                  </a:lnTo>
                  <a:close/>
                </a:path>
              </a:pathLst>
            </a:custGeom>
            <a:solidFill>
              <a:srgbClr val="5B9E3D"/>
            </a:solidFill>
          </p:spPr>
        </p:sp>
      </p:grpSp>
      <p:sp>
        <p:nvSpPr>
          <p:cNvPr name="TextBox 15" id="15"/>
          <p:cNvSpPr txBox="true"/>
          <p:nvPr/>
        </p:nvSpPr>
        <p:spPr>
          <a:xfrm rot="0">
            <a:off x="1267091" y="5962650"/>
            <a:ext cx="16117559" cy="2867025"/>
          </a:xfrm>
          <a:prstGeom prst="rect">
            <a:avLst/>
          </a:prstGeom>
        </p:spPr>
        <p:txBody>
          <a:bodyPr anchor="t" rtlCol="false" tIns="0" lIns="0" bIns="0" rIns="0">
            <a:spAutoFit/>
          </a:bodyPr>
          <a:lstStyle/>
          <a:p>
            <a:pPr algn="l">
              <a:lnSpc>
                <a:spcPts val="3719"/>
              </a:lnSpc>
            </a:pPr>
            <a:r>
              <a:rPr lang="en-US" sz="3099">
                <a:solidFill>
                  <a:srgbClr val="000000"/>
                </a:solidFill>
                <a:latin typeface="Calibri (MS)"/>
                <a:ea typeface="Calibri (MS)"/>
                <a:cs typeface="Calibri (MS)"/>
                <a:sym typeface="Calibri (MS)"/>
              </a:rPr>
              <a:t>2. Post-élagage (Post-pruning)</a:t>
            </a:r>
          </a:p>
          <a:p>
            <a:pPr algn="l" marL="669285" indent="-334642" lvl="1">
              <a:lnSpc>
                <a:spcPts val="3719"/>
              </a:lnSpc>
              <a:buFont typeface="Arial"/>
              <a:buChar char="•"/>
            </a:pPr>
            <a:r>
              <a:rPr lang="en-US" sz="3099">
                <a:solidFill>
                  <a:srgbClr val="000000"/>
                </a:solidFill>
                <a:latin typeface="Calibri (MS)"/>
                <a:ea typeface="Calibri (MS)"/>
                <a:cs typeface="Calibri (MS)"/>
                <a:sym typeface="Calibri (MS)"/>
              </a:rPr>
              <a:t>On construit d’abord l’arbre complet</a:t>
            </a:r>
          </a:p>
          <a:p>
            <a:pPr algn="l" marL="669285" indent="-334642" lvl="1">
              <a:lnSpc>
                <a:spcPts val="3719"/>
              </a:lnSpc>
              <a:buFont typeface="Arial"/>
              <a:buChar char="•"/>
            </a:pPr>
            <a:r>
              <a:rPr lang="en-US" sz="3099">
                <a:solidFill>
                  <a:srgbClr val="000000"/>
                </a:solidFill>
                <a:latin typeface="Calibri (MS)"/>
                <a:ea typeface="Calibri (MS)"/>
                <a:cs typeface="Calibri (MS)"/>
                <a:sym typeface="Calibri (MS)"/>
              </a:rPr>
              <a:t>on supprime les branches qui n'améliorent pas suffisamment les prédictions sur des données de validation.</a:t>
            </a:r>
          </a:p>
          <a:p>
            <a:pPr algn="l">
              <a:lnSpc>
                <a:spcPts val="3719"/>
              </a:lnSpc>
            </a:pPr>
            <a:r>
              <a:rPr lang="en-US" sz="3099">
                <a:solidFill>
                  <a:srgbClr val="000000"/>
                </a:solidFill>
                <a:latin typeface="Calibri (MS)"/>
                <a:ea typeface="Calibri (MS)"/>
                <a:cs typeface="Calibri (MS)"/>
                <a:sym typeface="Calibri (MS)"/>
              </a:rPr>
              <a:t>👉 Plus précis et plus utilisé</a:t>
            </a:r>
          </a:p>
          <a:p>
            <a:pPr algn="l">
              <a:lnSpc>
                <a:spcPts val="3719"/>
              </a:lnSpc>
            </a:pPr>
          </a:p>
        </p:txBody>
      </p:sp>
      <p:sp>
        <p:nvSpPr>
          <p:cNvPr name="TextBox 16" id="16"/>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Bagging et Bootstrap </a:t>
              </a:r>
            </a:p>
          </p:txBody>
        </p:sp>
      </p:grpSp>
      <p:grpSp>
        <p:nvGrpSpPr>
          <p:cNvPr name="Group 8" id="8"/>
          <p:cNvGrpSpPr/>
          <p:nvPr/>
        </p:nvGrpSpPr>
        <p:grpSpPr>
          <a:xfrm rot="0">
            <a:off x="535943" y="1907543"/>
            <a:ext cx="5146043" cy="2219963"/>
            <a:chOff x="0" y="0"/>
            <a:chExt cx="6861391" cy="2959951"/>
          </a:xfrm>
        </p:grpSpPr>
        <p:sp>
          <p:nvSpPr>
            <p:cNvPr name="Freeform 9" id="9"/>
            <p:cNvSpPr/>
            <p:nvPr/>
          </p:nvSpPr>
          <p:spPr>
            <a:xfrm flipH="false" flipV="false" rot="0">
              <a:off x="16891" y="16891"/>
              <a:ext cx="6827520" cy="2926080"/>
            </a:xfrm>
            <a:custGeom>
              <a:avLst/>
              <a:gdLst/>
              <a:ahLst/>
              <a:cxnLst/>
              <a:rect r="r" b="b" t="t" l="l"/>
              <a:pathLst>
                <a:path h="2926080" w="6827520">
                  <a:moveTo>
                    <a:pt x="0" y="0"/>
                  </a:moveTo>
                  <a:lnTo>
                    <a:pt x="6827520" y="0"/>
                  </a:lnTo>
                  <a:lnTo>
                    <a:pt x="6827520" y="2926080"/>
                  </a:lnTo>
                  <a:lnTo>
                    <a:pt x="0" y="2926080"/>
                  </a:lnTo>
                  <a:close/>
                </a:path>
              </a:pathLst>
            </a:custGeom>
            <a:solidFill>
              <a:srgbClr val="2C5F2D"/>
            </a:solidFill>
          </p:spPr>
        </p:sp>
        <p:sp>
          <p:nvSpPr>
            <p:cNvPr name="Freeform 10" id="10"/>
            <p:cNvSpPr/>
            <p:nvPr/>
          </p:nvSpPr>
          <p:spPr>
            <a:xfrm flipH="false" flipV="false" rot="0">
              <a:off x="0" y="0"/>
              <a:ext cx="6861301" cy="2959862"/>
            </a:xfrm>
            <a:custGeom>
              <a:avLst/>
              <a:gdLst/>
              <a:ahLst/>
              <a:cxnLst/>
              <a:rect r="r" b="b" t="t" l="l"/>
              <a:pathLst>
                <a:path h="2959862" w="6861301">
                  <a:moveTo>
                    <a:pt x="16891" y="0"/>
                  </a:moveTo>
                  <a:lnTo>
                    <a:pt x="6844411" y="0"/>
                  </a:lnTo>
                  <a:cubicBezTo>
                    <a:pt x="6853809" y="0"/>
                    <a:pt x="6861301" y="7620"/>
                    <a:pt x="6861301" y="16891"/>
                  </a:cubicBezTo>
                  <a:lnTo>
                    <a:pt x="6861301" y="2942971"/>
                  </a:lnTo>
                  <a:cubicBezTo>
                    <a:pt x="6861301" y="2952369"/>
                    <a:pt x="6853682" y="2959862"/>
                    <a:pt x="6844411" y="2959862"/>
                  </a:cubicBezTo>
                  <a:lnTo>
                    <a:pt x="16891" y="2959862"/>
                  </a:lnTo>
                  <a:cubicBezTo>
                    <a:pt x="7493" y="2959862"/>
                    <a:pt x="0" y="2952242"/>
                    <a:pt x="0" y="2942971"/>
                  </a:cubicBezTo>
                  <a:lnTo>
                    <a:pt x="0" y="16891"/>
                  </a:lnTo>
                  <a:cubicBezTo>
                    <a:pt x="0" y="7620"/>
                    <a:pt x="7620" y="0"/>
                    <a:pt x="16891" y="0"/>
                  </a:cubicBezTo>
                  <a:moveTo>
                    <a:pt x="16891" y="33909"/>
                  </a:moveTo>
                  <a:lnTo>
                    <a:pt x="16891" y="16891"/>
                  </a:lnTo>
                  <a:lnTo>
                    <a:pt x="33909" y="16891"/>
                  </a:lnTo>
                  <a:lnTo>
                    <a:pt x="33909" y="2942971"/>
                  </a:lnTo>
                  <a:lnTo>
                    <a:pt x="16891" y="2942971"/>
                  </a:lnTo>
                  <a:lnTo>
                    <a:pt x="16891" y="2926080"/>
                  </a:lnTo>
                  <a:lnTo>
                    <a:pt x="6844411" y="2926080"/>
                  </a:lnTo>
                  <a:lnTo>
                    <a:pt x="6844411" y="2942971"/>
                  </a:lnTo>
                  <a:lnTo>
                    <a:pt x="6827520" y="2942971"/>
                  </a:lnTo>
                  <a:lnTo>
                    <a:pt x="6827520" y="16891"/>
                  </a:lnTo>
                  <a:lnTo>
                    <a:pt x="6844411" y="16891"/>
                  </a:lnTo>
                  <a:lnTo>
                    <a:pt x="6844411" y="33909"/>
                  </a:lnTo>
                  <a:lnTo>
                    <a:pt x="16891" y="33909"/>
                  </a:lnTo>
                  <a:close/>
                </a:path>
              </a:pathLst>
            </a:custGeom>
            <a:solidFill>
              <a:srgbClr val="2C5F2D"/>
            </a:solidFill>
          </p:spPr>
        </p:sp>
      </p:grpSp>
      <p:grpSp>
        <p:nvGrpSpPr>
          <p:cNvPr name="Group 11" id="11"/>
          <p:cNvGrpSpPr/>
          <p:nvPr/>
        </p:nvGrpSpPr>
        <p:grpSpPr>
          <a:xfrm rot="0">
            <a:off x="548640" y="1920240"/>
            <a:ext cx="5120640" cy="2194560"/>
            <a:chOff x="0" y="0"/>
            <a:chExt cx="6827520" cy="2926080"/>
          </a:xfrm>
        </p:grpSpPr>
        <p:sp>
          <p:nvSpPr>
            <p:cNvPr name="Freeform 12" id="12"/>
            <p:cNvSpPr/>
            <p:nvPr/>
          </p:nvSpPr>
          <p:spPr>
            <a:xfrm flipH="false" flipV="false" rot="0">
              <a:off x="0" y="0"/>
              <a:ext cx="6827520" cy="2926080"/>
            </a:xfrm>
            <a:custGeom>
              <a:avLst/>
              <a:gdLst/>
              <a:ahLst/>
              <a:cxnLst/>
              <a:rect r="r" b="b" t="t" l="l"/>
              <a:pathLst>
                <a:path h="2926080" w="6827520">
                  <a:moveTo>
                    <a:pt x="0" y="0"/>
                  </a:moveTo>
                  <a:lnTo>
                    <a:pt x="6827520" y="0"/>
                  </a:lnTo>
                  <a:lnTo>
                    <a:pt x="6827520" y="2926080"/>
                  </a:lnTo>
                  <a:lnTo>
                    <a:pt x="0" y="2926080"/>
                  </a:lnTo>
                  <a:close/>
                </a:path>
              </a:pathLst>
            </a:custGeom>
            <a:blipFill>
              <a:blip r:embed="rId3">
                <a:alphaModFix amt="0"/>
              </a:blip>
              <a:stretch>
                <a:fillRect l="-4987" t="0" r="-4987" b="0"/>
              </a:stretch>
            </a:blipFill>
          </p:spPr>
        </p:sp>
        <p:sp>
          <p:nvSpPr>
            <p:cNvPr name="TextBox 13" id="13"/>
            <p:cNvSpPr txBox="true"/>
            <p:nvPr/>
          </p:nvSpPr>
          <p:spPr>
            <a:xfrm>
              <a:off x="0" y="-66675"/>
              <a:ext cx="6827520" cy="2992755"/>
            </a:xfrm>
            <a:prstGeom prst="rect">
              <a:avLst/>
            </a:prstGeom>
          </p:spPr>
          <p:txBody>
            <a:bodyPr anchor="ctr" rtlCol="false" tIns="0" lIns="0" bIns="0" rIns="0"/>
            <a:lstStyle/>
            <a:p>
              <a:pPr algn="ctr">
                <a:lnSpc>
                  <a:spcPts val="4079"/>
                </a:lnSpc>
              </a:pPr>
              <a:r>
                <a:rPr lang="en-US" sz="3399" b="true">
                  <a:solidFill>
                    <a:srgbClr val="FFFFFF"/>
                  </a:solidFill>
                  <a:latin typeface="Calibri (MS) Bold"/>
                  <a:ea typeface="Calibri (MS) Bold"/>
                  <a:cs typeface="Calibri (MS) Bold"/>
                  <a:sym typeface="Calibri (MS) Bold"/>
                </a:rPr>
                <a:t>Bootstrap</a:t>
              </a:r>
            </a:p>
            <a:p>
              <a:pPr algn="ctr">
                <a:lnSpc>
                  <a:spcPts val="4079"/>
                </a:lnSpc>
              </a:pPr>
              <a:r>
                <a:rPr lang="en-US" sz="3399" b="true">
                  <a:solidFill>
                    <a:srgbClr val="FFFFFF"/>
                  </a:solidFill>
                  <a:latin typeface="Calibri (MS) Bold"/>
                  <a:ea typeface="Calibri (MS) Bold"/>
                  <a:cs typeface="Calibri (MS) Bold"/>
                  <a:sym typeface="Calibri (MS) Bold"/>
                </a:rPr>
                <a:t>(avec remise)</a:t>
              </a:r>
            </a:p>
            <a:p>
              <a:pPr algn="ctr">
                <a:lnSpc>
                  <a:spcPts val="3120"/>
                </a:lnSpc>
              </a:pPr>
            </a:p>
          </p:txBody>
        </p:sp>
      </p:grpSp>
      <p:grpSp>
        <p:nvGrpSpPr>
          <p:cNvPr name="Group 14" id="14"/>
          <p:cNvGrpSpPr/>
          <p:nvPr/>
        </p:nvGrpSpPr>
        <p:grpSpPr>
          <a:xfrm rot="0">
            <a:off x="5748023" y="2730503"/>
            <a:ext cx="939803" cy="208283"/>
            <a:chOff x="0" y="0"/>
            <a:chExt cx="1253071" cy="277711"/>
          </a:xfrm>
        </p:grpSpPr>
        <p:sp>
          <p:nvSpPr>
            <p:cNvPr name="Freeform 15" id="15"/>
            <p:cNvSpPr/>
            <p:nvPr/>
          </p:nvSpPr>
          <p:spPr>
            <a:xfrm flipH="false" flipV="false" rot="0">
              <a:off x="16891" y="16891"/>
              <a:ext cx="1219200" cy="243840"/>
            </a:xfrm>
            <a:custGeom>
              <a:avLst/>
              <a:gdLst/>
              <a:ahLst/>
              <a:cxnLst/>
              <a:rect r="r" b="b" t="t" l="l"/>
              <a:pathLst>
                <a:path h="243840" w="1219200">
                  <a:moveTo>
                    <a:pt x="0" y="0"/>
                  </a:moveTo>
                  <a:lnTo>
                    <a:pt x="1219200" y="0"/>
                  </a:lnTo>
                  <a:lnTo>
                    <a:pt x="1219200" y="243840"/>
                  </a:lnTo>
                  <a:lnTo>
                    <a:pt x="0" y="243840"/>
                  </a:lnTo>
                  <a:close/>
                </a:path>
              </a:pathLst>
            </a:custGeom>
            <a:solidFill>
              <a:srgbClr val="5A7A5A"/>
            </a:solidFill>
          </p:spPr>
        </p:sp>
        <p:sp>
          <p:nvSpPr>
            <p:cNvPr name="Freeform 16" id="16"/>
            <p:cNvSpPr/>
            <p:nvPr/>
          </p:nvSpPr>
          <p:spPr>
            <a:xfrm flipH="false" flipV="false" rot="0">
              <a:off x="0" y="0"/>
              <a:ext cx="1252982" cy="277624"/>
            </a:xfrm>
            <a:custGeom>
              <a:avLst/>
              <a:gdLst/>
              <a:ahLst/>
              <a:cxnLst/>
              <a:rect r="r" b="b" t="t" l="l"/>
              <a:pathLst>
                <a:path h="277624" w="1252982">
                  <a:moveTo>
                    <a:pt x="16891" y="0"/>
                  </a:moveTo>
                  <a:lnTo>
                    <a:pt x="1236091" y="0"/>
                  </a:lnTo>
                  <a:cubicBezTo>
                    <a:pt x="1245489" y="0"/>
                    <a:pt x="1252982" y="7620"/>
                    <a:pt x="1252982" y="16891"/>
                  </a:cubicBezTo>
                  <a:lnTo>
                    <a:pt x="1252982" y="260731"/>
                  </a:lnTo>
                  <a:cubicBezTo>
                    <a:pt x="1252982" y="270129"/>
                    <a:pt x="1245362" y="277622"/>
                    <a:pt x="123609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1236091" y="243840"/>
                  </a:lnTo>
                  <a:lnTo>
                    <a:pt x="1236091" y="260731"/>
                  </a:lnTo>
                  <a:lnTo>
                    <a:pt x="1219200" y="260731"/>
                  </a:lnTo>
                  <a:lnTo>
                    <a:pt x="1219200" y="16891"/>
                  </a:lnTo>
                  <a:lnTo>
                    <a:pt x="1236091" y="16891"/>
                  </a:lnTo>
                  <a:lnTo>
                    <a:pt x="1236091" y="33909"/>
                  </a:lnTo>
                  <a:lnTo>
                    <a:pt x="16891" y="33909"/>
                  </a:lnTo>
                  <a:close/>
                </a:path>
              </a:pathLst>
            </a:custGeom>
            <a:solidFill>
              <a:srgbClr val="5A7A5A"/>
            </a:solidFill>
          </p:spPr>
        </p:sp>
      </p:grpSp>
      <p:grpSp>
        <p:nvGrpSpPr>
          <p:cNvPr name="Group 17" id="17"/>
          <p:cNvGrpSpPr/>
          <p:nvPr/>
        </p:nvGrpSpPr>
        <p:grpSpPr>
          <a:xfrm rot="0">
            <a:off x="6936743" y="1779527"/>
            <a:ext cx="2768603" cy="2494283"/>
            <a:chOff x="0" y="0"/>
            <a:chExt cx="3691471" cy="3325711"/>
          </a:xfrm>
        </p:grpSpPr>
        <p:sp>
          <p:nvSpPr>
            <p:cNvPr name="Freeform 18" id="18"/>
            <p:cNvSpPr/>
            <p:nvPr/>
          </p:nvSpPr>
          <p:spPr>
            <a:xfrm flipH="false" flipV="false" rot="0">
              <a:off x="16891" y="16891"/>
              <a:ext cx="3657600" cy="3291840"/>
            </a:xfrm>
            <a:custGeom>
              <a:avLst/>
              <a:gdLst/>
              <a:ahLst/>
              <a:cxnLst/>
              <a:rect r="r" b="b" t="t" l="l"/>
              <a:pathLst>
                <a:path h="3291840" w="3657600">
                  <a:moveTo>
                    <a:pt x="0" y="0"/>
                  </a:moveTo>
                  <a:lnTo>
                    <a:pt x="3657600" y="0"/>
                  </a:lnTo>
                  <a:lnTo>
                    <a:pt x="3657600" y="3291840"/>
                  </a:lnTo>
                  <a:lnTo>
                    <a:pt x="0" y="3291840"/>
                  </a:lnTo>
                  <a:close/>
                </a:path>
              </a:pathLst>
            </a:custGeom>
            <a:solidFill>
              <a:srgbClr val="5B9E3D"/>
            </a:solidFill>
          </p:spPr>
        </p:sp>
        <p:sp>
          <p:nvSpPr>
            <p:cNvPr name="Freeform 19" id="19"/>
            <p:cNvSpPr/>
            <p:nvPr/>
          </p:nvSpPr>
          <p:spPr>
            <a:xfrm flipH="false" flipV="false" rot="0">
              <a:off x="0" y="0"/>
              <a:ext cx="3691382" cy="3325622"/>
            </a:xfrm>
            <a:custGeom>
              <a:avLst/>
              <a:gdLst/>
              <a:ahLst/>
              <a:cxnLst/>
              <a:rect r="r" b="b" t="t" l="l"/>
              <a:pathLst>
                <a:path h="3325622" w="3691382">
                  <a:moveTo>
                    <a:pt x="16891" y="0"/>
                  </a:moveTo>
                  <a:lnTo>
                    <a:pt x="3674491" y="0"/>
                  </a:lnTo>
                  <a:cubicBezTo>
                    <a:pt x="3683889" y="0"/>
                    <a:pt x="3691382" y="7620"/>
                    <a:pt x="3691382" y="16891"/>
                  </a:cubicBezTo>
                  <a:lnTo>
                    <a:pt x="3691382" y="3308731"/>
                  </a:lnTo>
                  <a:cubicBezTo>
                    <a:pt x="3691382" y="3318129"/>
                    <a:pt x="3683762" y="3325622"/>
                    <a:pt x="36744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674491" y="3291840"/>
                  </a:lnTo>
                  <a:lnTo>
                    <a:pt x="3674491" y="3308731"/>
                  </a:lnTo>
                  <a:lnTo>
                    <a:pt x="3657600" y="3308731"/>
                  </a:lnTo>
                  <a:lnTo>
                    <a:pt x="3657600" y="16891"/>
                  </a:lnTo>
                  <a:lnTo>
                    <a:pt x="3674491" y="16891"/>
                  </a:lnTo>
                  <a:lnTo>
                    <a:pt x="3674491" y="33909"/>
                  </a:lnTo>
                  <a:lnTo>
                    <a:pt x="16891" y="33909"/>
                  </a:lnTo>
                  <a:close/>
                </a:path>
              </a:pathLst>
            </a:custGeom>
            <a:solidFill>
              <a:srgbClr val="5B9E3D"/>
            </a:solidFill>
          </p:spPr>
        </p:sp>
      </p:grpSp>
      <p:grpSp>
        <p:nvGrpSpPr>
          <p:cNvPr name="Group 20" id="20"/>
          <p:cNvGrpSpPr/>
          <p:nvPr/>
        </p:nvGrpSpPr>
        <p:grpSpPr>
          <a:xfrm rot="0">
            <a:off x="7040880" y="1975104"/>
            <a:ext cx="2560320" cy="2103120"/>
            <a:chOff x="0" y="0"/>
            <a:chExt cx="3413760" cy="2804160"/>
          </a:xfrm>
        </p:grpSpPr>
        <p:sp>
          <p:nvSpPr>
            <p:cNvPr name="Freeform 21" id="21"/>
            <p:cNvSpPr/>
            <p:nvPr/>
          </p:nvSpPr>
          <p:spPr>
            <a:xfrm flipH="false" flipV="false" rot="0">
              <a:off x="0" y="0"/>
              <a:ext cx="3413760" cy="2804160"/>
            </a:xfrm>
            <a:custGeom>
              <a:avLst/>
              <a:gdLst/>
              <a:ahLst/>
              <a:cxnLst/>
              <a:rect r="r" b="b" t="t" l="l"/>
              <a:pathLst>
                <a:path h="2804160" w="3413760">
                  <a:moveTo>
                    <a:pt x="0" y="0"/>
                  </a:moveTo>
                  <a:lnTo>
                    <a:pt x="3413760" y="0"/>
                  </a:lnTo>
                  <a:lnTo>
                    <a:pt x="3413760" y="2804160"/>
                  </a:lnTo>
                  <a:lnTo>
                    <a:pt x="0" y="2804160"/>
                  </a:lnTo>
                  <a:close/>
                </a:path>
              </a:pathLst>
            </a:custGeom>
            <a:blipFill>
              <a:blip r:embed="rId3">
                <a:alphaModFix amt="0"/>
              </a:blip>
              <a:stretch>
                <a:fillRect l="-55392" t="0" r="-55392" b="0"/>
              </a:stretch>
            </a:blipFill>
          </p:spPr>
        </p:sp>
        <p:sp>
          <p:nvSpPr>
            <p:cNvPr name="TextBox 22" id="22"/>
            <p:cNvSpPr txBox="true"/>
            <p:nvPr/>
          </p:nvSpPr>
          <p:spPr>
            <a:xfrm>
              <a:off x="0" y="-47625"/>
              <a:ext cx="3413760" cy="2851785"/>
            </a:xfrm>
            <a:prstGeom prst="rect">
              <a:avLst/>
            </a:prstGeom>
          </p:spPr>
          <p:txBody>
            <a:bodyPr anchor="ctr" rtlCol="false" tIns="0" lIns="0" bIns="0" rIns="0"/>
            <a:lstStyle/>
            <a:p>
              <a:pPr algn="ctr">
                <a:lnSpc>
                  <a:spcPts val="2999"/>
                </a:lnSpc>
              </a:pPr>
              <a:r>
                <a:rPr lang="en-US" sz="2499">
                  <a:solidFill>
                    <a:srgbClr val="FFFFFF"/>
                  </a:solidFill>
                  <a:latin typeface="Calibri (MS)"/>
                  <a:ea typeface="Calibri (MS)"/>
                  <a:cs typeface="Calibri (MS)"/>
                  <a:sym typeface="Calibri (MS)"/>
                </a:rPr>
                <a:t>Échantillon</a:t>
              </a:r>
            </a:p>
            <a:p>
              <a:pPr algn="ctr">
                <a:lnSpc>
                  <a:spcPts val="2999"/>
                </a:lnSpc>
              </a:pPr>
              <a:r>
                <a:rPr lang="en-US" sz="2499">
                  <a:solidFill>
                    <a:srgbClr val="FFFFFF"/>
                  </a:solidFill>
                  <a:latin typeface="Calibri (MS)"/>
                  <a:ea typeface="Calibri (MS)"/>
                  <a:cs typeface="Calibri (MS)"/>
                  <a:sym typeface="Calibri (MS)"/>
                </a:rPr>
                <a:t>Bootstrap </a:t>
              </a:r>
              <a:r>
                <a:rPr lang="en-US" sz="2499" b="true">
                  <a:solidFill>
                    <a:srgbClr val="FFFFFF"/>
                  </a:solidFill>
                  <a:latin typeface="Calibri (MS) Bold"/>
                  <a:ea typeface="Calibri (MS) Bold"/>
                  <a:cs typeface="Calibri (MS) Bold"/>
                  <a:sym typeface="Calibri (MS) Bold"/>
                </a:rPr>
                <a:t>B1</a:t>
              </a:r>
            </a:p>
            <a:p>
              <a:pPr algn="ctr">
                <a:lnSpc>
                  <a:spcPts val="2999"/>
                </a:lnSpc>
              </a:pPr>
              <a:r>
                <a:rPr lang="en-US" sz="2499">
                  <a:solidFill>
                    <a:srgbClr val="FFFFFF"/>
                  </a:solidFill>
                  <a:latin typeface="Calibri (MS)"/>
                  <a:ea typeface="Calibri (MS)"/>
                  <a:cs typeface="Calibri (MS)"/>
                  <a:sym typeface="Calibri (MS)"/>
                </a:rPr>
                <a:t>(~63% uniques)</a:t>
              </a:r>
            </a:p>
          </p:txBody>
        </p:sp>
      </p:grpSp>
      <p:grpSp>
        <p:nvGrpSpPr>
          <p:cNvPr name="Group 23" id="23"/>
          <p:cNvGrpSpPr/>
          <p:nvPr/>
        </p:nvGrpSpPr>
        <p:grpSpPr>
          <a:xfrm rot="0">
            <a:off x="10045703" y="1779527"/>
            <a:ext cx="2768603" cy="2494283"/>
            <a:chOff x="0" y="0"/>
            <a:chExt cx="3691471" cy="3325711"/>
          </a:xfrm>
        </p:grpSpPr>
        <p:sp>
          <p:nvSpPr>
            <p:cNvPr name="Freeform 24" id="24"/>
            <p:cNvSpPr/>
            <p:nvPr/>
          </p:nvSpPr>
          <p:spPr>
            <a:xfrm flipH="false" flipV="false" rot="0">
              <a:off x="16891" y="16891"/>
              <a:ext cx="3657600" cy="3291840"/>
            </a:xfrm>
            <a:custGeom>
              <a:avLst/>
              <a:gdLst/>
              <a:ahLst/>
              <a:cxnLst/>
              <a:rect r="r" b="b" t="t" l="l"/>
              <a:pathLst>
                <a:path h="3291840" w="3657600">
                  <a:moveTo>
                    <a:pt x="0" y="0"/>
                  </a:moveTo>
                  <a:lnTo>
                    <a:pt x="3657600" y="0"/>
                  </a:lnTo>
                  <a:lnTo>
                    <a:pt x="3657600" y="3291840"/>
                  </a:lnTo>
                  <a:lnTo>
                    <a:pt x="0" y="3291840"/>
                  </a:lnTo>
                  <a:close/>
                </a:path>
              </a:pathLst>
            </a:custGeom>
            <a:solidFill>
              <a:srgbClr val="5B9E3D"/>
            </a:solidFill>
          </p:spPr>
        </p:sp>
        <p:sp>
          <p:nvSpPr>
            <p:cNvPr name="Freeform 25" id="25"/>
            <p:cNvSpPr/>
            <p:nvPr/>
          </p:nvSpPr>
          <p:spPr>
            <a:xfrm flipH="false" flipV="false" rot="0">
              <a:off x="0" y="0"/>
              <a:ext cx="3691382" cy="3325622"/>
            </a:xfrm>
            <a:custGeom>
              <a:avLst/>
              <a:gdLst/>
              <a:ahLst/>
              <a:cxnLst/>
              <a:rect r="r" b="b" t="t" l="l"/>
              <a:pathLst>
                <a:path h="3325622" w="3691382">
                  <a:moveTo>
                    <a:pt x="16891" y="0"/>
                  </a:moveTo>
                  <a:lnTo>
                    <a:pt x="3674491" y="0"/>
                  </a:lnTo>
                  <a:cubicBezTo>
                    <a:pt x="3683889" y="0"/>
                    <a:pt x="3691382" y="7620"/>
                    <a:pt x="3691382" y="16891"/>
                  </a:cubicBezTo>
                  <a:lnTo>
                    <a:pt x="3691382" y="3308731"/>
                  </a:lnTo>
                  <a:cubicBezTo>
                    <a:pt x="3691382" y="3318129"/>
                    <a:pt x="3683762" y="3325622"/>
                    <a:pt x="36744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674491" y="3291840"/>
                  </a:lnTo>
                  <a:lnTo>
                    <a:pt x="3674491" y="3308731"/>
                  </a:lnTo>
                  <a:lnTo>
                    <a:pt x="3657600" y="3308731"/>
                  </a:lnTo>
                  <a:lnTo>
                    <a:pt x="3657600" y="16891"/>
                  </a:lnTo>
                  <a:lnTo>
                    <a:pt x="3674491" y="16891"/>
                  </a:lnTo>
                  <a:lnTo>
                    <a:pt x="3674491" y="33909"/>
                  </a:lnTo>
                  <a:lnTo>
                    <a:pt x="16891" y="33909"/>
                  </a:lnTo>
                  <a:close/>
                </a:path>
              </a:pathLst>
            </a:custGeom>
            <a:solidFill>
              <a:srgbClr val="5B9E3D"/>
            </a:solidFill>
          </p:spPr>
        </p:sp>
      </p:grpSp>
      <p:grpSp>
        <p:nvGrpSpPr>
          <p:cNvPr name="Group 26" id="26"/>
          <p:cNvGrpSpPr/>
          <p:nvPr/>
        </p:nvGrpSpPr>
        <p:grpSpPr>
          <a:xfrm rot="0">
            <a:off x="10149840" y="1975104"/>
            <a:ext cx="2560320" cy="2103120"/>
            <a:chOff x="0" y="0"/>
            <a:chExt cx="3413760" cy="2804160"/>
          </a:xfrm>
        </p:grpSpPr>
        <p:sp>
          <p:nvSpPr>
            <p:cNvPr name="Freeform 27" id="27"/>
            <p:cNvSpPr/>
            <p:nvPr/>
          </p:nvSpPr>
          <p:spPr>
            <a:xfrm flipH="false" flipV="false" rot="0">
              <a:off x="0" y="0"/>
              <a:ext cx="3413760" cy="2804160"/>
            </a:xfrm>
            <a:custGeom>
              <a:avLst/>
              <a:gdLst/>
              <a:ahLst/>
              <a:cxnLst/>
              <a:rect r="r" b="b" t="t" l="l"/>
              <a:pathLst>
                <a:path h="2804160" w="3413760">
                  <a:moveTo>
                    <a:pt x="0" y="0"/>
                  </a:moveTo>
                  <a:lnTo>
                    <a:pt x="3413760" y="0"/>
                  </a:lnTo>
                  <a:lnTo>
                    <a:pt x="3413760" y="2804160"/>
                  </a:lnTo>
                  <a:lnTo>
                    <a:pt x="0" y="2804160"/>
                  </a:lnTo>
                  <a:close/>
                </a:path>
              </a:pathLst>
            </a:custGeom>
            <a:blipFill>
              <a:blip r:embed="rId3">
                <a:alphaModFix amt="0"/>
              </a:blip>
              <a:stretch>
                <a:fillRect l="-55392" t="0" r="-55392" b="0"/>
              </a:stretch>
            </a:blipFill>
          </p:spPr>
        </p:sp>
        <p:sp>
          <p:nvSpPr>
            <p:cNvPr name="TextBox 28" id="28"/>
            <p:cNvSpPr txBox="true"/>
            <p:nvPr/>
          </p:nvSpPr>
          <p:spPr>
            <a:xfrm>
              <a:off x="0" y="-47625"/>
              <a:ext cx="3413760" cy="2851785"/>
            </a:xfrm>
            <a:prstGeom prst="rect">
              <a:avLst/>
            </a:prstGeom>
          </p:spPr>
          <p:txBody>
            <a:bodyPr anchor="ctr" rtlCol="false" tIns="0" lIns="0" bIns="0" rIns="0"/>
            <a:lstStyle/>
            <a:p>
              <a:pPr algn="ctr">
                <a:lnSpc>
                  <a:spcPts val="2999"/>
                </a:lnSpc>
              </a:pPr>
              <a:r>
                <a:rPr lang="en-US" sz="2499">
                  <a:solidFill>
                    <a:srgbClr val="FFFFFF"/>
                  </a:solidFill>
                  <a:latin typeface="Calibri (MS)"/>
                  <a:ea typeface="Calibri (MS)"/>
                  <a:cs typeface="Calibri (MS)"/>
                  <a:sym typeface="Calibri (MS)"/>
                </a:rPr>
                <a:t>Échantillon</a:t>
              </a:r>
            </a:p>
            <a:p>
              <a:pPr algn="ctr">
                <a:lnSpc>
                  <a:spcPts val="2999"/>
                </a:lnSpc>
              </a:pPr>
              <a:r>
                <a:rPr lang="en-US" sz="2499">
                  <a:solidFill>
                    <a:srgbClr val="FFFFFF"/>
                  </a:solidFill>
                  <a:latin typeface="Calibri (MS)"/>
                  <a:ea typeface="Calibri (MS)"/>
                  <a:cs typeface="Calibri (MS)"/>
                  <a:sym typeface="Calibri (MS)"/>
                </a:rPr>
                <a:t>Bootstrap </a:t>
              </a:r>
              <a:r>
                <a:rPr lang="en-US" sz="2499" b="true">
                  <a:solidFill>
                    <a:srgbClr val="FFFFFF"/>
                  </a:solidFill>
                  <a:latin typeface="Calibri (MS) Bold"/>
                  <a:ea typeface="Calibri (MS) Bold"/>
                  <a:cs typeface="Calibri (MS) Bold"/>
                  <a:sym typeface="Calibri (MS) Bold"/>
                </a:rPr>
                <a:t>B2</a:t>
              </a:r>
            </a:p>
            <a:p>
              <a:pPr algn="ctr">
                <a:lnSpc>
                  <a:spcPts val="2999"/>
                </a:lnSpc>
              </a:pPr>
              <a:r>
                <a:rPr lang="en-US" sz="2499">
                  <a:solidFill>
                    <a:srgbClr val="FFFFFF"/>
                  </a:solidFill>
                  <a:latin typeface="Calibri (MS)"/>
                  <a:ea typeface="Calibri (MS)"/>
                  <a:cs typeface="Calibri (MS)"/>
                  <a:sym typeface="Calibri (MS)"/>
                </a:rPr>
                <a:t>(~63% uniques)</a:t>
              </a:r>
            </a:p>
          </p:txBody>
        </p:sp>
      </p:grpSp>
      <p:grpSp>
        <p:nvGrpSpPr>
          <p:cNvPr name="Group 29" id="29"/>
          <p:cNvGrpSpPr/>
          <p:nvPr/>
        </p:nvGrpSpPr>
        <p:grpSpPr>
          <a:xfrm rot="0">
            <a:off x="13154663" y="1779527"/>
            <a:ext cx="2768603" cy="2494283"/>
            <a:chOff x="0" y="0"/>
            <a:chExt cx="3691471" cy="3325711"/>
          </a:xfrm>
        </p:grpSpPr>
        <p:sp>
          <p:nvSpPr>
            <p:cNvPr name="Freeform 30" id="30"/>
            <p:cNvSpPr/>
            <p:nvPr/>
          </p:nvSpPr>
          <p:spPr>
            <a:xfrm flipH="false" flipV="false" rot="0">
              <a:off x="16891" y="16891"/>
              <a:ext cx="3657600" cy="3291840"/>
            </a:xfrm>
            <a:custGeom>
              <a:avLst/>
              <a:gdLst/>
              <a:ahLst/>
              <a:cxnLst/>
              <a:rect r="r" b="b" t="t" l="l"/>
              <a:pathLst>
                <a:path h="3291840" w="3657600">
                  <a:moveTo>
                    <a:pt x="0" y="0"/>
                  </a:moveTo>
                  <a:lnTo>
                    <a:pt x="3657600" y="0"/>
                  </a:lnTo>
                  <a:lnTo>
                    <a:pt x="3657600" y="3291840"/>
                  </a:lnTo>
                  <a:lnTo>
                    <a:pt x="0" y="3291840"/>
                  </a:lnTo>
                  <a:close/>
                </a:path>
              </a:pathLst>
            </a:custGeom>
            <a:solidFill>
              <a:srgbClr val="5B9E3D"/>
            </a:solidFill>
          </p:spPr>
        </p:sp>
        <p:sp>
          <p:nvSpPr>
            <p:cNvPr name="Freeform 31" id="31"/>
            <p:cNvSpPr/>
            <p:nvPr/>
          </p:nvSpPr>
          <p:spPr>
            <a:xfrm flipH="false" flipV="false" rot="0">
              <a:off x="0" y="0"/>
              <a:ext cx="3691382" cy="3325622"/>
            </a:xfrm>
            <a:custGeom>
              <a:avLst/>
              <a:gdLst/>
              <a:ahLst/>
              <a:cxnLst/>
              <a:rect r="r" b="b" t="t" l="l"/>
              <a:pathLst>
                <a:path h="3325622" w="3691382">
                  <a:moveTo>
                    <a:pt x="16891" y="0"/>
                  </a:moveTo>
                  <a:lnTo>
                    <a:pt x="3674491" y="0"/>
                  </a:lnTo>
                  <a:cubicBezTo>
                    <a:pt x="3683889" y="0"/>
                    <a:pt x="3691382" y="7620"/>
                    <a:pt x="3691382" y="16891"/>
                  </a:cubicBezTo>
                  <a:lnTo>
                    <a:pt x="3691382" y="3308731"/>
                  </a:lnTo>
                  <a:cubicBezTo>
                    <a:pt x="3691382" y="3318129"/>
                    <a:pt x="3683762" y="3325622"/>
                    <a:pt x="3674491"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3674491" y="3291840"/>
                  </a:lnTo>
                  <a:lnTo>
                    <a:pt x="3674491" y="3308731"/>
                  </a:lnTo>
                  <a:lnTo>
                    <a:pt x="3657600" y="3308731"/>
                  </a:lnTo>
                  <a:lnTo>
                    <a:pt x="3657600" y="16891"/>
                  </a:lnTo>
                  <a:lnTo>
                    <a:pt x="3674491" y="16891"/>
                  </a:lnTo>
                  <a:lnTo>
                    <a:pt x="3674491" y="33909"/>
                  </a:lnTo>
                  <a:lnTo>
                    <a:pt x="16891" y="33909"/>
                  </a:lnTo>
                  <a:close/>
                </a:path>
              </a:pathLst>
            </a:custGeom>
            <a:solidFill>
              <a:srgbClr val="5B9E3D"/>
            </a:solidFill>
          </p:spPr>
        </p:sp>
      </p:grpSp>
      <p:grpSp>
        <p:nvGrpSpPr>
          <p:cNvPr name="Group 32" id="32"/>
          <p:cNvGrpSpPr/>
          <p:nvPr/>
        </p:nvGrpSpPr>
        <p:grpSpPr>
          <a:xfrm rot="0">
            <a:off x="13258800" y="1975104"/>
            <a:ext cx="2560320" cy="2103120"/>
            <a:chOff x="0" y="0"/>
            <a:chExt cx="3413760" cy="2804160"/>
          </a:xfrm>
        </p:grpSpPr>
        <p:sp>
          <p:nvSpPr>
            <p:cNvPr name="Freeform 33" id="33"/>
            <p:cNvSpPr/>
            <p:nvPr/>
          </p:nvSpPr>
          <p:spPr>
            <a:xfrm flipH="false" flipV="false" rot="0">
              <a:off x="0" y="0"/>
              <a:ext cx="3413760" cy="2804160"/>
            </a:xfrm>
            <a:custGeom>
              <a:avLst/>
              <a:gdLst/>
              <a:ahLst/>
              <a:cxnLst/>
              <a:rect r="r" b="b" t="t" l="l"/>
              <a:pathLst>
                <a:path h="2804160" w="3413760">
                  <a:moveTo>
                    <a:pt x="0" y="0"/>
                  </a:moveTo>
                  <a:lnTo>
                    <a:pt x="3413760" y="0"/>
                  </a:lnTo>
                  <a:lnTo>
                    <a:pt x="3413760" y="2804160"/>
                  </a:lnTo>
                  <a:lnTo>
                    <a:pt x="0" y="2804160"/>
                  </a:lnTo>
                  <a:close/>
                </a:path>
              </a:pathLst>
            </a:custGeom>
            <a:blipFill>
              <a:blip r:embed="rId3">
                <a:alphaModFix amt="0"/>
              </a:blip>
              <a:stretch>
                <a:fillRect l="-55392" t="0" r="-55392" b="0"/>
              </a:stretch>
            </a:blipFill>
          </p:spPr>
        </p:sp>
        <p:sp>
          <p:nvSpPr>
            <p:cNvPr name="TextBox 34" id="34"/>
            <p:cNvSpPr txBox="true"/>
            <p:nvPr/>
          </p:nvSpPr>
          <p:spPr>
            <a:xfrm>
              <a:off x="0" y="-47625"/>
              <a:ext cx="3413760" cy="2851785"/>
            </a:xfrm>
            <a:prstGeom prst="rect">
              <a:avLst/>
            </a:prstGeom>
          </p:spPr>
          <p:txBody>
            <a:bodyPr anchor="ctr" rtlCol="false" tIns="0" lIns="0" bIns="0" rIns="0"/>
            <a:lstStyle/>
            <a:p>
              <a:pPr algn="ctr">
                <a:lnSpc>
                  <a:spcPts val="2999"/>
                </a:lnSpc>
              </a:pPr>
              <a:r>
                <a:rPr lang="en-US" sz="2499">
                  <a:solidFill>
                    <a:srgbClr val="FFFFFF"/>
                  </a:solidFill>
                  <a:latin typeface="Calibri (MS)"/>
                  <a:ea typeface="Calibri (MS)"/>
                  <a:cs typeface="Calibri (MS)"/>
                  <a:sym typeface="Calibri (MS)"/>
                </a:rPr>
                <a:t>Échantillon</a:t>
              </a:r>
            </a:p>
            <a:p>
              <a:pPr algn="ctr">
                <a:lnSpc>
                  <a:spcPts val="2999"/>
                </a:lnSpc>
              </a:pPr>
              <a:r>
                <a:rPr lang="en-US" sz="2499">
                  <a:solidFill>
                    <a:srgbClr val="FFFFFF"/>
                  </a:solidFill>
                  <a:latin typeface="Calibri (MS)"/>
                  <a:ea typeface="Calibri (MS)"/>
                  <a:cs typeface="Calibri (MS)"/>
                  <a:sym typeface="Calibri (MS)"/>
                </a:rPr>
                <a:t>Bootstrap </a:t>
              </a:r>
              <a:r>
                <a:rPr lang="en-US" sz="2499" b="true">
                  <a:solidFill>
                    <a:srgbClr val="FFFFFF"/>
                  </a:solidFill>
                  <a:latin typeface="Calibri (MS) Bold"/>
                  <a:ea typeface="Calibri (MS) Bold"/>
                  <a:cs typeface="Calibri (MS) Bold"/>
                  <a:sym typeface="Calibri (MS) Bold"/>
                </a:rPr>
                <a:t>B3</a:t>
              </a:r>
            </a:p>
            <a:p>
              <a:pPr algn="ctr">
                <a:lnSpc>
                  <a:spcPts val="2999"/>
                </a:lnSpc>
              </a:pPr>
              <a:r>
                <a:rPr lang="en-US" sz="2499">
                  <a:solidFill>
                    <a:srgbClr val="FFFFFF"/>
                  </a:solidFill>
                  <a:latin typeface="Calibri (MS)"/>
                  <a:ea typeface="Calibri (MS)"/>
                  <a:cs typeface="Calibri (MS)"/>
                  <a:sym typeface="Calibri (MS)"/>
                </a:rPr>
                <a:t>(~63% uniques)</a:t>
              </a:r>
            </a:p>
          </p:txBody>
        </p:sp>
      </p:grpSp>
      <p:grpSp>
        <p:nvGrpSpPr>
          <p:cNvPr name="Group 35" id="35"/>
          <p:cNvGrpSpPr/>
          <p:nvPr/>
        </p:nvGrpSpPr>
        <p:grpSpPr>
          <a:xfrm rot="0">
            <a:off x="8216903" y="4284983"/>
            <a:ext cx="171707" cy="848363"/>
            <a:chOff x="0" y="0"/>
            <a:chExt cx="228943" cy="1131151"/>
          </a:xfrm>
        </p:grpSpPr>
        <p:sp>
          <p:nvSpPr>
            <p:cNvPr name="Freeform 36" id="36"/>
            <p:cNvSpPr/>
            <p:nvPr/>
          </p:nvSpPr>
          <p:spPr>
            <a:xfrm flipH="false" flipV="false" rot="0">
              <a:off x="16891" y="16891"/>
              <a:ext cx="195072" cy="1097280"/>
            </a:xfrm>
            <a:custGeom>
              <a:avLst/>
              <a:gdLst/>
              <a:ahLst/>
              <a:cxnLst/>
              <a:rect r="r" b="b" t="t" l="l"/>
              <a:pathLst>
                <a:path h="1097280" w="195072">
                  <a:moveTo>
                    <a:pt x="0" y="0"/>
                  </a:moveTo>
                  <a:lnTo>
                    <a:pt x="195072" y="0"/>
                  </a:lnTo>
                  <a:lnTo>
                    <a:pt x="195072" y="1097280"/>
                  </a:lnTo>
                  <a:lnTo>
                    <a:pt x="0" y="1097280"/>
                  </a:lnTo>
                  <a:close/>
                </a:path>
              </a:pathLst>
            </a:custGeom>
            <a:solidFill>
              <a:srgbClr val="5A7A5A"/>
            </a:solidFill>
          </p:spPr>
        </p:sp>
        <p:sp>
          <p:nvSpPr>
            <p:cNvPr name="Freeform 37" id="37"/>
            <p:cNvSpPr/>
            <p:nvPr/>
          </p:nvSpPr>
          <p:spPr>
            <a:xfrm flipH="false" flipV="false" rot="0">
              <a:off x="0" y="0"/>
              <a:ext cx="228854" cy="1131064"/>
            </a:xfrm>
            <a:custGeom>
              <a:avLst/>
              <a:gdLst/>
              <a:ahLst/>
              <a:cxnLst/>
              <a:rect r="r" b="b" t="t" l="l"/>
              <a:pathLst>
                <a:path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5A7A5A"/>
            </a:solidFill>
          </p:spPr>
        </p:sp>
      </p:grpSp>
      <p:grpSp>
        <p:nvGrpSpPr>
          <p:cNvPr name="Group 38" id="38"/>
          <p:cNvGrpSpPr/>
          <p:nvPr/>
        </p:nvGrpSpPr>
        <p:grpSpPr>
          <a:xfrm rot="0">
            <a:off x="11325863" y="4284983"/>
            <a:ext cx="171707" cy="848363"/>
            <a:chOff x="0" y="0"/>
            <a:chExt cx="228943" cy="1131151"/>
          </a:xfrm>
        </p:grpSpPr>
        <p:sp>
          <p:nvSpPr>
            <p:cNvPr name="Freeform 39" id="39"/>
            <p:cNvSpPr/>
            <p:nvPr/>
          </p:nvSpPr>
          <p:spPr>
            <a:xfrm flipH="false" flipV="false" rot="0">
              <a:off x="16891" y="16891"/>
              <a:ext cx="195072" cy="1097280"/>
            </a:xfrm>
            <a:custGeom>
              <a:avLst/>
              <a:gdLst/>
              <a:ahLst/>
              <a:cxnLst/>
              <a:rect r="r" b="b" t="t" l="l"/>
              <a:pathLst>
                <a:path h="1097280" w="195072">
                  <a:moveTo>
                    <a:pt x="0" y="0"/>
                  </a:moveTo>
                  <a:lnTo>
                    <a:pt x="195072" y="0"/>
                  </a:lnTo>
                  <a:lnTo>
                    <a:pt x="195072" y="1097280"/>
                  </a:lnTo>
                  <a:lnTo>
                    <a:pt x="0" y="1097280"/>
                  </a:lnTo>
                  <a:close/>
                </a:path>
              </a:pathLst>
            </a:custGeom>
            <a:solidFill>
              <a:srgbClr val="5A7A5A"/>
            </a:solidFill>
          </p:spPr>
        </p:sp>
        <p:sp>
          <p:nvSpPr>
            <p:cNvPr name="Freeform 40" id="40"/>
            <p:cNvSpPr/>
            <p:nvPr/>
          </p:nvSpPr>
          <p:spPr>
            <a:xfrm flipH="false" flipV="false" rot="0">
              <a:off x="0" y="0"/>
              <a:ext cx="228854" cy="1131064"/>
            </a:xfrm>
            <a:custGeom>
              <a:avLst/>
              <a:gdLst/>
              <a:ahLst/>
              <a:cxnLst/>
              <a:rect r="r" b="b" t="t" l="l"/>
              <a:pathLst>
                <a:path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5A7A5A"/>
            </a:solidFill>
          </p:spPr>
        </p:sp>
      </p:grpSp>
      <p:grpSp>
        <p:nvGrpSpPr>
          <p:cNvPr name="Group 41" id="41"/>
          <p:cNvGrpSpPr/>
          <p:nvPr/>
        </p:nvGrpSpPr>
        <p:grpSpPr>
          <a:xfrm rot="0">
            <a:off x="14434823" y="4284983"/>
            <a:ext cx="171707" cy="848363"/>
            <a:chOff x="0" y="0"/>
            <a:chExt cx="228943" cy="1131151"/>
          </a:xfrm>
        </p:grpSpPr>
        <p:sp>
          <p:nvSpPr>
            <p:cNvPr name="Freeform 42" id="42"/>
            <p:cNvSpPr/>
            <p:nvPr/>
          </p:nvSpPr>
          <p:spPr>
            <a:xfrm flipH="false" flipV="false" rot="0">
              <a:off x="16891" y="16891"/>
              <a:ext cx="195072" cy="1097280"/>
            </a:xfrm>
            <a:custGeom>
              <a:avLst/>
              <a:gdLst/>
              <a:ahLst/>
              <a:cxnLst/>
              <a:rect r="r" b="b" t="t" l="l"/>
              <a:pathLst>
                <a:path h="1097280" w="195072">
                  <a:moveTo>
                    <a:pt x="0" y="0"/>
                  </a:moveTo>
                  <a:lnTo>
                    <a:pt x="195072" y="0"/>
                  </a:lnTo>
                  <a:lnTo>
                    <a:pt x="195072" y="1097280"/>
                  </a:lnTo>
                  <a:lnTo>
                    <a:pt x="0" y="1097280"/>
                  </a:lnTo>
                  <a:close/>
                </a:path>
              </a:pathLst>
            </a:custGeom>
            <a:solidFill>
              <a:srgbClr val="5A7A5A"/>
            </a:solidFill>
          </p:spPr>
        </p:sp>
        <p:sp>
          <p:nvSpPr>
            <p:cNvPr name="Freeform 43" id="43"/>
            <p:cNvSpPr/>
            <p:nvPr/>
          </p:nvSpPr>
          <p:spPr>
            <a:xfrm flipH="false" flipV="false" rot="0">
              <a:off x="0" y="0"/>
              <a:ext cx="228854" cy="1131064"/>
            </a:xfrm>
            <a:custGeom>
              <a:avLst/>
              <a:gdLst/>
              <a:ahLst/>
              <a:cxnLst/>
              <a:rect r="r" b="b" t="t" l="l"/>
              <a:pathLst>
                <a:path h="1131064" w="228854">
                  <a:moveTo>
                    <a:pt x="16891" y="0"/>
                  </a:moveTo>
                  <a:lnTo>
                    <a:pt x="211963" y="0"/>
                  </a:lnTo>
                  <a:cubicBezTo>
                    <a:pt x="221361" y="0"/>
                    <a:pt x="228854" y="7620"/>
                    <a:pt x="228854" y="16891"/>
                  </a:cubicBezTo>
                  <a:lnTo>
                    <a:pt x="228854" y="1114171"/>
                  </a:lnTo>
                  <a:cubicBezTo>
                    <a:pt x="228854" y="1123569"/>
                    <a:pt x="221234" y="1131062"/>
                    <a:pt x="211963"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211963" y="1097280"/>
                  </a:lnTo>
                  <a:lnTo>
                    <a:pt x="211963" y="1114171"/>
                  </a:lnTo>
                  <a:lnTo>
                    <a:pt x="195072" y="1114171"/>
                  </a:lnTo>
                  <a:lnTo>
                    <a:pt x="195072" y="16891"/>
                  </a:lnTo>
                  <a:lnTo>
                    <a:pt x="211963" y="16891"/>
                  </a:lnTo>
                  <a:lnTo>
                    <a:pt x="211963" y="33909"/>
                  </a:lnTo>
                  <a:lnTo>
                    <a:pt x="16891" y="33909"/>
                  </a:lnTo>
                  <a:close/>
                </a:path>
              </a:pathLst>
            </a:custGeom>
            <a:solidFill>
              <a:srgbClr val="5A7A5A"/>
            </a:solidFill>
          </p:spPr>
        </p:sp>
      </p:grpSp>
      <p:grpSp>
        <p:nvGrpSpPr>
          <p:cNvPr name="Group 44" id="44"/>
          <p:cNvGrpSpPr/>
          <p:nvPr/>
        </p:nvGrpSpPr>
        <p:grpSpPr>
          <a:xfrm rot="0">
            <a:off x="6936743" y="5144519"/>
            <a:ext cx="2768603" cy="1488443"/>
            <a:chOff x="0" y="0"/>
            <a:chExt cx="3691471" cy="1984591"/>
          </a:xfrm>
        </p:grpSpPr>
        <p:sp>
          <p:nvSpPr>
            <p:cNvPr name="Freeform 45" id="45"/>
            <p:cNvSpPr/>
            <p:nvPr/>
          </p:nvSpPr>
          <p:spPr>
            <a:xfrm flipH="false" flipV="false" rot="0">
              <a:off x="16891" y="16891"/>
              <a:ext cx="3657600" cy="1950720"/>
            </a:xfrm>
            <a:custGeom>
              <a:avLst/>
              <a:gdLst/>
              <a:ahLst/>
              <a:cxnLst/>
              <a:rect r="r" b="b" t="t" l="l"/>
              <a:pathLst>
                <a:path h="1950720" w="3657600">
                  <a:moveTo>
                    <a:pt x="0" y="0"/>
                  </a:moveTo>
                  <a:lnTo>
                    <a:pt x="3657600" y="0"/>
                  </a:lnTo>
                  <a:lnTo>
                    <a:pt x="3657600" y="1950720"/>
                  </a:lnTo>
                  <a:lnTo>
                    <a:pt x="0" y="1950720"/>
                  </a:lnTo>
                  <a:close/>
                </a:path>
              </a:pathLst>
            </a:custGeom>
            <a:solidFill>
              <a:srgbClr val="3A7BD5"/>
            </a:solidFill>
          </p:spPr>
        </p:sp>
        <p:sp>
          <p:nvSpPr>
            <p:cNvPr name="Freeform 46" id="46"/>
            <p:cNvSpPr/>
            <p:nvPr/>
          </p:nvSpPr>
          <p:spPr>
            <a:xfrm flipH="false" flipV="false" rot="0">
              <a:off x="0" y="0"/>
              <a:ext cx="3691382" cy="1984502"/>
            </a:xfrm>
            <a:custGeom>
              <a:avLst/>
              <a:gdLst/>
              <a:ahLst/>
              <a:cxnLst/>
              <a:rect r="r" b="b" t="t" l="l"/>
              <a:pathLst>
                <a:path h="1984502" w="3691382">
                  <a:moveTo>
                    <a:pt x="16891" y="0"/>
                  </a:moveTo>
                  <a:lnTo>
                    <a:pt x="3674491" y="0"/>
                  </a:lnTo>
                  <a:cubicBezTo>
                    <a:pt x="3683889" y="0"/>
                    <a:pt x="3691382" y="7620"/>
                    <a:pt x="3691382" y="16891"/>
                  </a:cubicBezTo>
                  <a:lnTo>
                    <a:pt x="3691382" y="1967611"/>
                  </a:lnTo>
                  <a:cubicBezTo>
                    <a:pt x="3691382" y="1977009"/>
                    <a:pt x="3683762" y="1984502"/>
                    <a:pt x="367449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3674491" y="1950720"/>
                  </a:lnTo>
                  <a:lnTo>
                    <a:pt x="3674491" y="1967611"/>
                  </a:lnTo>
                  <a:lnTo>
                    <a:pt x="3657600" y="1967611"/>
                  </a:lnTo>
                  <a:lnTo>
                    <a:pt x="3657600" y="16891"/>
                  </a:lnTo>
                  <a:lnTo>
                    <a:pt x="3674491" y="16891"/>
                  </a:lnTo>
                  <a:lnTo>
                    <a:pt x="3674491" y="33909"/>
                  </a:lnTo>
                  <a:lnTo>
                    <a:pt x="16891" y="33909"/>
                  </a:lnTo>
                  <a:close/>
                </a:path>
              </a:pathLst>
            </a:custGeom>
            <a:solidFill>
              <a:srgbClr val="3A7BD5"/>
            </a:solidFill>
          </p:spPr>
        </p:sp>
      </p:grpSp>
      <p:grpSp>
        <p:nvGrpSpPr>
          <p:cNvPr name="Group 47" id="47"/>
          <p:cNvGrpSpPr/>
          <p:nvPr/>
        </p:nvGrpSpPr>
        <p:grpSpPr>
          <a:xfrm rot="0">
            <a:off x="7040880" y="5212080"/>
            <a:ext cx="2560320" cy="1280160"/>
            <a:chOff x="0" y="0"/>
            <a:chExt cx="3413760" cy="1706880"/>
          </a:xfrm>
        </p:grpSpPr>
        <p:sp>
          <p:nvSpPr>
            <p:cNvPr name="Freeform 48" id="48"/>
            <p:cNvSpPr/>
            <p:nvPr/>
          </p:nvSpPr>
          <p:spPr>
            <a:xfrm flipH="false" flipV="false" rot="0">
              <a:off x="0" y="0"/>
              <a:ext cx="3413760" cy="1706880"/>
            </a:xfrm>
            <a:custGeom>
              <a:avLst/>
              <a:gdLst/>
              <a:ahLst/>
              <a:cxnLst/>
              <a:rect r="r" b="b" t="t" l="l"/>
              <a:pathLst>
                <a:path h="1706880" w="3413760">
                  <a:moveTo>
                    <a:pt x="0" y="0"/>
                  </a:moveTo>
                  <a:lnTo>
                    <a:pt x="3413760" y="0"/>
                  </a:lnTo>
                  <a:lnTo>
                    <a:pt x="3413760" y="1706880"/>
                  </a:lnTo>
                  <a:lnTo>
                    <a:pt x="0" y="1706880"/>
                  </a:lnTo>
                  <a:close/>
                </a:path>
              </a:pathLst>
            </a:custGeom>
            <a:blipFill>
              <a:blip r:embed="rId3">
                <a:alphaModFix amt="0"/>
              </a:blip>
              <a:stretch>
                <a:fillRect l="-14151" t="0" r="-14151" b="0"/>
              </a:stretch>
            </a:blipFill>
          </p:spPr>
        </p:sp>
        <p:sp>
          <p:nvSpPr>
            <p:cNvPr name="TextBox 49" id="49"/>
            <p:cNvSpPr txBox="true"/>
            <p:nvPr/>
          </p:nvSpPr>
          <p:spPr>
            <a:xfrm>
              <a:off x="0" y="-47625"/>
              <a:ext cx="3413760" cy="17545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Arbre T1</a:t>
              </a:r>
            </a:p>
          </p:txBody>
        </p:sp>
      </p:grpSp>
      <p:grpSp>
        <p:nvGrpSpPr>
          <p:cNvPr name="Group 50" id="50"/>
          <p:cNvGrpSpPr/>
          <p:nvPr/>
        </p:nvGrpSpPr>
        <p:grpSpPr>
          <a:xfrm rot="0">
            <a:off x="10045703" y="5144519"/>
            <a:ext cx="2768603" cy="1488443"/>
            <a:chOff x="0" y="0"/>
            <a:chExt cx="3691471" cy="1984591"/>
          </a:xfrm>
        </p:grpSpPr>
        <p:sp>
          <p:nvSpPr>
            <p:cNvPr name="Freeform 51" id="51"/>
            <p:cNvSpPr/>
            <p:nvPr/>
          </p:nvSpPr>
          <p:spPr>
            <a:xfrm flipH="false" flipV="false" rot="0">
              <a:off x="16891" y="16891"/>
              <a:ext cx="3657600" cy="1950720"/>
            </a:xfrm>
            <a:custGeom>
              <a:avLst/>
              <a:gdLst/>
              <a:ahLst/>
              <a:cxnLst/>
              <a:rect r="r" b="b" t="t" l="l"/>
              <a:pathLst>
                <a:path h="1950720" w="3657600">
                  <a:moveTo>
                    <a:pt x="0" y="0"/>
                  </a:moveTo>
                  <a:lnTo>
                    <a:pt x="3657600" y="0"/>
                  </a:lnTo>
                  <a:lnTo>
                    <a:pt x="3657600" y="1950720"/>
                  </a:lnTo>
                  <a:lnTo>
                    <a:pt x="0" y="1950720"/>
                  </a:lnTo>
                  <a:close/>
                </a:path>
              </a:pathLst>
            </a:custGeom>
            <a:solidFill>
              <a:srgbClr val="3A7BD5"/>
            </a:solidFill>
          </p:spPr>
        </p:sp>
        <p:sp>
          <p:nvSpPr>
            <p:cNvPr name="Freeform 52" id="52"/>
            <p:cNvSpPr/>
            <p:nvPr/>
          </p:nvSpPr>
          <p:spPr>
            <a:xfrm flipH="false" flipV="false" rot="0">
              <a:off x="0" y="0"/>
              <a:ext cx="3691382" cy="1984502"/>
            </a:xfrm>
            <a:custGeom>
              <a:avLst/>
              <a:gdLst/>
              <a:ahLst/>
              <a:cxnLst/>
              <a:rect r="r" b="b" t="t" l="l"/>
              <a:pathLst>
                <a:path h="1984502" w="3691382">
                  <a:moveTo>
                    <a:pt x="16891" y="0"/>
                  </a:moveTo>
                  <a:lnTo>
                    <a:pt x="3674491" y="0"/>
                  </a:lnTo>
                  <a:cubicBezTo>
                    <a:pt x="3683889" y="0"/>
                    <a:pt x="3691382" y="7620"/>
                    <a:pt x="3691382" y="16891"/>
                  </a:cubicBezTo>
                  <a:lnTo>
                    <a:pt x="3691382" y="1967611"/>
                  </a:lnTo>
                  <a:cubicBezTo>
                    <a:pt x="3691382" y="1977009"/>
                    <a:pt x="3683762" y="1984502"/>
                    <a:pt x="367449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3674491" y="1950720"/>
                  </a:lnTo>
                  <a:lnTo>
                    <a:pt x="3674491" y="1967611"/>
                  </a:lnTo>
                  <a:lnTo>
                    <a:pt x="3657600" y="1967611"/>
                  </a:lnTo>
                  <a:lnTo>
                    <a:pt x="3657600" y="16891"/>
                  </a:lnTo>
                  <a:lnTo>
                    <a:pt x="3674491" y="16891"/>
                  </a:lnTo>
                  <a:lnTo>
                    <a:pt x="3674491" y="33909"/>
                  </a:lnTo>
                  <a:lnTo>
                    <a:pt x="16891" y="33909"/>
                  </a:lnTo>
                  <a:close/>
                </a:path>
              </a:pathLst>
            </a:custGeom>
            <a:solidFill>
              <a:srgbClr val="3A7BD5"/>
            </a:solidFill>
          </p:spPr>
        </p:sp>
      </p:grpSp>
      <p:grpSp>
        <p:nvGrpSpPr>
          <p:cNvPr name="Group 53" id="53"/>
          <p:cNvGrpSpPr/>
          <p:nvPr/>
        </p:nvGrpSpPr>
        <p:grpSpPr>
          <a:xfrm rot="0">
            <a:off x="10149840" y="5212080"/>
            <a:ext cx="2560320" cy="1280160"/>
            <a:chOff x="0" y="0"/>
            <a:chExt cx="3413760" cy="1706880"/>
          </a:xfrm>
        </p:grpSpPr>
        <p:sp>
          <p:nvSpPr>
            <p:cNvPr name="Freeform 54" id="54"/>
            <p:cNvSpPr/>
            <p:nvPr/>
          </p:nvSpPr>
          <p:spPr>
            <a:xfrm flipH="false" flipV="false" rot="0">
              <a:off x="0" y="0"/>
              <a:ext cx="3413760" cy="1706880"/>
            </a:xfrm>
            <a:custGeom>
              <a:avLst/>
              <a:gdLst/>
              <a:ahLst/>
              <a:cxnLst/>
              <a:rect r="r" b="b" t="t" l="l"/>
              <a:pathLst>
                <a:path h="1706880" w="3413760">
                  <a:moveTo>
                    <a:pt x="0" y="0"/>
                  </a:moveTo>
                  <a:lnTo>
                    <a:pt x="3413760" y="0"/>
                  </a:lnTo>
                  <a:lnTo>
                    <a:pt x="3413760" y="1706880"/>
                  </a:lnTo>
                  <a:lnTo>
                    <a:pt x="0" y="1706880"/>
                  </a:lnTo>
                  <a:close/>
                </a:path>
              </a:pathLst>
            </a:custGeom>
            <a:blipFill>
              <a:blip r:embed="rId3">
                <a:alphaModFix amt="0"/>
              </a:blip>
              <a:stretch>
                <a:fillRect l="-14151" t="0" r="-14151" b="0"/>
              </a:stretch>
            </a:blipFill>
          </p:spPr>
        </p:sp>
        <p:sp>
          <p:nvSpPr>
            <p:cNvPr name="TextBox 55" id="55"/>
            <p:cNvSpPr txBox="true"/>
            <p:nvPr/>
          </p:nvSpPr>
          <p:spPr>
            <a:xfrm>
              <a:off x="0" y="-47625"/>
              <a:ext cx="3413760" cy="17545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Arbre T2</a:t>
              </a:r>
            </a:p>
          </p:txBody>
        </p:sp>
      </p:grpSp>
      <p:grpSp>
        <p:nvGrpSpPr>
          <p:cNvPr name="Group 56" id="56"/>
          <p:cNvGrpSpPr/>
          <p:nvPr/>
        </p:nvGrpSpPr>
        <p:grpSpPr>
          <a:xfrm rot="0">
            <a:off x="13154663" y="5144519"/>
            <a:ext cx="2768603" cy="1488443"/>
            <a:chOff x="0" y="0"/>
            <a:chExt cx="3691471" cy="1984591"/>
          </a:xfrm>
        </p:grpSpPr>
        <p:sp>
          <p:nvSpPr>
            <p:cNvPr name="Freeform 57" id="57"/>
            <p:cNvSpPr/>
            <p:nvPr/>
          </p:nvSpPr>
          <p:spPr>
            <a:xfrm flipH="false" flipV="false" rot="0">
              <a:off x="16891" y="16891"/>
              <a:ext cx="3657600" cy="1950720"/>
            </a:xfrm>
            <a:custGeom>
              <a:avLst/>
              <a:gdLst/>
              <a:ahLst/>
              <a:cxnLst/>
              <a:rect r="r" b="b" t="t" l="l"/>
              <a:pathLst>
                <a:path h="1950720" w="3657600">
                  <a:moveTo>
                    <a:pt x="0" y="0"/>
                  </a:moveTo>
                  <a:lnTo>
                    <a:pt x="3657600" y="0"/>
                  </a:lnTo>
                  <a:lnTo>
                    <a:pt x="3657600" y="1950720"/>
                  </a:lnTo>
                  <a:lnTo>
                    <a:pt x="0" y="1950720"/>
                  </a:lnTo>
                  <a:close/>
                </a:path>
              </a:pathLst>
            </a:custGeom>
            <a:solidFill>
              <a:srgbClr val="3A7BD5"/>
            </a:solidFill>
          </p:spPr>
        </p:sp>
        <p:sp>
          <p:nvSpPr>
            <p:cNvPr name="Freeform 58" id="58"/>
            <p:cNvSpPr/>
            <p:nvPr/>
          </p:nvSpPr>
          <p:spPr>
            <a:xfrm flipH="false" flipV="false" rot="0">
              <a:off x="0" y="0"/>
              <a:ext cx="3691382" cy="1984502"/>
            </a:xfrm>
            <a:custGeom>
              <a:avLst/>
              <a:gdLst/>
              <a:ahLst/>
              <a:cxnLst/>
              <a:rect r="r" b="b" t="t" l="l"/>
              <a:pathLst>
                <a:path h="1984502" w="3691382">
                  <a:moveTo>
                    <a:pt x="16891" y="0"/>
                  </a:moveTo>
                  <a:lnTo>
                    <a:pt x="3674491" y="0"/>
                  </a:lnTo>
                  <a:cubicBezTo>
                    <a:pt x="3683889" y="0"/>
                    <a:pt x="3691382" y="7620"/>
                    <a:pt x="3691382" y="16891"/>
                  </a:cubicBezTo>
                  <a:lnTo>
                    <a:pt x="3691382" y="1967611"/>
                  </a:lnTo>
                  <a:cubicBezTo>
                    <a:pt x="3691382" y="1977009"/>
                    <a:pt x="3683762" y="1984502"/>
                    <a:pt x="3674491" y="1984502"/>
                  </a:cubicBezTo>
                  <a:lnTo>
                    <a:pt x="16891" y="1984502"/>
                  </a:lnTo>
                  <a:cubicBezTo>
                    <a:pt x="7493" y="1984502"/>
                    <a:pt x="0" y="1976882"/>
                    <a:pt x="0" y="1967611"/>
                  </a:cubicBezTo>
                  <a:lnTo>
                    <a:pt x="0" y="16891"/>
                  </a:lnTo>
                  <a:cubicBezTo>
                    <a:pt x="0" y="7620"/>
                    <a:pt x="7620" y="0"/>
                    <a:pt x="16891" y="0"/>
                  </a:cubicBezTo>
                  <a:moveTo>
                    <a:pt x="16891" y="33909"/>
                  </a:moveTo>
                  <a:lnTo>
                    <a:pt x="16891" y="16891"/>
                  </a:lnTo>
                  <a:lnTo>
                    <a:pt x="33909" y="16891"/>
                  </a:lnTo>
                  <a:lnTo>
                    <a:pt x="33909" y="1967611"/>
                  </a:lnTo>
                  <a:lnTo>
                    <a:pt x="16891" y="1967611"/>
                  </a:lnTo>
                  <a:lnTo>
                    <a:pt x="16891" y="1950720"/>
                  </a:lnTo>
                  <a:lnTo>
                    <a:pt x="3674491" y="1950720"/>
                  </a:lnTo>
                  <a:lnTo>
                    <a:pt x="3674491" y="1967611"/>
                  </a:lnTo>
                  <a:lnTo>
                    <a:pt x="3657600" y="1967611"/>
                  </a:lnTo>
                  <a:lnTo>
                    <a:pt x="3657600" y="16891"/>
                  </a:lnTo>
                  <a:lnTo>
                    <a:pt x="3674491" y="16891"/>
                  </a:lnTo>
                  <a:lnTo>
                    <a:pt x="3674491" y="33909"/>
                  </a:lnTo>
                  <a:lnTo>
                    <a:pt x="16891" y="33909"/>
                  </a:lnTo>
                  <a:close/>
                </a:path>
              </a:pathLst>
            </a:custGeom>
            <a:solidFill>
              <a:srgbClr val="3A7BD5"/>
            </a:solidFill>
          </p:spPr>
        </p:sp>
      </p:grpSp>
      <p:grpSp>
        <p:nvGrpSpPr>
          <p:cNvPr name="Group 59" id="59"/>
          <p:cNvGrpSpPr/>
          <p:nvPr/>
        </p:nvGrpSpPr>
        <p:grpSpPr>
          <a:xfrm rot="0">
            <a:off x="13258800" y="5212080"/>
            <a:ext cx="2560320" cy="1280160"/>
            <a:chOff x="0" y="0"/>
            <a:chExt cx="3413760" cy="1706880"/>
          </a:xfrm>
        </p:grpSpPr>
        <p:sp>
          <p:nvSpPr>
            <p:cNvPr name="Freeform 60" id="60"/>
            <p:cNvSpPr/>
            <p:nvPr/>
          </p:nvSpPr>
          <p:spPr>
            <a:xfrm flipH="false" flipV="false" rot="0">
              <a:off x="0" y="0"/>
              <a:ext cx="3413760" cy="1706880"/>
            </a:xfrm>
            <a:custGeom>
              <a:avLst/>
              <a:gdLst/>
              <a:ahLst/>
              <a:cxnLst/>
              <a:rect r="r" b="b" t="t" l="l"/>
              <a:pathLst>
                <a:path h="1706880" w="3413760">
                  <a:moveTo>
                    <a:pt x="0" y="0"/>
                  </a:moveTo>
                  <a:lnTo>
                    <a:pt x="3413760" y="0"/>
                  </a:lnTo>
                  <a:lnTo>
                    <a:pt x="3413760" y="1706880"/>
                  </a:lnTo>
                  <a:lnTo>
                    <a:pt x="0" y="1706880"/>
                  </a:lnTo>
                  <a:close/>
                </a:path>
              </a:pathLst>
            </a:custGeom>
            <a:blipFill>
              <a:blip r:embed="rId3">
                <a:alphaModFix amt="0"/>
              </a:blip>
              <a:stretch>
                <a:fillRect l="-14151" t="0" r="-14151" b="0"/>
              </a:stretch>
            </a:blipFill>
          </p:spPr>
        </p:sp>
        <p:sp>
          <p:nvSpPr>
            <p:cNvPr name="TextBox 61" id="61"/>
            <p:cNvSpPr txBox="true"/>
            <p:nvPr/>
          </p:nvSpPr>
          <p:spPr>
            <a:xfrm>
              <a:off x="0" y="-47625"/>
              <a:ext cx="3413760" cy="17545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Arbre T3</a:t>
              </a:r>
            </a:p>
          </p:txBody>
        </p:sp>
      </p:grpSp>
      <p:grpSp>
        <p:nvGrpSpPr>
          <p:cNvPr name="Group 62" id="62"/>
          <p:cNvGrpSpPr/>
          <p:nvPr/>
        </p:nvGrpSpPr>
        <p:grpSpPr>
          <a:xfrm rot="0">
            <a:off x="10960103" y="6662423"/>
            <a:ext cx="171707" cy="756923"/>
            <a:chOff x="0" y="0"/>
            <a:chExt cx="228943" cy="1009231"/>
          </a:xfrm>
        </p:grpSpPr>
        <p:sp>
          <p:nvSpPr>
            <p:cNvPr name="Freeform 63" id="63"/>
            <p:cNvSpPr/>
            <p:nvPr/>
          </p:nvSpPr>
          <p:spPr>
            <a:xfrm flipH="false" flipV="false" rot="0">
              <a:off x="16891" y="16891"/>
              <a:ext cx="195072" cy="975360"/>
            </a:xfrm>
            <a:custGeom>
              <a:avLst/>
              <a:gdLst/>
              <a:ahLst/>
              <a:cxnLst/>
              <a:rect r="r" b="b" t="t" l="l"/>
              <a:pathLst>
                <a:path h="975360" w="195072">
                  <a:moveTo>
                    <a:pt x="0" y="0"/>
                  </a:moveTo>
                  <a:lnTo>
                    <a:pt x="195072" y="0"/>
                  </a:lnTo>
                  <a:lnTo>
                    <a:pt x="195072" y="975360"/>
                  </a:lnTo>
                  <a:lnTo>
                    <a:pt x="0" y="975360"/>
                  </a:lnTo>
                  <a:close/>
                </a:path>
              </a:pathLst>
            </a:custGeom>
            <a:solidFill>
              <a:srgbClr val="5A7A5A"/>
            </a:solidFill>
          </p:spPr>
        </p:sp>
        <p:sp>
          <p:nvSpPr>
            <p:cNvPr name="Freeform 64" id="64"/>
            <p:cNvSpPr/>
            <p:nvPr/>
          </p:nvSpPr>
          <p:spPr>
            <a:xfrm flipH="false" flipV="false" rot="0">
              <a:off x="0" y="0"/>
              <a:ext cx="228854" cy="1009144"/>
            </a:xfrm>
            <a:custGeom>
              <a:avLst/>
              <a:gdLst/>
              <a:ahLst/>
              <a:cxnLst/>
              <a:rect r="r" b="b" t="t" l="l"/>
              <a:pathLst>
                <a:path h="1009144" w="228854">
                  <a:moveTo>
                    <a:pt x="16891" y="0"/>
                  </a:moveTo>
                  <a:lnTo>
                    <a:pt x="211963" y="0"/>
                  </a:lnTo>
                  <a:cubicBezTo>
                    <a:pt x="221361" y="0"/>
                    <a:pt x="228854" y="7620"/>
                    <a:pt x="228854" y="16891"/>
                  </a:cubicBezTo>
                  <a:lnTo>
                    <a:pt x="228854" y="992251"/>
                  </a:lnTo>
                  <a:cubicBezTo>
                    <a:pt x="228854" y="1001649"/>
                    <a:pt x="221234" y="1009142"/>
                    <a:pt x="211963" y="1009142"/>
                  </a:cubicBezTo>
                  <a:lnTo>
                    <a:pt x="16891" y="1009142"/>
                  </a:lnTo>
                  <a:cubicBezTo>
                    <a:pt x="7620" y="1009269"/>
                    <a:pt x="0" y="1001649"/>
                    <a:pt x="0" y="992251"/>
                  </a:cubicBezTo>
                  <a:lnTo>
                    <a:pt x="0" y="16891"/>
                  </a:lnTo>
                  <a:cubicBezTo>
                    <a:pt x="0" y="7620"/>
                    <a:pt x="7620" y="0"/>
                    <a:pt x="16891" y="0"/>
                  </a:cubicBezTo>
                  <a:moveTo>
                    <a:pt x="16891" y="33909"/>
                  </a:moveTo>
                  <a:lnTo>
                    <a:pt x="16891" y="16891"/>
                  </a:lnTo>
                  <a:lnTo>
                    <a:pt x="33909" y="16891"/>
                  </a:lnTo>
                  <a:lnTo>
                    <a:pt x="33909" y="992251"/>
                  </a:lnTo>
                  <a:lnTo>
                    <a:pt x="16891" y="992251"/>
                  </a:lnTo>
                  <a:lnTo>
                    <a:pt x="16891" y="975360"/>
                  </a:lnTo>
                  <a:lnTo>
                    <a:pt x="211963" y="975360"/>
                  </a:lnTo>
                  <a:lnTo>
                    <a:pt x="211963" y="992251"/>
                  </a:lnTo>
                  <a:lnTo>
                    <a:pt x="195072" y="992251"/>
                  </a:lnTo>
                  <a:lnTo>
                    <a:pt x="195072" y="16891"/>
                  </a:lnTo>
                  <a:lnTo>
                    <a:pt x="211963" y="16891"/>
                  </a:lnTo>
                  <a:lnTo>
                    <a:pt x="211963" y="33909"/>
                  </a:lnTo>
                  <a:lnTo>
                    <a:pt x="16891" y="33909"/>
                  </a:lnTo>
                  <a:close/>
                </a:path>
              </a:pathLst>
            </a:custGeom>
            <a:solidFill>
              <a:srgbClr val="5A7A5A"/>
            </a:solidFill>
          </p:spPr>
        </p:sp>
      </p:grpSp>
      <p:grpSp>
        <p:nvGrpSpPr>
          <p:cNvPr name="Group 65" id="65"/>
          <p:cNvGrpSpPr/>
          <p:nvPr/>
        </p:nvGrpSpPr>
        <p:grpSpPr>
          <a:xfrm rot="0">
            <a:off x="10627691" y="6766565"/>
            <a:ext cx="3291840" cy="548640"/>
            <a:chOff x="0" y="0"/>
            <a:chExt cx="4389120" cy="731520"/>
          </a:xfrm>
        </p:grpSpPr>
        <p:sp>
          <p:nvSpPr>
            <p:cNvPr name="Freeform 66" id="66"/>
            <p:cNvSpPr/>
            <p:nvPr/>
          </p:nvSpPr>
          <p:spPr>
            <a:xfrm flipH="false" flipV="false" rot="0">
              <a:off x="0" y="0"/>
              <a:ext cx="4389120" cy="731520"/>
            </a:xfrm>
            <a:custGeom>
              <a:avLst/>
              <a:gdLst/>
              <a:ahLst/>
              <a:cxnLst/>
              <a:rect r="r" b="b" t="t" l="l"/>
              <a:pathLst>
                <a:path h="731520" w="4389120">
                  <a:moveTo>
                    <a:pt x="0" y="0"/>
                  </a:moveTo>
                  <a:lnTo>
                    <a:pt x="4389120" y="0"/>
                  </a:lnTo>
                  <a:lnTo>
                    <a:pt x="4389120" y="731520"/>
                  </a:lnTo>
                  <a:lnTo>
                    <a:pt x="0" y="731520"/>
                  </a:lnTo>
                  <a:close/>
                </a:path>
              </a:pathLst>
            </a:custGeom>
            <a:blipFill>
              <a:blip r:embed="rId3">
                <a:alphaModFix amt="0"/>
              </a:blip>
              <a:stretch>
                <a:fillRect l="0" t="-66910" r="0" b="-66910"/>
              </a:stretch>
            </a:blipFill>
          </p:spPr>
        </p:sp>
        <p:sp>
          <p:nvSpPr>
            <p:cNvPr name="TextBox 67" id="67"/>
            <p:cNvSpPr txBox="true"/>
            <p:nvPr/>
          </p:nvSpPr>
          <p:spPr>
            <a:xfrm>
              <a:off x="0" y="-38100"/>
              <a:ext cx="4389120" cy="769620"/>
            </a:xfrm>
            <a:prstGeom prst="rect">
              <a:avLst/>
            </a:prstGeom>
          </p:spPr>
          <p:txBody>
            <a:bodyPr anchor="ctr" rtlCol="false" tIns="0" lIns="0" bIns="0" rIns="0"/>
            <a:lstStyle/>
            <a:p>
              <a:pPr algn="ctr">
                <a:lnSpc>
                  <a:spcPts val="2400"/>
                </a:lnSpc>
              </a:pPr>
              <a:r>
                <a:rPr lang="en-US" sz="2000">
                  <a:solidFill>
                    <a:srgbClr val="5A7A5A"/>
                  </a:solidFill>
                  <a:latin typeface="Calibri (MS)"/>
                  <a:ea typeface="Calibri (MS)"/>
                  <a:cs typeface="Calibri (MS)"/>
                  <a:sym typeface="Calibri (MS)"/>
                </a:rPr>
                <a:t>Vote majoritaire</a:t>
              </a:r>
            </a:p>
          </p:txBody>
        </p:sp>
      </p:grpSp>
      <p:grpSp>
        <p:nvGrpSpPr>
          <p:cNvPr name="Group 68" id="68"/>
          <p:cNvGrpSpPr/>
          <p:nvPr/>
        </p:nvGrpSpPr>
        <p:grpSpPr>
          <a:xfrm rot="0">
            <a:off x="8765543" y="7430519"/>
            <a:ext cx="4597403" cy="1305563"/>
            <a:chOff x="0" y="0"/>
            <a:chExt cx="6129871" cy="1740751"/>
          </a:xfrm>
        </p:grpSpPr>
        <p:sp>
          <p:nvSpPr>
            <p:cNvPr name="Freeform 69" id="69"/>
            <p:cNvSpPr/>
            <p:nvPr/>
          </p:nvSpPr>
          <p:spPr>
            <a:xfrm flipH="false" flipV="false" rot="0">
              <a:off x="16891" y="16891"/>
              <a:ext cx="6096000" cy="1706880"/>
            </a:xfrm>
            <a:custGeom>
              <a:avLst/>
              <a:gdLst/>
              <a:ahLst/>
              <a:cxnLst/>
              <a:rect r="r" b="b" t="t" l="l"/>
              <a:pathLst>
                <a:path h="1706880" w="6096000">
                  <a:moveTo>
                    <a:pt x="0" y="0"/>
                  </a:moveTo>
                  <a:lnTo>
                    <a:pt x="6096000" y="0"/>
                  </a:lnTo>
                  <a:lnTo>
                    <a:pt x="6096000" y="1706880"/>
                  </a:lnTo>
                  <a:lnTo>
                    <a:pt x="0" y="1706880"/>
                  </a:lnTo>
                  <a:close/>
                </a:path>
              </a:pathLst>
            </a:custGeom>
            <a:solidFill>
              <a:srgbClr val="D4A843"/>
            </a:solidFill>
          </p:spPr>
        </p:sp>
        <p:sp>
          <p:nvSpPr>
            <p:cNvPr name="Freeform 70" id="70"/>
            <p:cNvSpPr/>
            <p:nvPr/>
          </p:nvSpPr>
          <p:spPr>
            <a:xfrm flipH="false" flipV="false" rot="0">
              <a:off x="0" y="0"/>
              <a:ext cx="6129782" cy="1740662"/>
            </a:xfrm>
            <a:custGeom>
              <a:avLst/>
              <a:gdLst/>
              <a:ahLst/>
              <a:cxnLst/>
              <a:rect r="r" b="b" t="t" l="l"/>
              <a:pathLst>
                <a:path h="1740662" w="6129782">
                  <a:moveTo>
                    <a:pt x="16891" y="0"/>
                  </a:moveTo>
                  <a:lnTo>
                    <a:pt x="6112891" y="0"/>
                  </a:lnTo>
                  <a:cubicBezTo>
                    <a:pt x="6122289" y="0"/>
                    <a:pt x="6129782" y="7620"/>
                    <a:pt x="6129782" y="16891"/>
                  </a:cubicBezTo>
                  <a:lnTo>
                    <a:pt x="6129782" y="1723771"/>
                  </a:lnTo>
                  <a:cubicBezTo>
                    <a:pt x="6129782" y="1733169"/>
                    <a:pt x="6122162" y="1740662"/>
                    <a:pt x="6112891"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6112891" y="1706880"/>
                  </a:lnTo>
                  <a:lnTo>
                    <a:pt x="6112891" y="1723771"/>
                  </a:lnTo>
                  <a:lnTo>
                    <a:pt x="6096000" y="1723771"/>
                  </a:lnTo>
                  <a:lnTo>
                    <a:pt x="6096000" y="16891"/>
                  </a:lnTo>
                  <a:lnTo>
                    <a:pt x="6112891" y="16891"/>
                  </a:lnTo>
                  <a:lnTo>
                    <a:pt x="6112891" y="33909"/>
                  </a:lnTo>
                  <a:lnTo>
                    <a:pt x="16891" y="33909"/>
                  </a:lnTo>
                  <a:close/>
                </a:path>
              </a:pathLst>
            </a:custGeom>
            <a:solidFill>
              <a:srgbClr val="D4A843"/>
            </a:solidFill>
          </p:spPr>
        </p:sp>
      </p:grpSp>
      <p:grpSp>
        <p:nvGrpSpPr>
          <p:cNvPr name="Group 71" id="71"/>
          <p:cNvGrpSpPr/>
          <p:nvPr/>
        </p:nvGrpSpPr>
        <p:grpSpPr>
          <a:xfrm rot="0">
            <a:off x="8937250" y="7543171"/>
            <a:ext cx="4389120" cy="1188720"/>
            <a:chOff x="0" y="0"/>
            <a:chExt cx="5852160" cy="1584960"/>
          </a:xfrm>
        </p:grpSpPr>
        <p:sp>
          <p:nvSpPr>
            <p:cNvPr name="Freeform 72" id="72"/>
            <p:cNvSpPr/>
            <p:nvPr/>
          </p:nvSpPr>
          <p:spPr>
            <a:xfrm flipH="false" flipV="false" rot="0">
              <a:off x="0" y="0"/>
              <a:ext cx="5852160" cy="1584960"/>
            </a:xfrm>
            <a:custGeom>
              <a:avLst/>
              <a:gdLst/>
              <a:ahLst/>
              <a:cxnLst/>
              <a:rect r="r" b="b" t="t" l="l"/>
              <a:pathLst>
                <a:path h="1584960" w="5852160">
                  <a:moveTo>
                    <a:pt x="0" y="0"/>
                  </a:moveTo>
                  <a:lnTo>
                    <a:pt x="5852160" y="0"/>
                  </a:lnTo>
                  <a:lnTo>
                    <a:pt x="5852160" y="1584960"/>
                  </a:lnTo>
                  <a:lnTo>
                    <a:pt x="0" y="1584960"/>
                  </a:lnTo>
                  <a:close/>
                </a:path>
              </a:pathLst>
            </a:custGeom>
            <a:blipFill>
              <a:blip r:embed="rId3">
                <a:alphaModFix amt="0"/>
              </a:blip>
              <a:stretch>
                <a:fillRect l="0" t="-21944" r="0" b="-21944"/>
              </a:stretch>
            </a:blipFill>
          </p:spPr>
        </p:sp>
        <p:sp>
          <p:nvSpPr>
            <p:cNvPr name="TextBox 73" id="73"/>
            <p:cNvSpPr txBox="true"/>
            <p:nvPr/>
          </p:nvSpPr>
          <p:spPr>
            <a:xfrm>
              <a:off x="0" y="-38100"/>
              <a:ext cx="5852160" cy="1623060"/>
            </a:xfrm>
            <a:prstGeom prst="rect">
              <a:avLst/>
            </a:prstGeom>
          </p:spPr>
          <p:txBody>
            <a:bodyPr anchor="ctr" rtlCol="false" tIns="0" lIns="0" bIns="0" rIns="0"/>
            <a:lstStyle/>
            <a:p>
              <a:pPr algn="ctr">
                <a:lnSpc>
                  <a:spcPts val="2879"/>
                </a:lnSpc>
              </a:pPr>
              <a:r>
                <a:rPr lang="en-US" sz="2400" b="true">
                  <a:solidFill>
                    <a:srgbClr val="1A2E1A"/>
                  </a:solidFill>
                  <a:latin typeface="Calibri (MS) Bold"/>
                  <a:ea typeface="Calibri (MS) Bold"/>
                  <a:cs typeface="Calibri (MS) Bold"/>
                  <a:sym typeface="Calibri (MS) Bold"/>
                </a:rPr>
                <a:t>Prédiction finale</a:t>
              </a:r>
            </a:p>
            <a:p>
              <a:pPr algn="ctr">
                <a:lnSpc>
                  <a:spcPts val="2879"/>
                </a:lnSpc>
              </a:pPr>
              <a:r>
                <a:rPr lang="en-US" sz="2400" b="true">
                  <a:solidFill>
                    <a:srgbClr val="1A2E1A"/>
                  </a:solidFill>
                  <a:latin typeface="Calibri (MS) Bold"/>
                  <a:ea typeface="Calibri (MS) Bold"/>
                  <a:cs typeface="Calibri (MS) Bold"/>
                  <a:sym typeface="Calibri (MS) Bold"/>
                </a:rPr>
                <a:t>ŷ = classe majoritaire</a:t>
              </a:r>
            </a:p>
          </p:txBody>
        </p:sp>
      </p:grpSp>
      <p:grpSp>
        <p:nvGrpSpPr>
          <p:cNvPr name="Group 74" id="74"/>
          <p:cNvGrpSpPr/>
          <p:nvPr/>
        </p:nvGrpSpPr>
        <p:grpSpPr>
          <a:xfrm rot="0">
            <a:off x="548640" y="4488820"/>
            <a:ext cx="6047746" cy="4098941"/>
            <a:chOff x="0" y="0"/>
            <a:chExt cx="8063662" cy="5465255"/>
          </a:xfrm>
        </p:grpSpPr>
        <p:sp>
          <p:nvSpPr>
            <p:cNvPr name="Freeform 75" id="75"/>
            <p:cNvSpPr/>
            <p:nvPr/>
          </p:nvSpPr>
          <p:spPr>
            <a:xfrm flipH="false" flipV="false" rot="0">
              <a:off x="16856" y="17909"/>
              <a:ext cx="8029862" cy="5429342"/>
            </a:xfrm>
            <a:custGeom>
              <a:avLst/>
              <a:gdLst/>
              <a:ahLst/>
              <a:cxnLst/>
              <a:rect r="r" b="b" t="t" l="l"/>
              <a:pathLst>
                <a:path h="5429342" w="8029862">
                  <a:moveTo>
                    <a:pt x="0" y="0"/>
                  </a:moveTo>
                  <a:lnTo>
                    <a:pt x="8029861" y="0"/>
                  </a:lnTo>
                  <a:lnTo>
                    <a:pt x="8029861" y="5429343"/>
                  </a:lnTo>
                  <a:lnTo>
                    <a:pt x="0" y="5429343"/>
                  </a:lnTo>
                  <a:close/>
                </a:path>
              </a:pathLst>
            </a:custGeom>
            <a:solidFill>
              <a:srgbClr val="FFF8E8"/>
            </a:solidFill>
          </p:spPr>
        </p:sp>
        <p:sp>
          <p:nvSpPr>
            <p:cNvPr name="Freeform 76" id="76"/>
            <p:cNvSpPr/>
            <p:nvPr/>
          </p:nvSpPr>
          <p:spPr>
            <a:xfrm flipH="false" flipV="false" rot="0">
              <a:off x="0" y="0"/>
              <a:ext cx="8063572" cy="5465161"/>
            </a:xfrm>
            <a:custGeom>
              <a:avLst/>
              <a:gdLst/>
              <a:ahLst/>
              <a:cxnLst/>
              <a:rect r="r" b="b" t="t" l="l"/>
              <a:pathLst>
                <a:path h="5465161" w="8063572">
                  <a:moveTo>
                    <a:pt x="16856" y="0"/>
                  </a:moveTo>
                  <a:lnTo>
                    <a:pt x="8046717" y="0"/>
                  </a:lnTo>
                  <a:cubicBezTo>
                    <a:pt x="8056096" y="0"/>
                    <a:pt x="8063572" y="8079"/>
                    <a:pt x="8063572" y="17909"/>
                  </a:cubicBezTo>
                  <a:lnTo>
                    <a:pt x="8063572" y="5447252"/>
                  </a:lnTo>
                  <a:cubicBezTo>
                    <a:pt x="8063572" y="5457217"/>
                    <a:pt x="8055969" y="5465161"/>
                    <a:pt x="8046717" y="5465161"/>
                  </a:cubicBezTo>
                  <a:lnTo>
                    <a:pt x="16856" y="5465161"/>
                  </a:lnTo>
                  <a:cubicBezTo>
                    <a:pt x="7477" y="5465161"/>
                    <a:pt x="0" y="5457082"/>
                    <a:pt x="0" y="5447252"/>
                  </a:cubicBezTo>
                  <a:lnTo>
                    <a:pt x="0" y="17909"/>
                  </a:lnTo>
                  <a:cubicBezTo>
                    <a:pt x="0" y="8079"/>
                    <a:pt x="7604" y="0"/>
                    <a:pt x="16856" y="0"/>
                  </a:cubicBezTo>
                  <a:moveTo>
                    <a:pt x="16856" y="35953"/>
                  </a:moveTo>
                  <a:lnTo>
                    <a:pt x="16856" y="17909"/>
                  </a:lnTo>
                  <a:lnTo>
                    <a:pt x="33838" y="17909"/>
                  </a:lnTo>
                  <a:lnTo>
                    <a:pt x="33838" y="5447252"/>
                  </a:lnTo>
                  <a:lnTo>
                    <a:pt x="16856" y="5447252"/>
                  </a:lnTo>
                  <a:lnTo>
                    <a:pt x="16856" y="5429343"/>
                  </a:lnTo>
                  <a:lnTo>
                    <a:pt x="8046717" y="5429343"/>
                  </a:lnTo>
                  <a:lnTo>
                    <a:pt x="8046717" y="5447252"/>
                  </a:lnTo>
                  <a:lnTo>
                    <a:pt x="8029862" y="5447252"/>
                  </a:lnTo>
                  <a:lnTo>
                    <a:pt x="8029862" y="17909"/>
                  </a:lnTo>
                  <a:lnTo>
                    <a:pt x="8046717" y="17909"/>
                  </a:lnTo>
                  <a:lnTo>
                    <a:pt x="8046717" y="35953"/>
                  </a:lnTo>
                  <a:lnTo>
                    <a:pt x="16856" y="35953"/>
                  </a:lnTo>
                  <a:close/>
                </a:path>
              </a:pathLst>
            </a:custGeom>
            <a:solidFill>
              <a:srgbClr val="D4A843"/>
            </a:solidFill>
          </p:spPr>
        </p:sp>
      </p:grpSp>
      <p:grpSp>
        <p:nvGrpSpPr>
          <p:cNvPr name="Group 77" id="77"/>
          <p:cNvGrpSpPr/>
          <p:nvPr/>
        </p:nvGrpSpPr>
        <p:grpSpPr>
          <a:xfrm rot="0">
            <a:off x="731525" y="4709165"/>
            <a:ext cx="5669280" cy="4074830"/>
            <a:chOff x="0" y="0"/>
            <a:chExt cx="7559040" cy="5433107"/>
          </a:xfrm>
        </p:grpSpPr>
        <p:sp>
          <p:nvSpPr>
            <p:cNvPr name="Freeform 78" id="78"/>
            <p:cNvSpPr/>
            <p:nvPr/>
          </p:nvSpPr>
          <p:spPr>
            <a:xfrm flipH="false" flipV="false" rot="0">
              <a:off x="0" y="0"/>
              <a:ext cx="7559040" cy="5433107"/>
            </a:xfrm>
            <a:custGeom>
              <a:avLst/>
              <a:gdLst/>
              <a:ahLst/>
              <a:cxnLst/>
              <a:rect r="r" b="b" t="t" l="l"/>
              <a:pathLst>
                <a:path h="5433107" w="7559040">
                  <a:moveTo>
                    <a:pt x="0" y="0"/>
                  </a:moveTo>
                  <a:lnTo>
                    <a:pt x="7559040" y="0"/>
                  </a:lnTo>
                  <a:lnTo>
                    <a:pt x="7559040" y="5433107"/>
                  </a:lnTo>
                  <a:lnTo>
                    <a:pt x="0" y="5433107"/>
                  </a:lnTo>
                  <a:close/>
                </a:path>
              </a:pathLst>
            </a:custGeom>
            <a:blipFill>
              <a:blip r:embed="rId3">
                <a:alphaModFix amt="0"/>
              </a:blip>
              <a:stretch>
                <a:fillRect l="-10012" t="0" r="-10012" b="34923"/>
              </a:stretch>
            </a:blipFill>
          </p:spPr>
        </p:sp>
        <p:sp>
          <p:nvSpPr>
            <p:cNvPr name="TextBox 79" id="79"/>
            <p:cNvSpPr txBox="true"/>
            <p:nvPr/>
          </p:nvSpPr>
          <p:spPr>
            <a:xfrm>
              <a:off x="0" y="-57150"/>
              <a:ext cx="7559040" cy="5490257"/>
            </a:xfrm>
            <a:prstGeom prst="rect">
              <a:avLst/>
            </a:prstGeom>
          </p:spPr>
          <p:txBody>
            <a:bodyPr anchor="ctr" rtlCol="false" tIns="0" lIns="0" bIns="0" rIns="0"/>
            <a:lstStyle/>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Bootstrap</a:t>
              </a:r>
              <a:r>
                <a:rPr lang="en-US" sz="2399">
                  <a:solidFill>
                    <a:srgbClr val="000000"/>
                  </a:solidFill>
                  <a:latin typeface="Calibri (MS)"/>
                  <a:ea typeface="Calibri (MS)"/>
                  <a:cs typeface="Calibri (MS)"/>
                  <a:sym typeface="Calibri (MS)"/>
                </a:rPr>
                <a:t> : rééchantillonnage avec remise</a:t>
              </a:r>
            </a:p>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Une observation peut apparaître plusieurs fois (~63% uniques)</a:t>
              </a:r>
            </a:p>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Génération de plusieurs échantillons (B1, B2, …)</a:t>
              </a:r>
            </a:p>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Chaque échantillon → un arbre indépend</a:t>
              </a:r>
              <a:r>
                <a:rPr lang="en-US" sz="2399">
                  <a:solidFill>
                    <a:srgbClr val="000000"/>
                  </a:solidFill>
                  <a:latin typeface="Calibri (MS)"/>
                  <a:ea typeface="Calibri (MS)"/>
                  <a:cs typeface="Calibri (MS)"/>
                  <a:sym typeface="Calibri (MS)"/>
                </a:rPr>
                <a:t>ant</a:t>
              </a:r>
            </a:p>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B</a:t>
              </a:r>
              <a:r>
                <a:rPr lang="en-US" sz="2399">
                  <a:solidFill>
                    <a:srgbClr val="000000"/>
                  </a:solidFill>
                  <a:latin typeface="Calibri (MS)"/>
                  <a:ea typeface="Calibri (MS)"/>
                  <a:cs typeface="Calibri (MS)"/>
                  <a:sym typeface="Calibri (MS)"/>
                </a:rPr>
                <a:t>ag</a:t>
              </a:r>
              <a:r>
                <a:rPr lang="en-US" sz="2399">
                  <a:solidFill>
                    <a:srgbClr val="000000"/>
                  </a:solidFill>
                  <a:latin typeface="Calibri (MS)"/>
                  <a:ea typeface="Calibri (MS)"/>
                  <a:cs typeface="Calibri (MS)"/>
                  <a:sym typeface="Calibri (MS)"/>
                </a:rPr>
                <a:t>ging</a:t>
              </a:r>
              <a:r>
                <a:rPr lang="en-US" sz="2399">
                  <a:solidFill>
                    <a:srgbClr val="000000"/>
                  </a:solidFill>
                  <a:latin typeface="Calibri (MS)"/>
                  <a:ea typeface="Calibri (MS)"/>
                  <a:cs typeface="Calibri (MS)"/>
                  <a:sym typeface="Calibri (MS)"/>
                </a:rPr>
                <a:t> </a:t>
              </a:r>
              <a:r>
                <a:rPr lang="en-US" sz="2399">
                  <a:solidFill>
                    <a:srgbClr val="000000"/>
                  </a:solidFill>
                  <a:latin typeface="Calibri (MS)"/>
                  <a:ea typeface="Calibri (MS)"/>
                  <a:cs typeface="Calibri (MS)"/>
                  <a:sym typeface="Calibri (MS)"/>
                </a:rPr>
                <a:t>:</a:t>
              </a:r>
              <a:r>
                <a:rPr lang="en-US" sz="2399">
                  <a:solidFill>
                    <a:srgbClr val="000000"/>
                  </a:solidFill>
                  <a:latin typeface="Calibri (MS)"/>
                  <a:ea typeface="Calibri (MS)"/>
                  <a:cs typeface="Calibri (MS)"/>
                  <a:sym typeface="Calibri (MS)"/>
                </a:rPr>
                <a:t> com</a:t>
              </a:r>
              <a:r>
                <a:rPr lang="en-US" sz="2399">
                  <a:solidFill>
                    <a:srgbClr val="000000"/>
                  </a:solidFill>
                  <a:latin typeface="Calibri (MS)"/>
                  <a:ea typeface="Calibri (MS)"/>
                  <a:cs typeface="Calibri (MS)"/>
                  <a:sym typeface="Calibri (MS)"/>
                </a:rPr>
                <a:t>bin</a:t>
              </a:r>
              <a:r>
                <a:rPr lang="en-US" sz="2399">
                  <a:solidFill>
                    <a:srgbClr val="000000"/>
                  </a:solidFill>
                  <a:latin typeface="Calibri (MS)"/>
                  <a:ea typeface="Calibri (MS)"/>
                  <a:cs typeface="Calibri (MS)"/>
                  <a:sym typeface="Calibri (MS)"/>
                </a:rPr>
                <a:t>e l</a:t>
              </a:r>
              <a:r>
                <a:rPr lang="en-US" sz="2399">
                  <a:solidFill>
                    <a:srgbClr val="000000"/>
                  </a:solidFill>
                  <a:latin typeface="Calibri (MS)"/>
                  <a:ea typeface="Calibri (MS)"/>
                  <a:cs typeface="Calibri (MS)"/>
                  <a:sym typeface="Calibri (MS)"/>
                </a:rPr>
                <a:t>es </a:t>
              </a:r>
              <a:r>
                <a:rPr lang="en-US" sz="2399">
                  <a:solidFill>
                    <a:srgbClr val="000000"/>
                  </a:solidFill>
                  <a:latin typeface="Calibri (MS)"/>
                  <a:ea typeface="Calibri (MS)"/>
                  <a:cs typeface="Calibri (MS)"/>
                  <a:sym typeface="Calibri (MS)"/>
                </a:rPr>
                <a:t>a</a:t>
              </a:r>
              <a:r>
                <a:rPr lang="en-US" sz="2399">
                  <a:solidFill>
                    <a:srgbClr val="000000"/>
                  </a:solidFill>
                  <a:latin typeface="Calibri (MS)"/>
                  <a:ea typeface="Calibri (MS)"/>
                  <a:cs typeface="Calibri (MS)"/>
                  <a:sym typeface="Calibri (MS)"/>
                </a:rPr>
                <a:t>rbres</a:t>
              </a:r>
            </a:p>
            <a:p>
              <a:pPr algn="l" marL="518158" indent="-259079" lvl="1">
                <a:lnSpc>
                  <a:spcPts val="2879"/>
                </a:lnSpc>
                <a:buFont typeface="Arial"/>
                <a:buChar char="•"/>
              </a:pPr>
              <a:r>
                <a:rPr lang="en-US" sz="2399">
                  <a:solidFill>
                    <a:srgbClr val="000000"/>
                  </a:solidFill>
                  <a:latin typeface="Calibri (MS)"/>
                  <a:ea typeface="Calibri (MS)"/>
                  <a:cs typeface="Calibri (MS)"/>
                  <a:sym typeface="Calibri (MS)"/>
                </a:rPr>
                <a:t>Prédic</a:t>
              </a:r>
              <a:r>
                <a:rPr lang="en-US" sz="2399">
                  <a:solidFill>
                    <a:srgbClr val="000000"/>
                  </a:solidFill>
                  <a:latin typeface="Calibri (MS)"/>
                  <a:ea typeface="Calibri (MS)"/>
                  <a:cs typeface="Calibri (MS)"/>
                  <a:sym typeface="Calibri (MS)"/>
                </a:rPr>
                <a:t>t</a:t>
              </a:r>
              <a:r>
                <a:rPr lang="en-US" sz="2399">
                  <a:solidFill>
                    <a:srgbClr val="000000"/>
                  </a:solidFill>
                  <a:latin typeface="Calibri (MS)"/>
                  <a:ea typeface="Calibri (MS)"/>
                  <a:cs typeface="Calibri (MS)"/>
                  <a:sym typeface="Calibri (MS)"/>
                </a:rPr>
                <a:t>io</a:t>
              </a:r>
              <a:r>
                <a:rPr lang="en-US" sz="2399">
                  <a:solidFill>
                    <a:srgbClr val="000000"/>
                  </a:solidFill>
                  <a:latin typeface="Calibri (MS)"/>
                  <a:ea typeface="Calibri (MS)"/>
                  <a:cs typeface="Calibri (MS)"/>
                  <a:sym typeface="Calibri (MS)"/>
                </a:rPr>
                <a:t>n</a:t>
              </a:r>
              <a:r>
                <a:rPr lang="en-US" sz="2399">
                  <a:solidFill>
                    <a:srgbClr val="000000"/>
                  </a:solidFill>
                  <a:latin typeface="Calibri (MS)"/>
                  <a:ea typeface="Calibri (MS)"/>
                  <a:cs typeface="Calibri (MS)"/>
                  <a:sym typeface="Calibri (MS)"/>
                </a:rPr>
                <a:t> </a:t>
              </a:r>
              <a:r>
                <a:rPr lang="en-US" sz="2399">
                  <a:solidFill>
                    <a:srgbClr val="000000"/>
                  </a:solidFill>
                  <a:latin typeface="Calibri (MS)"/>
                  <a:ea typeface="Calibri (MS)"/>
                  <a:cs typeface="Calibri (MS)"/>
                  <a:sym typeface="Calibri (MS)"/>
                </a:rPr>
                <a:t>f</a:t>
              </a:r>
              <a:r>
                <a:rPr lang="en-US" sz="2399">
                  <a:solidFill>
                    <a:srgbClr val="000000"/>
                  </a:solidFill>
                  <a:latin typeface="Calibri (MS)"/>
                  <a:ea typeface="Calibri (MS)"/>
                  <a:cs typeface="Calibri (MS)"/>
                  <a:sym typeface="Calibri (MS)"/>
                </a:rPr>
                <a:t>inale </a:t>
              </a:r>
              <a:r>
                <a:rPr lang="en-US" sz="2399">
                  <a:solidFill>
                    <a:srgbClr val="000000"/>
                  </a:solidFill>
                  <a:latin typeface="Calibri (MS)"/>
                  <a:ea typeface="Calibri (MS)"/>
                  <a:cs typeface="Calibri (MS)"/>
                  <a:sym typeface="Calibri (MS)"/>
                </a:rPr>
                <a:t>→</a:t>
              </a:r>
              <a:r>
                <a:rPr lang="en-US" sz="2399">
                  <a:solidFill>
                    <a:srgbClr val="000000"/>
                  </a:solidFill>
                  <a:latin typeface="Calibri (MS)"/>
                  <a:ea typeface="Calibri (MS)"/>
                  <a:cs typeface="Calibri (MS)"/>
                  <a:sym typeface="Calibri (MS)"/>
                </a:rPr>
                <a:t> </a:t>
              </a:r>
              <a:r>
                <a:rPr lang="en-US" sz="2399">
                  <a:solidFill>
                    <a:srgbClr val="000000"/>
                  </a:solidFill>
                  <a:latin typeface="Calibri (MS)"/>
                  <a:ea typeface="Calibri (MS)"/>
                  <a:cs typeface="Calibri (MS)"/>
                  <a:sym typeface="Calibri (MS)"/>
                </a:rPr>
                <a:t>vo</a:t>
              </a:r>
              <a:r>
                <a:rPr lang="en-US" sz="2399">
                  <a:solidFill>
                    <a:srgbClr val="000000"/>
                  </a:solidFill>
                  <a:latin typeface="Calibri (MS)"/>
                  <a:ea typeface="Calibri (MS)"/>
                  <a:cs typeface="Calibri (MS)"/>
                  <a:sym typeface="Calibri (MS)"/>
                </a:rPr>
                <a:t>te</a:t>
              </a:r>
              <a:r>
                <a:rPr lang="en-US" sz="2399">
                  <a:solidFill>
                    <a:srgbClr val="000000"/>
                  </a:solidFill>
                  <a:latin typeface="Calibri (MS)"/>
                  <a:ea typeface="Calibri (MS)"/>
                  <a:cs typeface="Calibri (MS)"/>
                  <a:sym typeface="Calibri (MS)"/>
                </a:rPr>
                <a:t> </a:t>
              </a:r>
              <a:r>
                <a:rPr lang="en-US" sz="2399">
                  <a:solidFill>
                    <a:srgbClr val="000000"/>
                  </a:solidFill>
                  <a:latin typeface="Calibri (MS)"/>
                  <a:ea typeface="Calibri (MS)"/>
                  <a:cs typeface="Calibri (MS)"/>
                  <a:sym typeface="Calibri (MS)"/>
                </a:rPr>
                <a:t>maj</a:t>
              </a:r>
              <a:r>
                <a:rPr lang="en-US" sz="2399">
                  <a:solidFill>
                    <a:srgbClr val="000000"/>
                  </a:solidFill>
                  <a:latin typeface="Calibri (MS)"/>
                  <a:ea typeface="Calibri (MS)"/>
                  <a:cs typeface="Calibri (MS)"/>
                  <a:sym typeface="Calibri (MS)"/>
                </a:rPr>
                <a:t>or</a:t>
              </a:r>
              <a:r>
                <a:rPr lang="en-US" sz="2399">
                  <a:solidFill>
                    <a:srgbClr val="000000"/>
                  </a:solidFill>
                  <a:latin typeface="Calibri (MS)"/>
                  <a:ea typeface="Calibri (MS)"/>
                  <a:cs typeface="Calibri (MS)"/>
                  <a:sym typeface="Calibri (MS)"/>
                </a:rPr>
                <a:t>it</a:t>
              </a:r>
              <a:r>
                <a:rPr lang="en-US" sz="2399">
                  <a:solidFill>
                    <a:srgbClr val="000000"/>
                  </a:solidFill>
                  <a:latin typeface="Calibri (MS)"/>
                  <a:ea typeface="Calibri (MS)"/>
                  <a:cs typeface="Calibri (MS)"/>
                  <a:sym typeface="Calibri (MS)"/>
                </a:rPr>
                <a:t>ai</a:t>
              </a:r>
              <a:r>
                <a:rPr lang="en-US" sz="2399">
                  <a:solidFill>
                    <a:srgbClr val="000000"/>
                  </a:solidFill>
                  <a:latin typeface="Calibri (MS)"/>
                  <a:ea typeface="Calibri (MS)"/>
                  <a:cs typeface="Calibri (MS)"/>
                  <a:sym typeface="Calibri (MS)"/>
                </a:rPr>
                <a:t>r</a:t>
              </a:r>
              <a:r>
                <a:rPr lang="en-US" sz="2399">
                  <a:solidFill>
                    <a:srgbClr val="000000"/>
                  </a:solidFill>
                  <a:latin typeface="Calibri (MS)"/>
                  <a:ea typeface="Calibri (MS)"/>
                  <a:cs typeface="Calibri (MS)"/>
                  <a:sym typeface="Calibri (MS)"/>
                </a:rPr>
                <a:t>e</a:t>
              </a:r>
            </a:p>
            <a:p>
              <a:pPr algn="l">
                <a:lnSpc>
                  <a:spcPts val="2759"/>
                </a:lnSpc>
              </a:pPr>
            </a:p>
          </p:txBody>
        </p:sp>
      </p:grpSp>
      <p:grpSp>
        <p:nvGrpSpPr>
          <p:cNvPr name="Group 80" id="80"/>
          <p:cNvGrpSpPr/>
          <p:nvPr/>
        </p:nvGrpSpPr>
        <p:grpSpPr>
          <a:xfrm rot="0">
            <a:off x="548640" y="8783995"/>
            <a:ext cx="6047746" cy="1255791"/>
            <a:chOff x="0" y="0"/>
            <a:chExt cx="8063662" cy="1674388"/>
          </a:xfrm>
        </p:grpSpPr>
        <p:sp>
          <p:nvSpPr>
            <p:cNvPr name="Freeform 81" id="81"/>
            <p:cNvSpPr/>
            <p:nvPr/>
          </p:nvSpPr>
          <p:spPr>
            <a:xfrm flipH="false" flipV="false" rot="0">
              <a:off x="16856" y="5487"/>
              <a:ext cx="8029862" cy="1663385"/>
            </a:xfrm>
            <a:custGeom>
              <a:avLst/>
              <a:gdLst/>
              <a:ahLst/>
              <a:cxnLst/>
              <a:rect r="r" b="b" t="t" l="l"/>
              <a:pathLst>
                <a:path h="1663385" w="8029862">
                  <a:moveTo>
                    <a:pt x="0" y="0"/>
                  </a:moveTo>
                  <a:lnTo>
                    <a:pt x="8029861" y="0"/>
                  </a:lnTo>
                  <a:lnTo>
                    <a:pt x="8029861" y="1663385"/>
                  </a:lnTo>
                  <a:lnTo>
                    <a:pt x="0" y="1663385"/>
                  </a:lnTo>
                  <a:close/>
                </a:path>
              </a:pathLst>
            </a:custGeom>
            <a:solidFill>
              <a:srgbClr val="FFF8E8"/>
            </a:solidFill>
          </p:spPr>
        </p:sp>
        <p:sp>
          <p:nvSpPr>
            <p:cNvPr name="Freeform 82" id="82"/>
            <p:cNvSpPr/>
            <p:nvPr/>
          </p:nvSpPr>
          <p:spPr>
            <a:xfrm flipH="false" flipV="false" rot="0">
              <a:off x="0" y="0"/>
              <a:ext cx="8063572" cy="1674359"/>
            </a:xfrm>
            <a:custGeom>
              <a:avLst/>
              <a:gdLst/>
              <a:ahLst/>
              <a:cxnLst/>
              <a:rect r="r" b="b" t="t" l="l"/>
              <a:pathLst>
                <a:path h="1674359" w="8063572">
                  <a:moveTo>
                    <a:pt x="16856" y="0"/>
                  </a:moveTo>
                  <a:lnTo>
                    <a:pt x="8046717" y="0"/>
                  </a:lnTo>
                  <a:cubicBezTo>
                    <a:pt x="8056096" y="0"/>
                    <a:pt x="8063572" y="2475"/>
                    <a:pt x="8063572" y="5487"/>
                  </a:cubicBezTo>
                  <a:lnTo>
                    <a:pt x="8063572" y="1668872"/>
                  </a:lnTo>
                  <a:cubicBezTo>
                    <a:pt x="8063572" y="1671925"/>
                    <a:pt x="8055969" y="1674359"/>
                    <a:pt x="8046717" y="1674359"/>
                  </a:cubicBezTo>
                  <a:lnTo>
                    <a:pt x="16856" y="1674359"/>
                  </a:lnTo>
                  <a:cubicBezTo>
                    <a:pt x="7477" y="1674359"/>
                    <a:pt x="0" y="1671884"/>
                    <a:pt x="0" y="1668872"/>
                  </a:cubicBezTo>
                  <a:lnTo>
                    <a:pt x="0" y="5487"/>
                  </a:lnTo>
                  <a:cubicBezTo>
                    <a:pt x="0" y="2475"/>
                    <a:pt x="7604" y="0"/>
                    <a:pt x="16856" y="0"/>
                  </a:cubicBezTo>
                  <a:moveTo>
                    <a:pt x="16856" y="11015"/>
                  </a:moveTo>
                  <a:lnTo>
                    <a:pt x="16856" y="5487"/>
                  </a:lnTo>
                  <a:lnTo>
                    <a:pt x="33838" y="5487"/>
                  </a:lnTo>
                  <a:lnTo>
                    <a:pt x="33838" y="1668872"/>
                  </a:lnTo>
                  <a:lnTo>
                    <a:pt x="16856" y="1668872"/>
                  </a:lnTo>
                  <a:lnTo>
                    <a:pt x="16856" y="1663385"/>
                  </a:lnTo>
                  <a:lnTo>
                    <a:pt x="8046717" y="1663385"/>
                  </a:lnTo>
                  <a:lnTo>
                    <a:pt x="8046717" y="1668872"/>
                  </a:lnTo>
                  <a:lnTo>
                    <a:pt x="8029862" y="1668872"/>
                  </a:lnTo>
                  <a:lnTo>
                    <a:pt x="8029862" y="5487"/>
                  </a:lnTo>
                  <a:lnTo>
                    <a:pt x="8046717" y="5487"/>
                  </a:lnTo>
                  <a:lnTo>
                    <a:pt x="8046717" y="11015"/>
                  </a:lnTo>
                  <a:lnTo>
                    <a:pt x="16856" y="11015"/>
                  </a:lnTo>
                  <a:close/>
                </a:path>
              </a:pathLst>
            </a:custGeom>
            <a:solidFill>
              <a:srgbClr val="D4A843"/>
            </a:solidFill>
          </p:spPr>
        </p:sp>
      </p:grpSp>
      <p:sp>
        <p:nvSpPr>
          <p:cNvPr name="TextBox 83" id="83"/>
          <p:cNvSpPr txBox="true"/>
          <p:nvPr/>
        </p:nvSpPr>
        <p:spPr>
          <a:xfrm rot="0">
            <a:off x="1268033" y="9003070"/>
            <a:ext cx="4029432" cy="876300"/>
          </a:xfrm>
          <a:prstGeom prst="rect">
            <a:avLst/>
          </a:prstGeom>
        </p:spPr>
        <p:txBody>
          <a:bodyPr anchor="t" rtlCol="false" tIns="0" lIns="0" bIns="0" rIns="0">
            <a:spAutoFit/>
          </a:bodyPr>
          <a:lstStyle/>
          <a:p>
            <a:pPr algn="ctr">
              <a:lnSpc>
                <a:spcPts val="3239"/>
              </a:lnSpc>
              <a:spcBef>
                <a:spcPct val="0"/>
              </a:spcBef>
            </a:pPr>
            <a:r>
              <a:rPr lang="en-US" sz="2699">
                <a:solidFill>
                  <a:srgbClr val="000000"/>
                </a:solidFill>
                <a:latin typeface="Calibri (MS)"/>
                <a:ea typeface="Calibri (MS)"/>
                <a:cs typeface="Calibri (MS)"/>
                <a:sym typeface="Calibri (MS)"/>
              </a:rPr>
              <a:t>✔ Réduit le surapprentissage</a:t>
            </a:r>
          </a:p>
          <a:p>
            <a:pPr algn="ctr">
              <a:lnSpc>
                <a:spcPts val="3239"/>
              </a:lnSpc>
              <a:spcBef>
                <a:spcPct val="0"/>
              </a:spcBef>
            </a:pPr>
            <a:r>
              <a:rPr lang="en-US" sz="2699">
                <a:solidFill>
                  <a:srgbClr val="000000"/>
                </a:solidFill>
                <a:latin typeface="Calibri (MS)"/>
                <a:ea typeface="Calibri (MS)"/>
                <a:cs typeface="Calibri (MS)"/>
                <a:sym typeface="Calibri (MS)"/>
              </a:rPr>
              <a:t>✔ Améliore la stabilité </a:t>
            </a:r>
          </a:p>
        </p:txBody>
      </p:sp>
      <p:sp>
        <p:nvSpPr>
          <p:cNvPr name="TextBox 84" id="84"/>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A1 —  Avantages et Limites de Bootstrap et Bagging </a:t>
              </a:r>
            </a:p>
          </p:txBody>
        </p:sp>
      </p:grpSp>
      <p:grpSp>
        <p:nvGrpSpPr>
          <p:cNvPr name="Group 8" id="8"/>
          <p:cNvGrpSpPr/>
          <p:nvPr/>
        </p:nvGrpSpPr>
        <p:grpSpPr>
          <a:xfrm rot="0">
            <a:off x="790309" y="2163580"/>
            <a:ext cx="8737038" cy="2982183"/>
            <a:chOff x="0" y="0"/>
            <a:chExt cx="11649384" cy="3976244"/>
          </a:xfrm>
        </p:grpSpPr>
        <p:sp>
          <p:nvSpPr>
            <p:cNvPr name="Freeform 9" id="9"/>
            <p:cNvSpPr/>
            <p:nvPr/>
          </p:nvSpPr>
          <p:spPr>
            <a:xfrm flipH="false" flipV="false" rot="0">
              <a:off x="8572" y="36057"/>
              <a:ext cx="11632195" cy="3903940"/>
            </a:xfrm>
            <a:custGeom>
              <a:avLst/>
              <a:gdLst/>
              <a:ahLst/>
              <a:cxnLst/>
              <a:rect r="r" b="b" t="t" l="l"/>
              <a:pathLst>
                <a:path h="3903940" w="11632195">
                  <a:moveTo>
                    <a:pt x="0" y="0"/>
                  </a:moveTo>
                  <a:lnTo>
                    <a:pt x="11632195" y="0"/>
                  </a:lnTo>
                  <a:lnTo>
                    <a:pt x="11632195" y="3903940"/>
                  </a:lnTo>
                  <a:lnTo>
                    <a:pt x="0" y="3903940"/>
                  </a:lnTo>
                  <a:close/>
                </a:path>
              </a:pathLst>
            </a:custGeom>
            <a:solidFill>
              <a:srgbClr val="E8F5E8"/>
            </a:solidFill>
          </p:spPr>
        </p:sp>
        <p:sp>
          <p:nvSpPr>
            <p:cNvPr name="Freeform 10" id="10"/>
            <p:cNvSpPr/>
            <p:nvPr/>
          </p:nvSpPr>
          <p:spPr>
            <a:xfrm flipH="false" flipV="false" rot="0">
              <a:off x="0" y="0"/>
              <a:ext cx="11649339" cy="3976055"/>
            </a:xfrm>
            <a:custGeom>
              <a:avLst/>
              <a:gdLst/>
              <a:ahLst/>
              <a:cxnLst/>
              <a:rect r="r" b="b" t="t" l="l"/>
              <a:pathLst>
                <a:path h="3976055" w="11649339">
                  <a:moveTo>
                    <a:pt x="8572" y="0"/>
                  </a:moveTo>
                  <a:lnTo>
                    <a:pt x="11640767" y="0"/>
                  </a:lnTo>
                  <a:cubicBezTo>
                    <a:pt x="11645536" y="0"/>
                    <a:pt x="11649339" y="16266"/>
                    <a:pt x="11649339" y="36057"/>
                  </a:cubicBezTo>
                  <a:lnTo>
                    <a:pt x="11649339" y="3939997"/>
                  </a:lnTo>
                  <a:cubicBezTo>
                    <a:pt x="11649339" y="3960059"/>
                    <a:pt x="11645473" y="3976055"/>
                    <a:pt x="11640767" y="3976055"/>
                  </a:cubicBezTo>
                  <a:lnTo>
                    <a:pt x="8572" y="3976055"/>
                  </a:lnTo>
                  <a:cubicBezTo>
                    <a:pt x="3803" y="3976055"/>
                    <a:pt x="0" y="3959788"/>
                    <a:pt x="0" y="3939997"/>
                  </a:cubicBezTo>
                  <a:lnTo>
                    <a:pt x="0" y="36057"/>
                  </a:lnTo>
                  <a:cubicBezTo>
                    <a:pt x="0" y="16266"/>
                    <a:pt x="3867" y="0"/>
                    <a:pt x="8572" y="0"/>
                  </a:cubicBezTo>
                  <a:moveTo>
                    <a:pt x="8572" y="72386"/>
                  </a:moveTo>
                  <a:lnTo>
                    <a:pt x="8572" y="36057"/>
                  </a:lnTo>
                  <a:lnTo>
                    <a:pt x="17209" y="36057"/>
                  </a:lnTo>
                  <a:lnTo>
                    <a:pt x="17209" y="3939997"/>
                  </a:lnTo>
                  <a:lnTo>
                    <a:pt x="8572" y="3939997"/>
                  </a:lnTo>
                  <a:lnTo>
                    <a:pt x="8572" y="3903940"/>
                  </a:lnTo>
                  <a:lnTo>
                    <a:pt x="11640767" y="3903940"/>
                  </a:lnTo>
                  <a:lnTo>
                    <a:pt x="11640767" y="3939997"/>
                  </a:lnTo>
                  <a:lnTo>
                    <a:pt x="11632195" y="3939997"/>
                  </a:lnTo>
                  <a:lnTo>
                    <a:pt x="11632195" y="36057"/>
                  </a:lnTo>
                  <a:lnTo>
                    <a:pt x="11640767" y="36057"/>
                  </a:lnTo>
                  <a:lnTo>
                    <a:pt x="11640767" y="72386"/>
                  </a:lnTo>
                  <a:lnTo>
                    <a:pt x="8572" y="72386"/>
                  </a:lnTo>
                  <a:close/>
                </a:path>
              </a:pathLst>
            </a:custGeom>
            <a:solidFill>
              <a:srgbClr val="5B9E3D"/>
            </a:solidFill>
          </p:spPr>
        </p:sp>
      </p:grpSp>
      <p:sp>
        <p:nvSpPr>
          <p:cNvPr name="TextBox 11" id="11"/>
          <p:cNvSpPr txBox="true"/>
          <p:nvPr/>
        </p:nvSpPr>
        <p:spPr>
          <a:xfrm rot="0">
            <a:off x="1028700" y="2466812"/>
            <a:ext cx="8498647" cy="2581275"/>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Les avantages de Bootstrap</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P</a:t>
            </a:r>
            <a:r>
              <a:rPr lang="en-US" sz="2799">
                <a:solidFill>
                  <a:srgbClr val="000000"/>
                </a:solidFill>
                <a:latin typeface="Calibri (MS)"/>
                <a:ea typeface="Calibri (MS)"/>
                <a:cs typeface="Calibri (MS)"/>
                <a:sym typeface="Calibri (MS)"/>
              </a:rPr>
              <a:t>ermet de créer plusieurs échantillons à partir d’un seul dataset</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Utile quand les données sont limitées</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Simple et efficace</a:t>
            </a:r>
          </a:p>
          <a:p>
            <a:pPr algn="l">
              <a:lnSpc>
                <a:spcPts val="3359"/>
              </a:lnSpc>
            </a:pPr>
          </a:p>
        </p:txBody>
      </p:sp>
      <p:grpSp>
        <p:nvGrpSpPr>
          <p:cNvPr name="Group 12" id="12"/>
          <p:cNvGrpSpPr/>
          <p:nvPr/>
        </p:nvGrpSpPr>
        <p:grpSpPr>
          <a:xfrm rot="0">
            <a:off x="10514847" y="2163580"/>
            <a:ext cx="7224513" cy="2884507"/>
            <a:chOff x="0" y="0"/>
            <a:chExt cx="9294015" cy="3710790"/>
          </a:xfrm>
        </p:grpSpPr>
        <p:sp>
          <p:nvSpPr>
            <p:cNvPr name="Freeform 13" id="13"/>
            <p:cNvSpPr/>
            <p:nvPr/>
          </p:nvSpPr>
          <p:spPr>
            <a:xfrm flipH="false" flipV="false" rot="0">
              <a:off x="6839" y="33650"/>
              <a:ext cx="9280301" cy="3643313"/>
            </a:xfrm>
            <a:custGeom>
              <a:avLst/>
              <a:gdLst/>
              <a:ahLst/>
              <a:cxnLst/>
              <a:rect r="r" b="b" t="t" l="l"/>
              <a:pathLst>
                <a:path h="3643313" w="9280301">
                  <a:moveTo>
                    <a:pt x="0" y="0"/>
                  </a:moveTo>
                  <a:lnTo>
                    <a:pt x="9280301" y="0"/>
                  </a:lnTo>
                  <a:lnTo>
                    <a:pt x="9280301" y="3643313"/>
                  </a:lnTo>
                  <a:lnTo>
                    <a:pt x="0" y="3643313"/>
                  </a:lnTo>
                  <a:close/>
                </a:path>
              </a:pathLst>
            </a:custGeom>
            <a:solidFill>
              <a:srgbClr val="C0392B">
                <a:alpha val="17647"/>
              </a:srgbClr>
            </a:solidFill>
          </p:spPr>
        </p:sp>
        <p:sp>
          <p:nvSpPr>
            <p:cNvPr name="Freeform 14" id="14"/>
            <p:cNvSpPr/>
            <p:nvPr/>
          </p:nvSpPr>
          <p:spPr>
            <a:xfrm flipH="false" flipV="false" rot="0">
              <a:off x="0" y="0"/>
              <a:ext cx="9293979" cy="3710613"/>
            </a:xfrm>
            <a:custGeom>
              <a:avLst/>
              <a:gdLst/>
              <a:ahLst/>
              <a:cxnLst/>
              <a:rect r="r" b="b" t="t" l="l"/>
              <a:pathLst>
                <a:path h="3710613" w="9293979">
                  <a:moveTo>
                    <a:pt x="6839" y="0"/>
                  </a:moveTo>
                  <a:lnTo>
                    <a:pt x="9287140" y="0"/>
                  </a:lnTo>
                  <a:cubicBezTo>
                    <a:pt x="9290945" y="0"/>
                    <a:pt x="9293979" y="15180"/>
                    <a:pt x="9293979" y="33650"/>
                  </a:cubicBezTo>
                  <a:lnTo>
                    <a:pt x="9293979" y="3676963"/>
                  </a:lnTo>
                  <a:cubicBezTo>
                    <a:pt x="9293979" y="3695686"/>
                    <a:pt x="9290894" y="3710613"/>
                    <a:pt x="9287140" y="3710613"/>
                  </a:cubicBezTo>
                  <a:lnTo>
                    <a:pt x="6839" y="3710613"/>
                  </a:lnTo>
                  <a:cubicBezTo>
                    <a:pt x="3034" y="3710613"/>
                    <a:pt x="0" y="3695433"/>
                    <a:pt x="0" y="3676963"/>
                  </a:cubicBezTo>
                  <a:lnTo>
                    <a:pt x="0" y="33650"/>
                  </a:lnTo>
                  <a:cubicBezTo>
                    <a:pt x="0" y="15180"/>
                    <a:pt x="3085" y="0"/>
                    <a:pt x="6839" y="0"/>
                  </a:cubicBezTo>
                  <a:moveTo>
                    <a:pt x="6839" y="67553"/>
                  </a:moveTo>
                  <a:lnTo>
                    <a:pt x="6839" y="33650"/>
                  </a:lnTo>
                  <a:lnTo>
                    <a:pt x="13729" y="33650"/>
                  </a:lnTo>
                  <a:lnTo>
                    <a:pt x="13729" y="3676963"/>
                  </a:lnTo>
                  <a:lnTo>
                    <a:pt x="6839" y="3676963"/>
                  </a:lnTo>
                  <a:lnTo>
                    <a:pt x="6839" y="3643313"/>
                  </a:lnTo>
                  <a:lnTo>
                    <a:pt x="9287140" y="3643313"/>
                  </a:lnTo>
                  <a:lnTo>
                    <a:pt x="9287140" y="3676963"/>
                  </a:lnTo>
                  <a:lnTo>
                    <a:pt x="9280302" y="3676963"/>
                  </a:lnTo>
                  <a:lnTo>
                    <a:pt x="9280302" y="33650"/>
                  </a:lnTo>
                  <a:lnTo>
                    <a:pt x="9287140" y="33650"/>
                  </a:lnTo>
                  <a:lnTo>
                    <a:pt x="9287140" y="67553"/>
                  </a:lnTo>
                  <a:lnTo>
                    <a:pt x="6839" y="67553"/>
                  </a:lnTo>
                  <a:close/>
                </a:path>
              </a:pathLst>
            </a:custGeom>
            <a:solidFill>
              <a:srgbClr val="5B9E3D">
                <a:alpha val="17647"/>
              </a:srgbClr>
            </a:solidFill>
          </p:spPr>
        </p:sp>
      </p:grpSp>
      <p:sp>
        <p:nvSpPr>
          <p:cNvPr name="TextBox 15" id="15"/>
          <p:cNvSpPr txBox="true"/>
          <p:nvPr/>
        </p:nvSpPr>
        <p:spPr>
          <a:xfrm rot="0">
            <a:off x="10676345" y="2052650"/>
            <a:ext cx="5563997" cy="2995438"/>
          </a:xfrm>
          <a:prstGeom prst="rect">
            <a:avLst/>
          </a:prstGeom>
        </p:spPr>
        <p:txBody>
          <a:bodyPr anchor="t" rtlCol="false" tIns="0" lIns="0" bIns="0" rIns="0">
            <a:spAutoFit/>
          </a:bodyPr>
          <a:lstStyle/>
          <a:p>
            <a:pPr algn="l">
              <a:lnSpc>
                <a:spcPts val="3354"/>
              </a:lnSpc>
            </a:pPr>
          </a:p>
          <a:p>
            <a:pPr algn="l">
              <a:lnSpc>
                <a:spcPts val="3354"/>
              </a:lnSpc>
            </a:pPr>
            <a:r>
              <a:rPr lang="en-US" sz="2795" b="true">
                <a:solidFill>
                  <a:srgbClr val="000000"/>
                </a:solidFill>
                <a:latin typeface="Calibri (MS) Bold"/>
                <a:ea typeface="Calibri (MS) Bold"/>
                <a:cs typeface="Calibri (MS) Bold"/>
                <a:sym typeface="Calibri (MS) Bold"/>
              </a:rPr>
              <a:t>Les limites de Bootstrap</a:t>
            </a:r>
          </a:p>
          <a:p>
            <a:pPr algn="l" marL="603499" indent="-301749" lvl="1">
              <a:lnSpc>
                <a:spcPts val="3354"/>
              </a:lnSpc>
              <a:buFont typeface="Arial"/>
              <a:buChar char="•"/>
            </a:pPr>
            <a:r>
              <a:rPr lang="en-US" sz="2795">
                <a:solidFill>
                  <a:srgbClr val="000000"/>
                </a:solidFill>
                <a:latin typeface="Calibri (MS)"/>
                <a:ea typeface="Calibri (MS)"/>
                <a:cs typeface="Calibri (MS)"/>
                <a:sym typeface="Calibri (MS)"/>
              </a:rPr>
              <a:t>Les échantillons peuvent être biaisés (doublons)</a:t>
            </a:r>
          </a:p>
          <a:p>
            <a:pPr algn="l" marL="603499" indent="-301749" lvl="1">
              <a:lnSpc>
                <a:spcPts val="3354"/>
              </a:lnSpc>
              <a:buFont typeface="Arial"/>
              <a:buChar char="•"/>
            </a:pPr>
            <a:r>
              <a:rPr lang="en-US" sz="2795">
                <a:solidFill>
                  <a:srgbClr val="000000"/>
                </a:solidFill>
                <a:latin typeface="Calibri (MS)"/>
                <a:ea typeface="Calibri (MS)"/>
                <a:cs typeface="Calibri (MS)"/>
                <a:sym typeface="Calibri (MS)"/>
              </a:rPr>
              <a:t>Ne crée pas de nouvelles informations</a:t>
            </a:r>
          </a:p>
          <a:p>
            <a:pPr algn="l">
              <a:lnSpc>
                <a:spcPts val="3354"/>
              </a:lnSpc>
            </a:pPr>
          </a:p>
        </p:txBody>
      </p:sp>
      <p:grpSp>
        <p:nvGrpSpPr>
          <p:cNvPr name="Group 16" id="16"/>
          <p:cNvGrpSpPr/>
          <p:nvPr/>
        </p:nvGrpSpPr>
        <p:grpSpPr>
          <a:xfrm rot="0">
            <a:off x="790309" y="6048643"/>
            <a:ext cx="8737038" cy="2982183"/>
            <a:chOff x="0" y="0"/>
            <a:chExt cx="11649384" cy="3976244"/>
          </a:xfrm>
        </p:grpSpPr>
        <p:sp>
          <p:nvSpPr>
            <p:cNvPr name="Freeform 17" id="17"/>
            <p:cNvSpPr/>
            <p:nvPr/>
          </p:nvSpPr>
          <p:spPr>
            <a:xfrm flipH="false" flipV="false" rot="0">
              <a:off x="8572" y="36057"/>
              <a:ext cx="11632195" cy="3903940"/>
            </a:xfrm>
            <a:custGeom>
              <a:avLst/>
              <a:gdLst/>
              <a:ahLst/>
              <a:cxnLst/>
              <a:rect r="r" b="b" t="t" l="l"/>
              <a:pathLst>
                <a:path h="3903940" w="11632195">
                  <a:moveTo>
                    <a:pt x="0" y="0"/>
                  </a:moveTo>
                  <a:lnTo>
                    <a:pt x="11632195" y="0"/>
                  </a:lnTo>
                  <a:lnTo>
                    <a:pt x="11632195" y="3903940"/>
                  </a:lnTo>
                  <a:lnTo>
                    <a:pt x="0" y="3903940"/>
                  </a:lnTo>
                  <a:close/>
                </a:path>
              </a:pathLst>
            </a:custGeom>
            <a:solidFill>
              <a:srgbClr val="E8F5E8"/>
            </a:solidFill>
          </p:spPr>
        </p:sp>
        <p:sp>
          <p:nvSpPr>
            <p:cNvPr name="Freeform 18" id="18"/>
            <p:cNvSpPr/>
            <p:nvPr/>
          </p:nvSpPr>
          <p:spPr>
            <a:xfrm flipH="false" flipV="false" rot="0">
              <a:off x="0" y="0"/>
              <a:ext cx="11649339" cy="3976055"/>
            </a:xfrm>
            <a:custGeom>
              <a:avLst/>
              <a:gdLst/>
              <a:ahLst/>
              <a:cxnLst/>
              <a:rect r="r" b="b" t="t" l="l"/>
              <a:pathLst>
                <a:path h="3976055" w="11649339">
                  <a:moveTo>
                    <a:pt x="8572" y="0"/>
                  </a:moveTo>
                  <a:lnTo>
                    <a:pt x="11640767" y="0"/>
                  </a:lnTo>
                  <a:cubicBezTo>
                    <a:pt x="11645536" y="0"/>
                    <a:pt x="11649339" y="16266"/>
                    <a:pt x="11649339" y="36057"/>
                  </a:cubicBezTo>
                  <a:lnTo>
                    <a:pt x="11649339" y="3939997"/>
                  </a:lnTo>
                  <a:cubicBezTo>
                    <a:pt x="11649339" y="3960059"/>
                    <a:pt x="11645473" y="3976055"/>
                    <a:pt x="11640767" y="3976055"/>
                  </a:cubicBezTo>
                  <a:lnTo>
                    <a:pt x="8572" y="3976055"/>
                  </a:lnTo>
                  <a:cubicBezTo>
                    <a:pt x="3803" y="3976055"/>
                    <a:pt x="0" y="3959788"/>
                    <a:pt x="0" y="3939997"/>
                  </a:cubicBezTo>
                  <a:lnTo>
                    <a:pt x="0" y="36057"/>
                  </a:lnTo>
                  <a:cubicBezTo>
                    <a:pt x="0" y="16266"/>
                    <a:pt x="3867" y="0"/>
                    <a:pt x="8572" y="0"/>
                  </a:cubicBezTo>
                  <a:moveTo>
                    <a:pt x="8572" y="72386"/>
                  </a:moveTo>
                  <a:lnTo>
                    <a:pt x="8572" y="36057"/>
                  </a:lnTo>
                  <a:lnTo>
                    <a:pt x="17209" y="36057"/>
                  </a:lnTo>
                  <a:lnTo>
                    <a:pt x="17209" y="3939997"/>
                  </a:lnTo>
                  <a:lnTo>
                    <a:pt x="8572" y="3939997"/>
                  </a:lnTo>
                  <a:lnTo>
                    <a:pt x="8572" y="3903940"/>
                  </a:lnTo>
                  <a:lnTo>
                    <a:pt x="11640767" y="3903940"/>
                  </a:lnTo>
                  <a:lnTo>
                    <a:pt x="11640767" y="3939997"/>
                  </a:lnTo>
                  <a:lnTo>
                    <a:pt x="11632195" y="3939997"/>
                  </a:lnTo>
                  <a:lnTo>
                    <a:pt x="11632195" y="36057"/>
                  </a:lnTo>
                  <a:lnTo>
                    <a:pt x="11640767" y="36057"/>
                  </a:lnTo>
                  <a:lnTo>
                    <a:pt x="11640767" y="72386"/>
                  </a:lnTo>
                  <a:lnTo>
                    <a:pt x="8572" y="72386"/>
                  </a:lnTo>
                  <a:close/>
                </a:path>
              </a:pathLst>
            </a:custGeom>
            <a:solidFill>
              <a:srgbClr val="5B9E3D"/>
            </a:solidFill>
          </p:spPr>
        </p:sp>
      </p:grpSp>
      <p:sp>
        <p:nvSpPr>
          <p:cNvPr name="TextBox 19" id="19"/>
          <p:cNvSpPr txBox="true"/>
          <p:nvPr/>
        </p:nvSpPr>
        <p:spPr>
          <a:xfrm rot="0">
            <a:off x="1028700" y="6351875"/>
            <a:ext cx="8498647" cy="3000375"/>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Les avantages de Bagging</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Rédui</a:t>
            </a:r>
            <a:r>
              <a:rPr lang="en-US" sz="2799">
                <a:solidFill>
                  <a:srgbClr val="000000"/>
                </a:solidFill>
                <a:latin typeface="Calibri (MS)"/>
                <a:ea typeface="Calibri (MS)"/>
                <a:cs typeface="Calibri (MS)"/>
                <a:sym typeface="Calibri (MS)"/>
              </a:rPr>
              <a:t>t la variance</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Améliore la stabilité du modèle</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Diminue le surapprentissage (overfitting)</a:t>
            </a:r>
          </a:p>
          <a:p>
            <a:pPr algn="l" marL="604516" indent="-302258" lvl="1">
              <a:lnSpc>
                <a:spcPts val="3359"/>
              </a:lnSpc>
              <a:buFont typeface="Arial"/>
              <a:buChar char="•"/>
            </a:pPr>
            <a:r>
              <a:rPr lang="en-US" sz="2799">
                <a:solidFill>
                  <a:srgbClr val="000000"/>
                </a:solidFill>
                <a:latin typeface="Calibri (MS)"/>
                <a:ea typeface="Calibri (MS)"/>
                <a:cs typeface="Calibri (MS)"/>
                <a:sym typeface="Calibri (MS)"/>
              </a:rPr>
              <a:t>Améliore les performances globales</a:t>
            </a:r>
          </a:p>
          <a:p>
            <a:pPr algn="l">
              <a:lnSpc>
                <a:spcPts val="3359"/>
              </a:lnSpc>
            </a:pPr>
          </a:p>
          <a:p>
            <a:pPr algn="l">
              <a:lnSpc>
                <a:spcPts val="3359"/>
              </a:lnSpc>
            </a:pPr>
          </a:p>
        </p:txBody>
      </p:sp>
      <p:grpSp>
        <p:nvGrpSpPr>
          <p:cNvPr name="Group 20" id="20"/>
          <p:cNvGrpSpPr/>
          <p:nvPr/>
        </p:nvGrpSpPr>
        <p:grpSpPr>
          <a:xfrm rot="0">
            <a:off x="10514847" y="6048643"/>
            <a:ext cx="7224513" cy="2982183"/>
            <a:chOff x="0" y="0"/>
            <a:chExt cx="9294015" cy="3836446"/>
          </a:xfrm>
        </p:grpSpPr>
        <p:sp>
          <p:nvSpPr>
            <p:cNvPr name="Freeform 21" id="21"/>
            <p:cNvSpPr/>
            <p:nvPr/>
          </p:nvSpPr>
          <p:spPr>
            <a:xfrm flipH="false" flipV="false" rot="0">
              <a:off x="6839" y="34790"/>
              <a:ext cx="9280301" cy="3766684"/>
            </a:xfrm>
            <a:custGeom>
              <a:avLst/>
              <a:gdLst/>
              <a:ahLst/>
              <a:cxnLst/>
              <a:rect r="r" b="b" t="t" l="l"/>
              <a:pathLst>
                <a:path h="3766684" w="9280301">
                  <a:moveTo>
                    <a:pt x="0" y="0"/>
                  </a:moveTo>
                  <a:lnTo>
                    <a:pt x="9280301" y="0"/>
                  </a:lnTo>
                  <a:lnTo>
                    <a:pt x="9280301" y="3766684"/>
                  </a:lnTo>
                  <a:lnTo>
                    <a:pt x="0" y="3766684"/>
                  </a:lnTo>
                  <a:close/>
                </a:path>
              </a:pathLst>
            </a:custGeom>
            <a:solidFill>
              <a:srgbClr val="C0392B">
                <a:alpha val="17647"/>
              </a:srgbClr>
            </a:solidFill>
          </p:spPr>
        </p:sp>
        <p:sp>
          <p:nvSpPr>
            <p:cNvPr name="Freeform 22" id="22"/>
            <p:cNvSpPr/>
            <p:nvPr/>
          </p:nvSpPr>
          <p:spPr>
            <a:xfrm flipH="false" flipV="false" rot="0">
              <a:off x="0" y="0"/>
              <a:ext cx="9293979" cy="3836264"/>
            </a:xfrm>
            <a:custGeom>
              <a:avLst/>
              <a:gdLst/>
              <a:ahLst/>
              <a:cxnLst/>
              <a:rect r="r" b="b" t="t" l="l"/>
              <a:pathLst>
                <a:path h="3836264" w="9293979">
                  <a:moveTo>
                    <a:pt x="6839" y="0"/>
                  </a:moveTo>
                  <a:lnTo>
                    <a:pt x="9287140" y="0"/>
                  </a:lnTo>
                  <a:cubicBezTo>
                    <a:pt x="9290945" y="0"/>
                    <a:pt x="9293979" y="15695"/>
                    <a:pt x="9293979" y="34790"/>
                  </a:cubicBezTo>
                  <a:lnTo>
                    <a:pt x="9293979" y="3801474"/>
                  </a:lnTo>
                  <a:cubicBezTo>
                    <a:pt x="9293979" y="3820830"/>
                    <a:pt x="9290894" y="3836264"/>
                    <a:pt x="9287140" y="3836264"/>
                  </a:cubicBezTo>
                  <a:lnTo>
                    <a:pt x="6839" y="3836264"/>
                  </a:lnTo>
                  <a:cubicBezTo>
                    <a:pt x="3034" y="3836264"/>
                    <a:pt x="0" y="3820569"/>
                    <a:pt x="0" y="3801474"/>
                  </a:cubicBezTo>
                  <a:lnTo>
                    <a:pt x="0" y="34790"/>
                  </a:lnTo>
                  <a:cubicBezTo>
                    <a:pt x="0" y="15695"/>
                    <a:pt x="3085" y="0"/>
                    <a:pt x="6839" y="0"/>
                  </a:cubicBezTo>
                  <a:moveTo>
                    <a:pt x="6839" y="69841"/>
                  </a:moveTo>
                  <a:lnTo>
                    <a:pt x="6839" y="34790"/>
                  </a:lnTo>
                  <a:lnTo>
                    <a:pt x="13729" y="34790"/>
                  </a:lnTo>
                  <a:lnTo>
                    <a:pt x="13729" y="3801474"/>
                  </a:lnTo>
                  <a:lnTo>
                    <a:pt x="6839" y="3801474"/>
                  </a:lnTo>
                  <a:lnTo>
                    <a:pt x="6839" y="3766684"/>
                  </a:lnTo>
                  <a:lnTo>
                    <a:pt x="9287140" y="3766684"/>
                  </a:lnTo>
                  <a:lnTo>
                    <a:pt x="9287140" y="3801474"/>
                  </a:lnTo>
                  <a:lnTo>
                    <a:pt x="9280302" y="3801474"/>
                  </a:lnTo>
                  <a:lnTo>
                    <a:pt x="9280302" y="34790"/>
                  </a:lnTo>
                  <a:lnTo>
                    <a:pt x="9287140" y="34790"/>
                  </a:lnTo>
                  <a:lnTo>
                    <a:pt x="9287140" y="69841"/>
                  </a:lnTo>
                  <a:lnTo>
                    <a:pt x="6839" y="69841"/>
                  </a:lnTo>
                  <a:close/>
                </a:path>
              </a:pathLst>
            </a:custGeom>
            <a:solidFill>
              <a:srgbClr val="5B9E3D">
                <a:alpha val="17647"/>
              </a:srgbClr>
            </a:solidFill>
          </p:spPr>
        </p:sp>
      </p:grpSp>
      <p:sp>
        <p:nvSpPr>
          <p:cNvPr name="TextBox 23" id="23"/>
          <p:cNvSpPr txBox="true"/>
          <p:nvPr/>
        </p:nvSpPr>
        <p:spPr>
          <a:xfrm rot="0">
            <a:off x="10769258" y="6262862"/>
            <a:ext cx="6715691" cy="2995438"/>
          </a:xfrm>
          <a:prstGeom prst="rect">
            <a:avLst/>
          </a:prstGeom>
        </p:spPr>
        <p:txBody>
          <a:bodyPr anchor="t" rtlCol="false" tIns="0" lIns="0" bIns="0" rIns="0">
            <a:spAutoFit/>
          </a:bodyPr>
          <a:lstStyle/>
          <a:p>
            <a:pPr algn="l">
              <a:lnSpc>
                <a:spcPts val="3354"/>
              </a:lnSpc>
            </a:pPr>
            <a:r>
              <a:rPr lang="en-US" sz="2795" b="true">
                <a:solidFill>
                  <a:srgbClr val="000000"/>
                </a:solidFill>
                <a:latin typeface="Calibri (MS) Bold"/>
                <a:ea typeface="Calibri (MS) Bold"/>
                <a:cs typeface="Calibri (MS) Bold"/>
                <a:sym typeface="Calibri (MS) Bold"/>
              </a:rPr>
              <a:t>Les limites de Bagging</a:t>
            </a:r>
          </a:p>
          <a:p>
            <a:pPr algn="l" marL="603499" indent="-301749" lvl="1">
              <a:lnSpc>
                <a:spcPts val="3354"/>
              </a:lnSpc>
              <a:buFont typeface="Arial"/>
              <a:buChar char="•"/>
            </a:pPr>
            <a:r>
              <a:rPr lang="en-US" sz="2795">
                <a:solidFill>
                  <a:srgbClr val="000000"/>
                </a:solidFill>
                <a:latin typeface="Calibri (MS)"/>
                <a:ea typeface="Calibri (MS)"/>
                <a:cs typeface="Calibri (MS)"/>
                <a:sym typeface="Calibri (MS)"/>
              </a:rPr>
              <a:t>Moins interprétable (plusieurs modèles)</a:t>
            </a:r>
          </a:p>
          <a:p>
            <a:pPr algn="l" marL="603499" indent="-301749" lvl="1">
              <a:lnSpc>
                <a:spcPts val="3354"/>
              </a:lnSpc>
              <a:buFont typeface="Arial"/>
              <a:buChar char="•"/>
            </a:pPr>
            <a:r>
              <a:rPr lang="en-US" sz="2795">
                <a:solidFill>
                  <a:srgbClr val="000000"/>
                </a:solidFill>
                <a:latin typeface="Calibri (MS)"/>
                <a:ea typeface="Calibri (MS)"/>
                <a:cs typeface="Calibri (MS)"/>
                <a:sym typeface="Calibri (MS)"/>
              </a:rPr>
              <a:t>Coût de calcul élevé (plusieurs entraînements)</a:t>
            </a:r>
          </a:p>
          <a:p>
            <a:pPr algn="l" marL="603499" indent="-301749" lvl="1">
              <a:lnSpc>
                <a:spcPts val="3354"/>
              </a:lnSpc>
              <a:buFont typeface="Arial"/>
              <a:buChar char="•"/>
            </a:pPr>
            <a:r>
              <a:rPr lang="en-US" sz="2795">
                <a:solidFill>
                  <a:srgbClr val="000000"/>
                </a:solidFill>
                <a:latin typeface="Calibri (MS)"/>
                <a:ea typeface="Calibri (MS)"/>
                <a:cs typeface="Calibri (MS)"/>
                <a:sym typeface="Calibri (MS)"/>
              </a:rPr>
              <a:t>Ne réduit pas le biais (juste la variance)</a:t>
            </a:r>
          </a:p>
          <a:p>
            <a:pPr algn="l">
              <a:lnSpc>
                <a:spcPts val="3354"/>
              </a:lnSpc>
            </a:pPr>
          </a:p>
          <a:p>
            <a:pPr algn="l">
              <a:lnSpc>
                <a:spcPts val="3354"/>
              </a:lnSpc>
            </a:pPr>
          </a:p>
        </p:txBody>
      </p:sp>
      <p:sp>
        <p:nvSpPr>
          <p:cNvPr name="TextBox 24" id="24"/>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12697" y="2817624"/>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5B9E3D"/>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5B9E3D"/>
            </a:solidFill>
          </p:spPr>
        </p:sp>
      </p:grpSp>
      <p:grpSp>
        <p:nvGrpSpPr>
          <p:cNvPr name="Group 5" id="5"/>
          <p:cNvGrpSpPr/>
          <p:nvPr/>
        </p:nvGrpSpPr>
        <p:grpSpPr>
          <a:xfrm rot="0">
            <a:off x="220619" y="-71368"/>
            <a:ext cx="2976477" cy="3217664"/>
            <a:chOff x="0" y="0"/>
            <a:chExt cx="3968636" cy="4290219"/>
          </a:xfrm>
        </p:grpSpPr>
        <p:sp>
          <p:nvSpPr>
            <p:cNvPr name="Freeform 6" id="6"/>
            <p:cNvSpPr/>
            <p:nvPr/>
          </p:nvSpPr>
          <p:spPr>
            <a:xfrm flipH="false" flipV="false" rot="0">
              <a:off x="0" y="0"/>
              <a:ext cx="3968636" cy="4290219"/>
            </a:xfrm>
            <a:custGeom>
              <a:avLst/>
              <a:gdLst/>
              <a:ahLst/>
              <a:cxnLst/>
              <a:rect r="r" b="b" t="t" l="l"/>
              <a:pathLst>
                <a:path h="4290219" w="3968636">
                  <a:moveTo>
                    <a:pt x="0" y="0"/>
                  </a:moveTo>
                  <a:lnTo>
                    <a:pt x="3968636" y="0"/>
                  </a:lnTo>
                  <a:lnTo>
                    <a:pt x="3968636" y="4290219"/>
                  </a:lnTo>
                  <a:lnTo>
                    <a:pt x="0" y="4290219"/>
                  </a:lnTo>
                  <a:close/>
                </a:path>
              </a:pathLst>
            </a:custGeom>
            <a:blipFill>
              <a:blip r:embed="rId3">
                <a:alphaModFix amt="0"/>
              </a:blip>
              <a:stretch>
                <a:fillRect l="-57733" t="0" r="-31463" b="31796"/>
              </a:stretch>
            </a:blipFill>
          </p:spPr>
        </p:sp>
        <p:sp>
          <p:nvSpPr>
            <p:cNvPr name="TextBox 7" id="7"/>
            <p:cNvSpPr txBox="true"/>
            <p:nvPr/>
          </p:nvSpPr>
          <p:spPr>
            <a:xfrm>
              <a:off x="0" y="-333375"/>
              <a:ext cx="3968636" cy="4623594"/>
            </a:xfrm>
            <a:prstGeom prst="rect">
              <a:avLst/>
            </a:prstGeom>
          </p:spPr>
          <p:txBody>
            <a:bodyPr anchor="ctr" rtlCol="false" tIns="0" lIns="0" bIns="0" rIns="0"/>
            <a:lstStyle/>
            <a:p>
              <a:pPr algn="l">
                <a:lnSpc>
                  <a:spcPts val="19200"/>
                </a:lnSpc>
              </a:pPr>
              <a:r>
                <a:rPr lang="en-US" sz="16000" b="true">
                  <a:solidFill>
                    <a:srgbClr val="5B9E3D"/>
                  </a:solidFill>
                  <a:latin typeface="Calibri (MS) Bold"/>
                  <a:ea typeface="Calibri (MS) Bold"/>
                  <a:cs typeface="Calibri (MS) Bold"/>
                  <a:sym typeface="Calibri (MS) Bold"/>
                </a:rPr>
                <a:t>A2</a:t>
              </a:r>
            </a:p>
          </p:txBody>
        </p:sp>
      </p:grpSp>
      <p:grpSp>
        <p:nvGrpSpPr>
          <p:cNvPr name="Group 8" id="8"/>
          <p:cNvGrpSpPr/>
          <p:nvPr/>
        </p:nvGrpSpPr>
        <p:grpSpPr>
          <a:xfrm rot="0">
            <a:off x="2598059" y="714504"/>
            <a:ext cx="13716000" cy="1645920"/>
            <a:chOff x="0" y="0"/>
            <a:chExt cx="18288000" cy="2194560"/>
          </a:xfrm>
        </p:grpSpPr>
        <p:sp>
          <p:nvSpPr>
            <p:cNvPr name="Freeform 9" id="9"/>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blipFill>
              <a:blip r:embed="rId3">
                <a:alphaModFix amt="0"/>
              </a:blip>
              <a:stretch>
                <a:fillRect l="0" t="-112375" r="0" b="-112375"/>
              </a:stretch>
            </a:blipFill>
          </p:spPr>
        </p:sp>
        <p:sp>
          <p:nvSpPr>
            <p:cNvPr name="TextBox 10" id="10"/>
            <p:cNvSpPr txBox="true"/>
            <p:nvPr/>
          </p:nvSpPr>
          <p:spPr>
            <a:xfrm>
              <a:off x="0" y="-171450"/>
              <a:ext cx="18288000" cy="2366010"/>
            </a:xfrm>
            <a:prstGeom prst="rect">
              <a:avLst/>
            </a:prstGeom>
          </p:spPr>
          <p:txBody>
            <a:bodyPr anchor="ctr" rtlCol="false" tIns="0" lIns="0" bIns="0" rIns="0"/>
            <a:lstStyle/>
            <a:p>
              <a:pPr algn="l">
                <a:lnSpc>
                  <a:spcPts val="10560"/>
                </a:lnSpc>
              </a:pPr>
              <a:r>
                <a:rPr lang="en-US" sz="8800" b="true">
                  <a:solidFill>
                    <a:srgbClr val="FFFFFF"/>
                  </a:solidFill>
                  <a:latin typeface="Calibri (MS) Bold"/>
                  <a:ea typeface="Calibri (MS) Bold"/>
                  <a:cs typeface="Calibri (MS) Bold"/>
                  <a:sym typeface="Calibri (MS) Bold"/>
                </a:rPr>
                <a:t>Architecture</a:t>
              </a:r>
            </a:p>
          </p:txBody>
        </p:sp>
      </p:grpSp>
      <p:grpSp>
        <p:nvGrpSpPr>
          <p:cNvPr name="Group 11" id="11"/>
          <p:cNvGrpSpPr/>
          <p:nvPr/>
        </p:nvGrpSpPr>
        <p:grpSpPr>
          <a:xfrm rot="0">
            <a:off x="4584706" y="1903224"/>
            <a:ext cx="13716000" cy="914400"/>
            <a:chOff x="0" y="0"/>
            <a:chExt cx="18288000" cy="1219200"/>
          </a:xfrm>
        </p:grpSpPr>
        <p:sp>
          <p:nvSpPr>
            <p:cNvPr name="Freeform 12" id="12"/>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3" id="13"/>
            <p:cNvSpPr txBox="true"/>
            <p:nvPr/>
          </p:nvSpPr>
          <p:spPr>
            <a:xfrm>
              <a:off x="0" y="-66675"/>
              <a:ext cx="18288000" cy="1285875"/>
            </a:xfrm>
            <a:prstGeom prst="rect">
              <a:avLst/>
            </a:prstGeom>
          </p:spPr>
          <p:txBody>
            <a:bodyPr anchor="ctr" rtlCol="false" tIns="0" lIns="0" bIns="0" rIns="0"/>
            <a:lstStyle/>
            <a:p>
              <a:pPr algn="l">
                <a:lnSpc>
                  <a:spcPts val="4320"/>
                </a:lnSpc>
              </a:pPr>
              <a:r>
                <a:rPr lang="en-US" sz="3600" i="true">
                  <a:solidFill>
                    <a:srgbClr val="97BC62"/>
                  </a:solidFill>
                  <a:latin typeface="Calibri (MS) Italics"/>
                  <a:ea typeface="Calibri (MS) Italics"/>
                  <a:cs typeface="Calibri (MS) Italics"/>
                  <a:sym typeface="Calibri (MS) Italics"/>
                </a:rPr>
                <a:t>Random Forest </a:t>
              </a:r>
              <a:r>
                <a:rPr lang="en-US" sz="3600" i="true">
                  <a:solidFill>
                    <a:srgbClr val="97BC62"/>
                  </a:solidFill>
                  <a:latin typeface="Calibri (MS) Italics"/>
                  <a:ea typeface="Calibri (MS) Italics"/>
                  <a:cs typeface="Calibri (MS) Italics"/>
                  <a:sym typeface="Calibri (MS) Italics"/>
                </a:rPr>
                <a:t>·  Schéma RF</a:t>
              </a:r>
            </a:p>
          </p:txBody>
        </p:sp>
      </p:grpSp>
      <p:sp>
        <p:nvSpPr>
          <p:cNvPr name="Freeform 14" id="14"/>
          <p:cNvSpPr/>
          <p:nvPr/>
        </p:nvSpPr>
        <p:spPr>
          <a:xfrm flipH="false" flipV="false" rot="0">
            <a:off x="220619" y="3409956"/>
            <a:ext cx="8743570" cy="5825403"/>
          </a:xfrm>
          <a:custGeom>
            <a:avLst/>
            <a:gdLst/>
            <a:ahLst/>
            <a:cxnLst/>
            <a:rect r="r" b="b" t="t" l="l"/>
            <a:pathLst>
              <a:path h="5825403" w="8743570">
                <a:moveTo>
                  <a:pt x="0" y="0"/>
                </a:moveTo>
                <a:lnTo>
                  <a:pt x="8743570" y="0"/>
                </a:lnTo>
                <a:lnTo>
                  <a:pt x="8743570" y="5825403"/>
                </a:lnTo>
                <a:lnTo>
                  <a:pt x="0" y="5825403"/>
                </a:lnTo>
                <a:lnTo>
                  <a:pt x="0" y="0"/>
                </a:lnTo>
                <a:close/>
              </a:path>
            </a:pathLst>
          </a:custGeom>
          <a:blipFill>
            <a:blip r:embed="rId4"/>
            <a:stretch>
              <a:fillRect l="0" t="0" r="0" b="0"/>
            </a:stretch>
          </a:blipFill>
        </p:spPr>
      </p:sp>
      <p:sp>
        <p:nvSpPr>
          <p:cNvPr name="TextBox 15" id="15"/>
          <p:cNvSpPr txBox="true"/>
          <p:nvPr/>
        </p:nvSpPr>
        <p:spPr>
          <a:xfrm rot="0">
            <a:off x="9456059" y="3611262"/>
            <a:ext cx="8616267" cy="5931741"/>
          </a:xfrm>
          <a:prstGeom prst="rect">
            <a:avLst/>
          </a:prstGeom>
        </p:spPr>
        <p:txBody>
          <a:bodyPr anchor="t" rtlCol="false" tIns="0" lIns="0" bIns="0" rIns="0">
            <a:spAutoFit/>
          </a:bodyPr>
          <a:lstStyle/>
          <a:p>
            <a:pPr algn="l">
              <a:lnSpc>
                <a:spcPts val="4713"/>
              </a:lnSpc>
            </a:pPr>
            <a:r>
              <a:rPr lang="en-US" sz="3366" b="true">
                <a:solidFill>
                  <a:srgbClr val="FFFFFF"/>
                </a:solidFill>
                <a:latin typeface="Open Sans Bold"/>
                <a:ea typeface="Open Sans Bold"/>
                <a:cs typeface="Open Sans Bold"/>
                <a:sym typeface="Open Sans Bold"/>
              </a:rPr>
              <a:t> Définition : </a:t>
            </a:r>
            <a:r>
              <a:rPr lang="en-US" sz="3366">
                <a:solidFill>
                  <a:srgbClr val="FFFFFF"/>
                </a:solidFill>
                <a:latin typeface="Open Sans"/>
                <a:ea typeface="Open Sans"/>
                <a:cs typeface="Open Sans"/>
                <a:sym typeface="Open Sans"/>
              </a:rPr>
              <a:t>Random Forest, une technique d’apprentissage automatique basée sur l’agrégation de plusieurs arbres de décision.</a:t>
            </a:r>
          </a:p>
          <a:p>
            <a:pPr algn="l">
              <a:lnSpc>
                <a:spcPts val="4713"/>
              </a:lnSpc>
            </a:pPr>
          </a:p>
          <a:p>
            <a:pPr algn="l">
              <a:lnSpc>
                <a:spcPts val="4713"/>
              </a:lnSpc>
            </a:pPr>
            <a:r>
              <a:rPr lang="en-US" sz="3366" b="true">
                <a:solidFill>
                  <a:srgbClr val="FFFFFF"/>
                </a:solidFill>
                <a:latin typeface="Open Sans Bold"/>
                <a:ea typeface="Open Sans Bold"/>
                <a:cs typeface="Open Sans Bold"/>
                <a:sym typeface="Open Sans Bold"/>
              </a:rPr>
              <a:t>Objectif :</a:t>
            </a:r>
            <a:r>
              <a:rPr lang="en-US" sz="3366">
                <a:solidFill>
                  <a:srgbClr val="FFFFFF"/>
                </a:solidFill>
                <a:latin typeface="Open Sans"/>
                <a:ea typeface="Open Sans"/>
                <a:cs typeface="Open Sans"/>
                <a:sym typeface="Open Sans"/>
              </a:rPr>
              <a:t> C</a:t>
            </a:r>
            <a:r>
              <a:rPr lang="en-US" sz="3366">
                <a:solidFill>
                  <a:srgbClr val="FFFFFF"/>
                </a:solidFill>
                <a:latin typeface="Open Sans"/>
                <a:ea typeface="Open Sans"/>
                <a:cs typeface="Open Sans"/>
                <a:sym typeface="Open Sans"/>
              </a:rPr>
              <a:t>ombiner plusieurs arbres pour améliorer la performance et la robustesse du modèle.</a:t>
            </a:r>
          </a:p>
          <a:p>
            <a:pPr algn="l">
              <a:lnSpc>
                <a:spcPts val="4713"/>
              </a:lnSpc>
            </a:pPr>
          </a:p>
          <a:p>
            <a:pPr algn="l">
              <a:lnSpc>
                <a:spcPts val="4993"/>
              </a:lnSpc>
            </a:pPr>
          </a:p>
        </p:txBody>
      </p:sp>
      <p:sp>
        <p:nvSpPr>
          <p:cNvPr name="TextBox 16" id="16"/>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403" y="-25403"/>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A2 — Feature Randomness · Dé-corrélation des arbres </a:t>
              </a:r>
            </a:p>
          </p:txBody>
        </p:sp>
      </p:grpSp>
      <p:grpSp>
        <p:nvGrpSpPr>
          <p:cNvPr name="Group 8" id="8"/>
          <p:cNvGrpSpPr/>
          <p:nvPr/>
        </p:nvGrpSpPr>
        <p:grpSpPr>
          <a:xfrm rot="0">
            <a:off x="790309" y="2773193"/>
            <a:ext cx="16468991" cy="6056404"/>
            <a:chOff x="0" y="0"/>
            <a:chExt cx="21958654" cy="8075206"/>
          </a:xfrm>
        </p:grpSpPr>
        <p:sp>
          <p:nvSpPr>
            <p:cNvPr name="Freeform 9" id="9"/>
            <p:cNvSpPr/>
            <p:nvPr/>
          </p:nvSpPr>
          <p:spPr>
            <a:xfrm flipH="false" flipV="false" rot="0">
              <a:off x="16158" y="73227"/>
              <a:ext cx="21926253" cy="7928366"/>
            </a:xfrm>
            <a:custGeom>
              <a:avLst/>
              <a:gdLst/>
              <a:ahLst/>
              <a:cxnLst/>
              <a:rect r="r" b="b" t="t" l="l"/>
              <a:pathLst>
                <a:path h="7928366" w="21926253">
                  <a:moveTo>
                    <a:pt x="0" y="0"/>
                  </a:moveTo>
                  <a:lnTo>
                    <a:pt x="21926253" y="0"/>
                  </a:lnTo>
                  <a:lnTo>
                    <a:pt x="21926253" y="7928367"/>
                  </a:lnTo>
                  <a:lnTo>
                    <a:pt x="0" y="7928367"/>
                  </a:lnTo>
                  <a:close/>
                </a:path>
              </a:pathLst>
            </a:custGeom>
            <a:solidFill>
              <a:srgbClr val="E8F5E8"/>
            </a:solidFill>
          </p:spPr>
        </p:sp>
        <p:sp>
          <p:nvSpPr>
            <p:cNvPr name="Freeform 10" id="10"/>
            <p:cNvSpPr/>
            <p:nvPr/>
          </p:nvSpPr>
          <p:spPr>
            <a:xfrm flipH="false" flipV="false" rot="0">
              <a:off x="0" y="0"/>
              <a:ext cx="21958570" cy="8074821"/>
            </a:xfrm>
            <a:custGeom>
              <a:avLst/>
              <a:gdLst/>
              <a:ahLst/>
              <a:cxnLst/>
              <a:rect r="r" b="b" t="t" l="l"/>
              <a:pathLst>
                <a:path h="8074821" w="21958570">
                  <a:moveTo>
                    <a:pt x="16158" y="0"/>
                  </a:moveTo>
                  <a:lnTo>
                    <a:pt x="21942411" y="0"/>
                  </a:lnTo>
                  <a:cubicBezTo>
                    <a:pt x="21951401" y="0"/>
                    <a:pt x="21958570" y="33035"/>
                    <a:pt x="21958570" y="73227"/>
                  </a:cubicBezTo>
                  <a:lnTo>
                    <a:pt x="21958570" y="8001594"/>
                  </a:lnTo>
                  <a:cubicBezTo>
                    <a:pt x="21958570" y="8042337"/>
                    <a:pt x="21951282" y="8074821"/>
                    <a:pt x="21942411" y="8074821"/>
                  </a:cubicBezTo>
                  <a:lnTo>
                    <a:pt x="16158" y="8074821"/>
                  </a:lnTo>
                  <a:cubicBezTo>
                    <a:pt x="7168" y="8074821"/>
                    <a:pt x="0" y="8041786"/>
                    <a:pt x="0" y="8001594"/>
                  </a:cubicBezTo>
                  <a:lnTo>
                    <a:pt x="0" y="73227"/>
                  </a:lnTo>
                  <a:cubicBezTo>
                    <a:pt x="0" y="33035"/>
                    <a:pt x="7289" y="0"/>
                    <a:pt x="16158" y="0"/>
                  </a:cubicBezTo>
                  <a:moveTo>
                    <a:pt x="16158" y="147005"/>
                  </a:moveTo>
                  <a:lnTo>
                    <a:pt x="16158" y="73227"/>
                  </a:lnTo>
                  <a:lnTo>
                    <a:pt x="32437" y="73227"/>
                  </a:lnTo>
                  <a:lnTo>
                    <a:pt x="32437" y="8001594"/>
                  </a:lnTo>
                  <a:lnTo>
                    <a:pt x="16158" y="8001594"/>
                  </a:lnTo>
                  <a:lnTo>
                    <a:pt x="16158" y="7928366"/>
                  </a:lnTo>
                  <a:lnTo>
                    <a:pt x="21942411" y="7928366"/>
                  </a:lnTo>
                  <a:lnTo>
                    <a:pt x="21942411" y="8001594"/>
                  </a:lnTo>
                  <a:lnTo>
                    <a:pt x="21926254" y="8001594"/>
                  </a:lnTo>
                  <a:lnTo>
                    <a:pt x="21926254" y="73227"/>
                  </a:lnTo>
                  <a:lnTo>
                    <a:pt x="21942411" y="73227"/>
                  </a:lnTo>
                  <a:lnTo>
                    <a:pt x="21942411" y="147005"/>
                  </a:lnTo>
                  <a:lnTo>
                    <a:pt x="16158" y="147005"/>
                  </a:lnTo>
                  <a:close/>
                </a:path>
              </a:pathLst>
            </a:custGeom>
            <a:solidFill>
              <a:srgbClr val="5B9E3D"/>
            </a:solidFill>
          </p:spPr>
        </p:sp>
      </p:grpSp>
      <p:sp>
        <p:nvSpPr>
          <p:cNvPr name="TextBox 11" id="11"/>
          <p:cNvSpPr txBox="true"/>
          <p:nvPr/>
        </p:nvSpPr>
        <p:spPr>
          <a:xfrm rot="0">
            <a:off x="981975" y="2861249"/>
            <a:ext cx="15368989" cy="5305425"/>
          </a:xfrm>
          <a:prstGeom prst="rect">
            <a:avLst/>
          </a:prstGeom>
        </p:spPr>
        <p:txBody>
          <a:bodyPr anchor="t" rtlCol="false" tIns="0" lIns="0" bIns="0" rIns="0">
            <a:spAutoFit/>
          </a:bodyPr>
          <a:lstStyle/>
          <a:p>
            <a:pPr algn="l">
              <a:lnSpc>
                <a:spcPts val="4199"/>
              </a:lnSpc>
            </a:pPr>
            <a:r>
              <a:rPr lang="en-US" sz="3499">
                <a:solidFill>
                  <a:srgbClr val="000000"/>
                </a:solidFill>
                <a:latin typeface="Calibri (MS)"/>
                <a:ea typeface="Calibri (MS)"/>
                <a:cs typeface="Calibri (MS)"/>
                <a:sym typeface="Calibri (MS)"/>
              </a:rPr>
              <a:t>1.  Feature Randomness (randomisation des variables)</a:t>
            </a:r>
          </a:p>
          <a:p>
            <a:pPr algn="l" marL="755642" indent="-377821" lvl="1">
              <a:lnSpc>
                <a:spcPts val="4199"/>
              </a:lnSpc>
              <a:buFont typeface="Arial"/>
              <a:buChar char="•"/>
            </a:pPr>
            <a:r>
              <a:rPr lang="en-US" b="true" sz="3499">
                <a:solidFill>
                  <a:srgbClr val="000000"/>
                </a:solidFill>
                <a:latin typeface="Calibri (MS) Bold"/>
                <a:ea typeface="Calibri (MS) Bold"/>
                <a:cs typeface="Calibri (MS) Bold"/>
                <a:sym typeface="Calibri (MS) Bold"/>
              </a:rPr>
              <a:t>Principe </a:t>
            </a:r>
            <a:r>
              <a:rPr lang="en-US" sz="3499">
                <a:solidFill>
                  <a:srgbClr val="000000"/>
                </a:solidFill>
                <a:latin typeface="Calibri (MS)"/>
                <a:ea typeface="Calibri (MS)"/>
                <a:cs typeface="Calibri (MS)"/>
                <a:sym typeface="Calibri (MS)"/>
              </a:rPr>
              <a:t>: à chaque nœud d’un arbre, on ne considère qu’un sous-ensemble aléatoire de m variables (parmi p totales).</a:t>
            </a:r>
          </a:p>
          <a:p>
            <a:pPr algn="l" marL="755642" indent="-377821" lvl="1">
              <a:lnSpc>
                <a:spcPts val="4199"/>
              </a:lnSpc>
              <a:buFont typeface="Arial"/>
              <a:buChar char="•"/>
            </a:pPr>
            <a:r>
              <a:rPr lang="en-US" b="true" sz="3499">
                <a:solidFill>
                  <a:srgbClr val="000000"/>
                </a:solidFill>
                <a:latin typeface="Calibri (MS) Bold"/>
                <a:ea typeface="Calibri (MS) Bold"/>
                <a:cs typeface="Calibri (MS) Bold"/>
                <a:sym typeface="Calibri (MS) Bold"/>
              </a:rPr>
              <a:t>Valeurs typiques</a:t>
            </a:r>
            <a:r>
              <a:rPr lang="en-US" sz="3499">
                <a:solidFill>
                  <a:srgbClr val="000000"/>
                </a:solidFill>
                <a:latin typeface="Calibri (MS)"/>
                <a:ea typeface="Calibri (MS)"/>
                <a:cs typeface="Calibri (MS)"/>
                <a:sym typeface="Calibri (MS)"/>
              </a:rPr>
              <a:t> (classification) :</a:t>
            </a:r>
          </a:p>
          <a:p>
            <a:pPr algn="l" marL="1511285" indent="-503762" lvl="2">
              <a:lnSpc>
                <a:spcPts val="4199"/>
              </a:lnSpc>
              <a:buFont typeface="Arial"/>
              <a:buChar char="⚬"/>
            </a:pPr>
            <a:r>
              <a:rPr lang="en-US" sz="3499">
                <a:solidFill>
                  <a:srgbClr val="000000"/>
                </a:solidFill>
                <a:latin typeface="Calibri (MS)"/>
                <a:ea typeface="Calibri (MS)"/>
                <a:cs typeface="Calibri (MS)"/>
                <a:sym typeface="Calibri (MS)"/>
              </a:rPr>
              <a:t>m = √p (défaut sklearn) → ici √8 ≈ 2 ou 3</a:t>
            </a:r>
          </a:p>
          <a:p>
            <a:pPr algn="l" marL="1511285" indent="-503762" lvl="2">
              <a:lnSpc>
                <a:spcPts val="4199"/>
              </a:lnSpc>
              <a:buFont typeface="Arial"/>
              <a:buChar char="⚬"/>
            </a:pPr>
            <a:r>
              <a:rPr lang="en-US" sz="3499">
                <a:solidFill>
                  <a:srgbClr val="000000"/>
                </a:solidFill>
                <a:latin typeface="Calibri (MS)"/>
                <a:ea typeface="Calibri (MS)"/>
                <a:cs typeface="Calibri (MS)"/>
                <a:sym typeface="Calibri (MS)"/>
              </a:rPr>
              <a:t>m = log2(p)+1 → ici=4</a:t>
            </a:r>
          </a:p>
          <a:p>
            <a:pPr algn="l" marL="755642" indent="-377821" lvl="1">
              <a:lnSpc>
                <a:spcPts val="4199"/>
              </a:lnSpc>
              <a:buFont typeface="Arial"/>
              <a:buChar char="•"/>
            </a:pPr>
            <a:r>
              <a:rPr lang="en-US" b="true" sz="3499">
                <a:solidFill>
                  <a:srgbClr val="000000"/>
                </a:solidFill>
                <a:latin typeface="Calibri (MS) Bold"/>
                <a:ea typeface="Calibri (MS) Bold"/>
                <a:cs typeface="Calibri (MS) Bold"/>
                <a:sym typeface="Calibri (MS) Bold"/>
              </a:rPr>
              <a:t>Résultat</a:t>
            </a:r>
            <a:r>
              <a:rPr lang="en-US" sz="3499">
                <a:solidFill>
                  <a:srgbClr val="000000"/>
                </a:solidFill>
                <a:latin typeface="Calibri (MS)"/>
                <a:ea typeface="Calibri (MS)"/>
                <a:cs typeface="Calibri (MS)"/>
                <a:sym typeface="Calibri (MS)"/>
              </a:rPr>
              <a:t> : décorrélation</a:t>
            </a:r>
          </a:p>
          <a:p>
            <a:pPr algn="l" marL="1511285" indent="-503762" lvl="2">
              <a:lnSpc>
                <a:spcPts val="4199"/>
              </a:lnSpc>
              <a:buFont typeface="Arial"/>
              <a:buChar char="⚬"/>
            </a:pPr>
            <a:r>
              <a:rPr lang="en-US" sz="3499">
                <a:solidFill>
                  <a:srgbClr val="000000"/>
                </a:solidFill>
                <a:latin typeface="Calibri (MS)"/>
                <a:ea typeface="Calibri (MS)"/>
                <a:cs typeface="Calibri (MS)"/>
                <a:sym typeface="Calibri (MS)"/>
              </a:rPr>
              <a:t>Des arbres différents = des erreurs différentes.</a:t>
            </a:r>
          </a:p>
          <a:p>
            <a:pPr algn="l" marL="1511285" indent="-503762" lvl="2">
              <a:lnSpc>
                <a:spcPts val="4199"/>
              </a:lnSpc>
              <a:buFont typeface="Arial"/>
              <a:buChar char="⚬"/>
            </a:pPr>
            <a:r>
              <a:rPr lang="en-US" sz="3499">
                <a:solidFill>
                  <a:srgbClr val="000000"/>
                </a:solidFill>
                <a:latin typeface="Calibri (MS)"/>
                <a:ea typeface="Calibri (MS)"/>
                <a:cs typeface="Calibri (MS)"/>
                <a:sym typeface="Calibri (MS)"/>
              </a:rPr>
              <a:t>La vote (majoritaire) permet de réduire la variance → meilleure généralisation du modèle.</a:t>
            </a:r>
          </a:p>
        </p:txBody>
      </p:sp>
      <p:sp>
        <p:nvSpPr>
          <p:cNvPr name="TextBox 12" id="1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19</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403" y="-25403"/>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A2 —  Pourquoi cela décorrèle les arbres ?</a:t>
              </a:r>
            </a:p>
          </p:txBody>
        </p:sp>
      </p:grpSp>
      <p:grpSp>
        <p:nvGrpSpPr>
          <p:cNvPr name="Group 8" id="8"/>
          <p:cNvGrpSpPr/>
          <p:nvPr/>
        </p:nvGrpSpPr>
        <p:grpSpPr>
          <a:xfrm rot="0">
            <a:off x="790309" y="2773193"/>
            <a:ext cx="7306301" cy="5342362"/>
            <a:chOff x="0" y="0"/>
            <a:chExt cx="9741734" cy="7123150"/>
          </a:xfrm>
        </p:grpSpPr>
        <p:sp>
          <p:nvSpPr>
            <p:cNvPr name="Freeform 9" id="9"/>
            <p:cNvSpPr/>
            <p:nvPr/>
          </p:nvSpPr>
          <p:spPr>
            <a:xfrm flipH="false" flipV="false" rot="0">
              <a:off x="7168" y="64594"/>
              <a:ext cx="9727360" cy="6993623"/>
            </a:xfrm>
            <a:custGeom>
              <a:avLst/>
              <a:gdLst/>
              <a:ahLst/>
              <a:cxnLst/>
              <a:rect r="r" b="b" t="t" l="l"/>
              <a:pathLst>
                <a:path h="6993623" w="9727360">
                  <a:moveTo>
                    <a:pt x="0" y="0"/>
                  </a:moveTo>
                  <a:lnTo>
                    <a:pt x="9727360" y="0"/>
                  </a:lnTo>
                  <a:lnTo>
                    <a:pt x="9727360" y="6993622"/>
                  </a:lnTo>
                  <a:lnTo>
                    <a:pt x="0" y="6993622"/>
                  </a:lnTo>
                  <a:close/>
                </a:path>
              </a:pathLst>
            </a:custGeom>
            <a:solidFill>
              <a:srgbClr val="E8F5E8"/>
            </a:solidFill>
          </p:spPr>
        </p:sp>
        <p:sp>
          <p:nvSpPr>
            <p:cNvPr name="Freeform 10" id="10"/>
            <p:cNvSpPr/>
            <p:nvPr/>
          </p:nvSpPr>
          <p:spPr>
            <a:xfrm flipH="false" flipV="false" rot="0">
              <a:off x="0" y="0"/>
              <a:ext cx="9741697" cy="7122810"/>
            </a:xfrm>
            <a:custGeom>
              <a:avLst/>
              <a:gdLst/>
              <a:ahLst/>
              <a:cxnLst/>
              <a:rect r="r" b="b" t="t" l="l"/>
              <a:pathLst>
                <a:path h="7122810" w="9741697">
                  <a:moveTo>
                    <a:pt x="7168" y="0"/>
                  </a:moveTo>
                  <a:lnTo>
                    <a:pt x="9734528" y="0"/>
                  </a:lnTo>
                  <a:cubicBezTo>
                    <a:pt x="9738516" y="0"/>
                    <a:pt x="9741697" y="29140"/>
                    <a:pt x="9741697" y="64594"/>
                  </a:cubicBezTo>
                  <a:lnTo>
                    <a:pt x="9741697" y="7058216"/>
                  </a:lnTo>
                  <a:cubicBezTo>
                    <a:pt x="9741697" y="7094156"/>
                    <a:pt x="9738463" y="7122810"/>
                    <a:pt x="9734528" y="7122810"/>
                  </a:cubicBezTo>
                  <a:lnTo>
                    <a:pt x="7168" y="7122810"/>
                  </a:lnTo>
                  <a:cubicBezTo>
                    <a:pt x="3180" y="7122810"/>
                    <a:pt x="0" y="7093669"/>
                    <a:pt x="0" y="7058216"/>
                  </a:cubicBezTo>
                  <a:lnTo>
                    <a:pt x="0" y="64594"/>
                  </a:lnTo>
                  <a:cubicBezTo>
                    <a:pt x="0" y="29140"/>
                    <a:pt x="3234" y="0"/>
                    <a:pt x="7168" y="0"/>
                  </a:cubicBezTo>
                  <a:moveTo>
                    <a:pt x="7168" y="129673"/>
                  </a:moveTo>
                  <a:lnTo>
                    <a:pt x="7168" y="64594"/>
                  </a:lnTo>
                  <a:lnTo>
                    <a:pt x="14391" y="64594"/>
                  </a:lnTo>
                  <a:lnTo>
                    <a:pt x="14391" y="7058216"/>
                  </a:lnTo>
                  <a:lnTo>
                    <a:pt x="7168" y="7058216"/>
                  </a:lnTo>
                  <a:lnTo>
                    <a:pt x="7168" y="6993622"/>
                  </a:lnTo>
                  <a:lnTo>
                    <a:pt x="9734528" y="6993622"/>
                  </a:lnTo>
                  <a:lnTo>
                    <a:pt x="9734528" y="7058216"/>
                  </a:lnTo>
                  <a:lnTo>
                    <a:pt x="9727360" y="7058216"/>
                  </a:lnTo>
                  <a:lnTo>
                    <a:pt x="9727360" y="64594"/>
                  </a:lnTo>
                  <a:lnTo>
                    <a:pt x="9734528" y="64594"/>
                  </a:lnTo>
                  <a:lnTo>
                    <a:pt x="9734528" y="129673"/>
                  </a:lnTo>
                  <a:lnTo>
                    <a:pt x="7168" y="129673"/>
                  </a:lnTo>
                  <a:close/>
                </a:path>
              </a:pathLst>
            </a:custGeom>
            <a:solidFill>
              <a:srgbClr val="5B9E3D"/>
            </a:solidFill>
          </p:spPr>
        </p:sp>
      </p:grpSp>
      <p:sp>
        <p:nvSpPr>
          <p:cNvPr name="TextBox 11" id="11"/>
          <p:cNvSpPr txBox="true"/>
          <p:nvPr/>
        </p:nvSpPr>
        <p:spPr>
          <a:xfrm rot="0">
            <a:off x="548640" y="3998893"/>
            <a:ext cx="7547970" cy="2162175"/>
          </a:xfrm>
          <a:prstGeom prst="rect">
            <a:avLst/>
          </a:prstGeom>
        </p:spPr>
        <p:txBody>
          <a:bodyPr anchor="t" rtlCol="false" tIns="0" lIns="0" bIns="0" rIns="0">
            <a:spAutoFit/>
          </a:bodyPr>
          <a:lstStyle/>
          <a:p>
            <a:pPr algn="l" marL="755642" indent="-377821" lvl="1">
              <a:lnSpc>
                <a:spcPts val="4199"/>
              </a:lnSpc>
              <a:buFont typeface="Arial"/>
              <a:buChar char="•"/>
            </a:pPr>
            <a:r>
              <a:rPr lang="en-US" sz="3499">
                <a:solidFill>
                  <a:srgbClr val="000000"/>
                </a:solidFill>
                <a:latin typeface="Calibri (MS)"/>
                <a:ea typeface="Calibri (MS)"/>
                <a:cs typeface="Calibri (MS)"/>
                <a:sym typeface="Calibri (MS)"/>
              </a:rPr>
              <a:t>Bagging simple : tous les arbres ut</a:t>
            </a:r>
            <a:r>
              <a:rPr lang="en-US" sz="3499">
                <a:solidFill>
                  <a:srgbClr val="000000"/>
                </a:solidFill>
                <a:latin typeface="Calibri (MS)"/>
                <a:ea typeface="Calibri (MS)"/>
                <a:cs typeface="Calibri (MS)"/>
                <a:sym typeface="Calibri (MS)"/>
              </a:rPr>
              <a:t>i</a:t>
            </a:r>
            <a:r>
              <a:rPr lang="en-US" sz="3499">
                <a:solidFill>
                  <a:srgbClr val="000000"/>
                </a:solidFill>
                <a:latin typeface="Calibri (MS)"/>
                <a:ea typeface="Calibri (MS)"/>
                <a:cs typeface="Calibri (MS)"/>
                <a:sym typeface="Calibri (MS)"/>
              </a:rPr>
              <a:t>l</a:t>
            </a:r>
            <a:r>
              <a:rPr lang="en-US" sz="3499">
                <a:solidFill>
                  <a:srgbClr val="000000"/>
                </a:solidFill>
                <a:latin typeface="Calibri (MS)"/>
                <a:ea typeface="Calibri (MS)"/>
                <a:cs typeface="Calibri (MS)"/>
                <a:sym typeface="Calibri (MS)"/>
              </a:rPr>
              <a:t>i</a:t>
            </a:r>
            <a:r>
              <a:rPr lang="en-US" sz="3499">
                <a:solidFill>
                  <a:srgbClr val="000000"/>
                </a:solidFill>
                <a:latin typeface="Calibri (MS)"/>
                <a:ea typeface="Calibri (MS)"/>
                <a:cs typeface="Calibri (MS)"/>
                <a:sym typeface="Calibri (MS)"/>
              </a:rPr>
              <a:t>s</a:t>
            </a:r>
            <a:r>
              <a:rPr lang="en-US" sz="3499">
                <a:solidFill>
                  <a:srgbClr val="000000"/>
                </a:solidFill>
                <a:latin typeface="Calibri (MS)"/>
                <a:ea typeface="Calibri (MS)"/>
                <a:cs typeface="Calibri (MS)"/>
                <a:sym typeface="Calibri (MS)"/>
              </a:rPr>
              <a:t>e</a:t>
            </a:r>
            <a:r>
              <a:rPr lang="en-US" sz="3499">
                <a:solidFill>
                  <a:srgbClr val="000000"/>
                </a:solidFill>
                <a:latin typeface="Calibri (MS)"/>
                <a:ea typeface="Calibri (MS)"/>
                <a:cs typeface="Calibri (MS)"/>
                <a:sym typeface="Calibri (MS)"/>
              </a:rPr>
              <a:t>nt</a:t>
            </a:r>
            <a:r>
              <a:rPr lang="en-US" sz="3499">
                <a:solidFill>
                  <a:srgbClr val="000000"/>
                </a:solidFill>
                <a:latin typeface="Calibri (MS)"/>
                <a:ea typeface="Calibri (MS)"/>
                <a:cs typeface="Calibri (MS)"/>
                <a:sym typeface="Calibri (MS)"/>
              </a:rPr>
              <a:t> </a:t>
            </a:r>
            <a:r>
              <a:rPr lang="en-US" sz="3499">
                <a:solidFill>
                  <a:srgbClr val="000000"/>
                </a:solidFill>
                <a:latin typeface="Calibri (MS)"/>
                <a:ea typeface="Calibri (MS)"/>
                <a:cs typeface="Calibri (MS)"/>
                <a:sym typeface="Calibri (MS)"/>
              </a:rPr>
              <a:t>toujours la même variable forte. </a:t>
            </a:r>
          </a:p>
          <a:p>
            <a:pPr algn="l" marL="755642" indent="-377821" lvl="1">
              <a:lnSpc>
                <a:spcPts val="4199"/>
              </a:lnSpc>
              <a:buFont typeface="Arial"/>
              <a:buChar char="•"/>
            </a:pPr>
            <a:r>
              <a:rPr lang="en-US" sz="3499">
                <a:solidFill>
                  <a:srgbClr val="000000"/>
                </a:solidFill>
                <a:latin typeface="Calibri (MS)"/>
                <a:ea typeface="Calibri (MS)"/>
                <a:cs typeface="Calibri (MS)"/>
                <a:sym typeface="Calibri (MS)"/>
              </a:rPr>
              <a:t>exemple : glucose</a:t>
            </a:r>
            <a:r>
              <a:rPr lang="en-US" sz="3499">
                <a:solidFill>
                  <a:srgbClr val="000000"/>
                </a:solidFill>
                <a:latin typeface="Calibri (MS)"/>
                <a:ea typeface="Calibri (MS)"/>
                <a:cs typeface="Calibri (MS)"/>
                <a:sym typeface="Calibri (MS)"/>
              </a:rPr>
              <a:t> en premier</a:t>
            </a:r>
          </a:p>
        </p:txBody>
      </p:sp>
      <p:grpSp>
        <p:nvGrpSpPr>
          <p:cNvPr name="Group 12" id="12"/>
          <p:cNvGrpSpPr/>
          <p:nvPr/>
        </p:nvGrpSpPr>
        <p:grpSpPr>
          <a:xfrm rot="0">
            <a:off x="9650853" y="2773193"/>
            <a:ext cx="7306301" cy="5342362"/>
            <a:chOff x="0" y="0"/>
            <a:chExt cx="9741734" cy="7123150"/>
          </a:xfrm>
        </p:grpSpPr>
        <p:sp>
          <p:nvSpPr>
            <p:cNvPr name="Freeform 13" id="13"/>
            <p:cNvSpPr/>
            <p:nvPr/>
          </p:nvSpPr>
          <p:spPr>
            <a:xfrm flipH="false" flipV="false" rot="0">
              <a:off x="7168" y="64594"/>
              <a:ext cx="9727360" cy="6993623"/>
            </a:xfrm>
            <a:custGeom>
              <a:avLst/>
              <a:gdLst/>
              <a:ahLst/>
              <a:cxnLst/>
              <a:rect r="r" b="b" t="t" l="l"/>
              <a:pathLst>
                <a:path h="6993623" w="9727360">
                  <a:moveTo>
                    <a:pt x="0" y="0"/>
                  </a:moveTo>
                  <a:lnTo>
                    <a:pt x="9727360" y="0"/>
                  </a:lnTo>
                  <a:lnTo>
                    <a:pt x="9727360" y="6993622"/>
                  </a:lnTo>
                  <a:lnTo>
                    <a:pt x="0" y="6993622"/>
                  </a:lnTo>
                  <a:close/>
                </a:path>
              </a:pathLst>
            </a:custGeom>
            <a:solidFill>
              <a:srgbClr val="E8F5E8"/>
            </a:solidFill>
          </p:spPr>
        </p:sp>
        <p:sp>
          <p:nvSpPr>
            <p:cNvPr name="Freeform 14" id="14"/>
            <p:cNvSpPr/>
            <p:nvPr/>
          </p:nvSpPr>
          <p:spPr>
            <a:xfrm flipH="false" flipV="false" rot="0">
              <a:off x="0" y="0"/>
              <a:ext cx="9741697" cy="7122810"/>
            </a:xfrm>
            <a:custGeom>
              <a:avLst/>
              <a:gdLst/>
              <a:ahLst/>
              <a:cxnLst/>
              <a:rect r="r" b="b" t="t" l="l"/>
              <a:pathLst>
                <a:path h="7122810" w="9741697">
                  <a:moveTo>
                    <a:pt x="7168" y="0"/>
                  </a:moveTo>
                  <a:lnTo>
                    <a:pt x="9734528" y="0"/>
                  </a:lnTo>
                  <a:cubicBezTo>
                    <a:pt x="9738516" y="0"/>
                    <a:pt x="9741697" y="29140"/>
                    <a:pt x="9741697" y="64594"/>
                  </a:cubicBezTo>
                  <a:lnTo>
                    <a:pt x="9741697" y="7058216"/>
                  </a:lnTo>
                  <a:cubicBezTo>
                    <a:pt x="9741697" y="7094156"/>
                    <a:pt x="9738463" y="7122810"/>
                    <a:pt x="9734528" y="7122810"/>
                  </a:cubicBezTo>
                  <a:lnTo>
                    <a:pt x="7168" y="7122810"/>
                  </a:lnTo>
                  <a:cubicBezTo>
                    <a:pt x="3180" y="7122810"/>
                    <a:pt x="0" y="7093669"/>
                    <a:pt x="0" y="7058216"/>
                  </a:cubicBezTo>
                  <a:lnTo>
                    <a:pt x="0" y="64594"/>
                  </a:lnTo>
                  <a:cubicBezTo>
                    <a:pt x="0" y="29140"/>
                    <a:pt x="3234" y="0"/>
                    <a:pt x="7168" y="0"/>
                  </a:cubicBezTo>
                  <a:moveTo>
                    <a:pt x="7168" y="129673"/>
                  </a:moveTo>
                  <a:lnTo>
                    <a:pt x="7168" y="64594"/>
                  </a:lnTo>
                  <a:lnTo>
                    <a:pt x="14391" y="64594"/>
                  </a:lnTo>
                  <a:lnTo>
                    <a:pt x="14391" y="7058216"/>
                  </a:lnTo>
                  <a:lnTo>
                    <a:pt x="7168" y="7058216"/>
                  </a:lnTo>
                  <a:lnTo>
                    <a:pt x="7168" y="6993622"/>
                  </a:lnTo>
                  <a:lnTo>
                    <a:pt x="9734528" y="6993622"/>
                  </a:lnTo>
                  <a:lnTo>
                    <a:pt x="9734528" y="7058216"/>
                  </a:lnTo>
                  <a:lnTo>
                    <a:pt x="9727360" y="7058216"/>
                  </a:lnTo>
                  <a:lnTo>
                    <a:pt x="9727360" y="64594"/>
                  </a:lnTo>
                  <a:lnTo>
                    <a:pt x="9734528" y="64594"/>
                  </a:lnTo>
                  <a:lnTo>
                    <a:pt x="9734528" y="129673"/>
                  </a:lnTo>
                  <a:lnTo>
                    <a:pt x="7168" y="129673"/>
                  </a:lnTo>
                  <a:close/>
                </a:path>
              </a:pathLst>
            </a:custGeom>
            <a:solidFill>
              <a:srgbClr val="5B9E3D"/>
            </a:solidFill>
          </p:spPr>
        </p:sp>
      </p:grpSp>
      <p:sp>
        <p:nvSpPr>
          <p:cNvPr name="TextBox 15" id="15"/>
          <p:cNvSpPr txBox="true"/>
          <p:nvPr/>
        </p:nvSpPr>
        <p:spPr>
          <a:xfrm rot="0">
            <a:off x="9530758" y="3857881"/>
            <a:ext cx="7426396" cy="2162175"/>
          </a:xfrm>
          <a:prstGeom prst="rect">
            <a:avLst/>
          </a:prstGeom>
        </p:spPr>
        <p:txBody>
          <a:bodyPr anchor="t" rtlCol="false" tIns="0" lIns="0" bIns="0" rIns="0">
            <a:spAutoFit/>
          </a:bodyPr>
          <a:lstStyle/>
          <a:p>
            <a:pPr algn="l" marL="755642" indent="-377821" lvl="1">
              <a:lnSpc>
                <a:spcPts val="4199"/>
              </a:lnSpc>
              <a:buFont typeface="Arial"/>
              <a:buChar char="•"/>
            </a:pPr>
            <a:r>
              <a:rPr lang="en-US" sz="3499">
                <a:solidFill>
                  <a:srgbClr val="000000"/>
                </a:solidFill>
                <a:latin typeface="Calibri (MS)"/>
                <a:ea typeface="Calibri (MS)"/>
                <a:cs typeface="Calibri (MS)"/>
                <a:sym typeface="Calibri (MS)"/>
              </a:rPr>
              <a:t>Certains arbres ne peuvent pas ut</a:t>
            </a:r>
            <a:r>
              <a:rPr lang="en-US" sz="3499">
                <a:solidFill>
                  <a:srgbClr val="000000"/>
                </a:solidFill>
                <a:latin typeface="Calibri (MS)"/>
                <a:ea typeface="Calibri (MS)"/>
                <a:cs typeface="Calibri (MS)"/>
                <a:sym typeface="Calibri (MS)"/>
              </a:rPr>
              <a:t>i</a:t>
            </a:r>
            <a:r>
              <a:rPr lang="en-US" sz="3499">
                <a:solidFill>
                  <a:srgbClr val="000000"/>
                </a:solidFill>
                <a:latin typeface="Calibri (MS)"/>
                <a:ea typeface="Calibri (MS)"/>
                <a:cs typeface="Calibri (MS)"/>
                <a:sym typeface="Calibri (MS)"/>
              </a:rPr>
              <a:t>l</a:t>
            </a:r>
            <a:r>
              <a:rPr lang="en-US" sz="3499">
                <a:solidFill>
                  <a:srgbClr val="000000"/>
                </a:solidFill>
                <a:latin typeface="Calibri (MS)"/>
                <a:ea typeface="Calibri (MS)"/>
                <a:cs typeface="Calibri (MS)"/>
                <a:sym typeface="Calibri (MS)"/>
              </a:rPr>
              <a:t>i</a:t>
            </a:r>
            <a:r>
              <a:rPr lang="en-US" sz="3499">
                <a:solidFill>
                  <a:srgbClr val="000000"/>
                </a:solidFill>
                <a:latin typeface="Calibri (MS)"/>
                <a:ea typeface="Calibri (MS)"/>
                <a:cs typeface="Calibri (MS)"/>
                <a:sym typeface="Calibri (MS)"/>
              </a:rPr>
              <a:t>s</a:t>
            </a:r>
            <a:r>
              <a:rPr lang="en-US" sz="3499">
                <a:solidFill>
                  <a:srgbClr val="000000"/>
                </a:solidFill>
                <a:latin typeface="Calibri (MS)"/>
                <a:ea typeface="Calibri (MS)"/>
                <a:cs typeface="Calibri (MS)"/>
                <a:sym typeface="Calibri (MS)"/>
              </a:rPr>
              <a:t>e</a:t>
            </a:r>
            <a:r>
              <a:rPr lang="en-US" sz="3499">
                <a:solidFill>
                  <a:srgbClr val="000000"/>
                </a:solidFill>
                <a:latin typeface="Calibri (MS)"/>
                <a:ea typeface="Calibri (MS)"/>
                <a:cs typeface="Calibri (MS)"/>
                <a:sym typeface="Calibri (MS)"/>
              </a:rPr>
              <a:t>r la variable forte à certains nœuds. </a:t>
            </a:r>
          </a:p>
          <a:p>
            <a:pPr algn="l">
              <a:lnSpc>
                <a:spcPts val="4199"/>
              </a:lnSpc>
            </a:pPr>
          </a:p>
        </p:txBody>
      </p:sp>
      <p:grpSp>
        <p:nvGrpSpPr>
          <p:cNvPr name="Group 16" id="16"/>
          <p:cNvGrpSpPr/>
          <p:nvPr/>
        </p:nvGrpSpPr>
        <p:grpSpPr>
          <a:xfrm rot="0">
            <a:off x="10676825" y="2991853"/>
            <a:ext cx="5254357" cy="1073714"/>
            <a:chOff x="0" y="0"/>
            <a:chExt cx="7005809" cy="1431619"/>
          </a:xfrm>
        </p:grpSpPr>
        <p:sp>
          <p:nvSpPr>
            <p:cNvPr name="Freeform 17" id="17"/>
            <p:cNvSpPr/>
            <p:nvPr/>
          </p:nvSpPr>
          <p:spPr>
            <a:xfrm flipH="false" flipV="false" rot="0">
              <a:off x="0" y="0"/>
              <a:ext cx="7005809" cy="1431619"/>
            </a:xfrm>
            <a:custGeom>
              <a:avLst/>
              <a:gdLst/>
              <a:ahLst/>
              <a:cxnLst/>
              <a:rect r="r" b="b" t="t" l="l"/>
              <a:pathLst>
                <a:path h="1431619" w="7005809">
                  <a:moveTo>
                    <a:pt x="0" y="0"/>
                  </a:moveTo>
                  <a:lnTo>
                    <a:pt x="7005809" y="0"/>
                  </a:lnTo>
                  <a:lnTo>
                    <a:pt x="7005809" y="1431619"/>
                  </a:lnTo>
                  <a:lnTo>
                    <a:pt x="0" y="1431619"/>
                  </a:lnTo>
                  <a:close/>
                </a:path>
              </a:pathLst>
            </a:custGeom>
            <a:blipFill>
              <a:blip r:embed="rId3">
                <a:alphaModFix amt="0"/>
              </a:blip>
              <a:stretch>
                <a:fillRect l="0" t="-16436" r="42571" b="6917"/>
              </a:stretch>
            </a:blipFill>
          </p:spPr>
        </p:sp>
        <p:sp>
          <p:nvSpPr>
            <p:cNvPr name="TextBox 18" id="18"/>
            <p:cNvSpPr txBox="true"/>
            <p:nvPr/>
          </p:nvSpPr>
          <p:spPr>
            <a:xfrm>
              <a:off x="0" y="-76200"/>
              <a:ext cx="7005809" cy="1507819"/>
            </a:xfrm>
            <a:prstGeom prst="rect">
              <a:avLst/>
            </a:prstGeom>
          </p:spPr>
          <p:txBody>
            <a:bodyPr anchor="ctr" rtlCol="false" tIns="0" lIns="0" bIns="0" rIns="0"/>
            <a:lstStyle/>
            <a:p>
              <a:pPr algn="l">
                <a:lnSpc>
                  <a:spcPts val="4439"/>
                </a:lnSpc>
              </a:pPr>
              <a:r>
                <a:rPr lang="en-US" sz="3699" b="true">
                  <a:solidFill>
                    <a:srgbClr val="97BC62"/>
                  </a:solidFill>
                  <a:latin typeface="Calibri (MS) Bold"/>
                  <a:ea typeface="Calibri (MS) Bold"/>
                  <a:cs typeface="Calibri (MS) Bold"/>
                  <a:sym typeface="Calibri (MS) Bold"/>
                </a:rPr>
                <a:t>Avec</a:t>
              </a:r>
              <a:r>
                <a:rPr lang="en-US" sz="3699" b="true">
                  <a:solidFill>
                    <a:srgbClr val="97BC62"/>
                  </a:solidFill>
                  <a:latin typeface="Calibri (MS) Bold"/>
                  <a:ea typeface="Calibri (MS) Bold"/>
                  <a:cs typeface="Calibri (MS) Bold"/>
                  <a:sym typeface="Calibri (MS) Bold"/>
                </a:rPr>
                <a:t> feature randomness</a:t>
              </a:r>
            </a:p>
          </p:txBody>
        </p:sp>
      </p:grpSp>
      <p:grpSp>
        <p:nvGrpSpPr>
          <p:cNvPr name="Group 19" id="19"/>
          <p:cNvGrpSpPr/>
          <p:nvPr/>
        </p:nvGrpSpPr>
        <p:grpSpPr>
          <a:xfrm rot="0">
            <a:off x="1816281" y="2991853"/>
            <a:ext cx="5254357" cy="1073714"/>
            <a:chOff x="0" y="0"/>
            <a:chExt cx="7005809" cy="1431619"/>
          </a:xfrm>
        </p:grpSpPr>
        <p:sp>
          <p:nvSpPr>
            <p:cNvPr name="Freeform 20" id="20"/>
            <p:cNvSpPr/>
            <p:nvPr/>
          </p:nvSpPr>
          <p:spPr>
            <a:xfrm flipH="false" flipV="false" rot="0">
              <a:off x="0" y="0"/>
              <a:ext cx="7005809" cy="1431619"/>
            </a:xfrm>
            <a:custGeom>
              <a:avLst/>
              <a:gdLst/>
              <a:ahLst/>
              <a:cxnLst/>
              <a:rect r="r" b="b" t="t" l="l"/>
              <a:pathLst>
                <a:path h="1431619" w="7005809">
                  <a:moveTo>
                    <a:pt x="0" y="0"/>
                  </a:moveTo>
                  <a:lnTo>
                    <a:pt x="7005809" y="0"/>
                  </a:lnTo>
                  <a:lnTo>
                    <a:pt x="7005809" y="1431619"/>
                  </a:lnTo>
                  <a:lnTo>
                    <a:pt x="0" y="1431619"/>
                  </a:lnTo>
                  <a:close/>
                </a:path>
              </a:pathLst>
            </a:custGeom>
            <a:blipFill>
              <a:blip r:embed="rId3">
                <a:alphaModFix amt="0"/>
              </a:blip>
              <a:stretch>
                <a:fillRect l="0" t="-16436" r="42571" b="6917"/>
              </a:stretch>
            </a:blipFill>
          </p:spPr>
        </p:sp>
        <p:sp>
          <p:nvSpPr>
            <p:cNvPr name="TextBox 21" id="21"/>
            <p:cNvSpPr txBox="true"/>
            <p:nvPr/>
          </p:nvSpPr>
          <p:spPr>
            <a:xfrm>
              <a:off x="0" y="-76200"/>
              <a:ext cx="7005809" cy="1507819"/>
            </a:xfrm>
            <a:prstGeom prst="rect">
              <a:avLst/>
            </a:prstGeom>
          </p:spPr>
          <p:txBody>
            <a:bodyPr anchor="ctr" rtlCol="false" tIns="0" lIns="0" bIns="0" rIns="0"/>
            <a:lstStyle/>
            <a:p>
              <a:pPr algn="l">
                <a:lnSpc>
                  <a:spcPts val="4439"/>
                </a:lnSpc>
              </a:pPr>
              <a:r>
                <a:rPr lang="en-US" sz="3699" b="true">
                  <a:solidFill>
                    <a:srgbClr val="97BC62"/>
                  </a:solidFill>
                  <a:latin typeface="Calibri (MS) Bold"/>
                  <a:ea typeface="Calibri (MS) Bold"/>
                  <a:cs typeface="Calibri (MS) Bold"/>
                  <a:sym typeface="Calibri (MS) Bold"/>
                </a:rPr>
                <a:t>Sans</a:t>
              </a:r>
              <a:r>
                <a:rPr lang="en-US" sz="3699" b="true">
                  <a:solidFill>
                    <a:srgbClr val="97BC62"/>
                  </a:solidFill>
                  <a:latin typeface="Calibri (MS) Bold"/>
                  <a:ea typeface="Calibri (MS) Bold"/>
                  <a:cs typeface="Calibri (MS) Bold"/>
                  <a:sym typeface="Calibri (MS) Bold"/>
                </a:rPr>
                <a:t> feature randomnes</a:t>
              </a:r>
            </a:p>
          </p:txBody>
        </p:sp>
      </p:grpSp>
      <p:grpSp>
        <p:nvGrpSpPr>
          <p:cNvPr name="Group 22" id="22"/>
          <p:cNvGrpSpPr/>
          <p:nvPr/>
        </p:nvGrpSpPr>
        <p:grpSpPr>
          <a:xfrm rot="0">
            <a:off x="790309" y="8746798"/>
            <a:ext cx="15984139" cy="1023004"/>
            <a:chOff x="0" y="0"/>
            <a:chExt cx="21312186" cy="1364005"/>
          </a:xfrm>
        </p:grpSpPr>
        <p:sp>
          <p:nvSpPr>
            <p:cNvPr name="Freeform 23" id="23"/>
            <p:cNvSpPr/>
            <p:nvPr/>
          </p:nvSpPr>
          <p:spPr>
            <a:xfrm flipH="false" flipV="false" rot="0">
              <a:off x="26298" y="16756"/>
              <a:ext cx="21259451" cy="1330404"/>
            </a:xfrm>
            <a:custGeom>
              <a:avLst/>
              <a:gdLst/>
              <a:ahLst/>
              <a:cxnLst/>
              <a:rect r="r" b="b" t="t" l="l"/>
              <a:pathLst>
                <a:path h="1330404" w="21259451">
                  <a:moveTo>
                    <a:pt x="0" y="0"/>
                  </a:moveTo>
                  <a:lnTo>
                    <a:pt x="21259451" y="0"/>
                  </a:lnTo>
                  <a:lnTo>
                    <a:pt x="21259451" y="1330405"/>
                  </a:lnTo>
                  <a:lnTo>
                    <a:pt x="0" y="1330405"/>
                  </a:lnTo>
                  <a:close/>
                </a:path>
              </a:pathLst>
            </a:custGeom>
            <a:solidFill>
              <a:srgbClr val="FFF0F0"/>
            </a:solidFill>
          </p:spPr>
        </p:sp>
        <p:sp>
          <p:nvSpPr>
            <p:cNvPr name="Freeform 24" id="24"/>
            <p:cNvSpPr/>
            <p:nvPr/>
          </p:nvSpPr>
          <p:spPr>
            <a:xfrm flipH="false" flipV="false" rot="0">
              <a:off x="0" y="0"/>
              <a:ext cx="21312046" cy="1363917"/>
            </a:xfrm>
            <a:custGeom>
              <a:avLst/>
              <a:gdLst/>
              <a:ahLst/>
              <a:cxnLst/>
              <a:rect r="r" b="b" t="t" l="l"/>
              <a:pathLst>
                <a:path h="1363917" w="21312046">
                  <a:moveTo>
                    <a:pt x="26298" y="0"/>
                  </a:moveTo>
                  <a:lnTo>
                    <a:pt x="21285749" y="0"/>
                  </a:lnTo>
                  <a:cubicBezTo>
                    <a:pt x="21300382" y="0"/>
                    <a:pt x="21312046" y="7559"/>
                    <a:pt x="21312046" y="16756"/>
                  </a:cubicBezTo>
                  <a:lnTo>
                    <a:pt x="21312046" y="1347161"/>
                  </a:lnTo>
                  <a:cubicBezTo>
                    <a:pt x="21312046" y="1356483"/>
                    <a:pt x="21300184" y="1363917"/>
                    <a:pt x="21285749" y="1363917"/>
                  </a:cubicBezTo>
                  <a:lnTo>
                    <a:pt x="26298" y="1363917"/>
                  </a:lnTo>
                  <a:cubicBezTo>
                    <a:pt x="11666" y="1363917"/>
                    <a:pt x="0" y="1356357"/>
                    <a:pt x="0" y="1347161"/>
                  </a:cubicBezTo>
                  <a:lnTo>
                    <a:pt x="0" y="16756"/>
                  </a:lnTo>
                  <a:cubicBezTo>
                    <a:pt x="0" y="7559"/>
                    <a:pt x="11864" y="0"/>
                    <a:pt x="26298" y="0"/>
                  </a:cubicBezTo>
                  <a:moveTo>
                    <a:pt x="26298" y="33638"/>
                  </a:moveTo>
                  <a:lnTo>
                    <a:pt x="26298" y="16756"/>
                  </a:lnTo>
                  <a:lnTo>
                    <a:pt x="52793" y="16756"/>
                  </a:lnTo>
                  <a:lnTo>
                    <a:pt x="52793" y="1347161"/>
                  </a:lnTo>
                  <a:lnTo>
                    <a:pt x="26298" y="1347161"/>
                  </a:lnTo>
                  <a:lnTo>
                    <a:pt x="26298" y="1330404"/>
                  </a:lnTo>
                  <a:lnTo>
                    <a:pt x="21285749" y="1330404"/>
                  </a:lnTo>
                  <a:lnTo>
                    <a:pt x="21285749" y="1347161"/>
                  </a:lnTo>
                  <a:lnTo>
                    <a:pt x="21259451" y="1347161"/>
                  </a:lnTo>
                  <a:lnTo>
                    <a:pt x="21259451" y="16756"/>
                  </a:lnTo>
                  <a:lnTo>
                    <a:pt x="21285749" y="16756"/>
                  </a:lnTo>
                  <a:lnTo>
                    <a:pt x="21285749" y="33638"/>
                  </a:lnTo>
                  <a:lnTo>
                    <a:pt x="26298" y="33638"/>
                  </a:lnTo>
                  <a:close/>
                </a:path>
              </a:pathLst>
            </a:custGeom>
            <a:solidFill>
              <a:srgbClr val="5B9E3D"/>
            </a:solidFill>
          </p:spPr>
        </p:sp>
      </p:grpSp>
      <p:sp>
        <p:nvSpPr>
          <p:cNvPr name="Freeform 25" id="25"/>
          <p:cNvSpPr/>
          <p:nvPr/>
        </p:nvSpPr>
        <p:spPr>
          <a:xfrm flipH="false" flipV="false" rot="0">
            <a:off x="7940872" y="8744076"/>
            <a:ext cx="514224" cy="514224"/>
          </a:xfrm>
          <a:custGeom>
            <a:avLst/>
            <a:gdLst/>
            <a:ahLst/>
            <a:cxnLst/>
            <a:rect r="r" b="b" t="t" l="l"/>
            <a:pathLst>
              <a:path h="514224" w="514224">
                <a:moveTo>
                  <a:pt x="0" y="0"/>
                </a:moveTo>
                <a:lnTo>
                  <a:pt x="514224" y="0"/>
                </a:lnTo>
                <a:lnTo>
                  <a:pt x="514224" y="514224"/>
                </a:lnTo>
                <a:lnTo>
                  <a:pt x="0" y="514224"/>
                </a:lnTo>
                <a:lnTo>
                  <a:pt x="0" y="0"/>
                </a:lnTo>
                <a:close/>
              </a:path>
            </a:pathLst>
          </a:custGeom>
          <a:blipFill>
            <a:blip r:embed="rId4"/>
            <a:stretch>
              <a:fillRect l="0" t="0" r="0" b="0"/>
            </a:stretch>
          </a:blipFill>
        </p:spPr>
      </p:sp>
      <p:sp>
        <p:nvSpPr>
          <p:cNvPr name="TextBox 26" id="26"/>
          <p:cNvSpPr txBox="true"/>
          <p:nvPr/>
        </p:nvSpPr>
        <p:spPr>
          <a:xfrm rot="0">
            <a:off x="10072139" y="5953381"/>
            <a:ext cx="7426396" cy="2162175"/>
          </a:xfrm>
          <a:prstGeom prst="rect">
            <a:avLst/>
          </a:prstGeom>
        </p:spPr>
        <p:txBody>
          <a:bodyPr anchor="t" rtlCol="false" tIns="0" lIns="0" bIns="0" rIns="0">
            <a:spAutoFit/>
          </a:bodyPr>
          <a:lstStyle/>
          <a:p>
            <a:pPr algn="l">
              <a:lnSpc>
                <a:spcPts val="4199"/>
              </a:lnSpc>
            </a:pPr>
            <a:r>
              <a:rPr lang="en-US" sz="3499">
                <a:solidFill>
                  <a:srgbClr val="000000"/>
                </a:solidFill>
                <a:latin typeface="Calibri (MS)"/>
                <a:ea typeface="Calibri (MS)"/>
                <a:cs typeface="Calibri (MS)"/>
                <a:sym typeface="Calibri (MS)"/>
              </a:rPr>
              <a:t>→ ils se basent sur d’autres variables </a:t>
            </a:r>
          </a:p>
          <a:p>
            <a:pPr algn="l">
              <a:lnSpc>
                <a:spcPts val="4199"/>
              </a:lnSpc>
            </a:pPr>
            <a:r>
              <a:rPr lang="en-US" sz="3499">
                <a:solidFill>
                  <a:srgbClr val="000000"/>
                </a:solidFill>
                <a:latin typeface="Calibri (MS)"/>
                <a:ea typeface="Calibri (MS)"/>
                <a:cs typeface="Calibri (MS)"/>
                <a:sym typeface="Calibri (MS)"/>
              </a:rPr>
              <a:t>→ les arbres deviennent différents </a:t>
            </a:r>
          </a:p>
          <a:p>
            <a:pPr algn="l">
              <a:lnSpc>
                <a:spcPts val="4199"/>
              </a:lnSpc>
            </a:pPr>
            <a:r>
              <a:rPr lang="en-US" sz="3499">
                <a:solidFill>
                  <a:srgbClr val="000000"/>
                </a:solidFill>
                <a:latin typeface="Calibri (MS)"/>
                <a:ea typeface="Calibri (MS)"/>
                <a:cs typeface="Calibri (MS)"/>
                <a:sym typeface="Calibri (MS)"/>
              </a:rPr>
              <a:t>→ décorrélation.</a:t>
            </a:r>
          </a:p>
          <a:p>
            <a:pPr algn="l">
              <a:lnSpc>
                <a:spcPts val="4199"/>
              </a:lnSpc>
            </a:pPr>
          </a:p>
        </p:txBody>
      </p:sp>
      <p:sp>
        <p:nvSpPr>
          <p:cNvPr name="TextBox 27" id="27"/>
          <p:cNvSpPr txBox="true"/>
          <p:nvPr/>
        </p:nvSpPr>
        <p:spPr>
          <a:xfrm rot="0">
            <a:off x="1028700" y="6215318"/>
            <a:ext cx="7426396" cy="1638300"/>
          </a:xfrm>
          <a:prstGeom prst="rect">
            <a:avLst/>
          </a:prstGeom>
        </p:spPr>
        <p:txBody>
          <a:bodyPr anchor="t" rtlCol="false" tIns="0" lIns="0" bIns="0" rIns="0">
            <a:spAutoFit/>
          </a:bodyPr>
          <a:lstStyle/>
          <a:p>
            <a:pPr algn="l">
              <a:lnSpc>
                <a:spcPts val="4199"/>
              </a:lnSpc>
            </a:pPr>
            <a:r>
              <a:rPr lang="en-US" sz="3499">
                <a:solidFill>
                  <a:srgbClr val="000000"/>
                </a:solidFill>
                <a:latin typeface="Calibri (MS)"/>
                <a:ea typeface="Calibri (MS)"/>
                <a:cs typeface="Calibri (MS)"/>
                <a:sym typeface="Calibri (MS)"/>
              </a:rPr>
              <a:t>→ arbres très corrélés </a:t>
            </a:r>
          </a:p>
          <a:p>
            <a:pPr algn="l">
              <a:lnSpc>
                <a:spcPts val="4199"/>
              </a:lnSpc>
            </a:pPr>
            <a:r>
              <a:rPr lang="en-US" sz="3499">
                <a:solidFill>
                  <a:srgbClr val="000000"/>
                </a:solidFill>
                <a:latin typeface="Calibri (MS)"/>
                <a:ea typeface="Calibri (MS)"/>
                <a:cs typeface="Calibri (MS)"/>
                <a:sym typeface="Calibri (MS)"/>
              </a:rPr>
              <a:t>→ le vote réduit mal la variance.</a:t>
            </a:r>
          </a:p>
          <a:p>
            <a:pPr algn="l">
              <a:lnSpc>
                <a:spcPts val="4199"/>
              </a:lnSpc>
            </a:pPr>
          </a:p>
        </p:txBody>
      </p:sp>
      <p:sp>
        <p:nvSpPr>
          <p:cNvPr name="TextBox 28" id="28"/>
          <p:cNvSpPr txBox="true"/>
          <p:nvPr/>
        </p:nvSpPr>
        <p:spPr>
          <a:xfrm rot="0">
            <a:off x="2966796" y="8810625"/>
            <a:ext cx="12163637" cy="1228725"/>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Calibri (MS) Bold"/>
                <a:ea typeface="Calibri (MS) Bold"/>
                <a:cs typeface="Calibri (MS) Bold"/>
                <a:sym typeface="Calibri (MS) Bold"/>
              </a:rPr>
              <a:t>Résultat</a:t>
            </a:r>
          </a:p>
          <a:p>
            <a:pPr algn="ctr">
              <a:lnSpc>
                <a:spcPts val="3119"/>
              </a:lnSpc>
              <a:spcBef>
                <a:spcPct val="0"/>
              </a:spcBef>
            </a:pPr>
            <a:r>
              <a:rPr lang="en-US" b="true" sz="2599">
                <a:solidFill>
                  <a:srgbClr val="000000"/>
                </a:solidFill>
                <a:latin typeface="Calibri (MS) Bold"/>
                <a:ea typeface="Calibri (MS) Bold"/>
                <a:cs typeface="Calibri (MS) Bold"/>
                <a:sym typeface="Calibri (MS) Bold"/>
              </a:rPr>
              <a:t> la variance de l’ensemble est plus faible que celle du bagging simple.</a:t>
            </a:r>
          </a:p>
          <a:p>
            <a:pPr algn="ctr">
              <a:lnSpc>
                <a:spcPts val="3119"/>
              </a:lnSpc>
              <a:spcBef>
                <a:spcPct val="0"/>
              </a:spcBef>
            </a:pPr>
          </a:p>
        </p:txBody>
      </p:sp>
      <p:sp>
        <p:nvSpPr>
          <p:cNvPr name="Freeform 29" id="29"/>
          <p:cNvSpPr/>
          <p:nvPr/>
        </p:nvSpPr>
        <p:spPr>
          <a:xfrm flipH="false" flipV="false" rot="0">
            <a:off x="3864991" y="9224746"/>
            <a:ext cx="457634" cy="457634"/>
          </a:xfrm>
          <a:custGeom>
            <a:avLst/>
            <a:gdLst/>
            <a:ahLst/>
            <a:cxnLst/>
            <a:rect r="r" b="b" t="t" l="l"/>
            <a:pathLst>
              <a:path h="457634" w="457634">
                <a:moveTo>
                  <a:pt x="0" y="0"/>
                </a:moveTo>
                <a:lnTo>
                  <a:pt x="457634" y="0"/>
                </a:lnTo>
                <a:lnTo>
                  <a:pt x="457634" y="457633"/>
                </a:lnTo>
                <a:lnTo>
                  <a:pt x="0" y="457633"/>
                </a:lnTo>
                <a:lnTo>
                  <a:pt x="0" y="0"/>
                </a:lnTo>
                <a:close/>
              </a:path>
            </a:pathLst>
          </a:custGeom>
          <a:blipFill>
            <a:blip r:embed="rId5"/>
            <a:stretch>
              <a:fillRect l="0" t="0" r="0" b="0"/>
            </a:stretch>
          </a:blipFill>
        </p:spPr>
      </p:sp>
      <p:sp>
        <p:nvSpPr>
          <p:cNvPr name="TextBox 30" id="30"/>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A2 — Différence clé : Bootstrap vs Feature Randomness</a:t>
              </a:r>
            </a:p>
          </p:txBody>
        </p:sp>
      </p:grpSp>
      <p:grpSp>
        <p:nvGrpSpPr>
          <p:cNvPr name="Group 8" id="8"/>
          <p:cNvGrpSpPr/>
          <p:nvPr/>
        </p:nvGrpSpPr>
        <p:grpSpPr>
          <a:xfrm rot="0">
            <a:off x="788670" y="2649551"/>
            <a:ext cx="16710660" cy="6327613"/>
            <a:chOff x="0" y="0"/>
            <a:chExt cx="22280880" cy="8436817"/>
          </a:xfrm>
        </p:grpSpPr>
        <p:sp>
          <p:nvSpPr>
            <p:cNvPr name="Freeform 9" id="9"/>
            <p:cNvSpPr/>
            <p:nvPr/>
          </p:nvSpPr>
          <p:spPr>
            <a:xfrm flipH="false" flipV="false" rot="0">
              <a:off x="25879" y="13548"/>
              <a:ext cx="22228986" cy="8409651"/>
            </a:xfrm>
            <a:custGeom>
              <a:avLst/>
              <a:gdLst/>
              <a:ahLst/>
              <a:cxnLst/>
              <a:rect r="r" b="b" t="t" l="l"/>
              <a:pathLst>
                <a:path h="8409651" w="22228986">
                  <a:moveTo>
                    <a:pt x="0" y="0"/>
                  </a:moveTo>
                  <a:lnTo>
                    <a:pt x="22228986" y="0"/>
                  </a:lnTo>
                  <a:lnTo>
                    <a:pt x="22228986" y="8409650"/>
                  </a:lnTo>
                  <a:lnTo>
                    <a:pt x="0" y="8409650"/>
                  </a:lnTo>
                  <a:close/>
                </a:path>
              </a:pathLst>
            </a:custGeom>
            <a:solidFill>
              <a:srgbClr val="FFFFFF"/>
            </a:solidFill>
          </p:spPr>
        </p:sp>
        <p:sp>
          <p:nvSpPr>
            <p:cNvPr name="Freeform 10" id="10"/>
            <p:cNvSpPr/>
            <p:nvPr/>
          </p:nvSpPr>
          <p:spPr>
            <a:xfrm flipH="false" flipV="false" rot="0">
              <a:off x="0" y="0"/>
              <a:ext cx="22280745" cy="8436745"/>
            </a:xfrm>
            <a:custGeom>
              <a:avLst/>
              <a:gdLst/>
              <a:ahLst/>
              <a:cxnLst/>
              <a:rect r="r" b="b" t="t" l="l"/>
              <a:pathLst>
                <a:path h="8436745" w="22280745">
                  <a:moveTo>
                    <a:pt x="25879" y="0"/>
                  </a:moveTo>
                  <a:lnTo>
                    <a:pt x="22254865" y="0"/>
                  </a:lnTo>
                  <a:cubicBezTo>
                    <a:pt x="22269262" y="0"/>
                    <a:pt x="22280745" y="6112"/>
                    <a:pt x="22280745" y="13548"/>
                  </a:cubicBezTo>
                  <a:lnTo>
                    <a:pt x="22280745" y="8423198"/>
                  </a:lnTo>
                  <a:cubicBezTo>
                    <a:pt x="22280745" y="8430736"/>
                    <a:pt x="22269070" y="8436745"/>
                    <a:pt x="22254865" y="8436745"/>
                  </a:cubicBezTo>
                  <a:lnTo>
                    <a:pt x="25879" y="8436745"/>
                  </a:lnTo>
                  <a:cubicBezTo>
                    <a:pt x="11480" y="8436745"/>
                    <a:pt x="0" y="8430634"/>
                    <a:pt x="0" y="8423198"/>
                  </a:cubicBezTo>
                  <a:lnTo>
                    <a:pt x="0" y="13548"/>
                  </a:lnTo>
                  <a:cubicBezTo>
                    <a:pt x="0" y="6112"/>
                    <a:pt x="11675" y="0"/>
                    <a:pt x="25879" y="0"/>
                  </a:cubicBezTo>
                  <a:moveTo>
                    <a:pt x="25879" y="27197"/>
                  </a:moveTo>
                  <a:lnTo>
                    <a:pt x="25879" y="13548"/>
                  </a:lnTo>
                  <a:lnTo>
                    <a:pt x="51953" y="13548"/>
                  </a:lnTo>
                  <a:lnTo>
                    <a:pt x="51953" y="8423198"/>
                  </a:lnTo>
                  <a:lnTo>
                    <a:pt x="25879" y="8423198"/>
                  </a:lnTo>
                  <a:lnTo>
                    <a:pt x="25879" y="8409651"/>
                  </a:lnTo>
                  <a:lnTo>
                    <a:pt x="22254865" y="8409651"/>
                  </a:lnTo>
                  <a:lnTo>
                    <a:pt x="22254865" y="8423198"/>
                  </a:lnTo>
                  <a:lnTo>
                    <a:pt x="22228986" y="8423198"/>
                  </a:lnTo>
                  <a:lnTo>
                    <a:pt x="22228986" y="13548"/>
                  </a:lnTo>
                  <a:lnTo>
                    <a:pt x="22254865" y="13548"/>
                  </a:lnTo>
                  <a:lnTo>
                    <a:pt x="22254865" y="27197"/>
                  </a:lnTo>
                  <a:lnTo>
                    <a:pt x="25879" y="27197"/>
                  </a:lnTo>
                  <a:close/>
                </a:path>
              </a:pathLst>
            </a:custGeom>
            <a:solidFill>
              <a:srgbClr val="D0E0D0"/>
            </a:solidFill>
          </p:spPr>
        </p:sp>
      </p:grpSp>
      <p:grpSp>
        <p:nvGrpSpPr>
          <p:cNvPr name="Group 11" id="11"/>
          <p:cNvGrpSpPr/>
          <p:nvPr/>
        </p:nvGrpSpPr>
        <p:grpSpPr>
          <a:xfrm rot="0">
            <a:off x="1218240" y="2862052"/>
            <a:ext cx="2590140" cy="697309"/>
            <a:chOff x="0" y="0"/>
            <a:chExt cx="4528695" cy="1219200"/>
          </a:xfrm>
        </p:grpSpPr>
        <p:sp>
          <p:nvSpPr>
            <p:cNvPr name="Freeform 12" id="12"/>
            <p:cNvSpPr/>
            <p:nvPr/>
          </p:nvSpPr>
          <p:spPr>
            <a:xfrm flipH="false" flipV="false" rot="0">
              <a:off x="0" y="0"/>
              <a:ext cx="4528695" cy="1219200"/>
            </a:xfrm>
            <a:custGeom>
              <a:avLst/>
              <a:gdLst/>
              <a:ahLst/>
              <a:cxnLst/>
              <a:rect r="r" b="b" t="t" l="l"/>
              <a:pathLst>
                <a:path h="1219200" w="4528695">
                  <a:moveTo>
                    <a:pt x="0" y="0"/>
                  </a:moveTo>
                  <a:lnTo>
                    <a:pt x="4528695" y="0"/>
                  </a:lnTo>
                  <a:lnTo>
                    <a:pt x="4528695" y="1219200"/>
                  </a:lnTo>
                  <a:lnTo>
                    <a:pt x="0" y="1219200"/>
                  </a:lnTo>
                  <a:close/>
                </a:path>
              </a:pathLst>
            </a:custGeom>
            <a:blipFill>
              <a:blip r:embed="rId3">
                <a:alphaModFix amt="0"/>
              </a:blip>
              <a:stretch>
                <a:fillRect l="0" t="-168232" r="-201522" b="-168232"/>
              </a:stretch>
            </a:blipFill>
            <a:ln cap="sq">
              <a:noFill/>
              <a:prstDash val="solid"/>
              <a:miter/>
            </a:ln>
          </p:spPr>
        </p:sp>
        <p:sp>
          <p:nvSpPr>
            <p:cNvPr name="TextBox 13" id="13"/>
            <p:cNvSpPr txBox="true"/>
            <p:nvPr/>
          </p:nvSpPr>
          <p:spPr>
            <a:xfrm>
              <a:off x="0" y="-66675"/>
              <a:ext cx="4528695" cy="1285875"/>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a:t>
              </a:r>
              <a:r>
                <a:rPr lang="en-US" b="true" sz="3299" i="true">
                  <a:solidFill>
                    <a:srgbClr val="1A2E1A"/>
                  </a:solidFill>
                  <a:latin typeface="Calibri (MS) Bold Italics"/>
                  <a:ea typeface="Calibri (MS) Bold Italics"/>
                  <a:cs typeface="Calibri (MS) Bold Italics"/>
                  <a:sym typeface="Calibri (MS) Bold Italics"/>
                </a:rPr>
                <a:t> Bootstrap</a:t>
              </a:r>
            </a:p>
          </p:txBody>
        </p:sp>
      </p:grpSp>
      <p:grpSp>
        <p:nvGrpSpPr>
          <p:cNvPr name="Group 14" id="14"/>
          <p:cNvGrpSpPr/>
          <p:nvPr/>
        </p:nvGrpSpPr>
        <p:grpSpPr>
          <a:xfrm rot="0">
            <a:off x="1218240" y="3595937"/>
            <a:ext cx="15380432" cy="1188720"/>
            <a:chOff x="0" y="0"/>
            <a:chExt cx="20507242" cy="1584960"/>
          </a:xfrm>
        </p:grpSpPr>
        <p:sp>
          <p:nvSpPr>
            <p:cNvPr name="Freeform 15" id="15"/>
            <p:cNvSpPr/>
            <p:nvPr/>
          </p:nvSpPr>
          <p:spPr>
            <a:xfrm flipH="false" flipV="false" rot="0">
              <a:off x="0" y="0"/>
              <a:ext cx="20507241" cy="1584960"/>
            </a:xfrm>
            <a:custGeom>
              <a:avLst/>
              <a:gdLst/>
              <a:ahLst/>
              <a:cxnLst/>
              <a:rect r="r" b="b" t="t" l="l"/>
              <a:pathLst>
                <a:path h="1584960" w="20507241">
                  <a:moveTo>
                    <a:pt x="0" y="0"/>
                  </a:moveTo>
                  <a:lnTo>
                    <a:pt x="20507241" y="0"/>
                  </a:lnTo>
                  <a:lnTo>
                    <a:pt x="20507241" y="1584960"/>
                  </a:lnTo>
                  <a:lnTo>
                    <a:pt x="0" y="1584960"/>
                  </a:lnTo>
                  <a:close/>
                </a:path>
              </a:pathLst>
            </a:custGeom>
            <a:blipFill>
              <a:blip r:embed="rId3">
                <a:alphaModFix amt="0"/>
              </a:blip>
              <a:stretch>
                <a:fillRect l="0" t="-117871" r="33413" b="-117871"/>
              </a:stretch>
            </a:blipFill>
          </p:spPr>
        </p:sp>
        <p:sp>
          <p:nvSpPr>
            <p:cNvPr name="TextBox 16" id="16"/>
            <p:cNvSpPr txBox="true"/>
            <p:nvPr/>
          </p:nvSpPr>
          <p:spPr>
            <a:xfrm>
              <a:off x="0" y="-57150"/>
              <a:ext cx="20507242" cy="1642110"/>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chaque arbre est entraîné sur un échantillon bootstrap différent</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Diversité via les données</a:t>
              </a:r>
            </a:p>
          </p:txBody>
        </p:sp>
      </p:grpSp>
      <p:grpSp>
        <p:nvGrpSpPr>
          <p:cNvPr name="Group 17" id="17"/>
          <p:cNvGrpSpPr/>
          <p:nvPr/>
        </p:nvGrpSpPr>
        <p:grpSpPr>
          <a:xfrm rot="0">
            <a:off x="1314706" y="4898957"/>
            <a:ext cx="15944589" cy="914400"/>
            <a:chOff x="0" y="0"/>
            <a:chExt cx="21259452" cy="1219200"/>
          </a:xfrm>
        </p:grpSpPr>
        <p:sp>
          <p:nvSpPr>
            <p:cNvPr name="Freeform 18" id="18"/>
            <p:cNvSpPr/>
            <p:nvPr/>
          </p:nvSpPr>
          <p:spPr>
            <a:xfrm flipH="false" flipV="false" rot="0">
              <a:off x="0" y="0"/>
              <a:ext cx="21259451" cy="1219200"/>
            </a:xfrm>
            <a:custGeom>
              <a:avLst/>
              <a:gdLst/>
              <a:ahLst/>
              <a:cxnLst/>
              <a:rect r="r" b="b" t="t" l="l"/>
              <a:pathLst>
                <a:path h="1219200" w="21259451">
                  <a:moveTo>
                    <a:pt x="0" y="0"/>
                  </a:moveTo>
                  <a:lnTo>
                    <a:pt x="21259451" y="0"/>
                  </a:lnTo>
                  <a:lnTo>
                    <a:pt x="21259451" y="1219200"/>
                  </a:lnTo>
                  <a:lnTo>
                    <a:pt x="0" y="1219200"/>
                  </a:lnTo>
                  <a:close/>
                </a:path>
              </a:pathLst>
            </a:custGeom>
            <a:blipFill>
              <a:blip r:embed="rId3">
                <a:alphaModFix amt="0"/>
              </a:blip>
              <a:stretch>
                <a:fillRect l="0" t="-168232" r="35769" b="-168232"/>
              </a:stretch>
            </a:blipFill>
          </p:spPr>
        </p:sp>
        <p:sp>
          <p:nvSpPr>
            <p:cNvPr name="TextBox 19" id="19"/>
            <p:cNvSpPr txBox="true"/>
            <p:nvPr/>
          </p:nvSpPr>
          <p:spPr>
            <a:xfrm>
              <a:off x="0" y="-66675"/>
              <a:ext cx="21259452" cy="1285875"/>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a:t>
              </a:r>
              <a:r>
                <a:rPr lang="en-US" b="true" sz="3299" i="true">
                  <a:solidFill>
                    <a:srgbClr val="1A2E1A"/>
                  </a:solidFill>
                  <a:latin typeface="Calibri (MS) Bold Italics"/>
                  <a:ea typeface="Calibri (MS) Bold Italics"/>
                  <a:cs typeface="Calibri (MS) Bold Italics"/>
                  <a:sym typeface="Calibri (MS) Bold Italics"/>
                </a:rPr>
                <a:t> Feature Randomness</a:t>
              </a:r>
            </a:p>
          </p:txBody>
        </p:sp>
      </p:grpSp>
      <p:grpSp>
        <p:nvGrpSpPr>
          <p:cNvPr name="Group 20" id="20"/>
          <p:cNvGrpSpPr/>
          <p:nvPr/>
        </p:nvGrpSpPr>
        <p:grpSpPr>
          <a:xfrm rot="0">
            <a:off x="1151930" y="5813357"/>
            <a:ext cx="15944589" cy="1188720"/>
            <a:chOff x="0" y="0"/>
            <a:chExt cx="21259452" cy="1584960"/>
          </a:xfrm>
        </p:grpSpPr>
        <p:sp>
          <p:nvSpPr>
            <p:cNvPr name="Freeform 21" id="21"/>
            <p:cNvSpPr/>
            <p:nvPr/>
          </p:nvSpPr>
          <p:spPr>
            <a:xfrm flipH="false" flipV="false" rot="0">
              <a:off x="0" y="0"/>
              <a:ext cx="21259451" cy="1584960"/>
            </a:xfrm>
            <a:custGeom>
              <a:avLst/>
              <a:gdLst/>
              <a:ahLst/>
              <a:cxnLst/>
              <a:rect r="r" b="b" t="t" l="l"/>
              <a:pathLst>
                <a:path h="1584960" w="21259451">
                  <a:moveTo>
                    <a:pt x="0" y="0"/>
                  </a:moveTo>
                  <a:lnTo>
                    <a:pt x="21259451" y="0"/>
                  </a:lnTo>
                  <a:lnTo>
                    <a:pt x="21259451" y="1584960"/>
                  </a:lnTo>
                  <a:lnTo>
                    <a:pt x="0" y="1584960"/>
                  </a:lnTo>
                  <a:close/>
                </a:path>
              </a:pathLst>
            </a:custGeom>
            <a:blipFill>
              <a:blip r:embed="rId3">
                <a:alphaModFix amt="0"/>
              </a:blip>
              <a:stretch>
                <a:fillRect l="0" t="-117871" r="35769" b="-117871"/>
              </a:stretch>
            </a:blipFill>
          </p:spPr>
        </p:sp>
        <p:sp>
          <p:nvSpPr>
            <p:cNvPr name="TextBox 22" id="22"/>
            <p:cNvSpPr txBox="true"/>
            <p:nvPr/>
          </p:nvSpPr>
          <p:spPr>
            <a:xfrm>
              <a:off x="0" y="-57150"/>
              <a:ext cx="21259452" cy="1642110"/>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à chaque nœud, on utilise un sous-ensemble aléatoire de variables</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diversité introduite par les variables</a:t>
              </a:r>
            </a:p>
          </p:txBody>
        </p:sp>
      </p:grpSp>
      <p:grpSp>
        <p:nvGrpSpPr>
          <p:cNvPr name="Group 23" id="23"/>
          <p:cNvGrpSpPr/>
          <p:nvPr/>
        </p:nvGrpSpPr>
        <p:grpSpPr>
          <a:xfrm rot="0">
            <a:off x="1028695" y="7116377"/>
            <a:ext cx="15984139" cy="1531025"/>
            <a:chOff x="0" y="0"/>
            <a:chExt cx="21312186" cy="2041367"/>
          </a:xfrm>
        </p:grpSpPr>
        <p:sp>
          <p:nvSpPr>
            <p:cNvPr name="Freeform 24" id="24"/>
            <p:cNvSpPr/>
            <p:nvPr/>
          </p:nvSpPr>
          <p:spPr>
            <a:xfrm flipH="false" flipV="false" rot="0">
              <a:off x="26298" y="25077"/>
              <a:ext cx="21259451" cy="1991081"/>
            </a:xfrm>
            <a:custGeom>
              <a:avLst/>
              <a:gdLst/>
              <a:ahLst/>
              <a:cxnLst/>
              <a:rect r="r" b="b" t="t" l="l"/>
              <a:pathLst>
                <a:path h="1991081" w="21259451">
                  <a:moveTo>
                    <a:pt x="0" y="0"/>
                  </a:moveTo>
                  <a:lnTo>
                    <a:pt x="21259451" y="0"/>
                  </a:lnTo>
                  <a:lnTo>
                    <a:pt x="21259451" y="1991081"/>
                  </a:lnTo>
                  <a:lnTo>
                    <a:pt x="0" y="1991081"/>
                  </a:lnTo>
                  <a:close/>
                </a:path>
              </a:pathLst>
            </a:custGeom>
            <a:solidFill>
              <a:srgbClr val="E8F5E8"/>
            </a:solidFill>
          </p:spPr>
        </p:sp>
        <p:sp>
          <p:nvSpPr>
            <p:cNvPr name="Freeform 25" id="25"/>
            <p:cNvSpPr/>
            <p:nvPr/>
          </p:nvSpPr>
          <p:spPr>
            <a:xfrm flipH="false" flipV="false" rot="0">
              <a:off x="0" y="0"/>
              <a:ext cx="21312046" cy="2041235"/>
            </a:xfrm>
            <a:custGeom>
              <a:avLst/>
              <a:gdLst/>
              <a:ahLst/>
              <a:cxnLst/>
              <a:rect r="r" b="b" t="t" l="l"/>
              <a:pathLst>
                <a:path h="2041235" w="21312046">
                  <a:moveTo>
                    <a:pt x="26298" y="0"/>
                  </a:moveTo>
                  <a:lnTo>
                    <a:pt x="21285749" y="0"/>
                  </a:lnTo>
                  <a:cubicBezTo>
                    <a:pt x="21300382" y="0"/>
                    <a:pt x="21312046" y="11313"/>
                    <a:pt x="21312046" y="25077"/>
                  </a:cubicBezTo>
                  <a:lnTo>
                    <a:pt x="21312046" y="2016158"/>
                  </a:lnTo>
                  <a:cubicBezTo>
                    <a:pt x="21312046" y="2030111"/>
                    <a:pt x="21300184" y="2041235"/>
                    <a:pt x="21285749" y="2041235"/>
                  </a:cubicBezTo>
                  <a:lnTo>
                    <a:pt x="26298" y="2041235"/>
                  </a:lnTo>
                  <a:cubicBezTo>
                    <a:pt x="11666" y="2041235"/>
                    <a:pt x="0" y="2029922"/>
                    <a:pt x="0" y="2016158"/>
                  </a:cubicBezTo>
                  <a:lnTo>
                    <a:pt x="0" y="25077"/>
                  </a:lnTo>
                  <a:cubicBezTo>
                    <a:pt x="0" y="11313"/>
                    <a:pt x="11864" y="0"/>
                    <a:pt x="26298" y="0"/>
                  </a:cubicBezTo>
                  <a:moveTo>
                    <a:pt x="26298" y="50343"/>
                  </a:moveTo>
                  <a:lnTo>
                    <a:pt x="26298" y="25077"/>
                  </a:lnTo>
                  <a:lnTo>
                    <a:pt x="52793" y="25077"/>
                  </a:lnTo>
                  <a:lnTo>
                    <a:pt x="52793" y="2016158"/>
                  </a:lnTo>
                  <a:lnTo>
                    <a:pt x="26298" y="2016158"/>
                  </a:lnTo>
                  <a:lnTo>
                    <a:pt x="26298" y="1991081"/>
                  </a:lnTo>
                  <a:lnTo>
                    <a:pt x="21285749" y="1991081"/>
                  </a:lnTo>
                  <a:lnTo>
                    <a:pt x="21285749" y="2016158"/>
                  </a:lnTo>
                  <a:lnTo>
                    <a:pt x="21259451" y="2016158"/>
                  </a:lnTo>
                  <a:lnTo>
                    <a:pt x="21259451" y="25077"/>
                  </a:lnTo>
                  <a:lnTo>
                    <a:pt x="21285749" y="25077"/>
                  </a:lnTo>
                  <a:lnTo>
                    <a:pt x="21285749" y="50343"/>
                  </a:lnTo>
                  <a:lnTo>
                    <a:pt x="26298" y="50343"/>
                  </a:lnTo>
                  <a:close/>
                </a:path>
              </a:pathLst>
            </a:custGeom>
            <a:solidFill>
              <a:srgbClr val="5B9E3D"/>
            </a:solidFill>
          </p:spPr>
        </p:sp>
      </p:grpSp>
      <p:sp>
        <p:nvSpPr>
          <p:cNvPr name="TextBox 26" id="26"/>
          <p:cNvSpPr txBox="true"/>
          <p:nvPr/>
        </p:nvSpPr>
        <p:spPr>
          <a:xfrm rot="0">
            <a:off x="3205182" y="7180204"/>
            <a:ext cx="12163637" cy="1228725"/>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Calibri (MS) Bold"/>
                <a:ea typeface="Calibri (MS) Bold"/>
                <a:cs typeface="Calibri (MS) Bold"/>
                <a:sym typeface="Calibri (MS) Bold"/>
              </a:rPr>
              <a:t> </a:t>
            </a:r>
            <a:r>
              <a:rPr lang="en-US" b="true" sz="2599">
                <a:solidFill>
                  <a:srgbClr val="000000"/>
                </a:solidFill>
                <a:latin typeface="Calibri (MS) Bold"/>
                <a:ea typeface="Calibri (MS) Bold"/>
                <a:cs typeface="Calibri (MS) Bold"/>
                <a:sym typeface="Calibri (MS) Bold"/>
              </a:rPr>
              <a:t>Résultat</a:t>
            </a:r>
          </a:p>
          <a:p>
            <a:pPr algn="ctr">
              <a:lnSpc>
                <a:spcPts val="3119"/>
              </a:lnSpc>
              <a:spcBef>
                <a:spcPct val="0"/>
              </a:spcBef>
            </a:pPr>
            <a:r>
              <a:rPr lang="en-US" b="true" sz="2599">
                <a:solidFill>
                  <a:srgbClr val="000000"/>
                </a:solidFill>
                <a:latin typeface="Calibri (MS) Bold"/>
                <a:ea typeface="Calibri (MS) Bold"/>
                <a:cs typeface="Calibri (MS) Bold"/>
                <a:sym typeface="Calibri (MS) Bold"/>
              </a:rPr>
              <a:t>Double source de diversité → arbres moins corrélés → réduction de la variance → meilleure généralisation du modèle</a:t>
            </a:r>
          </a:p>
        </p:txBody>
      </p:sp>
      <p:sp>
        <p:nvSpPr>
          <p:cNvPr name="Freeform 27" id="27"/>
          <p:cNvSpPr/>
          <p:nvPr/>
        </p:nvSpPr>
        <p:spPr>
          <a:xfrm flipH="false" flipV="false" rot="0">
            <a:off x="8227953" y="7116377"/>
            <a:ext cx="514224" cy="514224"/>
          </a:xfrm>
          <a:custGeom>
            <a:avLst/>
            <a:gdLst/>
            <a:ahLst/>
            <a:cxnLst/>
            <a:rect r="r" b="b" t="t" l="l"/>
            <a:pathLst>
              <a:path h="514224" w="514224">
                <a:moveTo>
                  <a:pt x="0" y="0"/>
                </a:moveTo>
                <a:lnTo>
                  <a:pt x="514225" y="0"/>
                </a:lnTo>
                <a:lnTo>
                  <a:pt x="514225" y="514225"/>
                </a:lnTo>
                <a:lnTo>
                  <a:pt x="0" y="514225"/>
                </a:lnTo>
                <a:lnTo>
                  <a:pt x="0" y="0"/>
                </a:lnTo>
                <a:close/>
              </a:path>
            </a:pathLst>
          </a:custGeom>
          <a:blipFill>
            <a:blip r:embed="rId4"/>
            <a:stretch>
              <a:fillRect l="0" t="0" r="0" b="0"/>
            </a:stretch>
          </a:blipFill>
        </p:spPr>
      </p:sp>
      <p:sp>
        <p:nvSpPr>
          <p:cNvPr name="Freeform 28" id="28"/>
          <p:cNvSpPr/>
          <p:nvPr/>
        </p:nvSpPr>
        <p:spPr>
          <a:xfrm flipH="false" flipV="false" rot="0">
            <a:off x="3090665" y="7594325"/>
            <a:ext cx="457634" cy="457634"/>
          </a:xfrm>
          <a:custGeom>
            <a:avLst/>
            <a:gdLst/>
            <a:ahLst/>
            <a:cxnLst/>
            <a:rect r="r" b="b" t="t" l="l"/>
            <a:pathLst>
              <a:path h="457634" w="457634">
                <a:moveTo>
                  <a:pt x="0" y="0"/>
                </a:moveTo>
                <a:lnTo>
                  <a:pt x="457634" y="0"/>
                </a:lnTo>
                <a:lnTo>
                  <a:pt x="457634" y="457633"/>
                </a:lnTo>
                <a:lnTo>
                  <a:pt x="0" y="457633"/>
                </a:lnTo>
                <a:lnTo>
                  <a:pt x="0" y="0"/>
                </a:lnTo>
                <a:close/>
              </a:path>
            </a:pathLst>
          </a:custGeom>
          <a:blipFill>
            <a:blip r:embed="rId5"/>
            <a:stretch>
              <a:fillRect l="0" t="0" r="0" b="0"/>
            </a:stretch>
          </a:blipFill>
        </p:spPr>
      </p:sp>
      <p:sp>
        <p:nvSpPr>
          <p:cNvPr name="TextBox 29" id="29"/>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A2 — Fonctionnement d'une Forêt Aléatoire avec le Caractère aléatoire</a:t>
              </a:r>
            </a:p>
          </p:txBody>
        </p:sp>
      </p:grpSp>
      <p:grpSp>
        <p:nvGrpSpPr>
          <p:cNvPr name="Group 8" id="8"/>
          <p:cNvGrpSpPr/>
          <p:nvPr/>
        </p:nvGrpSpPr>
        <p:grpSpPr>
          <a:xfrm rot="0">
            <a:off x="415394" y="2280318"/>
            <a:ext cx="7541064" cy="1302860"/>
            <a:chOff x="0" y="0"/>
            <a:chExt cx="10054752" cy="1737147"/>
          </a:xfrm>
        </p:grpSpPr>
        <p:sp>
          <p:nvSpPr>
            <p:cNvPr name="Freeform 9" id="9"/>
            <p:cNvSpPr/>
            <p:nvPr/>
          </p:nvSpPr>
          <p:spPr>
            <a:xfrm flipH="false" flipV="false" rot="0">
              <a:off x="21672" y="18126"/>
              <a:ext cx="10011296" cy="1700801"/>
            </a:xfrm>
            <a:custGeom>
              <a:avLst/>
              <a:gdLst/>
              <a:ahLst/>
              <a:cxnLst/>
              <a:rect r="r" b="b" t="t" l="l"/>
              <a:pathLst>
                <a:path h="1700801" w="10011296">
                  <a:moveTo>
                    <a:pt x="0" y="0"/>
                  </a:moveTo>
                  <a:lnTo>
                    <a:pt x="10011295" y="0"/>
                  </a:lnTo>
                  <a:lnTo>
                    <a:pt x="10011295" y="1700800"/>
                  </a:lnTo>
                  <a:lnTo>
                    <a:pt x="0" y="1700800"/>
                  </a:lnTo>
                  <a:close/>
                </a:path>
              </a:pathLst>
            </a:custGeom>
            <a:solidFill>
              <a:srgbClr val="2C5F2D"/>
            </a:solidFill>
          </p:spPr>
        </p:sp>
        <p:sp>
          <p:nvSpPr>
            <p:cNvPr name="Freeform 10" id="10"/>
            <p:cNvSpPr/>
            <p:nvPr/>
          </p:nvSpPr>
          <p:spPr>
            <a:xfrm flipH="false" flipV="false" rot="0">
              <a:off x="0" y="0"/>
              <a:ext cx="10054638" cy="1737052"/>
            </a:xfrm>
            <a:custGeom>
              <a:avLst/>
              <a:gdLst/>
              <a:ahLst/>
              <a:cxnLst/>
              <a:rect r="r" b="b" t="t" l="l"/>
              <a:pathLst>
                <a:path h="1737052" w="10054638">
                  <a:moveTo>
                    <a:pt x="21672" y="0"/>
                  </a:moveTo>
                  <a:lnTo>
                    <a:pt x="10032967" y="0"/>
                  </a:lnTo>
                  <a:cubicBezTo>
                    <a:pt x="10045025" y="0"/>
                    <a:pt x="10054638" y="8177"/>
                    <a:pt x="10054638" y="18126"/>
                  </a:cubicBezTo>
                  <a:lnTo>
                    <a:pt x="10054638" y="1718926"/>
                  </a:lnTo>
                  <a:cubicBezTo>
                    <a:pt x="10054638" y="1729011"/>
                    <a:pt x="10044862" y="1737052"/>
                    <a:pt x="10032967" y="1737052"/>
                  </a:cubicBezTo>
                  <a:lnTo>
                    <a:pt x="21672" y="1737052"/>
                  </a:lnTo>
                  <a:cubicBezTo>
                    <a:pt x="9614" y="1737052"/>
                    <a:pt x="0" y="1728875"/>
                    <a:pt x="0" y="1718926"/>
                  </a:cubicBezTo>
                  <a:lnTo>
                    <a:pt x="0" y="18126"/>
                  </a:lnTo>
                  <a:cubicBezTo>
                    <a:pt x="0" y="8177"/>
                    <a:pt x="9777" y="0"/>
                    <a:pt x="21672" y="0"/>
                  </a:cubicBezTo>
                  <a:moveTo>
                    <a:pt x="21672" y="36387"/>
                  </a:moveTo>
                  <a:lnTo>
                    <a:pt x="21672" y="18126"/>
                  </a:lnTo>
                  <a:lnTo>
                    <a:pt x="43506" y="18126"/>
                  </a:lnTo>
                  <a:lnTo>
                    <a:pt x="43506" y="1718926"/>
                  </a:lnTo>
                  <a:lnTo>
                    <a:pt x="21672" y="1718926"/>
                  </a:lnTo>
                  <a:lnTo>
                    <a:pt x="21672" y="1700801"/>
                  </a:lnTo>
                  <a:lnTo>
                    <a:pt x="10032967" y="1700801"/>
                  </a:lnTo>
                  <a:lnTo>
                    <a:pt x="10032967" y="1718926"/>
                  </a:lnTo>
                  <a:lnTo>
                    <a:pt x="10011295" y="1718926"/>
                  </a:lnTo>
                  <a:lnTo>
                    <a:pt x="10011295" y="18126"/>
                  </a:lnTo>
                  <a:lnTo>
                    <a:pt x="10032967" y="18126"/>
                  </a:lnTo>
                  <a:lnTo>
                    <a:pt x="10032967" y="36387"/>
                  </a:lnTo>
                  <a:lnTo>
                    <a:pt x="21672" y="36387"/>
                  </a:lnTo>
                  <a:close/>
                </a:path>
              </a:pathLst>
            </a:custGeom>
            <a:solidFill>
              <a:srgbClr val="2C5F2D"/>
            </a:solidFill>
          </p:spPr>
        </p:sp>
      </p:grpSp>
      <p:grpSp>
        <p:nvGrpSpPr>
          <p:cNvPr name="Group 11" id="11"/>
          <p:cNvGrpSpPr/>
          <p:nvPr/>
        </p:nvGrpSpPr>
        <p:grpSpPr>
          <a:xfrm rot="0">
            <a:off x="431684" y="2293943"/>
            <a:ext cx="7508471" cy="1275600"/>
            <a:chOff x="0" y="0"/>
            <a:chExt cx="10011295" cy="1700801"/>
          </a:xfrm>
        </p:grpSpPr>
        <p:sp>
          <p:nvSpPr>
            <p:cNvPr name="Freeform 12" id="12"/>
            <p:cNvSpPr/>
            <p:nvPr/>
          </p:nvSpPr>
          <p:spPr>
            <a:xfrm flipH="false" flipV="false" rot="0">
              <a:off x="0" y="0"/>
              <a:ext cx="10011295" cy="1700801"/>
            </a:xfrm>
            <a:custGeom>
              <a:avLst/>
              <a:gdLst/>
              <a:ahLst/>
              <a:cxnLst/>
              <a:rect r="r" b="b" t="t" l="l"/>
              <a:pathLst>
                <a:path h="1700801" w="10011295">
                  <a:moveTo>
                    <a:pt x="0" y="0"/>
                  </a:moveTo>
                  <a:lnTo>
                    <a:pt x="10011295" y="0"/>
                  </a:lnTo>
                  <a:lnTo>
                    <a:pt x="10011295" y="1700801"/>
                  </a:lnTo>
                  <a:lnTo>
                    <a:pt x="0" y="1700801"/>
                  </a:lnTo>
                  <a:close/>
                </a:path>
              </a:pathLst>
            </a:custGeom>
            <a:blipFill>
              <a:blip r:embed="rId3">
                <a:alphaModFix amt="0"/>
              </a:blip>
              <a:stretch>
                <a:fillRect l="0" t="-42798" r="22059" b="-35987"/>
              </a:stretch>
            </a:blipFill>
          </p:spPr>
        </p:sp>
        <p:sp>
          <p:nvSpPr>
            <p:cNvPr name="TextBox 13" id="13"/>
            <p:cNvSpPr txBox="true"/>
            <p:nvPr/>
          </p:nvSpPr>
          <p:spPr>
            <a:xfrm>
              <a:off x="0" y="-66675"/>
              <a:ext cx="10011295" cy="1767476"/>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Dataset Pima Diabetes  (768 × 8)</a:t>
              </a:r>
            </a:p>
          </p:txBody>
        </p:sp>
      </p:grpSp>
      <p:grpSp>
        <p:nvGrpSpPr>
          <p:cNvPr name="Group 14" id="14"/>
          <p:cNvGrpSpPr/>
          <p:nvPr/>
        </p:nvGrpSpPr>
        <p:grpSpPr>
          <a:xfrm rot="0">
            <a:off x="415394" y="4046534"/>
            <a:ext cx="2261670" cy="1793476"/>
            <a:chOff x="0" y="0"/>
            <a:chExt cx="3015560" cy="2391301"/>
          </a:xfrm>
        </p:grpSpPr>
        <p:sp>
          <p:nvSpPr>
            <p:cNvPr name="Freeform 15" id="15"/>
            <p:cNvSpPr/>
            <p:nvPr/>
          </p:nvSpPr>
          <p:spPr>
            <a:xfrm flipH="false" flipV="false" rot="0">
              <a:off x="21672" y="18126"/>
              <a:ext cx="2972103" cy="2354955"/>
            </a:xfrm>
            <a:custGeom>
              <a:avLst/>
              <a:gdLst/>
              <a:ahLst/>
              <a:cxnLst/>
              <a:rect r="r" b="b" t="t" l="l"/>
              <a:pathLst>
                <a:path h="2354955" w="2972103">
                  <a:moveTo>
                    <a:pt x="0" y="0"/>
                  </a:moveTo>
                  <a:lnTo>
                    <a:pt x="2972103" y="0"/>
                  </a:lnTo>
                  <a:lnTo>
                    <a:pt x="2972103" y="2354954"/>
                  </a:lnTo>
                  <a:lnTo>
                    <a:pt x="0" y="2354954"/>
                  </a:lnTo>
                  <a:close/>
                </a:path>
              </a:pathLst>
            </a:custGeom>
            <a:solidFill>
              <a:srgbClr val="2C5F2D"/>
            </a:solidFill>
          </p:spPr>
        </p:sp>
        <p:sp>
          <p:nvSpPr>
            <p:cNvPr name="Freeform 16" id="16"/>
            <p:cNvSpPr/>
            <p:nvPr/>
          </p:nvSpPr>
          <p:spPr>
            <a:xfrm flipH="false" flipV="false" rot="0">
              <a:off x="0" y="0"/>
              <a:ext cx="3015446" cy="2391206"/>
            </a:xfrm>
            <a:custGeom>
              <a:avLst/>
              <a:gdLst/>
              <a:ahLst/>
              <a:cxnLst/>
              <a:rect r="r" b="b" t="t" l="l"/>
              <a:pathLst>
                <a:path h="2391206" w="3015446">
                  <a:moveTo>
                    <a:pt x="21672" y="0"/>
                  </a:moveTo>
                  <a:lnTo>
                    <a:pt x="2993775" y="0"/>
                  </a:lnTo>
                  <a:cubicBezTo>
                    <a:pt x="3005833" y="0"/>
                    <a:pt x="3015446" y="8177"/>
                    <a:pt x="3015446" y="18126"/>
                  </a:cubicBezTo>
                  <a:lnTo>
                    <a:pt x="3015446" y="2373080"/>
                  </a:lnTo>
                  <a:cubicBezTo>
                    <a:pt x="3015446" y="2383165"/>
                    <a:pt x="3005670" y="2391206"/>
                    <a:pt x="2993775" y="2391206"/>
                  </a:cubicBezTo>
                  <a:lnTo>
                    <a:pt x="21672" y="2391206"/>
                  </a:lnTo>
                  <a:cubicBezTo>
                    <a:pt x="9614" y="2391206"/>
                    <a:pt x="0" y="2383029"/>
                    <a:pt x="0" y="2373080"/>
                  </a:cubicBezTo>
                  <a:lnTo>
                    <a:pt x="0" y="18126"/>
                  </a:lnTo>
                  <a:cubicBezTo>
                    <a:pt x="0" y="8177"/>
                    <a:pt x="9777" y="0"/>
                    <a:pt x="21672" y="0"/>
                  </a:cubicBezTo>
                  <a:moveTo>
                    <a:pt x="21672" y="36387"/>
                  </a:moveTo>
                  <a:lnTo>
                    <a:pt x="21672" y="18126"/>
                  </a:lnTo>
                  <a:lnTo>
                    <a:pt x="43506" y="18126"/>
                  </a:lnTo>
                  <a:lnTo>
                    <a:pt x="43506" y="2373080"/>
                  </a:lnTo>
                  <a:lnTo>
                    <a:pt x="21672" y="2373080"/>
                  </a:lnTo>
                  <a:lnTo>
                    <a:pt x="21672" y="2354955"/>
                  </a:lnTo>
                  <a:lnTo>
                    <a:pt x="2993775" y="2354955"/>
                  </a:lnTo>
                  <a:lnTo>
                    <a:pt x="2993775" y="2373080"/>
                  </a:lnTo>
                  <a:lnTo>
                    <a:pt x="2972103" y="2373080"/>
                  </a:lnTo>
                  <a:lnTo>
                    <a:pt x="2972103" y="18126"/>
                  </a:lnTo>
                  <a:lnTo>
                    <a:pt x="2993775" y="18126"/>
                  </a:lnTo>
                  <a:lnTo>
                    <a:pt x="2993775" y="36387"/>
                  </a:lnTo>
                  <a:lnTo>
                    <a:pt x="21672" y="36387"/>
                  </a:lnTo>
                  <a:close/>
                </a:path>
              </a:pathLst>
            </a:custGeom>
            <a:solidFill>
              <a:srgbClr val="2C5F2D"/>
            </a:solidFill>
          </p:spPr>
        </p:sp>
      </p:grpSp>
      <p:grpSp>
        <p:nvGrpSpPr>
          <p:cNvPr name="Group 17" id="17"/>
          <p:cNvGrpSpPr/>
          <p:nvPr/>
        </p:nvGrpSpPr>
        <p:grpSpPr>
          <a:xfrm rot="0">
            <a:off x="502076" y="4158282"/>
            <a:ext cx="2088294" cy="1569970"/>
            <a:chOff x="0" y="0"/>
            <a:chExt cx="2784391" cy="2093293"/>
          </a:xfrm>
        </p:grpSpPr>
        <p:sp>
          <p:nvSpPr>
            <p:cNvPr name="Freeform 18" id="18"/>
            <p:cNvSpPr/>
            <p:nvPr/>
          </p:nvSpPr>
          <p:spPr>
            <a:xfrm flipH="false" flipV="false" rot="0">
              <a:off x="0" y="0"/>
              <a:ext cx="2784391" cy="2093293"/>
            </a:xfrm>
            <a:custGeom>
              <a:avLst/>
              <a:gdLst/>
              <a:ahLst/>
              <a:cxnLst/>
              <a:rect r="r" b="b" t="t" l="l"/>
              <a:pathLst>
                <a:path h="2093293" w="2784391">
                  <a:moveTo>
                    <a:pt x="0" y="0"/>
                  </a:moveTo>
                  <a:lnTo>
                    <a:pt x="2784391" y="0"/>
                  </a:lnTo>
                  <a:lnTo>
                    <a:pt x="2784391" y="2093293"/>
                  </a:lnTo>
                  <a:lnTo>
                    <a:pt x="0" y="2093293"/>
                  </a:lnTo>
                  <a:close/>
                </a:path>
              </a:pathLst>
            </a:custGeom>
            <a:blipFill>
              <a:blip r:embed="rId3">
                <a:alphaModFix amt="0"/>
              </a:blip>
              <a:stretch>
                <a:fillRect l="-50917" t="0" r="-28858" b="6810"/>
              </a:stretch>
            </a:blipFill>
          </p:spPr>
        </p:sp>
        <p:sp>
          <p:nvSpPr>
            <p:cNvPr name="TextBox 19" id="19"/>
            <p:cNvSpPr txBox="true"/>
            <p:nvPr/>
          </p:nvSpPr>
          <p:spPr>
            <a:xfrm>
              <a:off x="0" y="-47625"/>
              <a:ext cx="2784391" cy="2140918"/>
            </a:xfrm>
            <a:prstGeom prst="rect">
              <a:avLst/>
            </a:prstGeom>
          </p:spPr>
          <p:txBody>
            <a:bodyPr anchor="ctr" rtlCol="false" tIns="0" lIns="0" bIns="0" rIns="0"/>
            <a:lstStyle/>
            <a:p>
              <a:pPr algn="ctr">
                <a:lnSpc>
                  <a:spcPts val="2759"/>
                </a:lnSpc>
              </a:pPr>
              <a:r>
                <a:rPr lang="en-US" sz="2299">
                  <a:solidFill>
                    <a:srgbClr val="FFFFFF"/>
                  </a:solidFill>
                  <a:latin typeface="Calibri (MS)"/>
                  <a:ea typeface="Calibri (MS)"/>
                  <a:cs typeface="Calibri (MS)"/>
                  <a:sym typeface="Calibri (MS)"/>
                </a:rPr>
                <a:t>Bootstrap B1</a:t>
              </a:r>
            </a:p>
            <a:p>
              <a:pPr algn="ctr">
                <a:lnSpc>
                  <a:spcPts val="2759"/>
                </a:lnSpc>
              </a:pPr>
              <a:r>
                <a:rPr lang="en-US" sz="2299">
                  <a:solidFill>
                    <a:srgbClr val="FFFFFF"/>
                  </a:solidFill>
                  <a:latin typeface="Calibri (MS)"/>
                  <a:ea typeface="Calibri (MS)"/>
                  <a:cs typeface="Calibri (MS)"/>
                  <a:sym typeface="Calibri (MS)"/>
                </a:rPr>
                <a:t>(n=768, remise)</a:t>
              </a:r>
            </a:p>
          </p:txBody>
        </p:sp>
      </p:grpSp>
      <p:grpSp>
        <p:nvGrpSpPr>
          <p:cNvPr name="Group 20" id="20"/>
          <p:cNvGrpSpPr/>
          <p:nvPr/>
        </p:nvGrpSpPr>
        <p:grpSpPr>
          <a:xfrm rot="0">
            <a:off x="1400881" y="5851999"/>
            <a:ext cx="220305" cy="419752"/>
            <a:chOff x="0" y="0"/>
            <a:chExt cx="293740" cy="559670"/>
          </a:xfrm>
        </p:grpSpPr>
        <p:sp>
          <p:nvSpPr>
            <p:cNvPr name="Freeform 21" id="21"/>
            <p:cNvSpPr/>
            <p:nvPr/>
          </p:nvSpPr>
          <p:spPr>
            <a:xfrm flipH="false" flipV="false" rot="0">
              <a:off x="21672" y="18126"/>
              <a:ext cx="250282" cy="523323"/>
            </a:xfrm>
            <a:custGeom>
              <a:avLst/>
              <a:gdLst/>
              <a:ahLst/>
              <a:cxnLst/>
              <a:rect r="r" b="b" t="t" l="l"/>
              <a:pathLst>
                <a:path h="523323" w="250282">
                  <a:moveTo>
                    <a:pt x="0" y="0"/>
                  </a:moveTo>
                  <a:lnTo>
                    <a:pt x="250282" y="0"/>
                  </a:lnTo>
                  <a:lnTo>
                    <a:pt x="250282" y="523323"/>
                  </a:lnTo>
                  <a:lnTo>
                    <a:pt x="0" y="523323"/>
                  </a:lnTo>
                  <a:close/>
                </a:path>
              </a:pathLst>
            </a:custGeom>
            <a:solidFill>
              <a:srgbClr val="5A7A5A"/>
            </a:solidFill>
          </p:spPr>
        </p:sp>
        <p:sp>
          <p:nvSpPr>
            <p:cNvPr name="Freeform 22" id="22"/>
            <p:cNvSpPr/>
            <p:nvPr/>
          </p:nvSpPr>
          <p:spPr>
            <a:xfrm flipH="false" flipV="false" rot="0">
              <a:off x="0" y="0"/>
              <a:ext cx="293626" cy="559576"/>
            </a:xfrm>
            <a:custGeom>
              <a:avLst/>
              <a:gdLst/>
              <a:ahLst/>
              <a:cxnLst/>
              <a:rect r="r" b="b" t="t" l="l"/>
              <a:pathLst>
                <a:path h="559576" w="293626">
                  <a:moveTo>
                    <a:pt x="21672" y="0"/>
                  </a:moveTo>
                  <a:lnTo>
                    <a:pt x="271954" y="0"/>
                  </a:lnTo>
                  <a:cubicBezTo>
                    <a:pt x="284012" y="0"/>
                    <a:pt x="293626" y="8177"/>
                    <a:pt x="293626" y="18126"/>
                  </a:cubicBezTo>
                  <a:lnTo>
                    <a:pt x="293626" y="541449"/>
                  </a:lnTo>
                  <a:cubicBezTo>
                    <a:pt x="293626" y="551534"/>
                    <a:pt x="283849" y="559574"/>
                    <a:pt x="271954" y="559574"/>
                  </a:cubicBezTo>
                  <a:lnTo>
                    <a:pt x="21672" y="559574"/>
                  </a:lnTo>
                  <a:cubicBezTo>
                    <a:pt x="9777" y="559708"/>
                    <a:pt x="0" y="551534"/>
                    <a:pt x="0" y="541449"/>
                  </a:cubicBezTo>
                  <a:lnTo>
                    <a:pt x="0" y="18126"/>
                  </a:lnTo>
                  <a:cubicBezTo>
                    <a:pt x="0" y="8177"/>
                    <a:pt x="9777" y="0"/>
                    <a:pt x="21672" y="0"/>
                  </a:cubicBezTo>
                  <a:moveTo>
                    <a:pt x="21672" y="36387"/>
                  </a:moveTo>
                  <a:lnTo>
                    <a:pt x="21672" y="18126"/>
                  </a:lnTo>
                  <a:lnTo>
                    <a:pt x="43506" y="18126"/>
                  </a:lnTo>
                  <a:lnTo>
                    <a:pt x="43506" y="541449"/>
                  </a:lnTo>
                  <a:lnTo>
                    <a:pt x="21672" y="541449"/>
                  </a:lnTo>
                  <a:lnTo>
                    <a:pt x="21672" y="523323"/>
                  </a:lnTo>
                  <a:lnTo>
                    <a:pt x="271954" y="523323"/>
                  </a:lnTo>
                  <a:lnTo>
                    <a:pt x="271954" y="541449"/>
                  </a:lnTo>
                  <a:lnTo>
                    <a:pt x="250282" y="541449"/>
                  </a:lnTo>
                  <a:lnTo>
                    <a:pt x="250282" y="18126"/>
                  </a:lnTo>
                  <a:lnTo>
                    <a:pt x="271954" y="18126"/>
                  </a:lnTo>
                  <a:lnTo>
                    <a:pt x="271954" y="36387"/>
                  </a:lnTo>
                  <a:lnTo>
                    <a:pt x="21672" y="36387"/>
                  </a:lnTo>
                  <a:close/>
                </a:path>
              </a:pathLst>
            </a:custGeom>
            <a:solidFill>
              <a:srgbClr val="5A7A5A"/>
            </a:solidFill>
          </p:spPr>
        </p:sp>
      </p:grpSp>
      <p:grpSp>
        <p:nvGrpSpPr>
          <p:cNvPr name="Group 23" id="23"/>
          <p:cNvGrpSpPr/>
          <p:nvPr/>
        </p:nvGrpSpPr>
        <p:grpSpPr>
          <a:xfrm rot="0">
            <a:off x="415394" y="6205242"/>
            <a:ext cx="2261670" cy="1989722"/>
            <a:chOff x="0" y="0"/>
            <a:chExt cx="3015560" cy="2652963"/>
          </a:xfrm>
        </p:grpSpPr>
        <p:sp>
          <p:nvSpPr>
            <p:cNvPr name="Freeform 24" id="24"/>
            <p:cNvSpPr/>
            <p:nvPr/>
          </p:nvSpPr>
          <p:spPr>
            <a:xfrm flipH="false" flipV="false" rot="0">
              <a:off x="21672" y="18126"/>
              <a:ext cx="2972103" cy="2616616"/>
            </a:xfrm>
            <a:custGeom>
              <a:avLst/>
              <a:gdLst/>
              <a:ahLst/>
              <a:cxnLst/>
              <a:rect r="r" b="b" t="t" l="l"/>
              <a:pathLst>
                <a:path h="2616616" w="2972103">
                  <a:moveTo>
                    <a:pt x="0" y="0"/>
                  </a:moveTo>
                  <a:lnTo>
                    <a:pt x="2972103" y="0"/>
                  </a:lnTo>
                  <a:lnTo>
                    <a:pt x="2972103" y="2616616"/>
                  </a:lnTo>
                  <a:lnTo>
                    <a:pt x="0" y="2616616"/>
                  </a:lnTo>
                  <a:close/>
                </a:path>
              </a:pathLst>
            </a:custGeom>
            <a:solidFill>
              <a:srgbClr val="2C5F2D"/>
            </a:solidFill>
          </p:spPr>
        </p:sp>
        <p:sp>
          <p:nvSpPr>
            <p:cNvPr name="Freeform 25" id="25"/>
            <p:cNvSpPr/>
            <p:nvPr/>
          </p:nvSpPr>
          <p:spPr>
            <a:xfrm flipH="false" flipV="false" rot="0">
              <a:off x="0" y="0"/>
              <a:ext cx="3015446" cy="2652867"/>
            </a:xfrm>
            <a:custGeom>
              <a:avLst/>
              <a:gdLst/>
              <a:ahLst/>
              <a:cxnLst/>
              <a:rect r="r" b="b" t="t" l="l"/>
              <a:pathLst>
                <a:path h="2652867" w="3015446">
                  <a:moveTo>
                    <a:pt x="21672" y="0"/>
                  </a:moveTo>
                  <a:lnTo>
                    <a:pt x="2993775" y="0"/>
                  </a:lnTo>
                  <a:cubicBezTo>
                    <a:pt x="3005833" y="0"/>
                    <a:pt x="3015446" y="8177"/>
                    <a:pt x="3015446" y="18126"/>
                  </a:cubicBezTo>
                  <a:lnTo>
                    <a:pt x="3015446" y="2634742"/>
                  </a:lnTo>
                  <a:cubicBezTo>
                    <a:pt x="3015446" y="2644827"/>
                    <a:pt x="3005670" y="2652867"/>
                    <a:pt x="2993775" y="2652867"/>
                  </a:cubicBezTo>
                  <a:lnTo>
                    <a:pt x="21672" y="2652867"/>
                  </a:lnTo>
                  <a:cubicBezTo>
                    <a:pt x="9614" y="2652867"/>
                    <a:pt x="0" y="2644690"/>
                    <a:pt x="0" y="2634742"/>
                  </a:cubicBezTo>
                  <a:lnTo>
                    <a:pt x="0" y="18126"/>
                  </a:lnTo>
                  <a:cubicBezTo>
                    <a:pt x="0" y="8177"/>
                    <a:pt x="9777" y="0"/>
                    <a:pt x="21672" y="0"/>
                  </a:cubicBezTo>
                  <a:moveTo>
                    <a:pt x="21672" y="36387"/>
                  </a:moveTo>
                  <a:lnTo>
                    <a:pt x="21672" y="18126"/>
                  </a:lnTo>
                  <a:lnTo>
                    <a:pt x="43506" y="18126"/>
                  </a:lnTo>
                  <a:lnTo>
                    <a:pt x="43506" y="2634742"/>
                  </a:lnTo>
                  <a:lnTo>
                    <a:pt x="21672" y="2634742"/>
                  </a:lnTo>
                  <a:lnTo>
                    <a:pt x="21672" y="2616616"/>
                  </a:lnTo>
                  <a:lnTo>
                    <a:pt x="2993775" y="2616616"/>
                  </a:lnTo>
                  <a:lnTo>
                    <a:pt x="2993775" y="2634742"/>
                  </a:lnTo>
                  <a:lnTo>
                    <a:pt x="2972103" y="2634742"/>
                  </a:lnTo>
                  <a:lnTo>
                    <a:pt x="2972103" y="18126"/>
                  </a:lnTo>
                  <a:lnTo>
                    <a:pt x="2993775" y="18126"/>
                  </a:lnTo>
                  <a:lnTo>
                    <a:pt x="2993775" y="36387"/>
                  </a:lnTo>
                  <a:lnTo>
                    <a:pt x="21672" y="36387"/>
                  </a:lnTo>
                  <a:close/>
                </a:path>
              </a:pathLst>
            </a:custGeom>
            <a:solidFill>
              <a:srgbClr val="2C5F2D"/>
            </a:solidFill>
          </p:spPr>
        </p:sp>
      </p:grpSp>
      <p:grpSp>
        <p:nvGrpSpPr>
          <p:cNvPr name="Group 26" id="26"/>
          <p:cNvGrpSpPr/>
          <p:nvPr/>
        </p:nvGrpSpPr>
        <p:grpSpPr>
          <a:xfrm rot="0">
            <a:off x="502076" y="6356239"/>
            <a:ext cx="2088294" cy="1668093"/>
            <a:chOff x="0" y="0"/>
            <a:chExt cx="2784391" cy="2224124"/>
          </a:xfrm>
        </p:grpSpPr>
        <p:sp>
          <p:nvSpPr>
            <p:cNvPr name="Freeform 27" id="27"/>
            <p:cNvSpPr/>
            <p:nvPr/>
          </p:nvSpPr>
          <p:spPr>
            <a:xfrm flipH="false" flipV="false" rot="0">
              <a:off x="0" y="0"/>
              <a:ext cx="2784391" cy="2224124"/>
            </a:xfrm>
            <a:custGeom>
              <a:avLst/>
              <a:gdLst/>
              <a:ahLst/>
              <a:cxnLst/>
              <a:rect r="r" b="b" t="t" l="l"/>
              <a:pathLst>
                <a:path h="2224124" w="2784391">
                  <a:moveTo>
                    <a:pt x="0" y="0"/>
                  </a:moveTo>
                  <a:lnTo>
                    <a:pt x="2784391" y="0"/>
                  </a:lnTo>
                  <a:lnTo>
                    <a:pt x="2784391" y="2224124"/>
                  </a:lnTo>
                  <a:lnTo>
                    <a:pt x="0" y="2224124"/>
                  </a:lnTo>
                  <a:close/>
                </a:path>
              </a:pathLst>
            </a:custGeom>
            <a:blipFill>
              <a:blip r:embed="rId3">
                <a:alphaModFix amt="0"/>
              </a:blip>
              <a:stretch>
                <a:fillRect l="-56535" t="0" r="-34476" b="6810"/>
              </a:stretch>
            </a:blipFill>
          </p:spPr>
        </p:sp>
        <p:sp>
          <p:nvSpPr>
            <p:cNvPr name="TextBox 28" id="28"/>
            <p:cNvSpPr txBox="true"/>
            <p:nvPr/>
          </p:nvSpPr>
          <p:spPr>
            <a:xfrm>
              <a:off x="0" y="-47625"/>
              <a:ext cx="2784391" cy="2271749"/>
            </a:xfrm>
            <a:prstGeom prst="rect">
              <a:avLst/>
            </a:prstGeom>
          </p:spPr>
          <p:txBody>
            <a:bodyPr anchor="ctr" rtlCol="false" tIns="0" lIns="0" bIns="0" rIns="0"/>
            <a:lstStyle/>
            <a:p>
              <a:pPr algn="ctr">
                <a:lnSpc>
                  <a:spcPts val="2639"/>
                </a:lnSpc>
              </a:pPr>
              <a:r>
                <a:rPr lang="en-US" sz="2199">
                  <a:solidFill>
                    <a:srgbClr val="FFFFFF"/>
                  </a:solidFill>
                  <a:latin typeface="Calibri (MS)"/>
                  <a:ea typeface="Calibri (MS)"/>
                  <a:cs typeface="Calibri (MS)"/>
                  <a:sym typeface="Calibri (MS)"/>
                </a:rPr>
                <a:t>Arbre T1</a:t>
              </a:r>
            </a:p>
            <a:p>
              <a:pPr algn="ctr">
                <a:lnSpc>
                  <a:spcPts val="2639"/>
                </a:lnSpc>
              </a:pPr>
              <a:r>
                <a:rPr lang="en-US" sz="2199">
                  <a:solidFill>
                    <a:srgbClr val="FFFFFF"/>
                  </a:solidFill>
                  <a:latin typeface="Calibri (MS)"/>
                  <a:ea typeface="Calibri (MS)"/>
                  <a:cs typeface="Calibri (MS)"/>
                  <a:sym typeface="Calibri (MS)"/>
                </a:rPr>
                <a:t>split: √8 ≈ 2–3 features</a:t>
              </a:r>
            </a:p>
          </p:txBody>
        </p:sp>
      </p:grpSp>
      <p:grpSp>
        <p:nvGrpSpPr>
          <p:cNvPr name="Group 29" id="29"/>
          <p:cNvGrpSpPr/>
          <p:nvPr/>
        </p:nvGrpSpPr>
        <p:grpSpPr>
          <a:xfrm rot="0">
            <a:off x="2879111" y="4046534"/>
            <a:ext cx="2261670" cy="1793476"/>
            <a:chOff x="0" y="0"/>
            <a:chExt cx="3015560" cy="2391301"/>
          </a:xfrm>
        </p:grpSpPr>
        <p:sp>
          <p:nvSpPr>
            <p:cNvPr name="Freeform 30" id="30"/>
            <p:cNvSpPr/>
            <p:nvPr/>
          </p:nvSpPr>
          <p:spPr>
            <a:xfrm flipH="false" flipV="false" rot="0">
              <a:off x="21672" y="18126"/>
              <a:ext cx="2972103" cy="2354955"/>
            </a:xfrm>
            <a:custGeom>
              <a:avLst/>
              <a:gdLst/>
              <a:ahLst/>
              <a:cxnLst/>
              <a:rect r="r" b="b" t="t" l="l"/>
              <a:pathLst>
                <a:path h="2354955" w="2972103">
                  <a:moveTo>
                    <a:pt x="0" y="0"/>
                  </a:moveTo>
                  <a:lnTo>
                    <a:pt x="2972103" y="0"/>
                  </a:lnTo>
                  <a:lnTo>
                    <a:pt x="2972103" y="2354954"/>
                  </a:lnTo>
                  <a:lnTo>
                    <a:pt x="0" y="2354954"/>
                  </a:lnTo>
                  <a:close/>
                </a:path>
              </a:pathLst>
            </a:custGeom>
            <a:solidFill>
              <a:srgbClr val="3A7BD5"/>
            </a:solidFill>
          </p:spPr>
        </p:sp>
        <p:sp>
          <p:nvSpPr>
            <p:cNvPr name="Freeform 31" id="31"/>
            <p:cNvSpPr/>
            <p:nvPr/>
          </p:nvSpPr>
          <p:spPr>
            <a:xfrm flipH="false" flipV="false" rot="0">
              <a:off x="0" y="0"/>
              <a:ext cx="3015446" cy="2391206"/>
            </a:xfrm>
            <a:custGeom>
              <a:avLst/>
              <a:gdLst/>
              <a:ahLst/>
              <a:cxnLst/>
              <a:rect r="r" b="b" t="t" l="l"/>
              <a:pathLst>
                <a:path h="2391206" w="3015446">
                  <a:moveTo>
                    <a:pt x="21672" y="0"/>
                  </a:moveTo>
                  <a:lnTo>
                    <a:pt x="2993775" y="0"/>
                  </a:lnTo>
                  <a:cubicBezTo>
                    <a:pt x="3005833" y="0"/>
                    <a:pt x="3015446" y="8177"/>
                    <a:pt x="3015446" y="18126"/>
                  </a:cubicBezTo>
                  <a:lnTo>
                    <a:pt x="3015446" y="2373080"/>
                  </a:lnTo>
                  <a:cubicBezTo>
                    <a:pt x="3015446" y="2383165"/>
                    <a:pt x="3005670" y="2391206"/>
                    <a:pt x="2993775" y="2391206"/>
                  </a:cubicBezTo>
                  <a:lnTo>
                    <a:pt x="21672" y="2391206"/>
                  </a:lnTo>
                  <a:cubicBezTo>
                    <a:pt x="9614" y="2391206"/>
                    <a:pt x="0" y="2383029"/>
                    <a:pt x="0" y="2373080"/>
                  </a:cubicBezTo>
                  <a:lnTo>
                    <a:pt x="0" y="18126"/>
                  </a:lnTo>
                  <a:cubicBezTo>
                    <a:pt x="0" y="8177"/>
                    <a:pt x="9777" y="0"/>
                    <a:pt x="21672" y="0"/>
                  </a:cubicBezTo>
                  <a:moveTo>
                    <a:pt x="21672" y="36387"/>
                  </a:moveTo>
                  <a:lnTo>
                    <a:pt x="21672" y="18126"/>
                  </a:lnTo>
                  <a:lnTo>
                    <a:pt x="43506" y="18126"/>
                  </a:lnTo>
                  <a:lnTo>
                    <a:pt x="43506" y="2373080"/>
                  </a:lnTo>
                  <a:lnTo>
                    <a:pt x="21672" y="2373080"/>
                  </a:lnTo>
                  <a:lnTo>
                    <a:pt x="21672" y="2354955"/>
                  </a:lnTo>
                  <a:lnTo>
                    <a:pt x="2993775" y="2354955"/>
                  </a:lnTo>
                  <a:lnTo>
                    <a:pt x="2993775" y="2373080"/>
                  </a:lnTo>
                  <a:lnTo>
                    <a:pt x="2972103" y="2373080"/>
                  </a:lnTo>
                  <a:lnTo>
                    <a:pt x="2972103" y="18126"/>
                  </a:lnTo>
                  <a:lnTo>
                    <a:pt x="2993775" y="18126"/>
                  </a:lnTo>
                  <a:lnTo>
                    <a:pt x="2993775" y="36387"/>
                  </a:lnTo>
                  <a:lnTo>
                    <a:pt x="21672" y="36387"/>
                  </a:lnTo>
                  <a:close/>
                </a:path>
              </a:pathLst>
            </a:custGeom>
            <a:solidFill>
              <a:srgbClr val="3A7BD5"/>
            </a:solidFill>
          </p:spPr>
        </p:sp>
      </p:grpSp>
      <p:grpSp>
        <p:nvGrpSpPr>
          <p:cNvPr name="Group 32" id="32"/>
          <p:cNvGrpSpPr/>
          <p:nvPr/>
        </p:nvGrpSpPr>
        <p:grpSpPr>
          <a:xfrm rot="0">
            <a:off x="2965794" y="4158282"/>
            <a:ext cx="2088294" cy="1569970"/>
            <a:chOff x="0" y="0"/>
            <a:chExt cx="2784391" cy="2093293"/>
          </a:xfrm>
        </p:grpSpPr>
        <p:sp>
          <p:nvSpPr>
            <p:cNvPr name="Freeform 33" id="33"/>
            <p:cNvSpPr/>
            <p:nvPr/>
          </p:nvSpPr>
          <p:spPr>
            <a:xfrm flipH="false" flipV="false" rot="0">
              <a:off x="0" y="0"/>
              <a:ext cx="2784391" cy="2093293"/>
            </a:xfrm>
            <a:custGeom>
              <a:avLst/>
              <a:gdLst/>
              <a:ahLst/>
              <a:cxnLst/>
              <a:rect r="r" b="b" t="t" l="l"/>
              <a:pathLst>
                <a:path h="2093293" w="2784391">
                  <a:moveTo>
                    <a:pt x="0" y="0"/>
                  </a:moveTo>
                  <a:lnTo>
                    <a:pt x="2784391" y="0"/>
                  </a:lnTo>
                  <a:lnTo>
                    <a:pt x="2784391" y="2093293"/>
                  </a:lnTo>
                  <a:lnTo>
                    <a:pt x="0" y="2093293"/>
                  </a:lnTo>
                  <a:close/>
                </a:path>
              </a:pathLst>
            </a:custGeom>
            <a:blipFill>
              <a:blip r:embed="rId3">
                <a:alphaModFix amt="0"/>
              </a:blip>
              <a:stretch>
                <a:fillRect l="-50917" t="0" r="-28858" b="6810"/>
              </a:stretch>
            </a:blipFill>
          </p:spPr>
        </p:sp>
        <p:sp>
          <p:nvSpPr>
            <p:cNvPr name="TextBox 34" id="34"/>
            <p:cNvSpPr txBox="true"/>
            <p:nvPr/>
          </p:nvSpPr>
          <p:spPr>
            <a:xfrm>
              <a:off x="0" y="-47625"/>
              <a:ext cx="2784391" cy="2140918"/>
            </a:xfrm>
            <a:prstGeom prst="rect">
              <a:avLst/>
            </a:prstGeom>
          </p:spPr>
          <p:txBody>
            <a:bodyPr anchor="ctr" rtlCol="false" tIns="0" lIns="0" bIns="0" rIns="0"/>
            <a:lstStyle/>
            <a:p>
              <a:pPr algn="ctr">
                <a:lnSpc>
                  <a:spcPts val="2759"/>
                </a:lnSpc>
              </a:pPr>
              <a:r>
                <a:rPr lang="en-US" sz="2299">
                  <a:solidFill>
                    <a:srgbClr val="FFFFFF"/>
                  </a:solidFill>
                  <a:latin typeface="Calibri (MS)"/>
                  <a:ea typeface="Calibri (MS)"/>
                  <a:cs typeface="Calibri (MS)"/>
                  <a:sym typeface="Calibri (MS)"/>
                </a:rPr>
                <a:t>Bootstrap B2</a:t>
              </a:r>
            </a:p>
          </p:txBody>
        </p:sp>
      </p:grpSp>
      <p:grpSp>
        <p:nvGrpSpPr>
          <p:cNvPr name="Group 35" id="35"/>
          <p:cNvGrpSpPr/>
          <p:nvPr/>
        </p:nvGrpSpPr>
        <p:grpSpPr>
          <a:xfrm rot="0">
            <a:off x="3864598" y="5851999"/>
            <a:ext cx="220305" cy="419752"/>
            <a:chOff x="0" y="0"/>
            <a:chExt cx="293740" cy="559670"/>
          </a:xfrm>
        </p:grpSpPr>
        <p:sp>
          <p:nvSpPr>
            <p:cNvPr name="Freeform 36" id="36"/>
            <p:cNvSpPr/>
            <p:nvPr/>
          </p:nvSpPr>
          <p:spPr>
            <a:xfrm flipH="false" flipV="false" rot="0">
              <a:off x="21672" y="18126"/>
              <a:ext cx="250282" cy="523323"/>
            </a:xfrm>
            <a:custGeom>
              <a:avLst/>
              <a:gdLst/>
              <a:ahLst/>
              <a:cxnLst/>
              <a:rect r="r" b="b" t="t" l="l"/>
              <a:pathLst>
                <a:path h="523323" w="250282">
                  <a:moveTo>
                    <a:pt x="0" y="0"/>
                  </a:moveTo>
                  <a:lnTo>
                    <a:pt x="250282" y="0"/>
                  </a:lnTo>
                  <a:lnTo>
                    <a:pt x="250282" y="523323"/>
                  </a:lnTo>
                  <a:lnTo>
                    <a:pt x="0" y="523323"/>
                  </a:lnTo>
                  <a:close/>
                </a:path>
              </a:pathLst>
            </a:custGeom>
            <a:solidFill>
              <a:srgbClr val="5A7A5A"/>
            </a:solidFill>
          </p:spPr>
        </p:sp>
        <p:sp>
          <p:nvSpPr>
            <p:cNvPr name="Freeform 37" id="37"/>
            <p:cNvSpPr/>
            <p:nvPr/>
          </p:nvSpPr>
          <p:spPr>
            <a:xfrm flipH="false" flipV="false" rot="0">
              <a:off x="0" y="0"/>
              <a:ext cx="293626" cy="559576"/>
            </a:xfrm>
            <a:custGeom>
              <a:avLst/>
              <a:gdLst/>
              <a:ahLst/>
              <a:cxnLst/>
              <a:rect r="r" b="b" t="t" l="l"/>
              <a:pathLst>
                <a:path h="559576" w="293626">
                  <a:moveTo>
                    <a:pt x="21672" y="0"/>
                  </a:moveTo>
                  <a:lnTo>
                    <a:pt x="271954" y="0"/>
                  </a:lnTo>
                  <a:cubicBezTo>
                    <a:pt x="284012" y="0"/>
                    <a:pt x="293626" y="8177"/>
                    <a:pt x="293626" y="18126"/>
                  </a:cubicBezTo>
                  <a:lnTo>
                    <a:pt x="293626" y="541449"/>
                  </a:lnTo>
                  <a:cubicBezTo>
                    <a:pt x="293626" y="551534"/>
                    <a:pt x="283849" y="559574"/>
                    <a:pt x="271954" y="559574"/>
                  </a:cubicBezTo>
                  <a:lnTo>
                    <a:pt x="21672" y="559574"/>
                  </a:lnTo>
                  <a:cubicBezTo>
                    <a:pt x="9777" y="559708"/>
                    <a:pt x="0" y="551534"/>
                    <a:pt x="0" y="541449"/>
                  </a:cubicBezTo>
                  <a:lnTo>
                    <a:pt x="0" y="18126"/>
                  </a:lnTo>
                  <a:cubicBezTo>
                    <a:pt x="0" y="8177"/>
                    <a:pt x="9777" y="0"/>
                    <a:pt x="21672" y="0"/>
                  </a:cubicBezTo>
                  <a:moveTo>
                    <a:pt x="21672" y="36387"/>
                  </a:moveTo>
                  <a:lnTo>
                    <a:pt x="21672" y="18126"/>
                  </a:lnTo>
                  <a:lnTo>
                    <a:pt x="43506" y="18126"/>
                  </a:lnTo>
                  <a:lnTo>
                    <a:pt x="43506" y="541449"/>
                  </a:lnTo>
                  <a:lnTo>
                    <a:pt x="21672" y="541449"/>
                  </a:lnTo>
                  <a:lnTo>
                    <a:pt x="21672" y="523323"/>
                  </a:lnTo>
                  <a:lnTo>
                    <a:pt x="271954" y="523323"/>
                  </a:lnTo>
                  <a:lnTo>
                    <a:pt x="271954" y="541449"/>
                  </a:lnTo>
                  <a:lnTo>
                    <a:pt x="250282" y="541449"/>
                  </a:lnTo>
                  <a:lnTo>
                    <a:pt x="250282" y="18126"/>
                  </a:lnTo>
                  <a:lnTo>
                    <a:pt x="271954" y="18126"/>
                  </a:lnTo>
                  <a:lnTo>
                    <a:pt x="271954" y="36387"/>
                  </a:lnTo>
                  <a:lnTo>
                    <a:pt x="21672" y="36387"/>
                  </a:lnTo>
                  <a:close/>
                </a:path>
              </a:pathLst>
            </a:custGeom>
            <a:solidFill>
              <a:srgbClr val="5A7A5A"/>
            </a:solidFill>
          </p:spPr>
        </p:sp>
      </p:grpSp>
      <p:grpSp>
        <p:nvGrpSpPr>
          <p:cNvPr name="Group 38" id="38"/>
          <p:cNvGrpSpPr/>
          <p:nvPr/>
        </p:nvGrpSpPr>
        <p:grpSpPr>
          <a:xfrm rot="0">
            <a:off x="2879111" y="6205242"/>
            <a:ext cx="2261670" cy="1989722"/>
            <a:chOff x="0" y="0"/>
            <a:chExt cx="3015560" cy="2652963"/>
          </a:xfrm>
        </p:grpSpPr>
        <p:sp>
          <p:nvSpPr>
            <p:cNvPr name="Freeform 39" id="39"/>
            <p:cNvSpPr/>
            <p:nvPr/>
          </p:nvSpPr>
          <p:spPr>
            <a:xfrm flipH="false" flipV="false" rot="0">
              <a:off x="21672" y="18126"/>
              <a:ext cx="2972103" cy="2616616"/>
            </a:xfrm>
            <a:custGeom>
              <a:avLst/>
              <a:gdLst/>
              <a:ahLst/>
              <a:cxnLst/>
              <a:rect r="r" b="b" t="t" l="l"/>
              <a:pathLst>
                <a:path h="2616616" w="2972103">
                  <a:moveTo>
                    <a:pt x="0" y="0"/>
                  </a:moveTo>
                  <a:lnTo>
                    <a:pt x="2972103" y="0"/>
                  </a:lnTo>
                  <a:lnTo>
                    <a:pt x="2972103" y="2616616"/>
                  </a:lnTo>
                  <a:lnTo>
                    <a:pt x="0" y="2616616"/>
                  </a:lnTo>
                  <a:close/>
                </a:path>
              </a:pathLst>
            </a:custGeom>
            <a:solidFill>
              <a:srgbClr val="3A7BD5"/>
            </a:solidFill>
          </p:spPr>
        </p:sp>
        <p:sp>
          <p:nvSpPr>
            <p:cNvPr name="Freeform 40" id="40"/>
            <p:cNvSpPr/>
            <p:nvPr/>
          </p:nvSpPr>
          <p:spPr>
            <a:xfrm flipH="false" flipV="false" rot="0">
              <a:off x="0" y="0"/>
              <a:ext cx="3015446" cy="2652867"/>
            </a:xfrm>
            <a:custGeom>
              <a:avLst/>
              <a:gdLst/>
              <a:ahLst/>
              <a:cxnLst/>
              <a:rect r="r" b="b" t="t" l="l"/>
              <a:pathLst>
                <a:path h="2652867" w="3015446">
                  <a:moveTo>
                    <a:pt x="21672" y="0"/>
                  </a:moveTo>
                  <a:lnTo>
                    <a:pt x="2993775" y="0"/>
                  </a:lnTo>
                  <a:cubicBezTo>
                    <a:pt x="3005833" y="0"/>
                    <a:pt x="3015446" y="8177"/>
                    <a:pt x="3015446" y="18126"/>
                  </a:cubicBezTo>
                  <a:lnTo>
                    <a:pt x="3015446" y="2634742"/>
                  </a:lnTo>
                  <a:cubicBezTo>
                    <a:pt x="3015446" y="2644827"/>
                    <a:pt x="3005670" y="2652867"/>
                    <a:pt x="2993775" y="2652867"/>
                  </a:cubicBezTo>
                  <a:lnTo>
                    <a:pt x="21672" y="2652867"/>
                  </a:lnTo>
                  <a:cubicBezTo>
                    <a:pt x="9614" y="2652867"/>
                    <a:pt x="0" y="2644690"/>
                    <a:pt x="0" y="2634742"/>
                  </a:cubicBezTo>
                  <a:lnTo>
                    <a:pt x="0" y="18126"/>
                  </a:lnTo>
                  <a:cubicBezTo>
                    <a:pt x="0" y="8177"/>
                    <a:pt x="9777" y="0"/>
                    <a:pt x="21672" y="0"/>
                  </a:cubicBezTo>
                  <a:moveTo>
                    <a:pt x="21672" y="36387"/>
                  </a:moveTo>
                  <a:lnTo>
                    <a:pt x="21672" y="18126"/>
                  </a:lnTo>
                  <a:lnTo>
                    <a:pt x="43506" y="18126"/>
                  </a:lnTo>
                  <a:lnTo>
                    <a:pt x="43506" y="2634742"/>
                  </a:lnTo>
                  <a:lnTo>
                    <a:pt x="21672" y="2634742"/>
                  </a:lnTo>
                  <a:lnTo>
                    <a:pt x="21672" y="2616616"/>
                  </a:lnTo>
                  <a:lnTo>
                    <a:pt x="2993775" y="2616616"/>
                  </a:lnTo>
                  <a:lnTo>
                    <a:pt x="2993775" y="2634742"/>
                  </a:lnTo>
                  <a:lnTo>
                    <a:pt x="2972103" y="2634742"/>
                  </a:lnTo>
                  <a:lnTo>
                    <a:pt x="2972103" y="18126"/>
                  </a:lnTo>
                  <a:lnTo>
                    <a:pt x="2993775" y="18126"/>
                  </a:lnTo>
                  <a:lnTo>
                    <a:pt x="2993775" y="36387"/>
                  </a:lnTo>
                  <a:lnTo>
                    <a:pt x="21672" y="36387"/>
                  </a:lnTo>
                  <a:close/>
                </a:path>
              </a:pathLst>
            </a:custGeom>
            <a:solidFill>
              <a:srgbClr val="3A7BD5"/>
            </a:solidFill>
          </p:spPr>
        </p:sp>
      </p:grpSp>
      <p:grpSp>
        <p:nvGrpSpPr>
          <p:cNvPr name="Group 41" id="41"/>
          <p:cNvGrpSpPr/>
          <p:nvPr/>
        </p:nvGrpSpPr>
        <p:grpSpPr>
          <a:xfrm rot="0">
            <a:off x="2965794" y="6356239"/>
            <a:ext cx="2088294" cy="1668093"/>
            <a:chOff x="0" y="0"/>
            <a:chExt cx="2784391" cy="2224124"/>
          </a:xfrm>
        </p:grpSpPr>
        <p:sp>
          <p:nvSpPr>
            <p:cNvPr name="Freeform 42" id="42"/>
            <p:cNvSpPr/>
            <p:nvPr/>
          </p:nvSpPr>
          <p:spPr>
            <a:xfrm flipH="false" flipV="false" rot="0">
              <a:off x="0" y="0"/>
              <a:ext cx="2784391" cy="2224124"/>
            </a:xfrm>
            <a:custGeom>
              <a:avLst/>
              <a:gdLst/>
              <a:ahLst/>
              <a:cxnLst/>
              <a:rect r="r" b="b" t="t" l="l"/>
              <a:pathLst>
                <a:path h="2224124" w="2784391">
                  <a:moveTo>
                    <a:pt x="0" y="0"/>
                  </a:moveTo>
                  <a:lnTo>
                    <a:pt x="2784391" y="0"/>
                  </a:lnTo>
                  <a:lnTo>
                    <a:pt x="2784391" y="2224124"/>
                  </a:lnTo>
                  <a:lnTo>
                    <a:pt x="0" y="2224124"/>
                  </a:lnTo>
                  <a:close/>
                </a:path>
              </a:pathLst>
            </a:custGeom>
            <a:blipFill>
              <a:blip r:embed="rId3">
                <a:alphaModFix amt="0"/>
              </a:blip>
              <a:stretch>
                <a:fillRect l="-56535" t="0" r="-34476" b="6810"/>
              </a:stretch>
            </a:blipFill>
          </p:spPr>
        </p:sp>
        <p:sp>
          <p:nvSpPr>
            <p:cNvPr name="TextBox 43" id="43"/>
            <p:cNvSpPr txBox="true"/>
            <p:nvPr/>
          </p:nvSpPr>
          <p:spPr>
            <a:xfrm>
              <a:off x="0" y="-47625"/>
              <a:ext cx="2784391" cy="2271749"/>
            </a:xfrm>
            <a:prstGeom prst="rect">
              <a:avLst/>
            </a:prstGeom>
          </p:spPr>
          <p:txBody>
            <a:bodyPr anchor="ctr" rtlCol="false" tIns="0" lIns="0" bIns="0" rIns="0"/>
            <a:lstStyle/>
            <a:p>
              <a:pPr algn="ctr">
                <a:lnSpc>
                  <a:spcPts val="2639"/>
                </a:lnSpc>
              </a:pPr>
              <a:r>
                <a:rPr lang="en-US" sz="2199">
                  <a:solidFill>
                    <a:srgbClr val="FFFFFF"/>
                  </a:solidFill>
                  <a:latin typeface="Calibri (MS)"/>
                  <a:ea typeface="Calibri (MS)"/>
                  <a:cs typeface="Calibri (MS)"/>
                  <a:sym typeface="Calibri (MS)"/>
                </a:rPr>
                <a:t>Arbre T2</a:t>
              </a:r>
            </a:p>
            <a:p>
              <a:pPr algn="ctr">
                <a:lnSpc>
                  <a:spcPts val="2639"/>
                </a:lnSpc>
              </a:pPr>
              <a:r>
                <a:rPr lang="en-US" sz="2199">
                  <a:solidFill>
                    <a:srgbClr val="FFFFFF"/>
                  </a:solidFill>
                  <a:latin typeface="Calibri (MS)"/>
                  <a:ea typeface="Calibri (MS)"/>
                  <a:cs typeface="Calibri (MS)"/>
                  <a:sym typeface="Calibri (MS)"/>
                </a:rPr>
                <a:t>split: √8 ≈ 2–3 features</a:t>
              </a:r>
            </a:p>
          </p:txBody>
        </p:sp>
      </p:grpSp>
      <p:grpSp>
        <p:nvGrpSpPr>
          <p:cNvPr name="Group 44" id="44"/>
          <p:cNvGrpSpPr/>
          <p:nvPr/>
        </p:nvGrpSpPr>
        <p:grpSpPr>
          <a:xfrm rot="0">
            <a:off x="5342828" y="4046534"/>
            <a:ext cx="2261670" cy="1793476"/>
            <a:chOff x="0" y="0"/>
            <a:chExt cx="3015560" cy="2391301"/>
          </a:xfrm>
        </p:grpSpPr>
        <p:sp>
          <p:nvSpPr>
            <p:cNvPr name="Freeform 45" id="45"/>
            <p:cNvSpPr/>
            <p:nvPr/>
          </p:nvSpPr>
          <p:spPr>
            <a:xfrm flipH="false" flipV="false" rot="0">
              <a:off x="21672" y="18126"/>
              <a:ext cx="2972103" cy="2354955"/>
            </a:xfrm>
            <a:custGeom>
              <a:avLst/>
              <a:gdLst/>
              <a:ahLst/>
              <a:cxnLst/>
              <a:rect r="r" b="b" t="t" l="l"/>
              <a:pathLst>
                <a:path h="2354955" w="2972103">
                  <a:moveTo>
                    <a:pt x="0" y="0"/>
                  </a:moveTo>
                  <a:lnTo>
                    <a:pt x="2972103" y="0"/>
                  </a:lnTo>
                  <a:lnTo>
                    <a:pt x="2972103" y="2354954"/>
                  </a:lnTo>
                  <a:lnTo>
                    <a:pt x="0" y="2354954"/>
                  </a:lnTo>
                  <a:close/>
                </a:path>
              </a:pathLst>
            </a:custGeom>
            <a:solidFill>
              <a:srgbClr val="8E44AD"/>
            </a:solidFill>
          </p:spPr>
        </p:sp>
        <p:sp>
          <p:nvSpPr>
            <p:cNvPr name="Freeform 46" id="46"/>
            <p:cNvSpPr/>
            <p:nvPr/>
          </p:nvSpPr>
          <p:spPr>
            <a:xfrm flipH="false" flipV="false" rot="0">
              <a:off x="0" y="0"/>
              <a:ext cx="3015446" cy="2391206"/>
            </a:xfrm>
            <a:custGeom>
              <a:avLst/>
              <a:gdLst/>
              <a:ahLst/>
              <a:cxnLst/>
              <a:rect r="r" b="b" t="t" l="l"/>
              <a:pathLst>
                <a:path h="2391206" w="3015446">
                  <a:moveTo>
                    <a:pt x="21672" y="0"/>
                  </a:moveTo>
                  <a:lnTo>
                    <a:pt x="2993775" y="0"/>
                  </a:lnTo>
                  <a:cubicBezTo>
                    <a:pt x="3005833" y="0"/>
                    <a:pt x="3015446" y="8177"/>
                    <a:pt x="3015446" y="18126"/>
                  </a:cubicBezTo>
                  <a:lnTo>
                    <a:pt x="3015446" y="2373080"/>
                  </a:lnTo>
                  <a:cubicBezTo>
                    <a:pt x="3015446" y="2383165"/>
                    <a:pt x="3005670" y="2391206"/>
                    <a:pt x="2993775" y="2391206"/>
                  </a:cubicBezTo>
                  <a:lnTo>
                    <a:pt x="21672" y="2391206"/>
                  </a:lnTo>
                  <a:cubicBezTo>
                    <a:pt x="9614" y="2391206"/>
                    <a:pt x="0" y="2383029"/>
                    <a:pt x="0" y="2373080"/>
                  </a:cubicBezTo>
                  <a:lnTo>
                    <a:pt x="0" y="18126"/>
                  </a:lnTo>
                  <a:cubicBezTo>
                    <a:pt x="0" y="8177"/>
                    <a:pt x="9777" y="0"/>
                    <a:pt x="21672" y="0"/>
                  </a:cubicBezTo>
                  <a:moveTo>
                    <a:pt x="21672" y="36387"/>
                  </a:moveTo>
                  <a:lnTo>
                    <a:pt x="21672" y="18126"/>
                  </a:lnTo>
                  <a:lnTo>
                    <a:pt x="43506" y="18126"/>
                  </a:lnTo>
                  <a:lnTo>
                    <a:pt x="43506" y="2373080"/>
                  </a:lnTo>
                  <a:lnTo>
                    <a:pt x="21672" y="2373080"/>
                  </a:lnTo>
                  <a:lnTo>
                    <a:pt x="21672" y="2354955"/>
                  </a:lnTo>
                  <a:lnTo>
                    <a:pt x="2993775" y="2354955"/>
                  </a:lnTo>
                  <a:lnTo>
                    <a:pt x="2993775" y="2373080"/>
                  </a:lnTo>
                  <a:lnTo>
                    <a:pt x="2972103" y="2373080"/>
                  </a:lnTo>
                  <a:lnTo>
                    <a:pt x="2972103" y="18126"/>
                  </a:lnTo>
                  <a:lnTo>
                    <a:pt x="2993775" y="18126"/>
                  </a:lnTo>
                  <a:lnTo>
                    <a:pt x="2993775" y="36387"/>
                  </a:lnTo>
                  <a:lnTo>
                    <a:pt x="21672" y="36387"/>
                  </a:lnTo>
                  <a:close/>
                </a:path>
              </a:pathLst>
            </a:custGeom>
            <a:solidFill>
              <a:srgbClr val="8E44AD"/>
            </a:solidFill>
          </p:spPr>
        </p:sp>
      </p:grpSp>
      <p:grpSp>
        <p:nvGrpSpPr>
          <p:cNvPr name="Group 47" id="47"/>
          <p:cNvGrpSpPr/>
          <p:nvPr/>
        </p:nvGrpSpPr>
        <p:grpSpPr>
          <a:xfrm rot="0">
            <a:off x="5429511" y="4158282"/>
            <a:ext cx="2088294" cy="1569970"/>
            <a:chOff x="0" y="0"/>
            <a:chExt cx="2784391" cy="2093293"/>
          </a:xfrm>
        </p:grpSpPr>
        <p:sp>
          <p:nvSpPr>
            <p:cNvPr name="Freeform 48" id="48"/>
            <p:cNvSpPr/>
            <p:nvPr/>
          </p:nvSpPr>
          <p:spPr>
            <a:xfrm flipH="false" flipV="false" rot="0">
              <a:off x="0" y="0"/>
              <a:ext cx="2784391" cy="2093293"/>
            </a:xfrm>
            <a:custGeom>
              <a:avLst/>
              <a:gdLst/>
              <a:ahLst/>
              <a:cxnLst/>
              <a:rect r="r" b="b" t="t" l="l"/>
              <a:pathLst>
                <a:path h="2093293" w="2784391">
                  <a:moveTo>
                    <a:pt x="0" y="0"/>
                  </a:moveTo>
                  <a:lnTo>
                    <a:pt x="2784391" y="0"/>
                  </a:lnTo>
                  <a:lnTo>
                    <a:pt x="2784391" y="2093293"/>
                  </a:lnTo>
                  <a:lnTo>
                    <a:pt x="0" y="2093293"/>
                  </a:lnTo>
                  <a:close/>
                </a:path>
              </a:pathLst>
            </a:custGeom>
            <a:blipFill>
              <a:blip r:embed="rId3">
                <a:alphaModFix amt="0"/>
              </a:blip>
              <a:stretch>
                <a:fillRect l="-50917" t="0" r="-28858" b="6810"/>
              </a:stretch>
            </a:blipFill>
          </p:spPr>
        </p:sp>
        <p:sp>
          <p:nvSpPr>
            <p:cNvPr name="TextBox 49" id="49"/>
            <p:cNvSpPr txBox="true"/>
            <p:nvPr/>
          </p:nvSpPr>
          <p:spPr>
            <a:xfrm>
              <a:off x="0" y="-47625"/>
              <a:ext cx="2784391" cy="2140918"/>
            </a:xfrm>
            <a:prstGeom prst="rect">
              <a:avLst/>
            </a:prstGeom>
          </p:spPr>
          <p:txBody>
            <a:bodyPr anchor="ctr" rtlCol="false" tIns="0" lIns="0" bIns="0" rIns="0"/>
            <a:lstStyle/>
            <a:p>
              <a:pPr algn="ctr">
                <a:lnSpc>
                  <a:spcPts val="2759"/>
                </a:lnSpc>
              </a:pPr>
              <a:r>
                <a:rPr lang="en-US" sz="2299">
                  <a:solidFill>
                    <a:srgbClr val="FFFFFF"/>
                  </a:solidFill>
                  <a:latin typeface="Calibri (MS)"/>
                  <a:ea typeface="Calibri (MS)"/>
                  <a:cs typeface="Calibri (MS)"/>
                  <a:sym typeface="Calibri (MS)"/>
                </a:rPr>
                <a:t>Bootstrap Bb</a:t>
              </a:r>
            </a:p>
          </p:txBody>
        </p:sp>
      </p:grpSp>
      <p:grpSp>
        <p:nvGrpSpPr>
          <p:cNvPr name="Group 50" id="50"/>
          <p:cNvGrpSpPr/>
          <p:nvPr/>
        </p:nvGrpSpPr>
        <p:grpSpPr>
          <a:xfrm rot="0">
            <a:off x="6328315" y="5851999"/>
            <a:ext cx="220305" cy="419752"/>
            <a:chOff x="0" y="0"/>
            <a:chExt cx="293740" cy="559670"/>
          </a:xfrm>
        </p:grpSpPr>
        <p:sp>
          <p:nvSpPr>
            <p:cNvPr name="Freeform 51" id="51"/>
            <p:cNvSpPr/>
            <p:nvPr/>
          </p:nvSpPr>
          <p:spPr>
            <a:xfrm flipH="false" flipV="false" rot="0">
              <a:off x="21672" y="18126"/>
              <a:ext cx="250282" cy="523323"/>
            </a:xfrm>
            <a:custGeom>
              <a:avLst/>
              <a:gdLst/>
              <a:ahLst/>
              <a:cxnLst/>
              <a:rect r="r" b="b" t="t" l="l"/>
              <a:pathLst>
                <a:path h="523323" w="250282">
                  <a:moveTo>
                    <a:pt x="0" y="0"/>
                  </a:moveTo>
                  <a:lnTo>
                    <a:pt x="250282" y="0"/>
                  </a:lnTo>
                  <a:lnTo>
                    <a:pt x="250282" y="523323"/>
                  </a:lnTo>
                  <a:lnTo>
                    <a:pt x="0" y="523323"/>
                  </a:lnTo>
                  <a:close/>
                </a:path>
              </a:pathLst>
            </a:custGeom>
            <a:solidFill>
              <a:srgbClr val="5A7A5A"/>
            </a:solidFill>
          </p:spPr>
        </p:sp>
        <p:sp>
          <p:nvSpPr>
            <p:cNvPr name="Freeform 52" id="52"/>
            <p:cNvSpPr/>
            <p:nvPr/>
          </p:nvSpPr>
          <p:spPr>
            <a:xfrm flipH="false" flipV="false" rot="0">
              <a:off x="0" y="0"/>
              <a:ext cx="293626" cy="559576"/>
            </a:xfrm>
            <a:custGeom>
              <a:avLst/>
              <a:gdLst/>
              <a:ahLst/>
              <a:cxnLst/>
              <a:rect r="r" b="b" t="t" l="l"/>
              <a:pathLst>
                <a:path h="559576" w="293626">
                  <a:moveTo>
                    <a:pt x="21672" y="0"/>
                  </a:moveTo>
                  <a:lnTo>
                    <a:pt x="271954" y="0"/>
                  </a:lnTo>
                  <a:cubicBezTo>
                    <a:pt x="284012" y="0"/>
                    <a:pt x="293626" y="8177"/>
                    <a:pt x="293626" y="18126"/>
                  </a:cubicBezTo>
                  <a:lnTo>
                    <a:pt x="293626" y="541449"/>
                  </a:lnTo>
                  <a:cubicBezTo>
                    <a:pt x="293626" y="551534"/>
                    <a:pt x="283849" y="559574"/>
                    <a:pt x="271954" y="559574"/>
                  </a:cubicBezTo>
                  <a:lnTo>
                    <a:pt x="21672" y="559574"/>
                  </a:lnTo>
                  <a:cubicBezTo>
                    <a:pt x="9777" y="559708"/>
                    <a:pt x="0" y="551534"/>
                    <a:pt x="0" y="541449"/>
                  </a:cubicBezTo>
                  <a:lnTo>
                    <a:pt x="0" y="18126"/>
                  </a:lnTo>
                  <a:cubicBezTo>
                    <a:pt x="0" y="8177"/>
                    <a:pt x="9777" y="0"/>
                    <a:pt x="21672" y="0"/>
                  </a:cubicBezTo>
                  <a:moveTo>
                    <a:pt x="21672" y="36387"/>
                  </a:moveTo>
                  <a:lnTo>
                    <a:pt x="21672" y="18126"/>
                  </a:lnTo>
                  <a:lnTo>
                    <a:pt x="43506" y="18126"/>
                  </a:lnTo>
                  <a:lnTo>
                    <a:pt x="43506" y="541449"/>
                  </a:lnTo>
                  <a:lnTo>
                    <a:pt x="21672" y="541449"/>
                  </a:lnTo>
                  <a:lnTo>
                    <a:pt x="21672" y="523323"/>
                  </a:lnTo>
                  <a:lnTo>
                    <a:pt x="271954" y="523323"/>
                  </a:lnTo>
                  <a:lnTo>
                    <a:pt x="271954" y="541449"/>
                  </a:lnTo>
                  <a:lnTo>
                    <a:pt x="250282" y="541449"/>
                  </a:lnTo>
                  <a:lnTo>
                    <a:pt x="250282" y="18126"/>
                  </a:lnTo>
                  <a:lnTo>
                    <a:pt x="271954" y="18126"/>
                  </a:lnTo>
                  <a:lnTo>
                    <a:pt x="271954" y="36387"/>
                  </a:lnTo>
                  <a:lnTo>
                    <a:pt x="21672" y="36387"/>
                  </a:lnTo>
                  <a:close/>
                </a:path>
              </a:pathLst>
            </a:custGeom>
            <a:solidFill>
              <a:srgbClr val="5A7A5A"/>
            </a:solidFill>
          </p:spPr>
        </p:sp>
      </p:grpSp>
      <p:grpSp>
        <p:nvGrpSpPr>
          <p:cNvPr name="Group 53" id="53"/>
          <p:cNvGrpSpPr/>
          <p:nvPr/>
        </p:nvGrpSpPr>
        <p:grpSpPr>
          <a:xfrm rot="0">
            <a:off x="5342828" y="6205242"/>
            <a:ext cx="2261670" cy="1989722"/>
            <a:chOff x="0" y="0"/>
            <a:chExt cx="3015560" cy="2652963"/>
          </a:xfrm>
        </p:grpSpPr>
        <p:sp>
          <p:nvSpPr>
            <p:cNvPr name="Freeform 54" id="54"/>
            <p:cNvSpPr/>
            <p:nvPr/>
          </p:nvSpPr>
          <p:spPr>
            <a:xfrm flipH="false" flipV="false" rot="0">
              <a:off x="21672" y="18126"/>
              <a:ext cx="2972103" cy="2616616"/>
            </a:xfrm>
            <a:custGeom>
              <a:avLst/>
              <a:gdLst/>
              <a:ahLst/>
              <a:cxnLst/>
              <a:rect r="r" b="b" t="t" l="l"/>
              <a:pathLst>
                <a:path h="2616616" w="2972103">
                  <a:moveTo>
                    <a:pt x="0" y="0"/>
                  </a:moveTo>
                  <a:lnTo>
                    <a:pt x="2972103" y="0"/>
                  </a:lnTo>
                  <a:lnTo>
                    <a:pt x="2972103" y="2616616"/>
                  </a:lnTo>
                  <a:lnTo>
                    <a:pt x="0" y="2616616"/>
                  </a:lnTo>
                  <a:close/>
                </a:path>
              </a:pathLst>
            </a:custGeom>
            <a:solidFill>
              <a:srgbClr val="8E44AD"/>
            </a:solidFill>
          </p:spPr>
        </p:sp>
        <p:sp>
          <p:nvSpPr>
            <p:cNvPr name="Freeform 55" id="55"/>
            <p:cNvSpPr/>
            <p:nvPr/>
          </p:nvSpPr>
          <p:spPr>
            <a:xfrm flipH="false" flipV="false" rot="0">
              <a:off x="0" y="0"/>
              <a:ext cx="3015446" cy="2652867"/>
            </a:xfrm>
            <a:custGeom>
              <a:avLst/>
              <a:gdLst/>
              <a:ahLst/>
              <a:cxnLst/>
              <a:rect r="r" b="b" t="t" l="l"/>
              <a:pathLst>
                <a:path h="2652867" w="3015446">
                  <a:moveTo>
                    <a:pt x="21672" y="0"/>
                  </a:moveTo>
                  <a:lnTo>
                    <a:pt x="2993775" y="0"/>
                  </a:lnTo>
                  <a:cubicBezTo>
                    <a:pt x="3005833" y="0"/>
                    <a:pt x="3015446" y="8177"/>
                    <a:pt x="3015446" y="18126"/>
                  </a:cubicBezTo>
                  <a:lnTo>
                    <a:pt x="3015446" y="2634742"/>
                  </a:lnTo>
                  <a:cubicBezTo>
                    <a:pt x="3015446" y="2644827"/>
                    <a:pt x="3005670" y="2652867"/>
                    <a:pt x="2993775" y="2652867"/>
                  </a:cubicBezTo>
                  <a:lnTo>
                    <a:pt x="21672" y="2652867"/>
                  </a:lnTo>
                  <a:cubicBezTo>
                    <a:pt x="9614" y="2652867"/>
                    <a:pt x="0" y="2644690"/>
                    <a:pt x="0" y="2634742"/>
                  </a:cubicBezTo>
                  <a:lnTo>
                    <a:pt x="0" y="18126"/>
                  </a:lnTo>
                  <a:cubicBezTo>
                    <a:pt x="0" y="8177"/>
                    <a:pt x="9777" y="0"/>
                    <a:pt x="21672" y="0"/>
                  </a:cubicBezTo>
                  <a:moveTo>
                    <a:pt x="21672" y="36387"/>
                  </a:moveTo>
                  <a:lnTo>
                    <a:pt x="21672" y="18126"/>
                  </a:lnTo>
                  <a:lnTo>
                    <a:pt x="43506" y="18126"/>
                  </a:lnTo>
                  <a:lnTo>
                    <a:pt x="43506" y="2634742"/>
                  </a:lnTo>
                  <a:lnTo>
                    <a:pt x="21672" y="2634742"/>
                  </a:lnTo>
                  <a:lnTo>
                    <a:pt x="21672" y="2616616"/>
                  </a:lnTo>
                  <a:lnTo>
                    <a:pt x="2993775" y="2616616"/>
                  </a:lnTo>
                  <a:lnTo>
                    <a:pt x="2993775" y="2634742"/>
                  </a:lnTo>
                  <a:lnTo>
                    <a:pt x="2972103" y="2634742"/>
                  </a:lnTo>
                  <a:lnTo>
                    <a:pt x="2972103" y="18126"/>
                  </a:lnTo>
                  <a:lnTo>
                    <a:pt x="2993775" y="18126"/>
                  </a:lnTo>
                  <a:lnTo>
                    <a:pt x="2993775" y="36387"/>
                  </a:lnTo>
                  <a:lnTo>
                    <a:pt x="21672" y="36387"/>
                  </a:lnTo>
                  <a:close/>
                </a:path>
              </a:pathLst>
            </a:custGeom>
            <a:solidFill>
              <a:srgbClr val="8E44AD"/>
            </a:solidFill>
          </p:spPr>
        </p:sp>
      </p:grpSp>
      <p:grpSp>
        <p:nvGrpSpPr>
          <p:cNvPr name="Group 56" id="56"/>
          <p:cNvGrpSpPr/>
          <p:nvPr/>
        </p:nvGrpSpPr>
        <p:grpSpPr>
          <a:xfrm rot="0">
            <a:off x="5429511" y="6356239"/>
            <a:ext cx="2088294" cy="1668093"/>
            <a:chOff x="0" y="0"/>
            <a:chExt cx="2784391" cy="2224124"/>
          </a:xfrm>
        </p:grpSpPr>
        <p:sp>
          <p:nvSpPr>
            <p:cNvPr name="Freeform 57" id="57"/>
            <p:cNvSpPr/>
            <p:nvPr/>
          </p:nvSpPr>
          <p:spPr>
            <a:xfrm flipH="false" flipV="false" rot="0">
              <a:off x="0" y="0"/>
              <a:ext cx="2784391" cy="2224124"/>
            </a:xfrm>
            <a:custGeom>
              <a:avLst/>
              <a:gdLst/>
              <a:ahLst/>
              <a:cxnLst/>
              <a:rect r="r" b="b" t="t" l="l"/>
              <a:pathLst>
                <a:path h="2224124" w="2784391">
                  <a:moveTo>
                    <a:pt x="0" y="0"/>
                  </a:moveTo>
                  <a:lnTo>
                    <a:pt x="2784391" y="0"/>
                  </a:lnTo>
                  <a:lnTo>
                    <a:pt x="2784391" y="2224124"/>
                  </a:lnTo>
                  <a:lnTo>
                    <a:pt x="0" y="2224124"/>
                  </a:lnTo>
                  <a:close/>
                </a:path>
              </a:pathLst>
            </a:custGeom>
            <a:blipFill>
              <a:blip r:embed="rId3">
                <a:alphaModFix amt="0"/>
              </a:blip>
              <a:stretch>
                <a:fillRect l="-56535" t="0" r="-34476" b="6810"/>
              </a:stretch>
            </a:blipFill>
          </p:spPr>
        </p:sp>
        <p:sp>
          <p:nvSpPr>
            <p:cNvPr name="TextBox 58" id="58"/>
            <p:cNvSpPr txBox="true"/>
            <p:nvPr/>
          </p:nvSpPr>
          <p:spPr>
            <a:xfrm>
              <a:off x="0" y="-47625"/>
              <a:ext cx="2784391" cy="2271749"/>
            </a:xfrm>
            <a:prstGeom prst="rect">
              <a:avLst/>
            </a:prstGeom>
          </p:spPr>
          <p:txBody>
            <a:bodyPr anchor="ctr" rtlCol="false" tIns="0" lIns="0" bIns="0" rIns="0"/>
            <a:lstStyle/>
            <a:p>
              <a:pPr algn="ctr">
                <a:lnSpc>
                  <a:spcPts val="2639"/>
                </a:lnSpc>
              </a:pPr>
              <a:r>
                <a:rPr lang="en-US" sz="2199">
                  <a:solidFill>
                    <a:srgbClr val="FFFFFF"/>
                  </a:solidFill>
                  <a:latin typeface="Calibri (MS)"/>
                  <a:ea typeface="Calibri (MS)"/>
                  <a:cs typeface="Calibri (MS)"/>
                  <a:sym typeface="Calibri (MS)"/>
                </a:rPr>
                <a:t>Arbre Tb</a:t>
              </a:r>
            </a:p>
            <a:p>
              <a:pPr algn="ctr">
                <a:lnSpc>
                  <a:spcPts val="2639"/>
                </a:lnSpc>
              </a:pPr>
              <a:r>
                <a:rPr lang="en-US" sz="2199">
                  <a:solidFill>
                    <a:srgbClr val="FFFFFF"/>
                  </a:solidFill>
                  <a:latin typeface="Calibri (MS)"/>
                  <a:ea typeface="Calibri (MS)"/>
                  <a:cs typeface="Calibri (MS)"/>
                  <a:sym typeface="Calibri (MS)"/>
                </a:rPr>
                <a:t>split: √8 ≈ 2–3 features</a:t>
              </a:r>
            </a:p>
          </p:txBody>
        </p:sp>
      </p:grpSp>
      <p:grpSp>
        <p:nvGrpSpPr>
          <p:cNvPr name="Group 59" id="59"/>
          <p:cNvGrpSpPr/>
          <p:nvPr/>
        </p:nvGrpSpPr>
        <p:grpSpPr>
          <a:xfrm rot="0">
            <a:off x="4232848" y="4452651"/>
            <a:ext cx="1173199" cy="981231"/>
            <a:chOff x="0" y="0"/>
            <a:chExt cx="1564265" cy="1308308"/>
          </a:xfrm>
        </p:grpSpPr>
        <p:sp>
          <p:nvSpPr>
            <p:cNvPr name="Freeform 60" id="60"/>
            <p:cNvSpPr/>
            <p:nvPr/>
          </p:nvSpPr>
          <p:spPr>
            <a:xfrm flipH="false" flipV="false" rot="0">
              <a:off x="0" y="0"/>
              <a:ext cx="1564265" cy="1308308"/>
            </a:xfrm>
            <a:custGeom>
              <a:avLst/>
              <a:gdLst/>
              <a:ahLst/>
              <a:cxnLst/>
              <a:rect r="r" b="b" t="t" l="l"/>
              <a:pathLst>
                <a:path h="1308308" w="1564265">
                  <a:moveTo>
                    <a:pt x="0" y="0"/>
                  </a:moveTo>
                  <a:lnTo>
                    <a:pt x="1564265" y="0"/>
                  </a:lnTo>
                  <a:lnTo>
                    <a:pt x="1564265" y="1308308"/>
                  </a:lnTo>
                  <a:lnTo>
                    <a:pt x="0" y="1308308"/>
                  </a:lnTo>
                  <a:close/>
                </a:path>
              </a:pathLst>
            </a:custGeom>
            <a:blipFill>
              <a:blip r:embed="rId3">
                <a:alphaModFix amt="0"/>
              </a:blip>
              <a:stretch>
                <a:fillRect l="-61030" t="0" r="-38971" b="6810"/>
              </a:stretch>
            </a:blipFill>
          </p:spPr>
        </p:sp>
        <p:sp>
          <p:nvSpPr>
            <p:cNvPr name="TextBox 61" id="61"/>
            <p:cNvSpPr txBox="true"/>
            <p:nvPr/>
          </p:nvSpPr>
          <p:spPr>
            <a:xfrm>
              <a:off x="0" y="-66675"/>
              <a:ext cx="1564265" cy="1374983"/>
            </a:xfrm>
            <a:prstGeom prst="rect">
              <a:avLst/>
            </a:prstGeom>
          </p:spPr>
          <p:txBody>
            <a:bodyPr anchor="ctr" rtlCol="false" tIns="0" lIns="0" bIns="0" rIns="0"/>
            <a:lstStyle/>
            <a:p>
              <a:pPr algn="l">
                <a:lnSpc>
                  <a:spcPts val="3959"/>
                </a:lnSpc>
              </a:pPr>
              <a:r>
                <a:rPr lang="en-US" sz="3299">
                  <a:solidFill>
                    <a:srgbClr val="5A7A5A"/>
                  </a:solidFill>
                  <a:latin typeface="Calibri (MS)"/>
                  <a:ea typeface="Calibri (MS)"/>
                  <a:cs typeface="Calibri (MS)"/>
                  <a:sym typeface="Calibri (MS)"/>
                </a:rPr>
                <a:t>· · ·</a:t>
              </a:r>
            </a:p>
          </p:txBody>
        </p:sp>
      </p:grpSp>
      <p:grpSp>
        <p:nvGrpSpPr>
          <p:cNvPr name="Group 62" id="62"/>
          <p:cNvGrpSpPr/>
          <p:nvPr/>
        </p:nvGrpSpPr>
        <p:grpSpPr>
          <a:xfrm rot="0">
            <a:off x="415394" y="8658320"/>
            <a:ext cx="7541064" cy="1302860"/>
            <a:chOff x="0" y="0"/>
            <a:chExt cx="10054752" cy="1737147"/>
          </a:xfrm>
        </p:grpSpPr>
        <p:sp>
          <p:nvSpPr>
            <p:cNvPr name="Freeform 63" id="63"/>
            <p:cNvSpPr/>
            <p:nvPr/>
          </p:nvSpPr>
          <p:spPr>
            <a:xfrm flipH="false" flipV="false" rot="0">
              <a:off x="21672" y="18126"/>
              <a:ext cx="10011296" cy="1700801"/>
            </a:xfrm>
            <a:custGeom>
              <a:avLst/>
              <a:gdLst/>
              <a:ahLst/>
              <a:cxnLst/>
              <a:rect r="r" b="b" t="t" l="l"/>
              <a:pathLst>
                <a:path h="1700801" w="10011296">
                  <a:moveTo>
                    <a:pt x="0" y="0"/>
                  </a:moveTo>
                  <a:lnTo>
                    <a:pt x="10011295" y="0"/>
                  </a:lnTo>
                  <a:lnTo>
                    <a:pt x="10011295" y="1700800"/>
                  </a:lnTo>
                  <a:lnTo>
                    <a:pt x="0" y="1700800"/>
                  </a:lnTo>
                  <a:close/>
                </a:path>
              </a:pathLst>
            </a:custGeom>
            <a:solidFill>
              <a:srgbClr val="D4A843"/>
            </a:solidFill>
          </p:spPr>
        </p:sp>
        <p:sp>
          <p:nvSpPr>
            <p:cNvPr name="Freeform 64" id="64"/>
            <p:cNvSpPr/>
            <p:nvPr/>
          </p:nvSpPr>
          <p:spPr>
            <a:xfrm flipH="false" flipV="false" rot="0">
              <a:off x="0" y="0"/>
              <a:ext cx="10054638" cy="1737052"/>
            </a:xfrm>
            <a:custGeom>
              <a:avLst/>
              <a:gdLst/>
              <a:ahLst/>
              <a:cxnLst/>
              <a:rect r="r" b="b" t="t" l="l"/>
              <a:pathLst>
                <a:path h="1737052" w="10054638">
                  <a:moveTo>
                    <a:pt x="21672" y="0"/>
                  </a:moveTo>
                  <a:lnTo>
                    <a:pt x="10032967" y="0"/>
                  </a:lnTo>
                  <a:cubicBezTo>
                    <a:pt x="10045025" y="0"/>
                    <a:pt x="10054638" y="8177"/>
                    <a:pt x="10054638" y="18126"/>
                  </a:cubicBezTo>
                  <a:lnTo>
                    <a:pt x="10054638" y="1718926"/>
                  </a:lnTo>
                  <a:cubicBezTo>
                    <a:pt x="10054638" y="1729011"/>
                    <a:pt x="10044862" y="1737052"/>
                    <a:pt x="10032967" y="1737052"/>
                  </a:cubicBezTo>
                  <a:lnTo>
                    <a:pt x="21672" y="1737052"/>
                  </a:lnTo>
                  <a:cubicBezTo>
                    <a:pt x="9614" y="1737052"/>
                    <a:pt x="0" y="1728875"/>
                    <a:pt x="0" y="1718926"/>
                  </a:cubicBezTo>
                  <a:lnTo>
                    <a:pt x="0" y="18126"/>
                  </a:lnTo>
                  <a:cubicBezTo>
                    <a:pt x="0" y="8177"/>
                    <a:pt x="9777" y="0"/>
                    <a:pt x="21672" y="0"/>
                  </a:cubicBezTo>
                  <a:moveTo>
                    <a:pt x="21672" y="36387"/>
                  </a:moveTo>
                  <a:lnTo>
                    <a:pt x="21672" y="18126"/>
                  </a:lnTo>
                  <a:lnTo>
                    <a:pt x="43506" y="18126"/>
                  </a:lnTo>
                  <a:lnTo>
                    <a:pt x="43506" y="1718926"/>
                  </a:lnTo>
                  <a:lnTo>
                    <a:pt x="21672" y="1718926"/>
                  </a:lnTo>
                  <a:lnTo>
                    <a:pt x="21672" y="1700801"/>
                  </a:lnTo>
                  <a:lnTo>
                    <a:pt x="10032967" y="1700801"/>
                  </a:lnTo>
                  <a:lnTo>
                    <a:pt x="10032967" y="1718926"/>
                  </a:lnTo>
                  <a:lnTo>
                    <a:pt x="10011295" y="1718926"/>
                  </a:lnTo>
                  <a:lnTo>
                    <a:pt x="10011295" y="18126"/>
                  </a:lnTo>
                  <a:lnTo>
                    <a:pt x="10032967" y="18126"/>
                  </a:lnTo>
                  <a:lnTo>
                    <a:pt x="10032967" y="36387"/>
                  </a:lnTo>
                  <a:lnTo>
                    <a:pt x="21672" y="36387"/>
                  </a:lnTo>
                  <a:close/>
                </a:path>
              </a:pathLst>
            </a:custGeom>
            <a:solidFill>
              <a:srgbClr val="D4A843"/>
            </a:solidFill>
          </p:spPr>
        </p:sp>
      </p:grpSp>
      <p:grpSp>
        <p:nvGrpSpPr>
          <p:cNvPr name="Group 65" id="65"/>
          <p:cNvGrpSpPr/>
          <p:nvPr/>
        </p:nvGrpSpPr>
        <p:grpSpPr>
          <a:xfrm rot="0">
            <a:off x="431684" y="8671945"/>
            <a:ext cx="7508471" cy="1275600"/>
            <a:chOff x="0" y="0"/>
            <a:chExt cx="10011295" cy="1700801"/>
          </a:xfrm>
        </p:grpSpPr>
        <p:sp>
          <p:nvSpPr>
            <p:cNvPr name="Freeform 66" id="66"/>
            <p:cNvSpPr/>
            <p:nvPr/>
          </p:nvSpPr>
          <p:spPr>
            <a:xfrm flipH="false" flipV="false" rot="0">
              <a:off x="0" y="0"/>
              <a:ext cx="10011295" cy="1700801"/>
            </a:xfrm>
            <a:custGeom>
              <a:avLst/>
              <a:gdLst/>
              <a:ahLst/>
              <a:cxnLst/>
              <a:rect r="r" b="b" t="t" l="l"/>
              <a:pathLst>
                <a:path h="1700801" w="10011295">
                  <a:moveTo>
                    <a:pt x="0" y="0"/>
                  </a:moveTo>
                  <a:lnTo>
                    <a:pt x="10011295" y="0"/>
                  </a:lnTo>
                  <a:lnTo>
                    <a:pt x="10011295" y="1700801"/>
                  </a:lnTo>
                  <a:lnTo>
                    <a:pt x="0" y="1700801"/>
                  </a:lnTo>
                  <a:close/>
                </a:path>
              </a:pathLst>
            </a:custGeom>
            <a:blipFill>
              <a:blip r:embed="rId3">
                <a:alphaModFix amt="0"/>
              </a:blip>
              <a:stretch>
                <a:fillRect l="0" t="-42798" r="22059" b="-35987"/>
              </a:stretch>
            </a:blipFill>
          </p:spPr>
        </p:sp>
        <p:sp>
          <p:nvSpPr>
            <p:cNvPr name="TextBox 67" id="67"/>
            <p:cNvSpPr txBox="true"/>
            <p:nvPr/>
          </p:nvSpPr>
          <p:spPr>
            <a:xfrm>
              <a:off x="0" y="-57150"/>
              <a:ext cx="10011295" cy="1757951"/>
            </a:xfrm>
            <a:prstGeom prst="rect">
              <a:avLst/>
            </a:prstGeom>
          </p:spPr>
          <p:txBody>
            <a:bodyPr anchor="ctr" rtlCol="false" tIns="0" lIns="0" bIns="0" rIns="0"/>
            <a:lstStyle/>
            <a:p>
              <a:pPr algn="ctr">
                <a:lnSpc>
                  <a:spcPts val="3479"/>
                </a:lnSpc>
              </a:pPr>
              <a:r>
                <a:rPr lang="en-US" sz="2899" b="true">
                  <a:solidFill>
                    <a:srgbClr val="1A2E1A"/>
                  </a:solidFill>
                  <a:latin typeface="Calibri (MS) Bold"/>
                  <a:ea typeface="Calibri (MS) Bold"/>
                  <a:cs typeface="Calibri (MS) Bold"/>
                  <a:sym typeface="Calibri (MS) Bold"/>
                </a:rPr>
                <a:t>Vote Majoritaire → Prédiction finale</a:t>
              </a:r>
            </a:p>
          </p:txBody>
        </p:sp>
      </p:grpSp>
      <p:grpSp>
        <p:nvGrpSpPr>
          <p:cNvPr name="Group 68" id="68"/>
          <p:cNvGrpSpPr/>
          <p:nvPr/>
        </p:nvGrpSpPr>
        <p:grpSpPr>
          <a:xfrm rot="0">
            <a:off x="3838525" y="3604980"/>
            <a:ext cx="220305" cy="419752"/>
            <a:chOff x="0" y="0"/>
            <a:chExt cx="293740" cy="559670"/>
          </a:xfrm>
        </p:grpSpPr>
        <p:sp>
          <p:nvSpPr>
            <p:cNvPr name="Freeform 69" id="69"/>
            <p:cNvSpPr/>
            <p:nvPr/>
          </p:nvSpPr>
          <p:spPr>
            <a:xfrm flipH="false" flipV="false" rot="0">
              <a:off x="21672" y="18126"/>
              <a:ext cx="250282" cy="523323"/>
            </a:xfrm>
            <a:custGeom>
              <a:avLst/>
              <a:gdLst/>
              <a:ahLst/>
              <a:cxnLst/>
              <a:rect r="r" b="b" t="t" l="l"/>
              <a:pathLst>
                <a:path h="523323" w="250282">
                  <a:moveTo>
                    <a:pt x="0" y="0"/>
                  </a:moveTo>
                  <a:lnTo>
                    <a:pt x="250282" y="0"/>
                  </a:lnTo>
                  <a:lnTo>
                    <a:pt x="250282" y="523323"/>
                  </a:lnTo>
                  <a:lnTo>
                    <a:pt x="0" y="523323"/>
                  </a:lnTo>
                  <a:close/>
                </a:path>
              </a:pathLst>
            </a:custGeom>
            <a:solidFill>
              <a:srgbClr val="5A7A5A"/>
            </a:solidFill>
          </p:spPr>
        </p:sp>
        <p:sp>
          <p:nvSpPr>
            <p:cNvPr name="Freeform 70" id="70"/>
            <p:cNvSpPr/>
            <p:nvPr/>
          </p:nvSpPr>
          <p:spPr>
            <a:xfrm flipH="false" flipV="false" rot="0">
              <a:off x="0" y="0"/>
              <a:ext cx="293626" cy="559576"/>
            </a:xfrm>
            <a:custGeom>
              <a:avLst/>
              <a:gdLst/>
              <a:ahLst/>
              <a:cxnLst/>
              <a:rect r="r" b="b" t="t" l="l"/>
              <a:pathLst>
                <a:path h="559576" w="293626">
                  <a:moveTo>
                    <a:pt x="21672" y="0"/>
                  </a:moveTo>
                  <a:lnTo>
                    <a:pt x="271954" y="0"/>
                  </a:lnTo>
                  <a:cubicBezTo>
                    <a:pt x="284012" y="0"/>
                    <a:pt x="293626" y="8177"/>
                    <a:pt x="293626" y="18126"/>
                  </a:cubicBezTo>
                  <a:lnTo>
                    <a:pt x="293626" y="541449"/>
                  </a:lnTo>
                  <a:cubicBezTo>
                    <a:pt x="293626" y="551534"/>
                    <a:pt x="283849" y="559574"/>
                    <a:pt x="271954" y="559574"/>
                  </a:cubicBezTo>
                  <a:lnTo>
                    <a:pt x="21672" y="559574"/>
                  </a:lnTo>
                  <a:cubicBezTo>
                    <a:pt x="9777" y="559708"/>
                    <a:pt x="0" y="551534"/>
                    <a:pt x="0" y="541449"/>
                  </a:cubicBezTo>
                  <a:lnTo>
                    <a:pt x="0" y="18126"/>
                  </a:lnTo>
                  <a:cubicBezTo>
                    <a:pt x="0" y="8177"/>
                    <a:pt x="9777" y="0"/>
                    <a:pt x="21672" y="0"/>
                  </a:cubicBezTo>
                  <a:moveTo>
                    <a:pt x="21672" y="36387"/>
                  </a:moveTo>
                  <a:lnTo>
                    <a:pt x="21672" y="18126"/>
                  </a:lnTo>
                  <a:lnTo>
                    <a:pt x="43506" y="18126"/>
                  </a:lnTo>
                  <a:lnTo>
                    <a:pt x="43506" y="541449"/>
                  </a:lnTo>
                  <a:lnTo>
                    <a:pt x="21672" y="541449"/>
                  </a:lnTo>
                  <a:lnTo>
                    <a:pt x="21672" y="523323"/>
                  </a:lnTo>
                  <a:lnTo>
                    <a:pt x="271954" y="523323"/>
                  </a:lnTo>
                  <a:lnTo>
                    <a:pt x="271954" y="541449"/>
                  </a:lnTo>
                  <a:lnTo>
                    <a:pt x="250282" y="541449"/>
                  </a:lnTo>
                  <a:lnTo>
                    <a:pt x="250282" y="18126"/>
                  </a:lnTo>
                  <a:lnTo>
                    <a:pt x="271954" y="18126"/>
                  </a:lnTo>
                  <a:lnTo>
                    <a:pt x="271954" y="36387"/>
                  </a:lnTo>
                  <a:lnTo>
                    <a:pt x="21672" y="36387"/>
                  </a:lnTo>
                  <a:close/>
                </a:path>
              </a:pathLst>
            </a:custGeom>
            <a:solidFill>
              <a:srgbClr val="5A7A5A"/>
            </a:solidFill>
          </p:spPr>
        </p:sp>
      </p:grpSp>
      <p:grpSp>
        <p:nvGrpSpPr>
          <p:cNvPr name="Group 71" id="71"/>
          <p:cNvGrpSpPr/>
          <p:nvPr/>
        </p:nvGrpSpPr>
        <p:grpSpPr>
          <a:xfrm rot="0">
            <a:off x="3789636" y="8238568"/>
            <a:ext cx="220305" cy="419752"/>
            <a:chOff x="0" y="0"/>
            <a:chExt cx="293740" cy="559670"/>
          </a:xfrm>
        </p:grpSpPr>
        <p:sp>
          <p:nvSpPr>
            <p:cNvPr name="Freeform 72" id="72"/>
            <p:cNvSpPr/>
            <p:nvPr/>
          </p:nvSpPr>
          <p:spPr>
            <a:xfrm flipH="false" flipV="false" rot="0">
              <a:off x="21672" y="18126"/>
              <a:ext cx="250282" cy="523323"/>
            </a:xfrm>
            <a:custGeom>
              <a:avLst/>
              <a:gdLst/>
              <a:ahLst/>
              <a:cxnLst/>
              <a:rect r="r" b="b" t="t" l="l"/>
              <a:pathLst>
                <a:path h="523323" w="250282">
                  <a:moveTo>
                    <a:pt x="0" y="0"/>
                  </a:moveTo>
                  <a:lnTo>
                    <a:pt x="250282" y="0"/>
                  </a:lnTo>
                  <a:lnTo>
                    <a:pt x="250282" y="523323"/>
                  </a:lnTo>
                  <a:lnTo>
                    <a:pt x="0" y="523323"/>
                  </a:lnTo>
                  <a:close/>
                </a:path>
              </a:pathLst>
            </a:custGeom>
            <a:solidFill>
              <a:srgbClr val="5A7A5A"/>
            </a:solidFill>
          </p:spPr>
        </p:sp>
        <p:sp>
          <p:nvSpPr>
            <p:cNvPr name="Freeform 73" id="73"/>
            <p:cNvSpPr/>
            <p:nvPr/>
          </p:nvSpPr>
          <p:spPr>
            <a:xfrm flipH="false" flipV="false" rot="0">
              <a:off x="0" y="0"/>
              <a:ext cx="293626" cy="559576"/>
            </a:xfrm>
            <a:custGeom>
              <a:avLst/>
              <a:gdLst/>
              <a:ahLst/>
              <a:cxnLst/>
              <a:rect r="r" b="b" t="t" l="l"/>
              <a:pathLst>
                <a:path h="559576" w="293626">
                  <a:moveTo>
                    <a:pt x="21672" y="0"/>
                  </a:moveTo>
                  <a:lnTo>
                    <a:pt x="271954" y="0"/>
                  </a:lnTo>
                  <a:cubicBezTo>
                    <a:pt x="284012" y="0"/>
                    <a:pt x="293626" y="8177"/>
                    <a:pt x="293626" y="18126"/>
                  </a:cubicBezTo>
                  <a:lnTo>
                    <a:pt x="293626" y="541449"/>
                  </a:lnTo>
                  <a:cubicBezTo>
                    <a:pt x="293626" y="551534"/>
                    <a:pt x="283849" y="559574"/>
                    <a:pt x="271954" y="559574"/>
                  </a:cubicBezTo>
                  <a:lnTo>
                    <a:pt x="21672" y="559574"/>
                  </a:lnTo>
                  <a:cubicBezTo>
                    <a:pt x="9777" y="559708"/>
                    <a:pt x="0" y="551534"/>
                    <a:pt x="0" y="541449"/>
                  </a:cubicBezTo>
                  <a:lnTo>
                    <a:pt x="0" y="18126"/>
                  </a:lnTo>
                  <a:cubicBezTo>
                    <a:pt x="0" y="8177"/>
                    <a:pt x="9777" y="0"/>
                    <a:pt x="21672" y="0"/>
                  </a:cubicBezTo>
                  <a:moveTo>
                    <a:pt x="21672" y="36387"/>
                  </a:moveTo>
                  <a:lnTo>
                    <a:pt x="21672" y="18126"/>
                  </a:lnTo>
                  <a:lnTo>
                    <a:pt x="43506" y="18126"/>
                  </a:lnTo>
                  <a:lnTo>
                    <a:pt x="43506" y="541449"/>
                  </a:lnTo>
                  <a:lnTo>
                    <a:pt x="21672" y="541449"/>
                  </a:lnTo>
                  <a:lnTo>
                    <a:pt x="21672" y="523323"/>
                  </a:lnTo>
                  <a:lnTo>
                    <a:pt x="271954" y="523323"/>
                  </a:lnTo>
                  <a:lnTo>
                    <a:pt x="271954" y="541449"/>
                  </a:lnTo>
                  <a:lnTo>
                    <a:pt x="250282" y="541449"/>
                  </a:lnTo>
                  <a:lnTo>
                    <a:pt x="250282" y="18126"/>
                  </a:lnTo>
                  <a:lnTo>
                    <a:pt x="271954" y="18126"/>
                  </a:lnTo>
                  <a:lnTo>
                    <a:pt x="271954" y="36387"/>
                  </a:lnTo>
                  <a:lnTo>
                    <a:pt x="21672" y="36387"/>
                  </a:lnTo>
                  <a:close/>
                </a:path>
              </a:pathLst>
            </a:custGeom>
            <a:solidFill>
              <a:srgbClr val="5A7A5A"/>
            </a:solidFill>
          </p:spPr>
        </p:sp>
      </p:grpSp>
      <p:grpSp>
        <p:nvGrpSpPr>
          <p:cNvPr name="Group 74" id="74"/>
          <p:cNvGrpSpPr/>
          <p:nvPr/>
        </p:nvGrpSpPr>
        <p:grpSpPr>
          <a:xfrm rot="0">
            <a:off x="8570241" y="1902755"/>
            <a:ext cx="9060770" cy="8250833"/>
            <a:chOff x="0" y="0"/>
            <a:chExt cx="12081026" cy="11001110"/>
          </a:xfrm>
        </p:grpSpPr>
        <p:sp>
          <p:nvSpPr>
            <p:cNvPr name="Freeform 75" id="75"/>
            <p:cNvSpPr/>
            <p:nvPr/>
          </p:nvSpPr>
          <p:spPr>
            <a:xfrm flipH="false" flipV="false" rot="0">
              <a:off x="14032" y="17665"/>
              <a:ext cx="12052888" cy="10965687"/>
            </a:xfrm>
            <a:custGeom>
              <a:avLst/>
              <a:gdLst/>
              <a:ahLst/>
              <a:cxnLst/>
              <a:rect r="r" b="b" t="t" l="l"/>
              <a:pathLst>
                <a:path h="10965687" w="12052888">
                  <a:moveTo>
                    <a:pt x="0" y="0"/>
                  </a:moveTo>
                  <a:lnTo>
                    <a:pt x="12052888" y="0"/>
                  </a:lnTo>
                  <a:lnTo>
                    <a:pt x="12052888" y="10965687"/>
                  </a:lnTo>
                  <a:lnTo>
                    <a:pt x="0" y="10965687"/>
                  </a:lnTo>
                  <a:close/>
                </a:path>
              </a:pathLst>
            </a:custGeom>
            <a:solidFill>
              <a:srgbClr val="FFFFFF"/>
            </a:solidFill>
          </p:spPr>
        </p:sp>
        <p:sp>
          <p:nvSpPr>
            <p:cNvPr name="Freeform 76" id="76"/>
            <p:cNvSpPr/>
            <p:nvPr/>
          </p:nvSpPr>
          <p:spPr>
            <a:xfrm flipH="false" flipV="false" rot="0">
              <a:off x="0" y="0"/>
              <a:ext cx="12080953" cy="11001017"/>
            </a:xfrm>
            <a:custGeom>
              <a:avLst/>
              <a:gdLst/>
              <a:ahLst/>
              <a:cxnLst/>
              <a:rect r="r" b="b" t="t" l="l"/>
              <a:pathLst>
                <a:path h="11001017" w="12080953">
                  <a:moveTo>
                    <a:pt x="14032" y="0"/>
                  </a:moveTo>
                  <a:lnTo>
                    <a:pt x="12066920" y="0"/>
                  </a:lnTo>
                  <a:cubicBezTo>
                    <a:pt x="12074727" y="0"/>
                    <a:pt x="12080953" y="7969"/>
                    <a:pt x="12080953" y="17665"/>
                  </a:cubicBezTo>
                  <a:lnTo>
                    <a:pt x="12080953" y="10983352"/>
                  </a:lnTo>
                  <a:cubicBezTo>
                    <a:pt x="12080953" y="10993181"/>
                    <a:pt x="12074623" y="11001017"/>
                    <a:pt x="12066920" y="11001017"/>
                  </a:cubicBezTo>
                  <a:lnTo>
                    <a:pt x="14032" y="11001017"/>
                  </a:lnTo>
                  <a:cubicBezTo>
                    <a:pt x="6225" y="11001017"/>
                    <a:pt x="0" y="10993048"/>
                    <a:pt x="0" y="10983352"/>
                  </a:cubicBezTo>
                  <a:lnTo>
                    <a:pt x="0" y="17665"/>
                  </a:lnTo>
                  <a:cubicBezTo>
                    <a:pt x="0" y="7969"/>
                    <a:pt x="6330" y="0"/>
                    <a:pt x="14032" y="0"/>
                  </a:cubicBezTo>
                  <a:moveTo>
                    <a:pt x="14032" y="35463"/>
                  </a:moveTo>
                  <a:lnTo>
                    <a:pt x="14032" y="17665"/>
                  </a:lnTo>
                  <a:lnTo>
                    <a:pt x="28170" y="17665"/>
                  </a:lnTo>
                  <a:lnTo>
                    <a:pt x="28170" y="10983352"/>
                  </a:lnTo>
                  <a:lnTo>
                    <a:pt x="14032" y="10983352"/>
                  </a:lnTo>
                  <a:lnTo>
                    <a:pt x="14032" y="10965686"/>
                  </a:lnTo>
                  <a:lnTo>
                    <a:pt x="12066920" y="10965686"/>
                  </a:lnTo>
                  <a:lnTo>
                    <a:pt x="12066920" y="10983352"/>
                  </a:lnTo>
                  <a:lnTo>
                    <a:pt x="12052888" y="10983352"/>
                  </a:lnTo>
                  <a:lnTo>
                    <a:pt x="12052888" y="17665"/>
                  </a:lnTo>
                  <a:lnTo>
                    <a:pt x="12066920" y="17665"/>
                  </a:lnTo>
                  <a:lnTo>
                    <a:pt x="12066920" y="35463"/>
                  </a:lnTo>
                  <a:lnTo>
                    <a:pt x="14032" y="35463"/>
                  </a:lnTo>
                  <a:close/>
                </a:path>
              </a:pathLst>
            </a:custGeom>
            <a:solidFill>
              <a:srgbClr val="D0E0D0"/>
            </a:solidFill>
          </p:spPr>
        </p:sp>
      </p:grpSp>
      <p:grpSp>
        <p:nvGrpSpPr>
          <p:cNvPr name="Group 77" id="77"/>
          <p:cNvGrpSpPr/>
          <p:nvPr/>
        </p:nvGrpSpPr>
        <p:grpSpPr>
          <a:xfrm rot="0">
            <a:off x="8671381" y="1722248"/>
            <a:ext cx="8507921" cy="1742883"/>
            <a:chOff x="0" y="0"/>
            <a:chExt cx="11343895" cy="2323844"/>
          </a:xfrm>
        </p:grpSpPr>
        <p:sp>
          <p:nvSpPr>
            <p:cNvPr name="Freeform 78" id="78"/>
            <p:cNvSpPr/>
            <p:nvPr/>
          </p:nvSpPr>
          <p:spPr>
            <a:xfrm flipH="false" flipV="false" rot="0">
              <a:off x="0" y="0"/>
              <a:ext cx="11343894" cy="2323844"/>
            </a:xfrm>
            <a:custGeom>
              <a:avLst/>
              <a:gdLst/>
              <a:ahLst/>
              <a:cxnLst/>
              <a:rect r="r" b="b" t="t" l="l"/>
              <a:pathLst>
                <a:path h="2323844" w="11343894">
                  <a:moveTo>
                    <a:pt x="0" y="0"/>
                  </a:moveTo>
                  <a:lnTo>
                    <a:pt x="11343894" y="0"/>
                  </a:lnTo>
                  <a:lnTo>
                    <a:pt x="11343894" y="2323844"/>
                  </a:lnTo>
                  <a:lnTo>
                    <a:pt x="0" y="2323844"/>
                  </a:lnTo>
                  <a:close/>
                </a:path>
              </a:pathLst>
            </a:custGeom>
            <a:blipFill>
              <a:blip r:embed="rId3">
                <a:alphaModFix amt="0"/>
              </a:blip>
              <a:stretch>
                <a:fillRect l="0" t="-88262" r="-20373" b="-40727"/>
              </a:stretch>
            </a:blipFill>
          </p:spPr>
        </p:sp>
        <p:sp>
          <p:nvSpPr>
            <p:cNvPr name="TextBox 79" id="79"/>
            <p:cNvSpPr txBox="true"/>
            <p:nvPr/>
          </p:nvSpPr>
          <p:spPr>
            <a:xfrm>
              <a:off x="0" y="-66675"/>
              <a:ext cx="11343895" cy="2390519"/>
            </a:xfrm>
            <a:prstGeom prst="rect">
              <a:avLst/>
            </a:prstGeom>
          </p:spPr>
          <p:txBody>
            <a:bodyPr anchor="ctr" rtlCol="false" tIns="0" lIns="0" bIns="0" rIns="0"/>
            <a:lstStyle/>
            <a:p>
              <a:pPr algn="l">
                <a:lnSpc>
                  <a:spcPts val="3959"/>
                </a:lnSpc>
              </a:pPr>
              <a:r>
                <a:rPr lang="en-US" sz="3299" b="true">
                  <a:solidFill>
                    <a:srgbClr val="1A2E1A"/>
                  </a:solidFill>
                  <a:latin typeface="Calibri (MS) Bold"/>
                  <a:ea typeface="Calibri (MS) Bold"/>
                  <a:cs typeface="Calibri (MS) Bold"/>
                  <a:sym typeface="Calibri (MS) Bold"/>
                </a:rPr>
                <a:t>  Feature Randomness — Pima Dataset (p = 8 features)</a:t>
              </a:r>
            </a:p>
          </p:txBody>
        </p:sp>
      </p:grpSp>
      <p:grpSp>
        <p:nvGrpSpPr>
          <p:cNvPr name="Group 80" id="80"/>
          <p:cNvGrpSpPr/>
          <p:nvPr/>
        </p:nvGrpSpPr>
        <p:grpSpPr>
          <a:xfrm rot="0">
            <a:off x="8646550" y="2716326"/>
            <a:ext cx="8507921" cy="2677006"/>
            <a:chOff x="0" y="0"/>
            <a:chExt cx="11343895" cy="3569341"/>
          </a:xfrm>
        </p:grpSpPr>
        <p:sp>
          <p:nvSpPr>
            <p:cNvPr name="Freeform 81" id="81"/>
            <p:cNvSpPr/>
            <p:nvPr/>
          </p:nvSpPr>
          <p:spPr>
            <a:xfrm flipH="false" flipV="false" rot="0">
              <a:off x="0" y="0"/>
              <a:ext cx="11343894" cy="3569341"/>
            </a:xfrm>
            <a:custGeom>
              <a:avLst/>
              <a:gdLst/>
              <a:ahLst/>
              <a:cxnLst/>
              <a:rect r="r" b="b" t="t" l="l"/>
              <a:pathLst>
                <a:path h="3569341" w="11343894">
                  <a:moveTo>
                    <a:pt x="0" y="0"/>
                  </a:moveTo>
                  <a:lnTo>
                    <a:pt x="11343894" y="0"/>
                  </a:lnTo>
                  <a:lnTo>
                    <a:pt x="11343894" y="3569341"/>
                  </a:lnTo>
                  <a:lnTo>
                    <a:pt x="0" y="3569341"/>
                  </a:lnTo>
                  <a:close/>
                </a:path>
              </a:pathLst>
            </a:custGeom>
            <a:blipFill>
              <a:blip r:embed="rId3">
                <a:alphaModFix amt="0"/>
              </a:blip>
              <a:stretch>
                <a:fillRect l="0" t="-52340" r="-20373" b="3254"/>
              </a:stretch>
            </a:blipFill>
          </p:spPr>
        </p:sp>
        <p:sp>
          <p:nvSpPr>
            <p:cNvPr name="TextBox 82" id="82"/>
            <p:cNvSpPr txBox="true"/>
            <p:nvPr/>
          </p:nvSpPr>
          <p:spPr>
            <a:xfrm>
              <a:off x="0" y="-57150"/>
              <a:ext cx="11343895" cy="3626491"/>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À chaque nœud : seul un sous-ensemble de m features est tiré aléatoirement.</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Le meilleur split est cherché uniquement sur ces m features.</a:t>
              </a:r>
            </a:p>
          </p:txBody>
        </p:sp>
      </p:grpSp>
      <p:grpSp>
        <p:nvGrpSpPr>
          <p:cNvPr name="Group 83" id="83"/>
          <p:cNvGrpSpPr/>
          <p:nvPr/>
        </p:nvGrpSpPr>
        <p:grpSpPr>
          <a:xfrm rot="0">
            <a:off x="8660833" y="5255328"/>
            <a:ext cx="8529025" cy="2612296"/>
            <a:chOff x="0" y="0"/>
            <a:chExt cx="11372033" cy="3483061"/>
          </a:xfrm>
        </p:grpSpPr>
        <p:sp>
          <p:nvSpPr>
            <p:cNvPr name="Freeform 84" id="84"/>
            <p:cNvSpPr/>
            <p:nvPr/>
          </p:nvSpPr>
          <p:spPr>
            <a:xfrm flipH="false" flipV="false" rot="0">
              <a:off x="14032" y="42787"/>
              <a:ext cx="11343894" cy="3397261"/>
            </a:xfrm>
            <a:custGeom>
              <a:avLst/>
              <a:gdLst/>
              <a:ahLst/>
              <a:cxnLst/>
              <a:rect r="r" b="b" t="t" l="l"/>
              <a:pathLst>
                <a:path h="3397261" w="11343894">
                  <a:moveTo>
                    <a:pt x="0" y="0"/>
                  </a:moveTo>
                  <a:lnTo>
                    <a:pt x="11343894" y="0"/>
                  </a:lnTo>
                  <a:lnTo>
                    <a:pt x="11343894" y="3397261"/>
                  </a:lnTo>
                  <a:lnTo>
                    <a:pt x="0" y="3397261"/>
                  </a:lnTo>
                  <a:close/>
                </a:path>
              </a:pathLst>
            </a:custGeom>
            <a:solidFill>
              <a:srgbClr val="E8F5E8"/>
            </a:solidFill>
          </p:spPr>
        </p:sp>
        <p:sp>
          <p:nvSpPr>
            <p:cNvPr name="Freeform 85" id="85"/>
            <p:cNvSpPr/>
            <p:nvPr/>
          </p:nvSpPr>
          <p:spPr>
            <a:xfrm flipH="false" flipV="false" rot="0">
              <a:off x="0" y="0"/>
              <a:ext cx="11371959" cy="3482836"/>
            </a:xfrm>
            <a:custGeom>
              <a:avLst/>
              <a:gdLst/>
              <a:ahLst/>
              <a:cxnLst/>
              <a:rect r="r" b="b" t="t" l="l"/>
              <a:pathLst>
                <a:path h="3482836" w="11371959">
                  <a:moveTo>
                    <a:pt x="14032" y="0"/>
                  </a:moveTo>
                  <a:lnTo>
                    <a:pt x="11357926" y="0"/>
                  </a:lnTo>
                  <a:cubicBezTo>
                    <a:pt x="11365734" y="0"/>
                    <a:pt x="11371959" y="19303"/>
                    <a:pt x="11371959" y="42787"/>
                  </a:cubicBezTo>
                  <a:lnTo>
                    <a:pt x="11371959" y="3440048"/>
                  </a:lnTo>
                  <a:cubicBezTo>
                    <a:pt x="11371959" y="3463855"/>
                    <a:pt x="11365629" y="3482836"/>
                    <a:pt x="11357926" y="3482836"/>
                  </a:cubicBezTo>
                  <a:lnTo>
                    <a:pt x="14032" y="3482836"/>
                  </a:lnTo>
                  <a:cubicBezTo>
                    <a:pt x="6225" y="3482836"/>
                    <a:pt x="0" y="3463533"/>
                    <a:pt x="0" y="3440048"/>
                  </a:cubicBezTo>
                  <a:lnTo>
                    <a:pt x="0" y="42787"/>
                  </a:lnTo>
                  <a:cubicBezTo>
                    <a:pt x="0" y="19303"/>
                    <a:pt x="6330" y="0"/>
                    <a:pt x="14032" y="0"/>
                  </a:cubicBezTo>
                  <a:moveTo>
                    <a:pt x="14032" y="85897"/>
                  </a:moveTo>
                  <a:lnTo>
                    <a:pt x="14032" y="42787"/>
                  </a:lnTo>
                  <a:lnTo>
                    <a:pt x="28170" y="42787"/>
                  </a:lnTo>
                  <a:lnTo>
                    <a:pt x="28170" y="3440048"/>
                  </a:lnTo>
                  <a:lnTo>
                    <a:pt x="14032" y="3440048"/>
                  </a:lnTo>
                  <a:lnTo>
                    <a:pt x="14032" y="3397261"/>
                  </a:lnTo>
                  <a:lnTo>
                    <a:pt x="11357926" y="3397261"/>
                  </a:lnTo>
                  <a:lnTo>
                    <a:pt x="11357926" y="3440048"/>
                  </a:lnTo>
                  <a:lnTo>
                    <a:pt x="11343894" y="3440048"/>
                  </a:lnTo>
                  <a:lnTo>
                    <a:pt x="11343894" y="42787"/>
                  </a:lnTo>
                  <a:lnTo>
                    <a:pt x="11357926" y="42787"/>
                  </a:lnTo>
                  <a:lnTo>
                    <a:pt x="11357926" y="85897"/>
                  </a:lnTo>
                  <a:lnTo>
                    <a:pt x="14032" y="85897"/>
                  </a:lnTo>
                  <a:close/>
                </a:path>
              </a:pathLst>
            </a:custGeom>
            <a:solidFill>
              <a:srgbClr val="5B9E3D"/>
            </a:solidFill>
          </p:spPr>
        </p:sp>
      </p:grpSp>
      <p:grpSp>
        <p:nvGrpSpPr>
          <p:cNvPr name="Group 86" id="86"/>
          <p:cNvGrpSpPr/>
          <p:nvPr/>
        </p:nvGrpSpPr>
        <p:grpSpPr>
          <a:xfrm rot="0">
            <a:off x="8823308" y="4806387"/>
            <a:ext cx="8916052" cy="3996152"/>
            <a:chOff x="0" y="0"/>
            <a:chExt cx="11888069" cy="5328203"/>
          </a:xfrm>
        </p:grpSpPr>
        <p:sp>
          <p:nvSpPr>
            <p:cNvPr name="Freeform 87" id="87"/>
            <p:cNvSpPr/>
            <p:nvPr/>
          </p:nvSpPr>
          <p:spPr>
            <a:xfrm flipH="false" flipV="false" rot="0">
              <a:off x="0" y="0"/>
              <a:ext cx="11888070" cy="5328203"/>
            </a:xfrm>
            <a:custGeom>
              <a:avLst/>
              <a:gdLst/>
              <a:ahLst/>
              <a:cxnLst/>
              <a:rect r="r" b="b" t="t" l="l"/>
              <a:pathLst>
                <a:path h="5328203" w="11888070">
                  <a:moveTo>
                    <a:pt x="0" y="0"/>
                  </a:moveTo>
                  <a:lnTo>
                    <a:pt x="11888070" y="0"/>
                  </a:lnTo>
                  <a:lnTo>
                    <a:pt x="11888070" y="5328203"/>
                  </a:lnTo>
                  <a:lnTo>
                    <a:pt x="0" y="5328203"/>
                  </a:lnTo>
                  <a:close/>
                </a:path>
              </a:pathLst>
            </a:custGeom>
            <a:blipFill>
              <a:blip r:embed="rId3">
                <a:alphaModFix amt="0"/>
              </a:blip>
              <a:stretch>
                <a:fillRect l="0" t="-37855" r="-10761" b="41550"/>
              </a:stretch>
            </a:blipFill>
          </p:spPr>
        </p:sp>
        <p:sp>
          <p:nvSpPr>
            <p:cNvPr name="TextBox 88" id="88"/>
            <p:cNvSpPr txBox="true"/>
            <p:nvPr/>
          </p:nvSpPr>
          <p:spPr>
            <a:xfrm>
              <a:off x="0" y="-57150"/>
              <a:ext cx="11888069" cy="5385353"/>
            </a:xfrm>
            <a:prstGeom prst="rect">
              <a:avLst/>
            </a:prstGeom>
          </p:spPr>
          <p:txBody>
            <a:bodyPr anchor="ctr" rtlCol="false" tIns="0" lIns="0" bIns="0" rIns="0"/>
            <a:lstStyle/>
            <a:p>
              <a:pPr algn="l" marL="604518" indent="-302259" lvl="1">
                <a:lnSpc>
                  <a:spcPts val="3359"/>
                </a:lnSpc>
                <a:buFont typeface="Arial"/>
                <a:buChar char="•"/>
              </a:pPr>
              <a:r>
                <a:rPr lang="en-US" b="true" sz="2799">
                  <a:solidFill>
                    <a:srgbClr val="2C5F2D"/>
                  </a:solidFill>
                  <a:latin typeface="Consolas Bold"/>
                  <a:ea typeface="Consolas Bold"/>
                  <a:cs typeface="Consolas Bold"/>
                  <a:sym typeface="Consolas Bold"/>
                </a:rPr>
                <a:t>Nombre total de features : p = 8</a:t>
              </a:r>
            </a:p>
            <a:p>
              <a:pPr algn="l" marL="604518" indent="-302259" lvl="1">
                <a:lnSpc>
                  <a:spcPts val="3359"/>
                </a:lnSpc>
                <a:buFont typeface="Arial"/>
                <a:buChar char="•"/>
              </a:pPr>
              <a:r>
                <a:rPr lang="en-US" b="true" sz="2799">
                  <a:solidFill>
                    <a:srgbClr val="2C5F2D"/>
                  </a:solidFill>
                  <a:latin typeface="Consolas Bold"/>
                  <a:ea typeface="Consolas Bold"/>
                  <a:cs typeface="Consolas Bold"/>
                  <a:sym typeface="Consolas Bold"/>
                </a:rPr>
                <a:t>Paramètre utilisé: max_features ='sqrt'</a:t>
              </a:r>
            </a:p>
            <a:p>
              <a:pPr algn="l" marL="604518" indent="-302259" lvl="1">
                <a:lnSpc>
                  <a:spcPts val="3359"/>
                </a:lnSpc>
                <a:buFont typeface="Arial"/>
                <a:buChar char="•"/>
              </a:pPr>
              <a:r>
                <a:rPr lang="en-US" b="true" sz="2799">
                  <a:solidFill>
                    <a:srgbClr val="2C5F2D"/>
                  </a:solidFill>
                  <a:latin typeface="Consolas Bold"/>
                  <a:ea typeface="Consolas Bold"/>
                  <a:cs typeface="Consolas Bold"/>
                  <a:sym typeface="Consolas Bold"/>
                </a:rPr>
                <a:t>Donc : √8 ≈ 2 à 3 variables testées par split</a:t>
              </a:r>
            </a:p>
            <a:p>
              <a:pPr algn="just">
                <a:lnSpc>
                  <a:spcPts val="3359"/>
                </a:lnSpc>
              </a:pPr>
            </a:p>
          </p:txBody>
        </p:sp>
      </p:grpSp>
      <p:grpSp>
        <p:nvGrpSpPr>
          <p:cNvPr name="Group 89" id="89"/>
          <p:cNvGrpSpPr/>
          <p:nvPr/>
        </p:nvGrpSpPr>
        <p:grpSpPr>
          <a:xfrm rot="0">
            <a:off x="8823308" y="8024332"/>
            <a:ext cx="8507921" cy="2108676"/>
            <a:chOff x="0" y="0"/>
            <a:chExt cx="11343895" cy="2811569"/>
          </a:xfrm>
        </p:grpSpPr>
        <p:sp>
          <p:nvSpPr>
            <p:cNvPr name="Freeform 90" id="90"/>
            <p:cNvSpPr/>
            <p:nvPr/>
          </p:nvSpPr>
          <p:spPr>
            <a:xfrm flipH="false" flipV="false" rot="0">
              <a:off x="0" y="0"/>
              <a:ext cx="11343894" cy="2811569"/>
            </a:xfrm>
            <a:custGeom>
              <a:avLst/>
              <a:gdLst/>
              <a:ahLst/>
              <a:cxnLst/>
              <a:rect r="r" b="b" t="t" l="l"/>
              <a:pathLst>
                <a:path h="2811569" w="11343894">
                  <a:moveTo>
                    <a:pt x="0" y="0"/>
                  </a:moveTo>
                  <a:lnTo>
                    <a:pt x="11343894" y="0"/>
                  </a:lnTo>
                  <a:lnTo>
                    <a:pt x="11343894" y="2811569"/>
                  </a:lnTo>
                  <a:lnTo>
                    <a:pt x="0" y="2811569"/>
                  </a:lnTo>
                  <a:close/>
                </a:path>
              </a:pathLst>
            </a:custGeom>
            <a:blipFill>
              <a:blip r:embed="rId4">
                <a:alphaModFix amt="0"/>
              </a:blip>
              <a:stretch>
                <a:fillRect l="0" t="-151736" r="0" b="-151736"/>
              </a:stretch>
            </a:blipFill>
          </p:spPr>
        </p:sp>
        <p:sp>
          <p:nvSpPr>
            <p:cNvPr name="TextBox 91" id="91"/>
            <p:cNvSpPr txBox="true"/>
            <p:nvPr/>
          </p:nvSpPr>
          <p:spPr>
            <a:xfrm>
              <a:off x="0" y="-66675"/>
              <a:ext cx="11343895" cy="2878244"/>
            </a:xfrm>
            <a:prstGeom prst="rect">
              <a:avLst/>
            </a:prstGeom>
          </p:spPr>
          <p:txBody>
            <a:bodyPr anchor="ctr" rtlCol="false" tIns="0" lIns="0" bIns="0" rIns="0"/>
            <a:lstStyle/>
            <a:p>
              <a:pPr algn="ctr">
                <a:lnSpc>
                  <a:spcPts val="3359"/>
                </a:lnSpc>
              </a:pPr>
              <a:r>
                <a:rPr lang="en-US" b="true" sz="2799" i="true">
                  <a:solidFill>
                    <a:srgbClr val="2C5F2D"/>
                  </a:solidFill>
                  <a:latin typeface="Calibri (MS) Bold Italics"/>
                  <a:ea typeface="Calibri (MS) Bold Italics"/>
                  <a:cs typeface="Calibri (MS) Bold Italics"/>
                  <a:sym typeface="Calibri (MS) Bold Italics"/>
                </a:rPr>
                <a:t>            Impact : Moins de variables testées  → arbres différents → réduction de la variance → meilleure performance</a:t>
              </a:r>
            </a:p>
          </p:txBody>
        </p:sp>
      </p:grpSp>
      <p:sp>
        <p:nvSpPr>
          <p:cNvPr name="TextBox 92" id="9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650395" y="185224"/>
            <a:ext cx="6424512" cy="1005840"/>
            <a:chOff x="0" y="0"/>
            <a:chExt cx="8566016" cy="1341120"/>
          </a:xfrm>
        </p:grpSpPr>
        <p:sp>
          <p:nvSpPr>
            <p:cNvPr name="Freeform 3" id="3"/>
            <p:cNvSpPr/>
            <p:nvPr/>
          </p:nvSpPr>
          <p:spPr>
            <a:xfrm flipH="false" flipV="false" rot="0">
              <a:off x="0" y="0"/>
              <a:ext cx="8566016" cy="1341120"/>
            </a:xfrm>
            <a:custGeom>
              <a:avLst/>
              <a:gdLst/>
              <a:ahLst/>
              <a:cxnLst/>
              <a:rect r="r" b="b" t="t" l="l"/>
              <a:pathLst>
                <a:path h="1341120" w="8566016">
                  <a:moveTo>
                    <a:pt x="0" y="0"/>
                  </a:moveTo>
                  <a:lnTo>
                    <a:pt x="8566016" y="0"/>
                  </a:lnTo>
                  <a:lnTo>
                    <a:pt x="8566016" y="1341120"/>
                  </a:lnTo>
                  <a:lnTo>
                    <a:pt x="0" y="1341120"/>
                  </a:lnTo>
                  <a:close/>
                </a:path>
              </a:pathLst>
            </a:custGeom>
            <a:blipFill>
              <a:blip r:embed="rId3">
                <a:alphaModFix amt="0"/>
              </a:blip>
              <a:stretch>
                <a:fillRect l="0" t="-162564" r="-70795" b="-162564"/>
              </a:stretch>
            </a:blipFill>
          </p:spPr>
        </p:sp>
        <p:sp>
          <p:nvSpPr>
            <p:cNvPr name="TextBox 4" id="4"/>
            <p:cNvSpPr txBox="true"/>
            <p:nvPr/>
          </p:nvSpPr>
          <p:spPr>
            <a:xfrm>
              <a:off x="0" y="-76200"/>
              <a:ext cx="8566016" cy="1417320"/>
            </a:xfrm>
            <a:prstGeom prst="rect">
              <a:avLst/>
            </a:prstGeom>
          </p:spPr>
          <p:txBody>
            <a:bodyPr anchor="ctr" rtlCol="false" tIns="0" lIns="0" bIns="0" rIns="0"/>
            <a:lstStyle/>
            <a:p>
              <a:pPr algn="l">
                <a:lnSpc>
                  <a:spcPts val="3839"/>
                </a:lnSpc>
              </a:pPr>
              <a:r>
                <a:rPr lang="en-US" b="true" sz="3199" spc="685">
                  <a:solidFill>
                    <a:srgbClr val="52B788"/>
                  </a:solidFill>
                  <a:latin typeface="Calibri (MS) Bold"/>
                  <a:ea typeface="Calibri (MS) Bold"/>
                  <a:cs typeface="Calibri (MS) Bold"/>
                  <a:sym typeface="Calibri (MS) Bold"/>
                </a:rPr>
                <a:t>Présentation du d</a:t>
              </a:r>
              <a:r>
                <a:rPr lang="en-US" b="true" sz="3199" spc="685">
                  <a:solidFill>
                    <a:srgbClr val="52B788"/>
                  </a:solidFill>
                  <a:latin typeface="Calibri (MS) Bold"/>
                  <a:ea typeface="Calibri (MS) Bold"/>
                  <a:cs typeface="Calibri (MS) Bold"/>
                  <a:sym typeface="Calibri (MS) Bold"/>
                </a:rPr>
                <a:t>ataset </a:t>
              </a:r>
            </a:p>
          </p:txBody>
        </p:sp>
      </p:grpSp>
      <p:grpSp>
        <p:nvGrpSpPr>
          <p:cNvPr name="Group 5" id="5"/>
          <p:cNvGrpSpPr/>
          <p:nvPr/>
        </p:nvGrpSpPr>
        <p:grpSpPr>
          <a:xfrm rot="0">
            <a:off x="612301" y="447739"/>
            <a:ext cx="8451858" cy="2468880"/>
            <a:chOff x="0" y="0"/>
            <a:chExt cx="11269144" cy="3291840"/>
          </a:xfrm>
        </p:grpSpPr>
        <p:sp>
          <p:nvSpPr>
            <p:cNvPr name="Freeform 6" id="6"/>
            <p:cNvSpPr/>
            <p:nvPr/>
          </p:nvSpPr>
          <p:spPr>
            <a:xfrm flipH="false" flipV="false" rot="0">
              <a:off x="0" y="0"/>
              <a:ext cx="11269144" cy="3291840"/>
            </a:xfrm>
            <a:custGeom>
              <a:avLst/>
              <a:gdLst/>
              <a:ahLst/>
              <a:cxnLst/>
              <a:rect r="r" b="b" t="t" l="l"/>
              <a:pathLst>
                <a:path h="3291840" w="11269144">
                  <a:moveTo>
                    <a:pt x="0" y="0"/>
                  </a:moveTo>
                  <a:lnTo>
                    <a:pt x="11269144" y="0"/>
                  </a:lnTo>
                  <a:lnTo>
                    <a:pt x="11269144" y="3291840"/>
                  </a:lnTo>
                  <a:lnTo>
                    <a:pt x="0" y="3291840"/>
                  </a:lnTo>
                  <a:close/>
                </a:path>
              </a:pathLst>
            </a:custGeom>
            <a:blipFill>
              <a:blip r:embed="rId3">
                <a:alphaModFix amt="0"/>
              </a:blip>
              <a:stretch>
                <a:fillRect l="0" t="-36600" r="-29827" b="-36600"/>
              </a:stretch>
            </a:blipFill>
          </p:spPr>
        </p:sp>
        <p:sp>
          <p:nvSpPr>
            <p:cNvPr name="TextBox 7" id="7"/>
            <p:cNvSpPr txBox="true"/>
            <p:nvPr/>
          </p:nvSpPr>
          <p:spPr>
            <a:xfrm>
              <a:off x="0" y="-152400"/>
              <a:ext cx="11269144" cy="3444240"/>
            </a:xfrm>
            <a:prstGeom prst="rect">
              <a:avLst/>
            </a:prstGeom>
          </p:spPr>
          <p:txBody>
            <a:bodyPr anchor="ctr" rtlCol="false" tIns="0" lIns="0" bIns="0" rIns="0"/>
            <a:lstStyle/>
            <a:p>
              <a:pPr algn="l">
                <a:lnSpc>
                  <a:spcPts val="8760"/>
                </a:lnSpc>
              </a:pPr>
              <a:r>
                <a:rPr lang="en-US" sz="7300" b="true">
                  <a:solidFill>
                    <a:srgbClr val="FFFFFF"/>
                  </a:solidFill>
                  <a:latin typeface="Calibri (MS) Bold"/>
                  <a:ea typeface="Calibri (MS) Bold"/>
                  <a:cs typeface="Calibri (MS) Bold"/>
                  <a:sym typeface="Calibri (MS) Bold"/>
                </a:rPr>
                <a:t>Pima Indian Diabetes</a:t>
              </a:r>
            </a:p>
          </p:txBody>
        </p:sp>
      </p:grpSp>
      <p:grpSp>
        <p:nvGrpSpPr>
          <p:cNvPr name="Group 8" id="8"/>
          <p:cNvGrpSpPr/>
          <p:nvPr/>
        </p:nvGrpSpPr>
        <p:grpSpPr>
          <a:xfrm rot="0">
            <a:off x="11125605" y="593024"/>
            <a:ext cx="3046600" cy="1940557"/>
            <a:chOff x="0" y="0"/>
            <a:chExt cx="4062133" cy="2587409"/>
          </a:xfrm>
        </p:grpSpPr>
        <p:sp>
          <p:nvSpPr>
            <p:cNvPr name="Freeform 9" id="9"/>
            <p:cNvSpPr/>
            <p:nvPr/>
          </p:nvSpPr>
          <p:spPr>
            <a:xfrm flipH="false" flipV="false" rot="0">
              <a:off x="15494" y="13589"/>
              <a:ext cx="4031247" cy="2560320"/>
            </a:xfrm>
            <a:custGeom>
              <a:avLst/>
              <a:gdLst/>
              <a:ahLst/>
              <a:cxnLst/>
              <a:rect r="r" b="b" t="t" l="l"/>
              <a:pathLst>
                <a:path h="2560320" w="4031247">
                  <a:moveTo>
                    <a:pt x="0" y="0"/>
                  </a:moveTo>
                  <a:lnTo>
                    <a:pt x="4031247" y="0"/>
                  </a:lnTo>
                  <a:lnTo>
                    <a:pt x="4031247" y="2560320"/>
                  </a:lnTo>
                  <a:lnTo>
                    <a:pt x="0" y="2560320"/>
                  </a:lnTo>
                  <a:close/>
                </a:path>
              </a:pathLst>
            </a:custGeom>
            <a:solidFill>
              <a:srgbClr val="1E3A1E"/>
            </a:solidFill>
          </p:spPr>
        </p:sp>
        <p:sp>
          <p:nvSpPr>
            <p:cNvPr name="Freeform 10" id="10"/>
            <p:cNvSpPr/>
            <p:nvPr/>
          </p:nvSpPr>
          <p:spPr>
            <a:xfrm flipH="false" flipV="false" rot="0">
              <a:off x="0" y="0"/>
              <a:ext cx="4062222" cy="2587498"/>
            </a:xfrm>
            <a:custGeom>
              <a:avLst/>
              <a:gdLst/>
              <a:ahLst/>
              <a:cxnLst/>
              <a:rect r="r" b="b" t="t" l="l"/>
              <a:pathLst>
                <a:path h="2587498" w="4062222">
                  <a:moveTo>
                    <a:pt x="15494" y="0"/>
                  </a:moveTo>
                  <a:lnTo>
                    <a:pt x="4046741" y="0"/>
                  </a:lnTo>
                  <a:cubicBezTo>
                    <a:pt x="4055284" y="0"/>
                    <a:pt x="4062222" y="6096"/>
                    <a:pt x="4062222" y="13589"/>
                  </a:cubicBezTo>
                  <a:lnTo>
                    <a:pt x="4062222" y="2573909"/>
                  </a:lnTo>
                  <a:cubicBezTo>
                    <a:pt x="4062222" y="2581402"/>
                    <a:pt x="4055284" y="2587498"/>
                    <a:pt x="4046741" y="2587498"/>
                  </a:cubicBezTo>
                  <a:lnTo>
                    <a:pt x="15494" y="2587498"/>
                  </a:lnTo>
                  <a:cubicBezTo>
                    <a:pt x="6950" y="2587498"/>
                    <a:pt x="0" y="2581402"/>
                    <a:pt x="0" y="2573909"/>
                  </a:cubicBezTo>
                  <a:lnTo>
                    <a:pt x="0" y="13589"/>
                  </a:lnTo>
                  <a:cubicBezTo>
                    <a:pt x="0" y="6096"/>
                    <a:pt x="6950" y="0"/>
                    <a:pt x="15494" y="0"/>
                  </a:cubicBezTo>
                  <a:moveTo>
                    <a:pt x="15494" y="27051"/>
                  </a:moveTo>
                  <a:lnTo>
                    <a:pt x="15494" y="13589"/>
                  </a:lnTo>
                  <a:lnTo>
                    <a:pt x="30843" y="13589"/>
                  </a:lnTo>
                  <a:lnTo>
                    <a:pt x="30843" y="2573909"/>
                  </a:lnTo>
                  <a:lnTo>
                    <a:pt x="15494" y="2573909"/>
                  </a:lnTo>
                  <a:lnTo>
                    <a:pt x="15494" y="2560320"/>
                  </a:lnTo>
                  <a:lnTo>
                    <a:pt x="4046741" y="2560320"/>
                  </a:lnTo>
                  <a:lnTo>
                    <a:pt x="4046741" y="2573909"/>
                  </a:lnTo>
                  <a:lnTo>
                    <a:pt x="4031247" y="2573909"/>
                  </a:lnTo>
                  <a:lnTo>
                    <a:pt x="4031247" y="13589"/>
                  </a:lnTo>
                  <a:lnTo>
                    <a:pt x="4046741" y="13589"/>
                  </a:lnTo>
                  <a:lnTo>
                    <a:pt x="4046741" y="27051"/>
                  </a:lnTo>
                  <a:lnTo>
                    <a:pt x="15494" y="27051"/>
                  </a:lnTo>
                  <a:close/>
                </a:path>
              </a:pathLst>
            </a:custGeom>
            <a:solidFill>
              <a:srgbClr val="52B788"/>
            </a:solidFill>
          </p:spPr>
        </p:sp>
      </p:grpSp>
      <p:grpSp>
        <p:nvGrpSpPr>
          <p:cNvPr name="Group 11" id="11"/>
          <p:cNvGrpSpPr/>
          <p:nvPr/>
        </p:nvGrpSpPr>
        <p:grpSpPr>
          <a:xfrm rot="0">
            <a:off x="11137192" y="731203"/>
            <a:ext cx="3023435" cy="950976"/>
            <a:chOff x="0" y="0"/>
            <a:chExt cx="4031247" cy="1267968"/>
          </a:xfrm>
        </p:grpSpPr>
        <p:sp>
          <p:nvSpPr>
            <p:cNvPr name="Freeform 12" id="12"/>
            <p:cNvSpPr/>
            <p:nvPr/>
          </p:nvSpPr>
          <p:spPr>
            <a:xfrm flipH="false" flipV="false" rot="0">
              <a:off x="0" y="0"/>
              <a:ext cx="4031247" cy="1267968"/>
            </a:xfrm>
            <a:custGeom>
              <a:avLst/>
              <a:gdLst/>
              <a:ahLst/>
              <a:cxnLst/>
              <a:rect r="r" b="b" t="t" l="l"/>
              <a:pathLst>
                <a:path h="1267968" w="4031247">
                  <a:moveTo>
                    <a:pt x="0" y="0"/>
                  </a:moveTo>
                  <a:lnTo>
                    <a:pt x="4031247" y="0"/>
                  </a:lnTo>
                  <a:lnTo>
                    <a:pt x="4031247" y="1267968"/>
                  </a:lnTo>
                  <a:lnTo>
                    <a:pt x="0" y="1267968"/>
                  </a:lnTo>
                  <a:close/>
                </a:path>
              </a:pathLst>
            </a:custGeom>
            <a:blipFill>
              <a:blip r:embed="rId3">
                <a:alphaModFix amt="0"/>
              </a:blip>
              <a:stretch>
                <a:fillRect l="0" t="-4333" r="12293" b="-4333"/>
              </a:stretch>
            </a:blipFill>
          </p:spPr>
        </p:sp>
        <p:sp>
          <p:nvSpPr>
            <p:cNvPr name="TextBox 13" id="13"/>
            <p:cNvSpPr txBox="true"/>
            <p:nvPr/>
          </p:nvSpPr>
          <p:spPr>
            <a:xfrm>
              <a:off x="0" y="-76200"/>
              <a:ext cx="4031247" cy="1344168"/>
            </a:xfrm>
            <a:prstGeom prst="rect">
              <a:avLst/>
            </a:prstGeom>
          </p:spPr>
          <p:txBody>
            <a:bodyPr anchor="ctr" rtlCol="false" tIns="0" lIns="0" bIns="0" rIns="0"/>
            <a:lstStyle/>
            <a:p>
              <a:pPr algn="ctr">
                <a:lnSpc>
                  <a:spcPts val="5280"/>
                </a:lnSpc>
              </a:pPr>
              <a:r>
                <a:rPr lang="en-US" sz="4400" b="true">
                  <a:solidFill>
                    <a:srgbClr val="52B788"/>
                  </a:solidFill>
                  <a:latin typeface="Calibri (MS) Bold"/>
                  <a:ea typeface="Calibri (MS) Bold"/>
                  <a:cs typeface="Calibri (MS) Bold"/>
                  <a:sym typeface="Calibri (MS) Bold"/>
                </a:rPr>
                <a:t>768</a:t>
              </a:r>
            </a:p>
          </p:txBody>
        </p:sp>
      </p:grpSp>
      <p:grpSp>
        <p:nvGrpSpPr>
          <p:cNvPr name="Group 14" id="14"/>
          <p:cNvGrpSpPr/>
          <p:nvPr/>
        </p:nvGrpSpPr>
        <p:grpSpPr>
          <a:xfrm rot="0">
            <a:off x="11137192" y="1682179"/>
            <a:ext cx="3023435" cy="512064"/>
            <a:chOff x="0" y="0"/>
            <a:chExt cx="4031247" cy="682752"/>
          </a:xfrm>
        </p:grpSpPr>
        <p:sp>
          <p:nvSpPr>
            <p:cNvPr name="Freeform 15" id="15"/>
            <p:cNvSpPr/>
            <p:nvPr/>
          </p:nvSpPr>
          <p:spPr>
            <a:xfrm flipH="false" flipV="false" rot="0">
              <a:off x="0" y="0"/>
              <a:ext cx="4031247" cy="682752"/>
            </a:xfrm>
            <a:custGeom>
              <a:avLst/>
              <a:gdLst/>
              <a:ahLst/>
              <a:cxnLst/>
              <a:rect r="r" b="b" t="t" l="l"/>
              <a:pathLst>
                <a:path h="682752" w="4031247">
                  <a:moveTo>
                    <a:pt x="0" y="0"/>
                  </a:moveTo>
                  <a:lnTo>
                    <a:pt x="4031247" y="0"/>
                  </a:lnTo>
                  <a:lnTo>
                    <a:pt x="4031247" y="682752"/>
                  </a:lnTo>
                  <a:lnTo>
                    <a:pt x="0" y="682752"/>
                  </a:lnTo>
                  <a:close/>
                </a:path>
              </a:pathLst>
            </a:custGeom>
            <a:blipFill>
              <a:blip r:embed="rId3">
                <a:alphaModFix amt="0"/>
              </a:blip>
              <a:stretch>
                <a:fillRect l="0" t="-50904" r="12293" b="-50904"/>
              </a:stretch>
            </a:blipFill>
          </p:spPr>
        </p:sp>
        <p:sp>
          <p:nvSpPr>
            <p:cNvPr name="TextBox 16" id="16"/>
            <p:cNvSpPr txBox="true"/>
            <p:nvPr/>
          </p:nvSpPr>
          <p:spPr>
            <a:xfrm>
              <a:off x="0" y="-38100"/>
              <a:ext cx="4031247" cy="720852"/>
            </a:xfrm>
            <a:prstGeom prst="rect">
              <a:avLst/>
            </a:prstGeom>
          </p:spPr>
          <p:txBody>
            <a:bodyPr anchor="ctr" rtlCol="false" tIns="0" lIns="0" bIns="0" rIns="0"/>
            <a:lstStyle/>
            <a:p>
              <a:pPr algn="ctr">
                <a:lnSpc>
                  <a:spcPts val="2039"/>
                </a:lnSpc>
              </a:pPr>
              <a:r>
                <a:rPr lang="en-US" sz="1700">
                  <a:solidFill>
                    <a:srgbClr val="FFFFFF"/>
                  </a:solidFill>
                  <a:latin typeface="Calibri (MS)"/>
                  <a:ea typeface="Calibri (MS)"/>
                  <a:cs typeface="Calibri (MS)"/>
                  <a:sym typeface="Calibri (MS)"/>
                </a:rPr>
                <a:t>Observations</a:t>
              </a:r>
            </a:p>
          </p:txBody>
        </p:sp>
      </p:grpSp>
      <p:grpSp>
        <p:nvGrpSpPr>
          <p:cNvPr name="Group 17" id="17"/>
          <p:cNvGrpSpPr/>
          <p:nvPr/>
        </p:nvGrpSpPr>
        <p:grpSpPr>
          <a:xfrm rot="0">
            <a:off x="14803115" y="593024"/>
            <a:ext cx="3046600" cy="1940557"/>
            <a:chOff x="0" y="0"/>
            <a:chExt cx="4062133" cy="2587409"/>
          </a:xfrm>
        </p:grpSpPr>
        <p:sp>
          <p:nvSpPr>
            <p:cNvPr name="Freeform 18" id="18"/>
            <p:cNvSpPr/>
            <p:nvPr/>
          </p:nvSpPr>
          <p:spPr>
            <a:xfrm flipH="false" flipV="false" rot="0">
              <a:off x="15494" y="13589"/>
              <a:ext cx="4031247" cy="2560320"/>
            </a:xfrm>
            <a:custGeom>
              <a:avLst/>
              <a:gdLst/>
              <a:ahLst/>
              <a:cxnLst/>
              <a:rect r="r" b="b" t="t" l="l"/>
              <a:pathLst>
                <a:path h="2560320" w="4031247">
                  <a:moveTo>
                    <a:pt x="0" y="0"/>
                  </a:moveTo>
                  <a:lnTo>
                    <a:pt x="4031247" y="0"/>
                  </a:lnTo>
                  <a:lnTo>
                    <a:pt x="4031247" y="2560320"/>
                  </a:lnTo>
                  <a:lnTo>
                    <a:pt x="0" y="2560320"/>
                  </a:lnTo>
                  <a:close/>
                </a:path>
              </a:pathLst>
            </a:custGeom>
            <a:solidFill>
              <a:srgbClr val="1E3A1E"/>
            </a:solidFill>
          </p:spPr>
        </p:sp>
        <p:sp>
          <p:nvSpPr>
            <p:cNvPr name="Freeform 19" id="19"/>
            <p:cNvSpPr/>
            <p:nvPr/>
          </p:nvSpPr>
          <p:spPr>
            <a:xfrm flipH="false" flipV="false" rot="0">
              <a:off x="0" y="0"/>
              <a:ext cx="4062222" cy="2587498"/>
            </a:xfrm>
            <a:custGeom>
              <a:avLst/>
              <a:gdLst/>
              <a:ahLst/>
              <a:cxnLst/>
              <a:rect r="r" b="b" t="t" l="l"/>
              <a:pathLst>
                <a:path h="2587498" w="4062222">
                  <a:moveTo>
                    <a:pt x="15494" y="0"/>
                  </a:moveTo>
                  <a:lnTo>
                    <a:pt x="4046741" y="0"/>
                  </a:lnTo>
                  <a:cubicBezTo>
                    <a:pt x="4055284" y="0"/>
                    <a:pt x="4062222" y="6096"/>
                    <a:pt x="4062222" y="13589"/>
                  </a:cubicBezTo>
                  <a:lnTo>
                    <a:pt x="4062222" y="2573909"/>
                  </a:lnTo>
                  <a:cubicBezTo>
                    <a:pt x="4062222" y="2581402"/>
                    <a:pt x="4055284" y="2587498"/>
                    <a:pt x="4046741" y="2587498"/>
                  </a:cubicBezTo>
                  <a:lnTo>
                    <a:pt x="15494" y="2587498"/>
                  </a:lnTo>
                  <a:cubicBezTo>
                    <a:pt x="6950" y="2587498"/>
                    <a:pt x="0" y="2581402"/>
                    <a:pt x="0" y="2573909"/>
                  </a:cubicBezTo>
                  <a:lnTo>
                    <a:pt x="0" y="13589"/>
                  </a:lnTo>
                  <a:cubicBezTo>
                    <a:pt x="0" y="6096"/>
                    <a:pt x="6950" y="0"/>
                    <a:pt x="15494" y="0"/>
                  </a:cubicBezTo>
                  <a:moveTo>
                    <a:pt x="15494" y="27051"/>
                  </a:moveTo>
                  <a:lnTo>
                    <a:pt x="15494" y="13589"/>
                  </a:lnTo>
                  <a:lnTo>
                    <a:pt x="30843" y="13589"/>
                  </a:lnTo>
                  <a:lnTo>
                    <a:pt x="30843" y="2573909"/>
                  </a:lnTo>
                  <a:lnTo>
                    <a:pt x="15494" y="2573909"/>
                  </a:lnTo>
                  <a:lnTo>
                    <a:pt x="15494" y="2560320"/>
                  </a:lnTo>
                  <a:lnTo>
                    <a:pt x="4046741" y="2560320"/>
                  </a:lnTo>
                  <a:lnTo>
                    <a:pt x="4046741" y="2573909"/>
                  </a:lnTo>
                  <a:lnTo>
                    <a:pt x="4031247" y="2573909"/>
                  </a:lnTo>
                  <a:lnTo>
                    <a:pt x="4031247" y="13589"/>
                  </a:lnTo>
                  <a:lnTo>
                    <a:pt x="4046741" y="13589"/>
                  </a:lnTo>
                  <a:lnTo>
                    <a:pt x="4046741" y="27051"/>
                  </a:lnTo>
                  <a:lnTo>
                    <a:pt x="15494" y="27051"/>
                  </a:lnTo>
                  <a:close/>
                </a:path>
              </a:pathLst>
            </a:custGeom>
            <a:solidFill>
              <a:srgbClr val="F4A261"/>
            </a:solidFill>
          </p:spPr>
        </p:sp>
      </p:grpSp>
      <p:grpSp>
        <p:nvGrpSpPr>
          <p:cNvPr name="Group 20" id="20"/>
          <p:cNvGrpSpPr/>
          <p:nvPr/>
        </p:nvGrpSpPr>
        <p:grpSpPr>
          <a:xfrm rot="0">
            <a:off x="14814703" y="731203"/>
            <a:ext cx="3023435" cy="950976"/>
            <a:chOff x="0" y="0"/>
            <a:chExt cx="4031247" cy="1267968"/>
          </a:xfrm>
        </p:grpSpPr>
        <p:sp>
          <p:nvSpPr>
            <p:cNvPr name="Freeform 21" id="21"/>
            <p:cNvSpPr/>
            <p:nvPr/>
          </p:nvSpPr>
          <p:spPr>
            <a:xfrm flipH="false" flipV="false" rot="0">
              <a:off x="0" y="0"/>
              <a:ext cx="4031247" cy="1267968"/>
            </a:xfrm>
            <a:custGeom>
              <a:avLst/>
              <a:gdLst/>
              <a:ahLst/>
              <a:cxnLst/>
              <a:rect r="r" b="b" t="t" l="l"/>
              <a:pathLst>
                <a:path h="1267968" w="4031247">
                  <a:moveTo>
                    <a:pt x="0" y="0"/>
                  </a:moveTo>
                  <a:lnTo>
                    <a:pt x="4031247" y="0"/>
                  </a:lnTo>
                  <a:lnTo>
                    <a:pt x="4031247" y="1267968"/>
                  </a:lnTo>
                  <a:lnTo>
                    <a:pt x="0" y="1267968"/>
                  </a:lnTo>
                  <a:close/>
                </a:path>
              </a:pathLst>
            </a:custGeom>
            <a:blipFill>
              <a:blip r:embed="rId3">
                <a:alphaModFix amt="0"/>
              </a:blip>
              <a:stretch>
                <a:fillRect l="0" t="-4333" r="12293" b="-4333"/>
              </a:stretch>
            </a:blipFill>
          </p:spPr>
        </p:sp>
        <p:sp>
          <p:nvSpPr>
            <p:cNvPr name="TextBox 22" id="22"/>
            <p:cNvSpPr txBox="true"/>
            <p:nvPr/>
          </p:nvSpPr>
          <p:spPr>
            <a:xfrm>
              <a:off x="0" y="-76200"/>
              <a:ext cx="4031247" cy="1344168"/>
            </a:xfrm>
            <a:prstGeom prst="rect">
              <a:avLst/>
            </a:prstGeom>
          </p:spPr>
          <p:txBody>
            <a:bodyPr anchor="ctr" rtlCol="false" tIns="0" lIns="0" bIns="0" rIns="0"/>
            <a:lstStyle/>
            <a:p>
              <a:pPr algn="ctr">
                <a:lnSpc>
                  <a:spcPts val="5280"/>
                </a:lnSpc>
              </a:pPr>
              <a:r>
                <a:rPr lang="en-US" sz="4400" b="true">
                  <a:solidFill>
                    <a:srgbClr val="F4A261"/>
                  </a:solidFill>
                  <a:latin typeface="Calibri (MS) Bold"/>
                  <a:ea typeface="Calibri (MS) Bold"/>
                  <a:cs typeface="Calibri (MS) Bold"/>
                  <a:sym typeface="Calibri (MS) Bold"/>
                </a:rPr>
                <a:t>8</a:t>
              </a:r>
            </a:p>
          </p:txBody>
        </p:sp>
      </p:grpSp>
      <p:grpSp>
        <p:nvGrpSpPr>
          <p:cNvPr name="Group 23" id="23"/>
          <p:cNvGrpSpPr/>
          <p:nvPr/>
        </p:nvGrpSpPr>
        <p:grpSpPr>
          <a:xfrm rot="0">
            <a:off x="14814703" y="1682179"/>
            <a:ext cx="3023435" cy="512064"/>
            <a:chOff x="0" y="0"/>
            <a:chExt cx="4031247" cy="682752"/>
          </a:xfrm>
        </p:grpSpPr>
        <p:sp>
          <p:nvSpPr>
            <p:cNvPr name="Freeform 24" id="24"/>
            <p:cNvSpPr/>
            <p:nvPr/>
          </p:nvSpPr>
          <p:spPr>
            <a:xfrm flipH="false" flipV="false" rot="0">
              <a:off x="0" y="0"/>
              <a:ext cx="4031247" cy="682752"/>
            </a:xfrm>
            <a:custGeom>
              <a:avLst/>
              <a:gdLst/>
              <a:ahLst/>
              <a:cxnLst/>
              <a:rect r="r" b="b" t="t" l="l"/>
              <a:pathLst>
                <a:path h="682752" w="4031247">
                  <a:moveTo>
                    <a:pt x="0" y="0"/>
                  </a:moveTo>
                  <a:lnTo>
                    <a:pt x="4031247" y="0"/>
                  </a:lnTo>
                  <a:lnTo>
                    <a:pt x="4031247" y="682752"/>
                  </a:lnTo>
                  <a:lnTo>
                    <a:pt x="0" y="682752"/>
                  </a:lnTo>
                  <a:close/>
                </a:path>
              </a:pathLst>
            </a:custGeom>
            <a:blipFill>
              <a:blip r:embed="rId3">
                <a:alphaModFix amt="0"/>
              </a:blip>
              <a:stretch>
                <a:fillRect l="0" t="-50904" r="12293" b="-50904"/>
              </a:stretch>
            </a:blipFill>
          </p:spPr>
        </p:sp>
        <p:sp>
          <p:nvSpPr>
            <p:cNvPr name="TextBox 25" id="25"/>
            <p:cNvSpPr txBox="true"/>
            <p:nvPr/>
          </p:nvSpPr>
          <p:spPr>
            <a:xfrm>
              <a:off x="0" y="-38100"/>
              <a:ext cx="4031247" cy="720852"/>
            </a:xfrm>
            <a:prstGeom prst="rect">
              <a:avLst/>
            </a:prstGeom>
          </p:spPr>
          <p:txBody>
            <a:bodyPr anchor="ctr" rtlCol="false" tIns="0" lIns="0" bIns="0" rIns="0"/>
            <a:lstStyle/>
            <a:p>
              <a:pPr algn="ctr">
                <a:lnSpc>
                  <a:spcPts val="2039"/>
                </a:lnSpc>
              </a:pPr>
              <a:r>
                <a:rPr lang="en-US" sz="1700">
                  <a:solidFill>
                    <a:srgbClr val="FFFFFF"/>
                  </a:solidFill>
                  <a:latin typeface="Calibri (MS)"/>
                  <a:ea typeface="Calibri (MS)"/>
                  <a:cs typeface="Calibri (MS)"/>
                  <a:sym typeface="Calibri (MS)"/>
                </a:rPr>
                <a:t>Features</a:t>
              </a:r>
            </a:p>
          </p:txBody>
        </p:sp>
      </p:grpSp>
      <p:grpSp>
        <p:nvGrpSpPr>
          <p:cNvPr name="Group 26" id="26"/>
          <p:cNvGrpSpPr/>
          <p:nvPr/>
        </p:nvGrpSpPr>
        <p:grpSpPr>
          <a:xfrm rot="0">
            <a:off x="13089199" y="2916619"/>
            <a:ext cx="3059219" cy="1940557"/>
            <a:chOff x="0" y="0"/>
            <a:chExt cx="4078959" cy="2587409"/>
          </a:xfrm>
        </p:grpSpPr>
        <p:sp>
          <p:nvSpPr>
            <p:cNvPr name="Freeform 27" id="27"/>
            <p:cNvSpPr/>
            <p:nvPr/>
          </p:nvSpPr>
          <p:spPr>
            <a:xfrm flipH="false" flipV="false" rot="0">
              <a:off x="15558" y="13589"/>
              <a:ext cx="4047945" cy="2560320"/>
            </a:xfrm>
            <a:custGeom>
              <a:avLst/>
              <a:gdLst/>
              <a:ahLst/>
              <a:cxnLst/>
              <a:rect r="r" b="b" t="t" l="l"/>
              <a:pathLst>
                <a:path h="2560320" w="4047945">
                  <a:moveTo>
                    <a:pt x="0" y="0"/>
                  </a:moveTo>
                  <a:lnTo>
                    <a:pt x="4047945" y="0"/>
                  </a:lnTo>
                  <a:lnTo>
                    <a:pt x="4047945" y="2560320"/>
                  </a:lnTo>
                  <a:lnTo>
                    <a:pt x="0" y="2560320"/>
                  </a:lnTo>
                  <a:close/>
                </a:path>
              </a:pathLst>
            </a:custGeom>
            <a:solidFill>
              <a:srgbClr val="1E3A1E"/>
            </a:solidFill>
          </p:spPr>
        </p:sp>
        <p:sp>
          <p:nvSpPr>
            <p:cNvPr name="Freeform 28" id="28"/>
            <p:cNvSpPr/>
            <p:nvPr/>
          </p:nvSpPr>
          <p:spPr>
            <a:xfrm flipH="false" flipV="false" rot="0">
              <a:off x="0" y="0"/>
              <a:ext cx="4079048" cy="2587498"/>
            </a:xfrm>
            <a:custGeom>
              <a:avLst/>
              <a:gdLst/>
              <a:ahLst/>
              <a:cxnLst/>
              <a:rect r="r" b="b" t="t" l="l"/>
              <a:pathLst>
                <a:path h="2587498" w="4079048">
                  <a:moveTo>
                    <a:pt x="15558" y="0"/>
                  </a:moveTo>
                  <a:lnTo>
                    <a:pt x="4063503" y="0"/>
                  </a:lnTo>
                  <a:cubicBezTo>
                    <a:pt x="4072082" y="0"/>
                    <a:pt x="4079048" y="6096"/>
                    <a:pt x="4079048" y="13589"/>
                  </a:cubicBezTo>
                  <a:lnTo>
                    <a:pt x="4079048" y="2573909"/>
                  </a:lnTo>
                  <a:cubicBezTo>
                    <a:pt x="4079048" y="2581402"/>
                    <a:pt x="4072082" y="2587498"/>
                    <a:pt x="4063503" y="2587498"/>
                  </a:cubicBezTo>
                  <a:lnTo>
                    <a:pt x="15558" y="2587498"/>
                  </a:lnTo>
                  <a:cubicBezTo>
                    <a:pt x="6979" y="2587498"/>
                    <a:pt x="0" y="2581402"/>
                    <a:pt x="0" y="2573909"/>
                  </a:cubicBezTo>
                  <a:lnTo>
                    <a:pt x="0" y="13589"/>
                  </a:lnTo>
                  <a:cubicBezTo>
                    <a:pt x="0" y="6096"/>
                    <a:pt x="6979" y="0"/>
                    <a:pt x="15558" y="0"/>
                  </a:cubicBezTo>
                  <a:moveTo>
                    <a:pt x="15558" y="27051"/>
                  </a:moveTo>
                  <a:lnTo>
                    <a:pt x="15558" y="13589"/>
                  </a:lnTo>
                  <a:lnTo>
                    <a:pt x="30970" y="13589"/>
                  </a:lnTo>
                  <a:lnTo>
                    <a:pt x="30970" y="2573909"/>
                  </a:lnTo>
                  <a:lnTo>
                    <a:pt x="15558" y="2573909"/>
                  </a:lnTo>
                  <a:lnTo>
                    <a:pt x="15558" y="2560320"/>
                  </a:lnTo>
                  <a:lnTo>
                    <a:pt x="4063503" y="2560320"/>
                  </a:lnTo>
                  <a:lnTo>
                    <a:pt x="4063503" y="2573909"/>
                  </a:lnTo>
                  <a:lnTo>
                    <a:pt x="4047945" y="2573909"/>
                  </a:lnTo>
                  <a:lnTo>
                    <a:pt x="4047945" y="13589"/>
                  </a:lnTo>
                  <a:lnTo>
                    <a:pt x="4063503" y="13589"/>
                  </a:lnTo>
                  <a:lnTo>
                    <a:pt x="4063503" y="27051"/>
                  </a:lnTo>
                  <a:lnTo>
                    <a:pt x="15558" y="27051"/>
                  </a:lnTo>
                  <a:close/>
                </a:path>
              </a:pathLst>
            </a:custGeom>
            <a:solidFill>
              <a:srgbClr val="5B9E3D"/>
            </a:solidFill>
          </p:spPr>
        </p:sp>
      </p:grpSp>
      <p:grpSp>
        <p:nvGrpSpPr>
          <p:cNvPr name="Group 29" id="29"/>
          <p:cNvGrpSpPr/>
          <p:nvPr/>
        </p:nvGrpSpPr>
        <p:grpSpPr>
          <a:xfrm rot="0">
            <a:off x="13100835" y="3054798"/>
            <a:ext cx="3035959" cy="950976"/>
            <a:chOff x="0" y="0"/>
            <a:chExt cx="4047945" cy="1267968"/>
          </a:xfrm>
        </p:grpSpPr>
        <p:sp>
          <p:nvSpPr>
            <p:cNvPr name="Freeform 30" id="30"/>
            <p:cNvSpPr/>
            <p:nvPr/>
          </p:nvSpPr>
          <p:spPr>
            <a:xfrm flipH="false" flipV="false" rot="0">
              <a:off x="0" y="0"/>
              <a:ext cx="4047945" cy="1267968"/>
            </a:xfrm>
            <a:custGeom>
              <a:avLst/>
              <a:gdLst/>
              <a:ahLst/>
              <a:cxnLst/>
              <a:rect r="r" b="b" t="t" l="l"/>
              <a:pathLst>
                <a:path h="1267968" w="4047945">
                  <a:moveTo>
                    <a:pt x="0" y="0"/>
                  </a:moveTo>
                  <a:lnTo>
                    <a:pt x="4047945" y="0"/>
                  </a:lnTo>
                  <a:lnTo>
                    <a:pt x="4047945" y="1267968"/>
                  </a:lnTo>
                  <a:lnTo>
                    <a:pt x="0" y="1267968"/>
                  </a:lnTo>
                  <a:close/>
                </a:path>
              </a:pathLst>
            </a:custGeom>
            <a:blipFill>
              <a:blip r:embed="rId3">
                <a:alphaModFix amt="0"/>
              </a:blip>
              <a:stretch>
                <a:fillRect l="0" t="-4333" r="12654" b="-4333"/>
              </a:stretch>
            </a:blipFill>
          </p:spPr>
        </p:sp>
        <p:sp>
          <p:nvSpPr>
            <p:cNvPr name="TextBox 31" id="31"/>
            <p:cNvSpPr txBox="true"/>
            <p:nvPr/>
          </p:nvSpPr>
          <p:spPr>
            <a:xfrm>
              <a:off x="0" y="-76200"/>
              <a:ext cx="4047945" cy="1344168"/>
            </a:xfrm>
            <a:prstGeom prst="rect">
              <a:avLst/>
            </a:prstGeom>
          </p:spPr>
          <p:txBody>
            <a:bodyPr anchor="ctr" rtlCol="false" tIns="0" lIns="0" bIns="0" rIns="0"/>
            <a:lstStyle/>
            <a:p>
              <a:pPr algn="ctr">
                <a:lnSpc>
                  <a:spcPts val="5280"/>
                </a:lnSpc>
              </a:pPr>
              <a:r>
                <a:rPr lang="en-US" sz="4400" b="true">
                  <a:solidFill>
                    <a:srgbClr val="52B788"/>
                  </a:solidFill>
                  <a:latin typeface="Calibri (MS) Bold"/>
                  <a:ea typeface="Calibri (MS) Bold"/>
                  <a:cs typeface="Calibri (MS) Bold"/>
                  <a:sym typeface="Calibri (MS) Bold"/>
                </a:rPr>
                <a:t>2</a:t>
              </a:r>
            </a:p>
          </p:txBody>
        </p:sp>
      </p:grpSp>
      <p:grpSp>
        <p:nvGrpSpPr>
          <p:cNvPr name="Group 32" id="32"/>
          <p:cNvGrpSpPr/>
          <p:nvPr/>
        </p:nvGrpSpPr>
        <p:grpSpPr>
          <a:xfrm rot="0">
            <a:off x="13100835" y="4005774"/>
            <a:ext cx="3035959" cy="512064"/>
            <a:chOff x="0" y="0"/>
            <a:chExt cx="4047945" cy="682752"/>
          </a:xfrm>
        </p:grpSpPr>
        <p:sp>
          <p:nvSpPr>
            <p:cNvPr name="Freeform 33" id="33"/>
            <p:cNvSpPr/>
            <p:nvPr/>
          </p:nvSpPr>
          <p:spPr>
            <a:xfrm flipH="false" flipV="false" rot="0">
              <a:off x="0" y="0"/>
              <a:ext cx="4047945" cy="682752"/>
            </a:xfrm>
            <a:custGeom>
              <a:avLst/>
              <a:gdLst/>
              <a:ahLst/>
              <a:cxnLst/>
              <a:rect r="r" b="b" t="t" l="l"/>
              <a:pathLst>
                <a:path h="682752" w="4047945">
                  <a:moveTo>
                    <a:pt x="0" y="0"/>
                  </a:moveTo>
                  <a:lnTo>
                    <a:pt x="4047945" y="0"/>
                  </a:lnTo>
                  <a:lnTo>
                    <a:pt x="4047945" y="682752"/>
                  </a:lnTo>
                  <a:lnTo>
                    <a:pt x="0" y="682752"/>
                  </a:lnTo>
                  <a:close/>
                </a:path>
              </a:pathLst>
            </a:custGeom>
            <a:blipFill>
              <a:blip r:embed="rId3">
                <a:alphaModFix amt="0"/>
              </a:blip>
              <a:stretch>
                <a:fillRect l="0" t="-50904" r="12654" b="-50904"/>
              </a:stretch>
            </a:blipFill>
          </p:spPr>
        </p:sp>
        <p:sp>
          <p:nvSpPr>
            <p:cNvPr name="TextBox 34" id="34"/>
            <p:cNvSpPr txBox="true"/>
            <p:nvPr/>
          </p:nvSpPr>
          <p:spPr>
            <a:xfrm>
              <a:off x="0" y="-38100"/>
              <a:ext cx="4047945" cy="720852"/>
            </a:xfrm>
            <a:prstGeom prst="rect">
              <a:avLst/>
            </a:prstGeom>
          </p:spPr>
          <p:txBody>
            <a:bodyPr anchor="ctr" rtlCol="false" tIns="0" lIns="0" bIns="0" rIns="0"/>
            <a:lstStyle/>
            <a:p>
              <a:pPr algn="ctr">
                <a:lnSpc>
                  <a:spcPts val="2039"/>
                </a:lnSpc>
              </a:pPr>
              <a:r>
                <a:rPr lang="en-US" sz="1700">
                  <a:solidFill>
                    <a:srgbClr val="FFFFFF"/>
                  </a:solidFill>
                  <a:latin typeface="Calibri (MS)"/>
                  <a:ea typeface="Calibri (MS)"/>
                  <a:cs typeface="Calibri (MS)"/>
                  <a:sym typeface="Calibri (MS)"/>
                </a:rPr>
                <a:t>Classes</a:t>
              </a:r>
            </a:p>
          </p:txBody>
        </p:sp>
      </p:grpSp>
      <p:grpSp>
        <p:nvGrpSpPr>
          <p:cNvPr name="Group 35" id="35"/>
          <p:cNvGrpSpPr/>
          <p:nvPr/>
        </p:nvGrpSpPr>
        <p:grpSpPr>
          <a:xfrm rot="0">
            <a:off x="679866" y="2194243"/>
            <a:ext cx="10259387" cy="512064"/>
            <a:chOff x="0" y="0"/>
            <a:chExt cx="13679183" cy="682752"/>
          </a:xfrm>
        </p:grpSpPr>
        <p:sp>
          <p:nvSpPr>
            <p:cNvPr name="Freeform 36" id="36"/>
            <p:cNvSpPr/>
            <p:nvPr/>
          </p:nvSpPr>
          <p:spPr>
            <a:xfrm flipH="false" flipV="false" rot="0">
              <a:off x="0" y="0"/>
              <a:ext cx="13679184" cy="682752"/>
            </a:xfrm>
            <a:custGeom>
              <a:avLst/>
              <a:gdLst/>
              <a:ahLst/>
              <a:cxnLst/>
              <a:rect r="r" b="b" t="t" l="l"/>
              <a:pathLst>
                <a:path h="682752" w="13679184">
                  <a:moveTo>
                    <a:pt x="0" y="0"/>
                  </a:moveTo>
                  <a:lnTo>
                    <a:pt x="13679184" y="0"/>
                  </a:lnTo>
                  <a:lnTo>
                    <a:pt x="13679184" y="682752"/>
                  </a:lnTo>
                  <a:lnTo>
                    <a:pt x="0" y="682752"/>
                  </a:lnTo>
                  <a:close/>
                </a:path>
              </a:pathLst>
            </a:custGeom>
            <a:blipFill>
              <a:blip r:embed="rId3">
                <a:alphaModFix amt="0"/>
              </a:blip>
              <a:stretch>
                <a:fillRect l="0" t="-590222" r="-63995" b="-590222"/>
              </a:stretch>
            </a:blipFill>
          </p:spPr>
        </p:sp>
        <p:sp>
          <p:nvSpPr>
            <p:cNvPr name="TextBox 37" id="37"/>
            <p:cNvSpPr txBox="true"/>
            <p:nvPr/>
          </p:nvSpPr>
          <p:spPr>
            <a:xfrm>
              <a:off x="0" y="-38100"/>
              <a:ext cx="13679183" cy="720852"/>
            </a:xfrm>
            <a:prstGeom prst="rect">
              <a:avLst/>
            </a:prstGeom>
          </p:spPr>
          <p:txBody>
            <a:bodyPr anchor="ctr" rtlCol="false" tIns="0" lIns="0" bIns="0" rIns="0"/>
            <a:lstStyle/>
            <a:p>
              <a:pPr algn="l">
                <a:lnSpc>
                  <a:spcPts val="2280"/>
                </a:lnSpc>
              </a:pPr>
              <a:r>
                <a:rPr lang="en-US" sz="1900" i="true">
                  <a:solidFill>
                    <a:srgbClr val="FFFFFF"/>
                  </a:solidFill>
                  <a:latin typeface="Calibri (MS) Italics"/>
                  <a:ea typeface="Calibri (MS) Italics"/>
                  <a:cs typeface="Calibri (MS) Italics"/>
                  <a:sym typeface="Calibri (MS) Italics"/>
                </a:rPr>
                <a:t>Pima Indian Diabetes · Source : National Institute of Diabetes and Digestive and Kidney Diseases (NIDDK)</a:t>
              </a:r>
            </a:p>
          </p:txBody>
        </p:sp>
      </p:grpSp>
      <p:grpSp>
        <p:nvGrpSpPr>
          <p:cNvPr name="Group 38" id="38"/>
          <p:cNvGrpSpPr/>
          <p:nvPr/>
        </p:nvGrpSpPr>
        <p:grpSpPr>
          <a:xfrm rot="0">
            <a:off x="656739" y="3132782"/>
            <a:ext cx="8242297" cy="3851898"/>
            <a:chOff x="0" y="0"/>
            <a:chExt cx="10989729" cy="5135864"/>
          </a:xfrm>
        </p:grpSpPr>
        <p:sp>
          <p:nvSpPr>
            <p:cNvPr name="Freeform 39" id="39"/>
            <p:cNvSpPr/>
            <p:nvPr/>
          </p:nvSpPr>
          <p:spPr>
            <a:xfrm flipH="false" flipV="false" rot="0">
              <a:off x="8509" y="6621"/>
              <a:ext cx="10972800" cy="5122691"/>
            </a:xfrm>
            <a:custGeom>
              <a:avLst/>
              <a:gdLst/>
              <a:ahLst/>
              <a:cxnLst/>
              <a:rect r="r" b="b" t="t" l="l"/>
              <a:pathLst>
                <a:path h="5122691" w="10972800">
                  <a:moveTo>
                    <a:pt x="0" y="0"/>
                  </a:moveTo>
                  <a:lnTo>
                    <a:pt x="10972800" y="0"/>
                  </a:lnTo>
                  <a:lnTo>
                    <a:pt x="10972800" y="5122691"/>
                  </a:lnTo>
                  <a:lnTo>
                    <a:pt x="0" y="5122691"/>
                  </a:lnTo>
                  <a:close/>
                </a:path>
              </a:pathLst>
            </a:custGeom>
            <a:solidFill>
              <a:srgbClr val="FFFFFF"/>
            </a:solidFill>
          </p:spPr>
        </p:sp>
        <p:sp>
          <p:nvSpPr>
            <p:cNvPr name="Freeform 40" id="40"/>
            <p:cNvSpPr/>
            <p:nvPr/>
          </p:nvSpPr>
          <p:spPr>
            <a:xfrm flipH="false" flipV="false" rot="0">
              <a:off x="0" y="0"/>
              <a:ext cx="10989818" cy="5135953"/>
            </a:xfrm>
            <a:custGeom>
              <a:avLst/>
              <a:gdLst/>
              <a:ahLst/>
              <a:cxnLst/>
              <a:rect r="r" b="b" t="t" l="l"/>
              <a:pathLst>
                <a:path h="5135953" w="10989818">
                  <a:moveTo>
                    <a:pt x="8509" y="0"/>
                  </a:moveTo>
                  <a:lnTo>
                    <a:pt x="10981309" y="0"/>
                  </a:lnTo>
                  <a:cubicBezTo>
                    <a:pt x="10986008" y="0"/>
                    <a:pt x="10989818" y="2965"/>
                    <a:pt x="10989818" y="6621"/>
                  </a:cubicBezTo>
                  <a:lnTo>
                    <a:pt x="10989818" y="5129312"/>
                  </a:lnTo>
                  <a:cubicBezTo>
                    <a:pt x="10989818" y="5132968"/>
                    <a:pt x="10986008" y="5135953"/>
                    <a:pt x="10981309" y="5135953"/>
                  </a:cubicBezTo>
                  <a:lnTo>
                    <a:pt x="8509" y="5135953"/>
                  </a:lnTo>
                  <a:cubicBezTo>
                    <a:pt x="3810" y="5135953"/>
                    <a:pt x="0" y="5132968"/>
                    <a:pt x="0" y="5129312"/>
                  </a:cubicBezTo>
                  <a:lnTo>
                    <a:pt x="0" y="6621"/>
                  </a:lnTo>
                  <a:cubicBezTo>
                    <a:pt x="0" y="2965"/>
                    <a:pt x="3810" y="0"/>
                    <a:pt x="8509" y="0"/>
                  </a:cubicBezTo>
                  <a:moveTo>
                    <a:pt x="8509" y="13143"/>
                  </a:moveTo>
                  <a:lnTo>
                    <a:pt x="8509" y="6621"/>
                  </a:lnTo>
                  <a:lnTo>
                    <a:pt x="17018" y="6621"/>
                  </a:lnTo>
                  <a:lnTo>
                    <a:pt x="17018" y="5129312"/>
                  </a:lnTo>
                  <a:lnTo>
                    <a:pt x="8509" y="5129312"/>
                  </a:lnTo>
                  <a:lnTo>
                    <a:pt x="8509" y="5122692"/>
                  </a:lnTo>
                  <a:lnTo>
                    <a:pt x="10981309" y="5122692"/>
                  </a:lnTo>
                  <a:lnTo>
                    <a:pt x="10981309" y="5129312"/>
                  </a:lnTo>
                  <a:lnTo>
                    <a:pt x="10972800" y="5129312"/>
                  </a:lnTo>
                  <a:lnTo>
                    <a:pt x="10972800" y="6621"/>
                  </a:lnTo>
                  <a:lnTo>
                    <a:pt x="10981309" y="6621"/>
                  </a:lnTo>
                  <a:lnTo>
                    <a:pt x="10981309" y="13242"/>
                  </a:lnTo>
                  <a:lnTo>
                    <a:pt x="8509" y="13242"/>
                  </a:lnTo>
                  <a:close/>
                </a:path>
              </a:pathLst>
            </a:custGeom>
            <a:solidFill>
              <a:srgbClr val="E0E0E0"/>
            </a:solidFill>
          </p:spPr>
        </p:sp>
      </p:grpSp>
      <p:grpSp>
        <p:nvGrpSpPr>
          <p:cNvPr name="Group 41" id="41"/>
          <p:cNvGrpSpPr/>
          <p:nvPr/>
        </p:nvGrpSpPr>
        <p:grpSpPr>
          <a:xfrm rot="0">
            <a:off x="650395" y="3126263"/>
            <a:ext cx="135131" cy="3858416"/>
            <a:chOff x="0" y="0"/>
            <a:chExt cx="180175" cy="5144555"/>
          </a:xfrm>
        </p:grpSpPr>
        <p:sp>
          <p:nvSpPr>
            <p:cNvPr name="Freeform 42" id="42"/>
            <p:cNvSpPr/>
            <p:nvPr/>
          </p:nvSpPr>
          <p:spPr>
            <a:xfrm flipH="false" flipV="false" rot="0">
              <a:off x="16891" y="13131"/>
              <a:ext cx="146304" cy="5118224"/>
            </a:xfrm>
            <a:custGeom>
              <a:avLst/>
              <a:gdLst/>
              <a:ahLst/>
              <a:cxnLst/>
              <a:rect r="r" b="b" t="t" l="l"/>
              <a:pathLst>
                <a:path h="5118224" w="146304">
                  <a:moveTo>
                    <a:pt x="0" y="0"/>
                  </a:moveTo>
                  <a:lnTo>
                    <a:pt x="146304" y="0"/>
                  </a:lnTo>
                  <a:lnTo>
                    <a:pt x="146304" y="5118224"/>
                  </a:lnTo>
                  <a:lnTo>
                    <a:pt x="0" y="5118224"/>
                  </a:lnTo>
                  <a:close/>
                </a:path>
              </a:pathLst>
            </a:custGeom>
            <a:solidFill>
              <a:srgbClr val="52B788"/>
            </a:solidFill>
          </p:spPr>
        </p:sp>
        <p:sp>
          <p:nvSpPr>
            <p:cNvPr name="Freeform 43" id="43"/>
            <p:cNvSpPr/>
            <p:nvPr/>
          </p:nvSpPr>
          <p:spPr>
            <a:xfrm flipH="false" flipV="false" rot="0">
              <a:off x="0" y="0"/>
              <a:ext cx="180086" cy="5144486"/>
            </a:xfrm>
            <a:custGeom>
              <a:avLst/>
              <a:gdLst/>
              <a:ahLst/>
              <a:cxnLst/>
              <a:rect r="r" b="b" t="t" l="l"/>
              <a:pathLst>
                <a:path h="5144486" w="180086">
                  <a:moveTo>
                    <a:pt x="16891" y="0"/>
                  </a:moveTo>
                  <a:lnTo>
                    <a:pt x="163195" y="0"/>
                  </a:lnTo>
                  <a:cubicBezTo>
                    <a:pt x="172593" y="0"/>
                    <a:pt x="180086" y="5924"/>
                    <a:pt x="180086" y="13131"/>
                  </a:cubicBezTo>
                  <a:lnTo>
                    <a:pt x="180086" y="5131355"/>
                  </a:lnTo>
                  <a:cubicBezTo>
                    <a:pt x="180086" y="5138661"/>
                    <a:pt x="172466" y="5144486"/>
                    <a:pt x="163195" y="5144486"/>
                  </a:cubicBezTo>
                  <a:lnTo>
                    <a:pt x="16891" y="5144486"/>
                  </a:lnTo>
                  <a:cubicBezTo>
                    <a:pt x="7493" y="5144486"/>
                    <a:pt x="0" y="5138562"/>
                    <a:pt x="0" y="5131355"/>
                  </a:cubicBezTo>
                  <a:lnTo>
                    <a:pt x="0" y="13131"/>
                  </a:lnTo>
                  <a:cubicBezTo>
                    <a:pt x="0" y="5924"/>
                    <a:pt x="7620" y="0"/>
                    <a:pt x="16891" y="0"/>
                  </a:cubicBezTo>
                  <a:moveTo>
                    <a:pt x="16891" y="26361"/>
                  </a:moveTo>
                  <a:lnTo>
                    <a:pt x="16891" y="13131"/>
                  </a:lnTo>
                  <a:lnTo>
                    <a:pt x="33909" y="13131"/>
                  </a:lnTo>
                  <a:lnTo>
                    <a:pt x="33909" y="5131355"/>
                  </a:lnTo>
                  <a:lnTo>
                    <a:pt x="16891" y="5131355"/>
                  </a:lnTo>
                  <a:lnTo>
                    <a:pt x="16891" y="5118224"/>
                  </a:lnTo>
                  <a:lnTo>
                    <a:pt x="163195" y="5118224"/>
                  </a:lnTo>
                  <a:lnTo>
                    <a:pt x="163195" y="5131355"/>
                  </a:lnTo>
                  <a:lnTo>
                    <a:pt x="146304" y="5131355"/>
                  </a:lnTo>
                  <a:lnTo>
                    <a:pt x="146304" y="13131"/>
                  </a:lnTo>
                  <a:lnTo>
                    <a:pt x="163195" y="13131"/>
                  </a:lnTo>
                  <a:lnTo>
                    <a:pt x="163195" y="26361"/>
                  </a:lnTo>
                  <a:lnTo>
                    <a:pt x="16891" y="26361"/>
                  </a:lnTo>
                  <a:close/>
                </a:path>
              </a:pathLst>
            </a:custGeom>
            <a:solidFill>
              <a:srgbClr val="52B788"/>
            </a:solidFill>
          </p:spPr>
        </p:sp>
      </p:grpSp>
      <p:grpSp>
        <p:nvGrpSpPr>
          <p:cNvPr name="Group 44" id="44"/>
          <p:cNvGrpSpPr/>
          <p:nvPr/>
        </p:nvGrpSpPr>
        <p:grpSpPr>
          <a:xfrm rot="0">
            <a:off x="937412" y="3289653"/>
            <a:ext cx="694944" cy="714127"/>
            <a:chOff x="0" y="0"/>
            <a:chExt cx="926592" cy="952169"/>
          </a:xfrm>
        </p:grpSpPr>
        <p:sp>
          <p:nvSpPr>
            <p:cNvPr name="Freeform 45" id="45" descr="preencoded.png"/>
            <p:cNvSpPr/>
            <p:nvPr/>
          </p:nvSpPr>
          <p:spPr>
            <a:xfrm flipH="false" flipV="false" rot="0">
              <a:off x="0" y="0"/>
              <a:ext cx="926592" cy="952169"/>
            </a:xfrm>
            <a:custGeom>
              <a:avLst/>
              <a:gdLst/>
              <a:ahLst/>
              <a:cxnLst/>
              <a:rect r="r" b="b" t="t" l="l"/>
              <a:pathLst>
                <a:path h="952169" w="926592">
                  <a:moveTo>
                    <a:pt x="0" y="0"/>
                  </a:moveTo>
                  <a:lnTo>
                    <a:pt x="926592" y="0"/>
                  </a:lnTo>
                  <a:lnTo>
                    <a:pt x="926592" y="952169"/>
                  </a:lnTo>
                  <a:lnTo>
                    <a:pt x="0" y="952169"/>
                  </a:lnTo>
                  <a:lnTo>
                    <a:pt x="0" y="0"/>
                  </a:lnTo>
                  <a:close/>
                </a:path>
              </a:pathLst>
            </a:custGeom>
            <a:blipFill>
              <a:blip r:embed="rId4"/>
              <a:stretch>
                <a:fillRect l="-1380" t="0" r="-1380" b="0"/>
              </a:stretch>
            </a:blipFill>
          </p:spPr>
        </p:sp>
      </p:grpSp>
      <p:grpSp>
        <p:nvGrpSpPr>
          <p:cNvPr name="Group 46" id="46"/>
          <p:cNvGrpSpPr/>
          <p:nvPr/>
        </p:nvGrpSpPr>
        <p:grpSpPr>
          <a:xfrm rot="0">
            <a:off x="1760372" y="3289653"/>
            <a:ext cx="6949440" cy="714127"/>
            <a:chOff x="0" y="0"/>
            <a:chExt cx="9265920" cy="952169"/>
          </a:xfrm>
        </p:grpSpPr>
        <p:sp>
          <p:nvSpPr>
            <p:cNvPr name="Freeform 47" id="47"/>
            <p:cNvSpPr/>
            <p:nvPr/>
          </p:nvSpPr>
          <p:spPr>
            <a:xfrm flipH="false" flipV="false" rot="0">
              <a:off x="0" y="0"/>
              <a:ext cx="9265920" cy="952169"/>
            </a:xfrm>
            <a:custGeom>
              <a:avLst/>
              <a:gdLst/>
              <a:ahLst/>
              <a:cxnLst/>
              <a:rect r="r" b="b" t="t" l="l"/>
              <a:pathLst>
                <a:path h="952169" w="9265920">
                  <a:moveTo>
                    <a:pt x="0" y="0"/>
                  </a:moveTo>
                  <a:lnTo>
                    <a:pt x="9265920" y="0"/>
                  </a:lnTo>
                  <a:lnTo>
                    <a:pt x="9265920" y="952169"/>
                  </a:lnTo>
                  <a:lnTo>
                    <a:pt x="0" y="952169"/>
                  </a:lnTo>
                  <a:close/>
                </a:path>
              </a:pathLst>
            </a:custGeom>
            <a:blipFill>
              <a:blip r:embed="rId3">
                <a:alphaModFix amt="0"/>
              </a:blip>
              <a:stretch>
                <a:fillRect l="0" t="-140959" r="0" b="-138273"/>
              </a:stretch>
            </a:blipFill>
          </p:spPr>
        </p:sp>
        <p:sp>
          <p:nvSpPr>
            <p:cNvPr name="TextBox 48" id="48"/>
            <p:cNvSpPr txBox="true"/>
            <p:nvPr/>
          </p:nvSpPr>
          <p:spPr>
            <a:xfrm>
              <a:off x="0" y="-66675"/>
              <a:ext cx="9265920" cy="1018844"/>
            </a:xfrm>
            <a:prstGeom prst="rect">
              <a:avLst/>
            </a:prstGeom>
          </p:spPr>
          <p:txBody>
            <a:bodyPr anchor="ctr" rtlCol="false" tIns="0" lIns="0" bIns="0" rIns="0"/>
            <a:lstStyle/>
            <a:p>
              <a:pPr algn="l">
                <a:lnSpc>
                  <a:spcPts val="3359"/>
                </a:lnSpc>
              </a:pPr>
              <a:r>
                <a:rPr lang="en-US" sz="2799" b="true">
                  <a:solidFill>
                    <a:srgbClr val="2D6A2D"/>
                  </a:solidFill>
                  <a:latin typeface="Calibri (MS) Bold"/>
                  <a:ea typeface="Calibri (MS) Bold"/>
                  <a:cs typeface="Calibri (MS) Bold"/>
                  <a:sym typeface="Calibri (MS) Bold"/>
                </a:rPr>
                <a:t>Contexte Médical</a:t>
              </a:r>
            </a:p>
          </p:txBody>
        </p:sp>
      </p:grpSp>
      <p:grpSp>
        <p:nvGrpSpPr>
          <p:cNvPr name="Group 49" id="49"/>
          <p:cNvGrpSpPr/>
          <p:nvPr/>
        </p:nvGrpSpPr>
        <p:grpSpPr>
          <a:xfrm rot="0">
            <a:off x="937412" y="4172916"/>
            <a:ext cx="7772400" cy="620163"/>
            <a:chOff x="0" y="0"/>
            <a:chExt cx="10363200" cy="826884"/>
          </a:xfrm>
        </p:grpSpPr>
        <p:sp>
          <p:nvSpPr>
            <p:cNvPr name="Freeform 50" id="50"/>
            <p:cNvSpPr/>
            <p:nvPr/>
          </p:nvSpPr>
          <p:spPr>
            <a:xfrm flipH="false" flipV="false" rot="0">
              <a:off x="0" y="0"/>
              <a:ext cx="10363200" cy="826884"/>
            </a:xfrm>
            <a:custGeom>
              <a:avLst/>
              <a:gdLst/>
              <a:ahLst/>
              <a:cxnLst/>
              <a:rect r="r" b="b" t="t" l="l"/>
              <a:pathLst>
                <a:path h="826884" w="10363200">
                  <a:moveTo>
                    <a:pt x="0" y="0"/>
                  </a:moveTo>
                  <a:lnTo>
                    <a:pt x="10363200" y="0"/>
                  </a:lnTo>
                  <a:lnTo>
                    <a:pt x="10363200" y="826884"/>
                  </a:lnTo>
                  <a:lnTo>
                    <a:pt x="0" y="826884"/>
                  </a:lnTo>
                  <a:close/>
                </a:path>
              </a:pathLst>
            </a:custGeom>
            <a:blipFill>
              <a:blip r:embed="rId3">
                <a:alphaModFix amt="0"/>
              </a:blip>
              <a:stretch>
                <a:fillRect l="0" t="-195545" r="0" b="-192859"/>
              </a:stretch>
            </a:blipFill>
          </p:spPr>
        </p:sp>
        <p:sp>
          <p:nvSpPr>
            <p:cNvPr name="TextBox 51" id="51"/>
            <p:cNvSpPr txBox="true"/>
            <p:nvPr/>
          </p:nvSpPr>
          <p:spPr>
            <a:xfrm>
              <a:off x="0" y="-57150"/>
              <a:ext cx="10363200" cy="884034"/>
            </a:xfrm>
            <a:prstGeom prst="rect">
              <a:avLst/>
            </a:prstGeom>
          </p:spPr>
          <p:txBody>
            <a:bodyPr anchor="ctr" rtlCol="false" tIns="0" lIns="0" bIns="0" rIns="0"/>
            <a:lstStyle/>
            <a:p>
              <a:pPr algn="l">
                <a:lnSpc>
                  <a:spcPts val="2879"/>
                </a:lnSpc>
              </a:pPr>
              <a:r>
                <a:rPr lang="en-US" sz="2399">
                  <a:solidFill>
                    <a:srgbClr val="1E3A1E"/>
                  </a:solidFill>
                  <a:latin typeface="Calibri (MS)"/>
                  <a:ea typeface="Calibri (MS)"/>
                  <a:cs typeface="Calibri (MS)"/>
                  <a:sym typeface="Calibri (MS)"/>
                </a:rPr>
                <a:t>🌎  Communauté : Femmes Pimas d'Arizona, USA</a:t>
              </a:r>
            </a:p>
          </p:txBody>
        </p:sp>
      </p:grpSp>
      <p:grpSp>
        <p:nvGrpSpPr>
          <p:cNvPr name="Group 52" id="52"/>
          <p:cNvGrpSpPr/>
          <p:nvPr/>
        </p:nvGrpSpPr>
        <p:grpSpPr>
          <a:xfrm rot="0">
            <a:off x="937412" y="4830664"/>
            <a:ext cx="7772400" cy="620163"/>
            <a:chOff x="0" y="0"/>
            <a:chExt cx="10363200" cy="826884"/>
          </a:xfrm>
        </p:grpSpPr>
        <p:sp>
          <p:nvSpPr>
            <p:cNvPr name="Freeform 53" id="53"/>
            <p:cNvSpPr/>
            <p:nvPr/>
          </p:nvSpPr>
          <p:spPr>
            <a:xfrm flipH="false" flipV="false" rot="0">
              <a:off x="0" y="0"/>
              <a:ext cx="10363200" cy="826884"/>
            </a:xfrm>
            <a:custGeom>
              <a:avLst/>
              <a:gdLst/>
              <a:ahLst/>
              <a:cxnLst/>
              <a:rect r="r" b="b" t="t" l="l"/>
              <a:pathLst>
                <a:path h="826884" w="10363200">
                  <a:moveTo>
                    <a:pt x="0" y="0"/>
                  </a:moveTo>
                  <a:lnTo>
                    <a:pt x="10363200" y="0"/>
                  </a:lnTo>
                  <a:lnTo>
                    <a:pt x="10363200" y="826884"/>
                  </a:lnTo>
                  <a:lnTo>
                    <a:pt x="0" y="826884"/>
                  </a:lnTo>
                  <a:close/>
                </a:path>
              </a:pathLst>
            </a:custGeom>
            <a:blipFill>
              <a:blip r:embed="rId3">
                <a:alphaModFix amt="0"/>
              </a:blip>
              <a:stretch>
                <a:fillRect l="0" t="-195545" r="0" b="-192859"/>
              </a:stretch>
            </a:blipFill>
          </p:spPr>
        </p:sp>
        <p:sp>
          <p:nvSpPr>
            <p:cNvPr name="TextBox 54" id="54"/>
            <p:cNvSpPr txBox="true"/>
            <p:nvPr/>
          </p:nvSpPr>
          <p:spPr>
            <a:xfrm>
              <a:off x="0" y="-57150"/>
              <a:ext cx="10363200" cy="884034"/>
            </a:xfrm>
            <a:prstGeom prst="rect">
              <a:avLst/>
            </a:prstGeom>
          </p:spPr>
          <p:txBody>
            <a:bodyPr anchor="ctr" rtlCol="false" tIns="0" lIns="0" bIns="0" rIns="0"/>
            <a:lstStyle/>
            <a:p>
              <a:pPr algn="l">
                <a:lnSpc>
                  <a:spcPts val="2879"/>
                </a:lnSpc>
              </a:pPr>
              <a:r>
                <a:rPr lang="en-US" sz="2399">
                  <a:solidFill>
                    <a:srgbClr val="1E3A1E"/>
                  </a:solidFill>
                  <a:latin typeface="Calibri (MS)"/>
                  <a:ea typeface="Calibri (MS)"/>
                  <a:cs typeface="Calibri (MS)"/>
                  <a:sym typeface="Calibri (MS)"/>
                </a:rPr>
                <a:t>👩  Critères : Âge ≥ 21 ans, sexe féminin uniquement</a:t>
              </a:r>
            </a:p>
          </p:txBody>
        </p:sp>
      </p:grpSp>
      <p:grpSp>
        <p:nvGrpSpPr>
          <p:cNvPr name="Group 55" id="55"/>
          <p:cNvGrpSpPr/>
          <p:nvPr/>
        </p:nvGrpSpPr>
        <p:grpSpPr>
          <a:xfrm rot="0">
            <a:off x="937412" y="5488413"/>
            <a:ext cx="7772400" cy="620163"/>
            <a:chOff x="0" y="0"/>
            <a:chExt cx="10363200" cy="826884"/>
          </a:xfrm>
        </p:grpSpPr>
        <p:sp>
          <p:nvSpPr>
            <p:cNvPr name="Freeform 56" id="56"/>
            <p:cNvSpPr/>
            <p:nvPr/>
          </p:nvSpPr>
          <p:spPr>
            <a:xfrm flipH="false" flipV="false" rot="0">
              <a:off x="0" y="0"/>
              <a:ext cx="10363200" cy="826884"/>
            </a:xfrm>
            <a:custGeom>
              <a:avLst/>
              <a:gdLst/>
              <a:ahLst/>
              <a:cxnLst/>
              <a:rect r="r" b="b" t="t" l="l"/>
              <a:pathLst>
                <a:path h="826884" w="10363200">
                  <a:moveTo>
                    <a:pt x="0" y="0"/>
                  </a:moveTo>
                  <a:lnTo>
                    <a:pt x="10363200" y="0"/>
                  </a:lnTo>
                  <a:lnTo>
                    <a:pt x="10363200" y="826884"/>
                  </a:lnTo>
                  <a:lnTo>
                    <a:pt x="0" y="826884"/>
                  </a:lnTo>
                  <a:close/>
                </a:path>
              </a:pathLst>
            </a:custGeom>
            <a:blipFill>
              <a:blip r:embed="rId3">
                <a:alphaModFix amt="0"/>
              </a:blip>
              <a:stretch>
                <a:fillRect l="0" t="-195545" r="0" b="-192859"/>
              </a:stretch>
            </a:blipFill>
          </p:spPr>
        </p:sp>
        <p:sp>
          <p:nvSpPr>
            <p:cNvPr name="TextBox 57" id="57"/>
            <p:cNvSpPr txBox="true"/>
            <p:nvPr/>
          </p:nvSpPr>
          <p:spPr>
            <a:xfrm>
              <a:off x="0" y="-57150"/>
              <a:ext cx="10363200" cy="884034"/>
            </a:xfrm>
            <a:prstGeom prst="rect">
              <a:avLst/>
            </a:prstGeom>
          </p:spPr>
          <p:txBody>
            <a:bodyPr anchor="ctr" rtlCol="false" tIns="0" lIns="0" bIns="0" rIns="0"/>
            <a:lstStyle/>
            <a:p>
              <a:pPr algn="l">
                <a:lnSpc>
                  <a:spcPts val="2879"/>
                </a:lnSpc>
              </a:pPr>
              <a:r>
                <a:rPr lang="en-US" sz="2399">
                  <a:solidFill>
                    <a:srgbClr val="1E3A1E"/>
                  </a:solidFill>
                  <a:latin typeface="Calibri (MS)"/>
                  <a:ea typeface="Calibri (MS)"/>
                  <a:cs typeface="Calibri (MS)"/>
                  <a:sym typeface="Calibri (MS)"/>
                </a:rPr>
                <a:t>🔬  Source : NIDDK — Étude longitudinale sur le diabète</a:t>
              </a:r>
            </a:p>
          </p:txBody>
        </p:sp>
      </p:grpSp>
      <p:grpSp>
        <p:nvGrpSpPr>
          <p:cNvPr name="Group 58" id="58"/>
          <p:cNvGrpSpPr/>
          <p:nvPr/>
        </p:nvGrpSpPr>
        <p:grpSpPr>
          <a:xfrm rot="0">
            <a:off x="937412" y="6146162"/>
            <a:ext cx="7772400" cy="620163"/>
            <a:chOff x="0" y="0"/>
            <a:chExt cx="10363200" cy="826884"/>
          </a:xfrm>
        </p:grpSpPr>
        <p:sp>
          <p:nvSpPr>
            <p:cNvPr name="Freeform 59" id="59"/>
            <p:cNvSpPr/>
            <p:nvPr/>
          </p:nvSpPr>
          <p:spPr>
            <a:xfrm flipH="false" flipV="false" rot="0">
              <a:off x="0" y="0"/>
              <a:ext cx="10363200" cy="826884"/>
            </a:xfrm>
            <a:custGeom>
              <a:avLst/>
              <a:gdLst/>
              <a:ahLst/>
              <a:cxnLst/>
              <a:rect r="r" b="b" t="t" l="l"/>
              <a:pathLst>
                <a:path h="826884" w="10363200">
                  <a:moveTo>
                    <a:pt x="0" y="0"/>
                  </a:moveTo>
                  <a:lnTo>
                    <a:pt x="10363200" y="0"/>
                  </a:lnTo>
                  <a:lnTo>
                    <a:pt x="10363200" y="826884"/>
                  </a:lnTo>
                  <a:lnTo>
                    <a:pt x="0" y="826884"/>
                  </a:lnTo>
                  <a:close/>
                </a:path>
              </a:pathLst>
            </a:custGeom>
            <a:blipFill>
              <a:blip r:embed="rId3">
                <a:alphaModFix amt="0"/>
              </a:blip>
              <a:stretch>
                <a:fillRect l="0" t="-195545" r="0" b="-192859"/>
              </a:stretch>
            </a:blipFill>
          </p:spPr>
        </p:sp>
        <p:sp>
          <p:nvSpPr>
            <p:cNvPr name="TextBox 60" id="60"/>
            <p:cNvSpPr txBox="true"/>
            <p:nvPr/>
          </p:nvSpPr>
          <p:spPr>
            <a:xfrm>
              <a:off x="0" y="-57150"/>
              <a:ext cx="10363200" cy="884034"/>
            </a:xfrm>
            <a:prstGeom prst="rect">
              <a:avLst/>
            </a:prstGeom>
          </p:spPr>
          <p:txBody>
            <a:bodyPr anchor="ctr" rtlCol="false" tIns="0" lIns="0" bIns="0" rIns="0"/>
            <a:lstStyle/>
            <a:p>
              <a:pPr algn="l">
                <a:lnSpc>
                  <a:spcPts val="2879"/>
                </a:lnSpc>
              </a:pPr>
              <a:r>
                <a:rPr lang="en-US" sz="2399">
                  <a:solidFill>
                    <a:srgbClr val="1E3A1E"/>
                  </a:solidFill>
                  <a:latin typeface="Calibri (MS)"/>
                  <a:ea typeface="Calibri (MS)"/>
                  <a:cs typeface="Calibri (MS)"/>
                  <a:sym typeface="Calibri (MS)"/>
                </a:rPr>
                <a:t>📅  Collecte : Fin des années 1980 (données cliniques réelles)</a:t>
              </a:r>
            </a:p>
          </p:txBody>
        </p:sp>
      </p:grpSp>
      <p:grpSp>
        <p:nvGrpSpPr>
          <p:cNvPr name="Group 61" id="61"/>
          <p:cNvGrpSpPr/>
          <p:nvPr/>
        </p:nvGrpSpPr>
        <p:grpSpPr>
          <a:xfrm rot="0">
            <a:off x="9220200" y="5528210"/>
            <a:ext cx="8773589" cy="3971213"/>
            <a:chOff x="0" y="0"/>
            <a:chExt cx="10326659" cy="4674184"/>
          </a:xfrm>
        </p:grpSpPr>
        <p:sp>
          <p:nvSpPr>
            <p:cNvPr name="Freeform 62" id="62"/>
            <p:cNvSpPr/>
            <p:nvPr/>
          </p:nvSpPr>
          <p:spPr>
            <a:xfrm flipH="false" flipV="false" rot="0">
              <a:off x="7908" y="6026"/>
              <a:ext cx="10310926" cy="4662196"/>
            </a:xfrm>
            <a:custGeom>
              <a:avLst/>
              <a:gdLst/>
              <a:ahLst/>
              <a:cxnLst/>
              <a:rect r="r" b="b" t="t" l="l"/>
              <a:pathLst>
                <a:path h="4662196" w="10310926">
                  <a:moveTo>
                    <a:pt x="0" y="0"/>
                  </a:moveTo>
                  <a:lnTo>
                    <a:pt x="10310926" y="0"/>
                  </a:lnTo>
                  <a:lnTo>
                    <a:pt x="10310926" y="4662195"/>
                  </a:lnTo>
                  <a:lnTo>
                    <a:pt x="0" y="4662195"/>
                  </a:lnTo>
                  <a:close/>
                </a:path>
              </a:pathLst>
            </a:custGeom>
            <a:solidFill>
              <a:srgbClr val="FFFFFF"/>
            </a:solidFill>
          </p:spPr>
        </p:sp>
        <p:sp>
          <p:nvSpPr>
            <p:cNvPr name="Freeform 63" id="63"/>
            <p:cNvSpPr/>
            <p:nvPr/>
          </p:nvSpPr>
          <p:spPr>
            <a:xfrm flipH="false" flipV="false" rot="0">
              <a:off x="0" y="0"/>
              <a:ext cx="10326748" cy="4674273"/>
            </a:xfrm>
            <a:custGeom>
              <a:avLst/>
              <a:gdLst/>
              <a:ahLst/>
              <a:cxnLst/>
              <a:rect r="r" b="b" t="t" l="l"/>
              <a:pathLst>
                <a:path h="4674273" w="10326748">
                  <a:moveTo>
                    <a:pt x="7908" y="0"/>
                  </a:moveTo>
                  <a:lnTo>
                    <a:pt x="10318834" y="0"/>
                  </a:lnTo>
                  <a:cubicBezTo>
                    <a:pt x="10323200" y="0"/>
                    <a:pt x="10326748" y="2698"/>
                    <a:pt x="10326748" y="6026"/>
                  </a:cubicBezTo>
                  <a:lnTo>
                    <a:pt x="10326748" y="4668221"/>
                  </a:lnTo>
                  <a:cubicBezTo>
                    <a:pt x="10326748" y="4671549"/>
                    <a:pt x="10323200" y="4674273"/>
                    <a:pt x="10318834" y="4674273"/>
                  </a:cubicBezTo>
                  <a:lnTo>
                    <a:pt x="7908" y="4674273"/>
                  </a:lnTo>
                  <a:cubicBezTo>
                    <a:pt x="3541" y="4674273"/>
                    <a:pt x="0" y="4671549"/>
                    <a:pt x="0" y="4668221"/>
                  </a:cubicBezTo>
                  <a:lnTo>
                    <a:pt x="0" y="6026"/>
                  </a:lnTo>
                  <a:cubicBezTo>
                    <a:pt x="0" y="2698"/>
                    <a:pt x="3541" y="0"/>
                    <a:pt x="7908" y="0"/>
                  </a:cubicBezTo>
                  <a:moveTo>
                    <a:pt x="7908" y="11961"/>
                  </a:moveTo>
                  <a:lnTo>
                    <a:pt x="7908" y="6026"/>
                  </a:lnTo>
                  <a:lnTo>
                    <a:pt x="15816" y="6026"/>
                  </a:lnTo>
                  <a:lnTo>
                    <a:pt x="15816" y="4668221"/>
                  </a:lnTo>
                  <a:lnTo>
                    <a:pt x="7908" y="4668221"/>
                  </a:lnTo>
                  <a:lnTo>
                    <a:pt x="7908" y="4662196"/>
                  </a:lnTo>
                  <a:lnTo>
                    <a:pt x="10318834" y="4662196"/>
                  </a:lnTo>
                  <a:lnTo>
                    <a:pt x="10318834" y="4668221"/>
                  </a:lnTo>
                  <a:lnTo>
                    <a:pt x="10310926" y="4668221"/>
                  </a:lnTo>
                  <a:lnTo>
                    <a:pt x="10310926" y="6026"/>
                  </a:lnTo>
                  <a:lnTo>
                    <a:pt x="10318834" y="6026"/>
                  </a:lnTo>
                  <a:lnTo>
                    <a:pt x="10318834" y="12051"/>
                  </a:lnTo>
                  <a:lnTo>
                    <a:pt x="7908" y="12051"/>
                  </a:lnTo>
                  <a:close/>
                </a:path>
              </a:pathLst>
            </a:custGeom>
            <a:solidFill>
              <a:srgbClr val="E0E0E0"/>
            </a:solidFill>
          </p:spPr>
        </p:sp>
      </p:grpSp>
      <p:grpSp>
        <p:nvGrpSpPr>
          <p:cNvPr name="Group 64" id="64"/>
          <p:cNvGrpSpPr/>
          <p:nvPr/>
        </p:nvGrpSpPr>
        <p:grpSpPr>
          <a:xfrm rot="0">
            <a:off x="9220200" y="5528210"/>
            <a:ext cx="136119" cy="3971213"/>
            <a:chOff x="0" y="0"/>
            <a:chExt cx="167446" cy="4885180"/>
          </a:xfrm>
        </p:grpSpPr>
        <p:sp>
          <p:nvSpPr>
            <p:cNvPr name="Freeform 65" id="65"/>
            <p:cNvSpPr/>
            <p:nvPr/>
          </p:nvSpPr>
          <p:spPr>
            <a:xfrm flipH="false" flipV="false" rot="0">
              <a:off x="15698" y="12469"/>
              <a:ext cx="135968" cy="4860176"/>
            </a:xfrm>
            <a:custGeom>
              <a:avLst/>
              <a:gdLst/>
              <a:ahLst/>
              <a:cxnLst/>
              <a:rect r="r" b="b" t="t" l="l"/>
              <a:pathLst>
                <a:path h="4860176" w="135968">
                  <a:moveTo>
                    <a:pt x="0" y="0"/>
                  </a:moveTo>
                  <a:lnTo>
                    <a:pt x="135968" y="0"/>
                  </a:lnTo>
                  <a:lnTo>
                    <a:pt x="135968" y="4860176"/>
                  </a:lnTo>
                  <a:lnTo>
                    <a:pt x="0" y="4860176"/>
                  </a:lnTo>
                  <a:close/>
                </a:path>
              </a:pathLst>
            </a:custGeom>
            <a:solidFill>
              <a:srgbClr val="F4A261"/>
            </a:solidFill>
          </p:spPr>
        </p:sp>
        <p:sp>
          <p:nvSpPr>
            <p:cNvPr name="Freeform 66" id="66"/>
            <p:cNvSpPr/>
            <p:nvPr/>
          </p:nvSpPr>
          <p:spPr>
            <a:xfrm flipH="false" flipV="false" rot="0">
              <a:off x="0" y="0"/>
              <a:ext cx="167364" cy="4885114"/>
            </a:xfrm>
            <a:custGeom>
              <a:avLst/>
              <a:gdLst/>
              <a:ahLst/>
              <a:cxnLst/>
              <a:rect r="r" b="b" t="t" l="l"/>
              <a:pathLst>
                <a:path h="4885114" w="167364">
                  <a:moveTo>
                    <a:pt x="15698" y="0"/>
                  </a:moveTo>
                  <a:lnTo>
                    <a:pt x="151666" y="0"/>
                  </a:lnTo>
                  <a:cubicBezTo>
                    <a:pt x="160400" y="0"/>
                    <a:pt x="167364" y="5625"/>
                    <a:pt x="167364" y="12469"/>
                  </a:cubicBezTo>
                  <a:lnTo>
                    <a:pt x="167364" y="4872645"/>
                  </a:lnTo>
                  <a:cubicBezTo>
                    <a:pt x="167364" y="4879583"/>
                    <a:pt x="160282" y="4885114"/>
                    <a:pt x="151666" y="4885114"/>
                  </a:cubicBezTo>
                  <a:lnTo>
                    <a:pt x="15698" y="4885114"/>
                  </a:lnTo>
                  <a:cubicBezTo>
                    <a:pt x="6964" y="4885114"/>
                    <a:pt x="0" y="4879489"/>
                    <a:pt x="0" y="4872645"/>
                  </a:cubicBezTo>
                  <a:lnTo>
                    <a:pt x="0" y="12469"/>
                  </a:lnTo>
                  <a:cubicBezTo>
                    <a:pt x="0" y="5625"/>
                    <a:pt x="7082" y="0"/>
                    <a:pt x="15698" y="0"/>
                  </a:cubicBezTo>
                  <a:moveTo>
                    <a:pt x="15698" y="25032"/>
                  </a:moveTo>
                  <a:lnTo>
                    <a:pt x="15698" y="12469"/>
                  </a:lnTo>
                  <a:lnTo>
                    <a:pt x="31513" y="12469"/>
                  </a:lnTo>
                  <a:lnTo>
                    <a:pt x="31513" y="4872645"/>
                  </a:lnTo>
                  <a:lnTo>
                    <a:pt x="15698" y="4872645"/>
                  </a:lnTo>
                  <a:lnTo>
                    <a:pt x="15698" y="4860176"/>
                  </a:lnTo>
                  <a:lnTo>
                    <a:pt x="151666" y="4860176"/>
                  </a:lnTo>
                  <a:lnTo>
                    <a:pt x="151666" y="4872645"/>
                  </a:lnTo>
                  <a:lnTo>
                    <a:pt x="135968" y="4872645"/>
                  </a:lnTo>
                  <a:lnTo>
                    <a:pt x="135968" y="12469"/>
                  </a:lnTo>
                  <a:lnTo>
                    <a:pt x="151666" y="12469"/>
                  </a:lnTo>
                  <a:lnTo>
                    <a:pt x="151666" y="25032"/>
                  </a:lnTo>
                  <a:lnTo>
                    <a:pt x="15698" y="25032"/>
                  </a:lnTo>
                  <a:close/>
                </a:path>
              </a:pathLst>
            </a:custGeom>
            <a:solidFill>
              <a:srgbClr val="F4A261"/>
            </a:solidFill>
          </p:spPr>
        </p:sp>
      </p:grpSp>
      <p:grpSp>
        <p:nvGrpSpPr>
          <p:cNvPr name="Group 67" id="67"/>
          <p:cNvGrpSpPr/>
          <p:nvPr/>
        </p:nvGrpSpPr>
        <p:grpSpPr>
          <a:xfrm rot="0">
            <a:off x="9451234" y="5737569"/>
            <a:ext cx="731623" cy="915045"/>
            <a:chOff x="0" y="0"/>
            <a:chExt cx="861132" cy="1077023"/>
          </a:xfrm>
        </p:grpSpPr>
        <p:sp>
          <p:nvSpPr>
            <p:cNvPr name="Freeform 68" id="68" descr="preencoded.png"/>
            <p:cNvSpPr/>
            <p:nvPr/>
          </p:nvSpPr>
          <p:spPr>
            <a:xfrm flipH="false" flipV="false" rot="0">
              <a:off x="0" y="0"/>
              <a:ext cx="861132" cy="1077023"/>
            </a:xfrm>
            <a:custGeom>
              <a:avLst/>
              <a:gdLst/>
              <a:ahLst/>
              <a:cxnLst/>
              <a:rect r="r" b="b" t="t" l="l"/>
              <a:pathLst>
                <a:path h="1077023" w="861132">
                  <a:moveTo>
                    <a:pt x="0" y="0"/>
                  </a:moveTo>
                  <a:lnTo>
                    <a:pt x="861132" y="0"/>
                  </a:lnTo>
                  <a:lnTo>
                    <a:pt x="861132" y="1077023"/>
                  </a:lnTo>
                  <a:lnTo>
                    <a:pt x="0" y="1077023"/>
                  </a:lnTo>
                  <a:lnTo>
                    <a:pt x="0" y="0"/>
                  </a:lnTo>
                  <a:close/>
                </a:path>
              </a:pathLst>
            </a:custGeom>
            <a:blipFill>
              <a:blip r:embed="rId5"/>
              <a:stretch>
                <a:fillRect l="-12535" t="0" r="-12535" b="0"/>
              </a:stretch>
            </a:blipFill>
          </p:spPr>
        </p:sp>
      </p:grpSp>
      <p:grpSp>
        <p:nvGrpSpPr>
          <p:cNvPr name="Group 69" id="69"/>
          <p:cNvGrpSpPr/>
          <p:nvPr/>
        </p:nvGrpSpPr>
        <p:grpSpPr>
          <a:xfrm rot="0">
            <a:off x="10317629" y="5737569"/>
            <a:ext cx="7412495" cy="915045"/>
            <a:chOff x="0" y="0"/>
            <a:chExt cx="8724630" cy="1077023"/>
          </a:xfrm>
        </p:grpSpPr>
        <p:sp>
          <p:nvSpPr>
            <p:cNvPr name="Freeform 70" id="70"/>
            <p:cNvSpPr/>
            <p:nvPr/>
          </p:nvSpPr>
          <p:spPr>
            <a:xfrm flipH="false" flipV="false" rot="0">
              <a:off x="0" y="0"/>
              <a:ext cx="8724629" cy="1077023"/>
            </a:xfrm>
            <a:custGeom>
              <a:avLst/>
              <a:gdLst/>
              <a:ahLst/>
              <a:cxnLst/>
              <a:rect r="r" b="b" t="t" l="l"/>
              <a:pathLst>
                <a:path h="1077023" w="8724629">
                  <a:moveTo>
                    <a:pt x="0" y="0"/>
                  </a:moveTo>
                  <a:lnTo>
                    <a:pt x="8724629" y="0"/>
                  </a:lnTo>
                  <a:lnTo>
                    <a:pt x="8724629" y="1077023"/>
                  </a:lnTo>
                  <a:lnTo>
                    <a:pt x="0" y="1077023"/>
                  </a:lnTo>
                  <a:close/>
                </a:path>
              </a:pathLst>
            </a:custGeom>
            <a:blipFill>
              <a:blip r:embed="rId3">
                <a:alphaModFix amt="0"/>
              </a:blip>
              <a:stretch>
                <a:fillRect l="0" t="-126824" r="-7601" b="-112857"/>
              </a:stretch>
            </a:blipFill>
          </p:spPr>
        </p:sp>
        <p:sp>
          <p:nvSpPr>
            <p:cNvPr name="TextBox 71" id="71"/>
            <p:cNvSpPr txBox="true"/>
            <p:nvPr/>
          </p:nvSpPr>
          <p:spPr>
            <a:xfrm>
              <a:off x="0" y="-57150"/>
              <a:ext cx="8724630" cy="1134173"/>
            </a:xfrm>
            <a:prstGeom prst="rect">
              <a:avLst/>
            </a:prstGeom>
          </p:spPr>
          <p:txBody>
            <a:bodyPr anchor="ctr" rtlCol="false" tIns="0" lIns="0" bIns="0" rIns="0"/>
            <a:lstStyle/>
            <a:p>
              <a:pPr algn="l">
                <a:lnSpc>
                  <a:spcPts val="3479"/>
                </a:lnSpc>
              </a:pPr>
              <a:r>
                <a:rPr lang="en-US" sz="2899" b="true">
                  <a:solidFill>
                    <a:srgbClr val="F4A261"/>
                  </a:solidFill>
                  <a:latin typeface="Calibri (MS) Bold"/>
                  <a:ea typeface="Calibri (MS) Bold"/>
                  <a:cs typeface="Calibri (MS) Bold"/>
                  <a:sym typeface="Calibri (MS) Bold"/>
                </a:rPr>
                <a:t>S</a:t>
              </a:r>
              <a:r>
                <a:rPr lang="en-US" sz="2899" b="true">
                  <a:solidFill>
                    <a:srgbClr val="F4A261"/>
                  </a:solidFill>
                  <a:latin typeface="Calibri (MS) Bold"/>
                  <a:ea typeface="Calibri (MS) Bold"/>
                  <a:cs typeface="Calibri (MS) Bold"/>
                  <a:sym typeface="Calibri (MS) Bold"/>
                </a:rPr>
                <a:t>tructure du fichier</a:t>
              </a:r>
            </a:p>
          </p:txBody>
        </p:sp>
      </p:grpSp>
      <p:grpSp>
        <p:nvGrpSpPr>
          <p:cNvPr name="Group 72" id="72"/>
          <p:cNvGrpSpPr/>
          <p:nvPr/>
        </p:nvGrpSpPr>
        <p:grpSpPr>
          <a:xfrm rot="0">
            <a:off x="9447223" y="6864318"/>
            <a:ext cx="8190647" cy="684277"/>
            <a:chOff x="0" y="0"/>
            <a:chExt cx="9640527" cy="805405"/>
          </a:xfrm>
        </p:grpSpPr>
        <p:sp>
          <p:nvSpPr>
            <p:cNvPr name="Freeform 73" id="73"/>
            <p:cNvSpPr/>
            <p:nvPr/>
          </p:nvSpPr>
          <p:spPr>
            <a:xfrm flipH="false" flipV="false" rot="0">
              <a:off x="4721" y="5905"/>
              <a:ext cx="9631085" cy="793596"/>
            </a:xfrm>
            <a:custGeom>
              <a:avLst/>
              <a:gdLst/>
              <a:ahLst/>
              <a:cxnLst/>
              <a:rect r="r" b="b" t="t" l="l"/>
              <a:pathLst>
                <a:path h="793596" w="9631085">
                  <a:moveTo>
                    <a:pt x="0" y="0"/>
                  </a:moveTo>
                  <a:lnTo>
                    <a:pt x="9631085" y="0"/>
                  </a:lnTo>
                  <a:lnTo>
                    <a:pt x="9631085" y="793595"/>
                  </a:lnTo>
                  <a:lnTo>
                    <a:pt x="0" y="793595"/>
                  </a:lnTo>
                  <a:close/>
                </a:path>
              </a:pathLst>
            </a:custGeom>
            <a:solidFill>
              <a:srgbClr val="FFF8F0"/>
            </a:solidFill>
          </p:spPr>
        </p:sp>
        <p:sp>
          <p:nvSpPr>
            <p:cNvPr name="Freeform 74" id="74"/>
            <p:cNvSpPr/>
            <p:nvPr/>
          </p:nvSpPr>
          <p:spPr>
            <a:xfrm flipH="false" flipV="false" rot="0">
              <a:off x="0" y="0"/>
              <a:ext cx="9640527" cy="805405"/>
            </a:xfrm>
            <a:custGeom>
              <a:avLst/>
              <a:gdLst/>
              <a:ahLst/>
              <a:cxnLst/>
              <a:rect r="r" b="b" t="t" l="l"/>
              <a:pathLst>
                <a:path h="805405" w="9640527">
                  <a:moveTo>
                    <a:pt x="4721" y="0"/>
                  </a:moveTo>
                  <a:lnTo>
                    <a:pt x="9635806" y="0"/>
                  </a:lnTo>
                  <a:cubicBezTo>
                    <a:pt x="9638402" y="0"/>
                    <a:pt x="9640527" y="2657"/>
                    <a:pt x="9640527" y="5905"/>
                  </a:cubicBezTo>
                  <a:lnTo>
                    <a:pt x="9640527" y="799500"/>
                  </a:lnTo>
                  <a:cubicBezTo>
                    <a:pt x="9640527" y="802748"/>
                    <a:pt x="9638402" y="805405"/>
                    <a:pt x="9635806" y="805405"/>
                  </a:cubicBezTo>
                  <a:lnTo>
                    <a:pt x="4721" y="805405"/>
                  </a:lnTo>
                  <a:cubicBezTo>
                    <a:pt x="2125" y="805405"/>
                    <a:pt x="0" y="802748"/>
                    <a:pt x="0" y="799500"/>
                  </a:cubicBezTo>
                  <a:lnTo>
                    <a:pt x="0" y="5905"/>
                  </a:lnTo>
                  <a:cubicBezTo>
                    <a:pt x="0" y="2657"/>
                    <a:pt x="2125" y="0"/>
                    <a:pt x="4721" y="0"/>
                  </a:cubicBezTo>
                  <a:moveTo>
                    <a:pt x="4721" y="11809"/>
                  </a:moveTo>
                  <a:lnTo>
                    <a:pt x="4721" y="5905"/>
                  </a:lnTo>
                  <a:lnTo>
                    <a:pt x="9442" y="5905"/>
                  </a:lnTo>
                  <a:lnTo>
                    <a:pt x="9442" y="799500"/>
                  </a:lnTo>
                  <a:lnTo>
                    <a:pt x="4721" y="799500"/>
                  </a:lnTo>
                  <a:lnTo>
                    <a:pt x="4721" y="793596"/>
                  </a:lnTo>
                  <a:lnTo>
                    <a:pt x="9635806" y="793596"/>
                  </a:lnTo>
                  <a:lnTo>
                    <a:pt x="9635806" y="799500"/>
                  </a:lnTo>
                  <a:lnTo>
                    <a:pt x="9631085" y="799500"/>
                  </a:lnTo>
                  <a:lnTo>
                    <a:pt x="9631085" y="5905"/>
                  </a:lnTo>
                  <a:lnTo>
                    <a:pt x="9635806" y="5905"/>
                  </a:lnTo>
                  <a:lnTo>
                    <a:pt x="9635806" y="11809"/>
                  </a:lnTo>
                  <a:lnTo>
                    <a:pt x="4721" y="11809"/>
                  </a:lnTo>
                  <a:close/>
                </a:path>
              </a:pathLst>
            </a:custGeom>
            <a:solidFill>
              <a:srgbClr val="EEEEEE"/>
            </a:solidFill>
          </p:spPr>
        </p:sp>
      </p:grpSp>
      <p:grpSp>
        <p:nvGrpSpPr>
          <p:cNvPr name="Group 75" id="75"/>
          <p:cNvGrpSpPr/>
          <p:nvPr/>
        </p:nvGrpSpPr>
        <p:grpSpPr>
          <a:xfrm rot="0">
            <a:off x="9547500" y="6869334"/>
            <a:ext cx="3850647" cy="674243"/>
            <a:chOff x="0" y="0"/>
            <a:chExt cx="4532275" cy="793596"/>
          </a:xfrm>
        </p:grpSpPr>
        <p:sp>
          <p:nvSpPr>
            <p:cNvPr name="Freeform 76" id="76"/>
            <p:cNvSpPr/>
            <p:nvPr/>
          </p:nvSpPr>
          <p:spPr>
            <a:xfrm flipH="false" flipV="false" rot="0">
              <a:off x="0" y="0"/>
              <a:ext cx="4532275" cy="793596"/>
            </a:xfrm>
            <a:custGeom>
              <a:avLst/>
              <a:gdLst/>
              <a:ahLst/>
              <a:cxnLst/>
              <a:rect r="r" b="b" t="t" l="l"/>
              <a:pathLst>
                <a:path h="793596" w="4532275">
                  <a:moveTo>
                    <a:pt x="0" y="0"/>
                  </a:moveTo>
                  <a:lnTo>
                    <a:pt x="4532275" y="0"/>
                  </a:lnTo>
                  <a:lnTo>
                    <a:pt x="4532275" y="793596"/>
                  </a:lnTo>
                  <a:lnTo>
                    <a:pt x="0" y="793596"/>
                  </a:lnTo>
                  <a:close/>
                </a:path>
              </a:pathLst>
            </a:custGeom>
            <a:blipFill>
              <a:blip r:embed="rId3">
                <a:alphaModFix amt="0"/>
              </a:blip>
              <a:stretch>
                <a:fillRect l="0" t="-76722" r="-7601" b="-62755"/>
              </a:stretch>
            </a:blipFill>
          </p:spPr>
        </p:sp>
        <p:sp>
          <p:nvSpPr>
            <p:cNvPr name="TextBox 77" id="77"/>
            <p:cNvSpPr txBox="true"/>
            <p:nvPr/>
          </p:nvSpPr>
          <p:spPr>
            <a:xfrm>
              <a:off x="0" y="-57150"/>
              <a:ext cx="4532275" cy="850746"/>
            </a:xfrm>
            <a:prstGeom prst="rect">
              <a:avLst/>
            </a:prstGeom>
          </p:spPr>
          <p:txBody>
            <a:bodyPr anchor="ctr" rtlCol="false" tIns="0" lIns="0" bIns="0" rIns="0"/>
            <a:lstStyle/>
            <a:p>
              <a:pPr algn="l">
                <a:lnSpc>
                  <a:spcPts val="2879"/>
                </a:lnSpc>
              </a:pPr>
              <a:r>
                <a:rPr lang="en-US" sz="2399" b="true">
                  <a:solidFill>
                    <a:srgbClr val="1E3A1E"/>
                  </a:solidFill>
                  <a:latin typeface="Calibri (MS) Bold"/>
                  <a:ea typeface="Calibri (MS) Bold"/>
                  <a:cs typeface="Calibri (MS) Bold"/>
                  <a:sym typeface="Calibri (MS) Bold"/>
                </a:rPr>
                <a:t>Nb observations</a:t>
              </a:r>
            </a:p>
          </p:txBody>
        </p:sp>
      </p:grpSp>
      <p:grpSp>
        <p:nvGrpSpPr>
          <p:cNvPr name="Group 78" id="78"/>
          <p:cNvGrpSpPr/>
          <p:nvPr/>
        </p:nvGrpSpPr>
        <p:grpSpPr>
          <a:xfrm rot="0">
            <a:off x="13494413" y="6869334"/>
            <a:ext cx="4043179" cy="674243"/>
            <a:chOff x="0" y="0"/>
            <a:chExt cx="4758889" cy="793596"/>
          </a:xfrm>
        </p:grpSpPr>
        <p:sp>
          <p:nvSpPr>
            <p:cNvPr name="Freeform 79" id="79"/>
            <p:cNvSpPr/>
            <p:nvPr/>
          </p:nvSpPr>
          <p:spPr>
            <a:xfrm flipH="false" flipV="false" rot="0">
              <a:off x="0" y="0"/>
              <a:ext cx="4758889" cy="793596"/>
            </a:xfrm>
            <a:custGeom>
              <a:avLst/>
              <a:gdLst/>
              <a:ahLst/>
              <a:cxnLst/>
              <a:rect r="r" b="b" t="t" l="l"/>
              <a:pathLst>
                <a:path h="793596" w="4758889">
                  <a:moveTo>
                    <a:pt x="0" y="0"/>
                  </a:moveTo>
                  <a:lnTo>
                    <a:pt x="4758889" y="0"/>
                  </a:lnTo>
                  <a:lnTo>
                    <a:pt x="4758889" y="793596"/>
                  </a:lnTo>
                  <a:lnTo>
                    <a:pt x="0" y="793596"/>
                  </a:lnTo>
                  <a:close/>
                </a:path>
              </a:pathLst>
            </a:custGeom>
            <a:blipFill>
              <a:blip r:embed="rId3">
                <a:alphaModFix amt="0"/>
              </a:blip>
              <a:stretch>
                <a:fillRect l="0" t="-82709" r="-7601" b="-68742"/>
              </a:stretch>
            </a:blipFill>
          </p:spPr>
        </p:sp>
        <p:sp>
          <p:nvSpPr>
            <p:cNvPr name="TextBox 80" id="80"/>
            <p:cNvSpPr txBox="true"/>
            <p:nvPr/>
          </p:nvSpPr>
          <p:spPr>
            <a:xfrm>
              <a:off x="0" y="-57150"/>
              <a:ext cx="4758889" cy="850746"/>
            </a:xfrm>
            <a:prstGeom prst="rect">
              <a:avLst/>
            </a:prstGeom>
          </p:spPr>
          <p:txBody>
            <a:bodyPr anchor="ctr" rtlCol="false" tIns="0" lIns="0" bIns="0" rIns="0"/>
            <a:lstStyle/>
            <a:p>
              <a:pPr algn="l">
                <a:lnSpc>
                  <a:spcPts val="2879"/>
                </a:lnSpc>
              </a:pPr>
              <a:r>
                <a:rPr lang="en-US" sz="2399">
                  <a:solidFill>
                    <a:srgbClr val="2D6A2D"/>
                  </a:solidFill>
                  <a:latin typeface="Calibri (MS)"/>
                  <a:ea typeface="Calibri (MS)"/>
                  <a:cs typeface="Calibri (MS)"/>
                  <a:sym typeface="Calibri (MS)"/>
                </a:rPr>
                <a:t>768 lignes</a:t>
              </a:r>
            </a:p>
          </p:txBody>
        </p:sp>
      </p:grpSp>
      <p:grpSp>
        <p:nvGrpSpPr>
          <p:cNvPr name="Group 81" id="81"/>
          <p:cNvGrpSpPr/>
          <p:nvPr/>
        </p:nvGrpSpPr>
        <p:grpSpPr>
          <a:xfrm rot="0">
            <a:off x="9447223" y="7634882"/>
            <a:ext cx="8190647" cy="684277"/>
            <a:chOff x="0" y="0"/>
            <a:chExt cx="9640527" cy="805405"/>
          </a:xfrm>
        </p:grpSpPr>
        <p:sp>
          <p:nvSpPr>
            <p:cNvPr name="Freeform 82" id="82"/>
            <p:cNvSpPr/>
            <p:nvPr/>
          </p:nvSpPr>
          <p:spPr>
            <a:xfrm flipH="false" flipV="false" rot="0">
              <a:off x="4721" y="5905"/>
              <a:ext cx="9631085" cy="793596"/>
            </a:xfrm>
            <a:custGeom>
              <a:avLst/>
              <a:gdLst/>
              <a:ahLst/>
              <a:cxnLst/>
              <a:rect r="r" b="b" t="t" l="l"/>
              <a:pathLst>
                <a:path h="793596" w="9631085">
                  <a:moveTo>
                    <a:pt x="0" y="0"/>
                  </a:moveTo>
                  <a:lnTo>
                    <a:pt x="9631085" y="0"/>
                  </a:lnTo>
                  <a:lnTo>
                    <a:pt x="9631085" y="793595"/>
                  </a:lnTo>
                  <a:lnTo>
                    <a:pt x="0" y="793595"/>
                  </a:lnTo>
                  <a:close/>
                </a:path>
              </a:pathLst>
            </a:custGeom>
            <a:solidFill>
              <a:srgbClr val="FFFFFF"/>
            </a:solidFill>
          </p:spPr>
        </p:sp>
        <p:sp>
          <p:nvSpPr>
            <p:cNvPr name="Freeform 83" id="83"/>
            <p:cNvSpPr/>
            <p:nvPr/>
          </p:nvSpPr>
          <p:spPr>
            <a:xfrm flipH="false" flipV="false" rot="0">
              <a:off x="0" y="0"/>
              <a:ext cx="9640527" cy="805405"/>
            </a:xfrm>
            <a:custGeom>
              <a:avLst/>
              <a:gdLst/>
              <a:ahLst/>
              <a:cxnLst/>
              <a:rect r="r" b="b" t="t" l="l"/>
              <a:pathLst>
                <a:path h="805405" w="9640527">
                  <a:moveTo>
                    <a:pt x="4721" y="0"/>
                  </a:moveTo>
                  <a:lnTo>
                    <a:pt x="9635806" y="0"/>
                  </a:lnTo>
                  <a:cubicBezTo>
                    <a:pt x="9638402" y="0"/>
                    <a:pt x="9640527" y="2657"/>
                    <a:pt x="9640527" y="5905"/>
                  </a:cubicBezTo>
                  <a:lnTo>
                    <a:pt x="9640527" y="799500"/>
                  </a:lnTo>
                  <a:cubicBezTo>
                    <a:pt x="9640527" y="802748"/>
                    <a:pt x="9638402" y="805405"/>
                    <a:pt x="9635806" y="805405"/>
                  </a:cubicBezTo>
                  <a:lnTo>
                    <a:pt x="4721" y="805405"/>
                  </a:lnTo>
                  <a:cubicBezTo>
                    <a:pt x="2125" y="805405"/>
                    <a:pt x="0" y="802748"/>
                    <a:pt x="0" y="799500"/>
                  </a:cubicBezTo>
                  <a:lnTo>
                    <a:pt x="0" y="5905"/>
                  </a:lnTo>
                  <a:cubicBezTo>
                    <a:pt x="0" y="2657"/>
                    <a:pt x="2125" y="0"/>
                    <a:pt x="4721" y="0"/>
                  </a:cubicBezTo>
                  <a:moveTo>
                    <a:pt x="4721" y="11809"/>
                  </a:moveTo>
                  <a:lnTo>
                    <a:pt x="4721" y="5905"/>
                  </a:lnTo>
                  <a:lnTo>
                    <a:pt x="9442" y="5905"/>
                  </a:lnTo>
                  <a:lnTo>
                    <a:pt x="9442" y="799500"/>
                  </a:lnTo>
                  <a:lnTo>
                    <a:pt x="4721" y="799500"/>
                  </a:lnTo>
                  <a:lnTo>
                    <a:pt x="4721" y="793596"/>
                  </a:lnTo>
                  <a:lnTo>
                    <a:pt x="9635806" y="793596"/>
                  </a:lnTo>
                  <a:lnTo>
                    <a:pt x="9635806" y="799500"/>
                  </a:lnTo>
                  <a:lnTo>
                    <a:pt x="9631085" y="799500"/>
                  </a:lnTo>
                  <a:lnTo>
                    <a:pt x="9631085" y="5905"/>
                  </a:lnTo>
                  <a:lnTo>
                    <a:pt x="9635806" y="5905"/>
                  </a:lnTo>
                  <a:lnTo>
                    <a:pt x="9635806" y="11809"/>
                  </a:lnTo>
                  <a:lnTo>
                    <a:pt x="4721" y="11809"/>
                  </a:lnTo>
                  <a:close/>
                </a:path>
              </a:pathLst>
            </a:custGeom>
            <a:solidFill>
              <a:srgbClr val="EEEEEE"/>
            </a:solidFill>
          </p:spPr>
        </p:sp>
      </p:grpSp>
      <p:grpSp>
        <p:nvGrpSpPr>
          <p:cNvPr name="Group 84" id="84"/>
          <p:cNvGrpSpPr/>
          <p:nvPr/>
        </p:nvGrpSpPr>
        <p:grpSpPr>
          <a:xfrm rot="0">
            <a:off x="9547500" y="7639898"/>
            <a:ext cx="3850647" cy="674243"/>
            <a:chOff x="0" y="0"/>
            <a:chExt cx="4532275" cy="793596"/>
          </a:xfrm>
        </p:grpSpPr>
        <p:sp>
          <p:nvSpPr>
            <p:cNvPr name="Freeform 85" id="85"/>
            <p:cNvSpPr/>
            <p:nvPr/>
          </p:nvSpPr>
          <p:spPr>
            <a:xfrm flipH="false" flipV="false" rot="0">
              <a:off x="0" y="0"/>
              <a:ext cx="4532275" cy="793596"/>
            </a:xfrm>
            <a:custGeom>
              <a:avLst/>
              <a:gdLst/>
              <a:ahLst/>
              <a:cxnLst/>
              <a:rect r="r" b="b" t="t" l="l"/>
              <a:pathLst>
                <a:path h="793596" w="4532275">
                  <a:moveTo>
                    <a:pt x="0" y="0"/>
                  </a:moveTo>
                  <a:lnTo>
                    <a:pt x="4532275" y="0"/>
                  </a:lnTo>
                  <a:lnTo>
                    <a:pt x="4532275" y="793596"/>
                  </a:lnTo>
                  <a:lnTo>
                    <a:pt x="0" y="793596"/>
                  </a:lnTo>
                  <a:close/>
                </a:path>
              </a:pathLst>
            </a:custGeom>
            <a:blipFill>
              <a:blip r:embed="rId3">
                <a:alphaModFix amt="0"/>
              </a:blip>
              <a:stretch>
                <a:fillRect l="0" t="-76722" r="-7601" b="-62755"/>
              </a:stretch>
            </a:blipFill>
          </p:spPr>
        </p:sp>
        <p:sp>
          <p:nvSpPr>
            <p:cNvPr name="TextBox 86" id="86"/>
            <p:cNvSpPr txBox="true"/>
            <p:nvPr/>
          </p:nvSpPr>
          <p:spPr>
            <a:xfrm>
              <a:off x="0" y="-57150"/>
              <a:ext cx="4532275" cy="850746"/>
            </a:xfrm>
            <a:prstGeom prst="rect">
              <a:avLst/>
            </a:prstGeom>
          </p:spPr>
          <p:txBody>
            <a:bodyPr anchor="ctr" rtlCol="false" tIns="0" lIns="0" bIns="0" rIns="0"/>
            <a:lstStyle/>
            <a:p>
              <a:pPr algn="l">
                <a:lnSpc>
                  <a:spcPts val="2879"/>
                </a:lnSpc>
              </a:pPr>
              <a:r>
                <a:rPr lang="en-US" sz="2399" b="true">
                  <a:solidFill>
                    <a:srgbClr val="1E3A1E"/>
                  </a:solidFill>
                  <a:latin typeface="Calibri (MS) Bold"/>
                  <a:ea typeface="Calibri (MS) Bold"/>
                  <a:cs typeface="Calibri (MS) Bold"/>
                  <a:sym typeface="Calibri (MS) Bold"/>
                </a:rPr>
                <a:t>Nombre de variables</a:t>
              </a:r>
            </a:p>
          </p:txBody>
        </p:sp>
      </p:grpSp>
      <p:grpSp>
        <p:nvGrpSpPr>
          <p:cNvPr name="Group 87" id="87"/>
          <p:cNvGrpSpPr/>
          <p:nvPr/>
        </p:nvGrpSpPr>
        <p:grpSpPr>
          <a:xfrm rot="0">
            <a:off x="13494413" y="7328888"/>
            <a:ext cx="4043179" cy="1341489"/>
            <a:chOff x="0" y="0"/>
            <a:chExt cx="4758889" cy="1578955"/>
          </a:xfrm>
        </p:grpSpPr>
        <p:sp>
          <p:nvSpPr>
            <p:cNvPr name="Freeform 88" id="88"/>
            <p:cNvSpPr/>
            <p:nvPr/>
          </p:nvSpPr>
          <p:spPr>
            <a:xfrm flipH="false" flipV="false" rot="0">
              <a:off x="0" y="0"/>
              <a:ext cx="4758889" cy="1578955"/>
            </a:xfrm>
            <a:custGeom>
              <a:avLst/>
              <a:gdLst/>
              <a:ahLst/>
              <a:cxnLst/>
              <a:rect r="r" b="b" t="t" l="l"/>
              <a:pathLst>
                <a:path h="1578955" w="4758889">
                  <a:moveTo>
                    <a:pt x="0" y="0"/>
                  </a:moveTo>
                  <a:lnTo>
                    <a:pt x="4758889" y="0"/>
                  </a:lnTo>
                  <a:lnTo>
                    <a:pt x="4758889" y="1578955"/>
                  </a:lnTo>
                  <a:lnTo>
                    <a:pt x="0" y="1578955"/>
                  </a:lnTo>
                  <a:close/>
                </a:path>
              </a:pathLst>
            </a:custGeom>
            <a:blipFill>
              <a:blip r:embed="rId3">
                <a:alphaModFix amt="0"/>
              </a:blip>
              <a:stretch>
                <a:fillRect l="0" t="-41570" r="-7601" b="15188"/>
              </a:stretch>
            </a:blipFill>
          </p:spPr>
        </p:sp>
        <p:sp>
          <p:nvSpPr>
            <p:cNvPr name="TextBox 89" id="89"/>
            <p:cNvSpPr txBox="true"/>
            <p:nvPr/>
          </p:nvSpPr>
          <p:spPr>
            <a:xfrm>
              <a:off x="0" y="-47625"/>
              <a:ext cx="4758889" cy="1626580"/>
            </a:xfrm>
            <a:prstGeom prst="rect">
              <a:avLst/>
            </a:prstGeom>
          </p:spPr>
          <p:txBody>
            <a:bodyPr anchor="ctr" rtlCol="false" tIns="0" lIns="0" bIns="0" rIns="0"/>
            <a:lstStyle/>
            <a:p>
              <a:pPr algn="l">
                <a:lnSpc>
                  <a:spcPts val="2759"/>
                </a:lnSpc>
              </a:pPr>
              <a:r>
                <a:rPr lang="en-US" sz="2299">
                  <a:solidFill>
                    <a:srgbClr val="2D6A2D"/>
                  </a:solidFill>
                  <a:latin typeface="Calibri (MS)"/>
                  <a:ea typeface="Calibri (MS)"/>
                  <a:cs typeface="Calibri (MS)"/>
                  <a:sym typeface="Calibri (MS)"/>
                </a:rPr>
                <a:t>8 variables descriptives </a:t>
              </a:r>
            </a:p>
            <a:p>
              <a:pPr algn="l">
                <a:lnSpc>
                  <a:spcPts val="2759"/>
                </a:lnSpc>
              </a:pPr>
              <a:r>
                <a:rPr lang="en-US" sz="2299">
                  <a:solidFill>
                    <a:srgbClr val="2D6A2D"/>
                  </a:solidFill>
                  <a:latin typeface="Calibri (MS)"/>
                  <a:ea typeface="Calibri (MS)"/>
                  <a:cs typeface="Calibri (MS)"/>
                  <a:sym typeface="Calibri (MS)"/>
                </a:rPr>
                <a:t>1 variable cible binaire (Outcome)</a:t>
              </a:r>
            </a:p>
          </p:txBody>
        </p:sp>
      </p:grpSp>
      <p:grpSp>
        <p:nvGrpSpPr>
          <p:cNvPr name="Group 90" id="90"/>
          <p:cNvGrpSpPr/>
          <p:nvPr/>
        </p:nvGrpSpPr>
        <p:grpSpPr>
          <a:xfrm rot="0">
            <a:off x="9447223" y="8405446"/>
            <a:ext cx="8190647" cy="684277"/>
            <a:chOff x="0" y="0"/>
            <a:chExt cx="9640527" cy="805405"/>
          </a:xfrm>
        </p:grpSpPr>
        <p:sp>
          <p:nvSpPr>
            <p:cNvPr name="Freeform 91" id="91"/>
            <p:cNvSpPr/>
            <p:nvPr/>
          </p:nvSpPr>
          <p:spPr>
            <a:xfrm flipH="false" flipV="false" rot="0">
              <a:off x="4721" y="5905"/>
              <a:ext cx="9631085" cy="793596"/>
            </a:xfrm>
            <a:custGeom>
              <a:avLst/>
              <a:gdLst/>
              <a:ahLst/>
              <a:cxnLst/>
              <a:rect r="r" b="b" t="t" l="l"/>
              <a:pathLst>
                <a:path h="793596" w="9631085">
                  <a:moveTo>
                    <a:pt x="0" y="0"/>
                  </a:moveTo>
                  <a:lnTo>
                    <a:pt x="9631085" y="0"/>
                  </a:lnTo>
                  <a:lnTo>
                    <a:pt x="9631085" y="793595"/>
                  </a:lnTo>
                  <a:lnTo>
                    <a:pt x="0" y="793595"/>
                  </a:lnTo>
                  <a:close/>
                </a:path>
              </a:pathLst>
            </a:custGeom>
            <a:solidFill>
              <a:srgbClr val="FFF8F0"/>
            </a:solidFill>
          </p:spPr>
        </p:sp>
        <p:sp>
          <p:nvSpPr>
            <p:cNvPr name="Freeform 92" id="92"/>
            <p:cNvSpPr/>
            <p:nvPr/>
          </p:nvSpPr>
          <p:spPr>
            <a:xfrm flipH="false" flipV="false" rot="0">
              <a:off x="0" y="0"/>
              <a:ext cx="9640527" cy="805405"/>
            </a:xfrm>
            <a:custGeom>
              <a:avLst/>
              <a:gdLst/>
              <a:ahLst/>
              <a:cxnLst/>
              <a:rect r="r" b="b" t="t" l="l"/>
              <a:pathLst>
                <a:path h="805405" w="9640527">
                  <a:moveTo>
                    <a:pt x="4721" y="0"/>
                  </a:moveTo>
                  <a:lnTo>
                    <a:pt x="9635806" y="0"/>
                  </a:lnTo>
                  <a:cubicBezTo>
                    <a:pt x="9638402" y="0"/>
                    <a:pt x="9640527" y="2657"/>
                    <a:pt x="9640527" y="5905"/>
                  </a:cubicBezTo>
                  <a:lnTo>
                    <a:pt x="9640527" y="799500"/>
                  </a:lnTo>
                  <a:cubicBezTo>
                    <a:pt x="9640527" y="802748"/>
                    <a:pt x="9638402" y="805405"/>
                    <a:pt x="9635806" y="805405"/>
                  </a:cubicBezTo>
                  <a:lnTo>
                    <a:pt x="4721" y="805405"/>
                  </a:lnTo>
                  <a:cubicBezTo>
                    <a:pt x="2125" y="805405"/>
                    <a:pt x="0" y="802748"/>
                    <a:pt x="0" y="799500"/>
                  </a:cubicBezTo>
                  <a:lnTo>
                    <a:pt x="0" y="5905"/>
                  </a:lnTo>
                  <a:cubicBezTo>
                    <a:pt x="0" y="2657"/>
                    <a:pt x="2125" y="0"/>
                    <a:pt x="4721" y="0"/>
                  </a:cubicBezTo>
                  <a:moveTo>
                    <a:pt x="4721" y="11809"/>
                  </a:moveTo>
                  <a:lnTo>
                    <a:pt x="4721" y="5905"/>
                  </a:lnTo>
                  <a:lnTo>
                    <a:pt x="9442" y="5905"/>
                  </a:lnTo>
                  <a:lnTo>
                    <a:pt x="9442" y="799500"/>
                  </a:lnTo>
                  <a:lnTo>
                    <a:pt x="4721" y="799500"/>
                  </a:lnTo>
                  <a:lnTo>
                    <a:pt x="4721" y="793596"/>
                  </a:lnTo>
                  <a:lnTo>
                    <a:pt x="9635806" y="793596"/>
                  </a:lnTo>
                  <a:lnTo>
                    <a:pt x="9635806" y="799500"/>
                  </a:lnTo>
                  <a:lnTo>
                    <a:pt x="9631085" y="799500"/>
                  </a:lnTo>
                  <a:lnTo>
                    <a:pt x="9631085" y="5905"/>
                  </a:lnTo>
                  <a:lnTo>
                    <a:pt x="9635806" y="5905"/>
                  </a:lnTo>
                  <a:lnTo>
                    <a:pt x="9635806" y="11809"/>
                  </a:lnTo>
                  <a:lnTo>
                    <a:pt x="4721" y="11809"/>
                  </a:lnTo>
                  <a:close/>
                </a:path>
              </a:pathLst>
            </a:custGeom>
            <a:solidFill>
              <a:srgbClr val="EEEEEE"/>
            </a:solidFill>
          </p:spPr>
        </p:sp>
      </p:grpSp>
      <p:grpSp>
        <p:nvGrpSpPr>
          <p:cNvPr name="Group 93" id="93"/>
          <p:cNvGrpSpPr/>
          <p:nvPr/>
        </p:nvGrpSpPr>
        <p:grpSpPr>
          <a:xfrm rot="0">
            <a:off x="9547500" y="8410462"/>
            <a:ext cx="3850647" cy="674243"/>
            <a:chOff x="0" y="0"/>
            <a:chExt cx="4532275" cy="793596"/>
          </a:xfrm>
        </p:grpSpPr>
        <p:sp>
          <p:nvSpPr>
            <p:cNvPr name="Freeform 94" id="94"/>
            <p:cNvSpPr/>
            <p:nvPr/>
          </p:nvSpPr>
          <p:spPr>
            <a:xfrm flipH="false" flipV="false" rot="0">
              <a:off x="0" y="0"/>
              <a:ext cx="4532275" cy="793596"/>
            </a:xfrm>
            <a:custGeom>
              <a:avLst/>
              <a:gdLst/>
              <a:ahLst/>
              <a:cxnLst/>
              <a:rect r="r" b="b" t="t" l="l"/>
              <a:pathLst>
                <a:path h="793596" w="4532275">
                  <a:moveTo>
                    <a:pt x="0" y="0"/>
                  </a:moveTo>
                  <a:lnTo>
                    <a:pt x="4532275" y="0"/>
                  </a:lnTo>
                  <a:lnTo>
                    <a:pt x="4532275" y="793596"/>
                  </a:lnTo>
                  <a:lnTo>
                    <a:pt x="0" y="793596"/>
                  </a:lnTo>
                  <a:close/>
                </a:path>
              </a:pathLst>
            </a:custGeom>
            <a:blipFill>
              <a:blip r:embed="rId3">
                <a:alphaModFix amt="0"/>
              </a:blip>
              <a:stretch>
                <a:fillRect l="0" t="-76722" r="-7601" b="-62755"/>
              </a:stretch>
            </a:blipFill>
          </p:spPr>
        </p:sp>
        <p:sp>
          <p:nvSpPr>
            <p:cNvPr name="TextBox 95" id="95"/>
            <p:cNvSpPr txBox="true"/>
            <p:nvPr/>
          </p:nvSpPr>
          <p:spPr>
            <a:xfrm>
              <a:off x="0" y="-57150"/>
              <a:ext cx="4532275" cy="850746"/>
            </a:xfrm>
            <a:prstGeom prst="rect">
              <a:avLst/>
            </a:prstGeom>
          </p:spPr>
          <p:txBody>
            <a:bodyPr anchor="ctr" rtlCol="false" tIns="0" lIns="0" bIns="0" rIns="0"/>
            <a:lstStyle/>
            <a:p>
              <a:pPr algn="l">
                <a:lnSpc>
                  <a:spcPts val="2879"/>
                </a:lnSpc>
              </a:pPr>
              <a:r>
                <a:rPr lang="en-US" sz="2399" b="true">
                  <a:solidFill>
                    <a:srgbClr val="1E3A1E"/>
                  </a:solidFill>
                  <a:latin typeface="Calibri (MS) Bold"/>
                  <a:ea typeface="Calibri (MS) Bold"/>
                  <a:cs typeface="Calibri (MS) Bold"/>
                  <a:sym typeface="Calibri (MS) Bold"/>
                </a:rPr>
                <a:t>Variable cible</a:t>
              </a:r>
            </a:p>
          </p:txBody>
        </p:sp>
      </p:grpSp>
      <p:grpSp>
        <p:nvGrpSpPr>
          <p:cNvPr name="Group 96" id="96"/>
          <p:cNvGrpSpPr/>
          <p:nvPr/>
        </p:nvGrpSpPr>
        <p:grpSpPr>
          <a:xfrm rot="0">
            <a:off x="13494413" y="8150238"/>
            <a:ext cx="4043179" cy="1697484"/>
            <a:chOff x="0" y="0"/>
            <a:chExt cx="4758889" cy="1997967"/>
          </a:xfrm>
        </p:grpSpPr>
        <p:sp>
          <p:nvSpPr>
            <p:cNvPr name="Freeform 97" id="97"/>
            <p:cNvSpPr/>
            <p:nvPr/>
          </p:nvSpPr>
          <p:spPr>
            <a:xfrm flipH="false" flipV="false" rot="0">
              <a:off x="0" y="0"/>
              <a:ext cx="4758889" cy="1997967"/>
            </a:xfrm>
            <a:custGeom>
              <a:avLst/>
              <a:gdLst/>
              <a:ahLst/>
              <a:cxnLst/>
              <a:rect r="r" b="b" t="t" l="l"/>
              <a:pathLst>
                <a:path h="1997967" w="4758889">
                  <a:moveTo>
                    <a:pt x="0" y="0"/>
                  </a:moveTo>
                  <a:lnTo>
                    <a:pt x="4758889" y="0"/>
                  </a:lnTo>
                  <a:lnTo>
                    <a:pt x="4758889" y="1997967"/>
                  </a:lnTo>
                  <a:lnTo>
                    <a:pt x="0" y="1997967"/>
                  </a:lnTo>
                  <a:close/>
                </a:path>
              </a:pathLst>
            </a:custGeom>
            <a:blipFill>
              <a:blip r:embed="rId3">
                <a:alphaModFix amt="0"/>
              </a:blip>
              <a:stretch>
                <a:fillRect l="0" t="-32852" r="-7601" b="32975"/>
              </a:stretch>
            </a:blipFill>
          </p:spPr>
        </p:sp>
        <p:sp>
          <p:nvSpPr>
            <p:cNvPr name="TextBox 98" id="98"/>
            <p:cNvSpPr txBox="true"/>
            <p:nvPr/>
          </p:nvSpPr>
          <p:spPr>
            <a:xfrm>
              <a:off x="0" y="-47625"/>
              <a:ext cx="4758889" cy="2045592"/>
            </a:xfrm>
            <a:prstGeom prst="rect">
              <a:avLst/>
            </a:prstGeom>
          </p:spPr>
          <p:txBody>
            <a:bodyPr anchor="ctr" rtlCol="false" tIns="0" lIns="0" bIns="0" rIns="0"/>
            <a:lstStyle/>
            <a:p>
              <a:pPr algn="l">
                <a:lnSpc>
                  <a:spcPts val="2759"/>
                </a:lnSpc>
              </a:pPr>
              <a:r>
                <a:rPr lang="en-US" sz="2299">
                  <a:solidFill>
                    <a:srgbClr val="2D6A2D"/>
                  </a:solidFill>
                  <a:latin typeface="Calibri (MS)"/>
                  <a:ea typeface="Calibri (MS)"/>
                  <a:cs typeface="Calibri (MS)"/>
                  <a:sym typeface="Calibri (MS)"/>
                </a:rPr>
                <a:t>Outcome = 0 : non diabétique.</a:t>
              </a:r>
            </a:p>
            <a:p>
              <a:pPr algn="l">
                <a:lnSpc>
                  <a:spcPts val="2759"/>
                </a:lnSpc>
              </a:pPr>
              <a:r>
                <a:rPr lang="en-US" sz="2299">
                  <a:solidFill>
                    <a:srgbClr val="2D6A2D"/>
                  </a:solidFill>
                  <a:latin typeface="Calibri (MS)"/>
                  <a:ea typeface="Calibri (MS)"/>
                  <a:cs typeface="Calibri (MS)"/>
                  <a:sym typeface="Calibri (MS)"/>
                </a:rPr>
                <a:t>Outcome = 1 : diabétique </a:t>
              </a:r>
            </a:p>
            <a:p>
              <a:pPr algn="l">
                <a:lnSpc>
                  <a:spcPts val="2759"/>
                </a:lnSpc>
              </a:pPr>
            </a:p>
          </p:txBody>
        </p:sp>
      </p:grpSp>
      <p:sp>
        <p:nvSpPr>
          <p:cNvPr name="TextBox 99" id="99"/>
          <p:cNvSpPr txBox="true"/>
          <p:nvPr/>
        </p:nvSpPr>
        <p:spPr>
          <a:xfrm rot="0">
            <a:off x="17798937"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p>
          </p:txBody>
        </p:sp>
      </p:grpSp>
      <p:grpSp>
        <p:nvGrpSpPr>
          <p:cNvPr name="Group 8" id="8"/>
          <p:cNvGrpSpPr/>
          <p:nvPr/>
        </p:nvGrpSpPr>
        <p:grpSpPr>
          <a:xfrm rot="0">
            <a:off x="307343" y="2901040"/>
            <a:ext cx="17651759" cy="5601666"/>
            <a:chOff x="0" y="0"/>
            <a:chExt cx="17307870" cy="5492535"/>
          </a:xfrm>
        </p:grpSpPr>
        <p:sp>
          <p:nvSpPr>
            <p:cNvPr name="Freeform 9" id="9"/>
            <p:cNvSpPr/>
            <p:nvPr/>
          </p:nvSpPr>
          <p:spPr>
            <a:xfrm flipH="false" flipV="false" rot="0">
              <a:off x="12736" y="49807"/>
              <a:ext cx="17282331" cy="5392659"/>
            </a:xfrm>
            <a:custGeom>
              <a:avLst/>
              <a:gdLst/>
              <a:ahLst/>
              <a:cxnLst/>
              <a:rect r="r" b="b" t="t" l="l"/>
              <a:pathLst>
                <a:path h="5392659" w="17282331">
                  <a:moveTo>
                    <a:pt x="0" y="0"/>
                  </a:moveTo>
                  <a:lnTo>
                    <a:pt x="17282331" y="0"/>
                  </a:lnTo>
                  <a:lnTo>
                    <a:pt x="17282331" y="5392659"/>
                  </a:lnTo>
                  <a:lnTo>
                    <a:pt x="0" y="5392659"/>
                  </a:lnTo>
                  <a:close/>
                </a:path>
              </a:pathLst>
            </a:custGeom>
            <a:blipFill>
              <a:blip r:embed="rId4"/>
              <a:stretch>
                <a:fillRect l="-1467" t="-475" r="-2173" b="0"/>
              </a:stretch>
            </a:blipFill>
          </p:spPr>
        </p:sp>
        <p:sp>
          <p:nvSpPr>
            <p:cNvPr name="Freeform 10" id="10"/>
            <p:cNvSpPr/>
            <p:nvPr/>
          </p:nvSpPr>
          <p:spPr>
            <a:xfrm flipH="false" flipV="false" rot="0">
              <a:off x="0" y="0"/>
              <a:ext cx="17307804" cy="5492273"/>
            </a:xfrm>
            <a:custGeom>
              <a:avLst/>
              <a:gdLst/>
              <a:ahLst/>
              <a:cxnLst/>
              <a:rect r="r" b="b" t="t" l="l"/>
              <a:pathLst>
                <a:path h="5492273" w="17307804">
                  <a:moveTo>
                    <a:pt x="12736" y="0"/>
                  </a:moveTo>
                  <a:lnTo>
                    <a:pt x="17295067" y="0"/>
                  </a:lnTo>
                  <a:cubicBezTo>
                    <a:pt x="17302153" y="0"/>
                    <a:pt x="17307804" y="22469"/>
                    <a:pt x="17307804" y="49807"/>
                  </a:cubicBezTo>
                  <a:lnTo>
                    <a:pt x="17307804" y="5442466"/>
                  </a:lnTo>
                  <a:cubicBezTo>
                    <a:pt x="17307804" y="5470178"/>
                    <a:pt x="17302059" y="5492273"/>
                    <a:pt x="17295067" y="5492273"/>
                  </a:cubicBezTo>
                  <a:lnTo>
                    <a:pt x="12736" y="5492273"/>
                  </a:lnTo>
                  <a:cubicBezTo>
                    <a:pt x="5650" y="5492273"/>
                    <a:pt x="0" y="5469803"/>
                    <a:pt x="0" y="5442466"/>
                  </a:cubicBezTo>
                  <a:lnTo>
                    <a:pt x="0" y="49807"/>
                  </a:lnTo>
                  <a:cubicBezTo>
                    <a:pt x="0" y="22469"/>
                    <a:pt x="5745" y="0"/>
                    <a:pt x="12736" y="0"/>
                  </a:cubicBezTo>
                  <a:moveTo>
                    <a:pt x="12736" y="99989"/>
                  </a:moveTo>
                  <a:lnTo>
                    <a:pt x="12736" y="49807"/>
                  </a:lnTo>
                  <a:lnTo>
                    <a:pt x="25567" y="49807"/>
                  </a:lnTo>
                  <a:lnTo>
                    <a:pt x="25567" y="5442466"/>
                  </a:lnTo>
                  <a:lnTo>
                    <a:pt x="12736" y="5442466"/>
                  </a:lnTo>
                  <a:lnTo>
                    <a:pt x="12736" y="5392658"/>
                  </a:lnTo>
                  <a:lnTo>
                    <a:pt x="17295067" y="5392658"/>
                  </a:lnTo>
                  <a:lnTo>
                    <a:pt x="17295067" y="5442466"/>
                  </a:lnTo>
                  <a:lnTo>
                    <a:pt x="17282331" y="5442466"/>
                  </a:lnTo>
                  <a:lnTo>
                    <a:pt x="17282331" y="49807"/>
                  </a:lnTo>
                  <a:lnTo>
                    <a:pt x="17295067" y="49807"/>
                  </a:lnTo>
                  <a:lnTo>
                    <a:pt x="17295067" y="99989"/>
                  </a:lnTo>
                  <a:lnTo>
                    <a:pt x="12736" y="99989"/>
                  </a:lnTo>
                  <a:close/>
                </a:path>
              </a:pathLst>
            </a:custGeom>
            <a:solidFill>
              <a:srgbClr val="5B9E3D"/>
            </a:solidFill>
          </p:spPr>
        </p:sp>
      </p:grpSp>
      <p:sp>
        <p:nvSpPr>
          <p:cNvPr name="TextBox 11" id="11"/>
          <p:cNvSpPr txBox="true"/>
          <p:nvPr/>
        </p:nvSpPr>
        <p:spPr>
          <a:xfrm rot="0">
            <a:off x="307343" y="409101"/>
            <a:ext cx="4751904" cy="895350"/>
          </a:xfrm>
          <a:prstGeom prst="rect">
            <a:avLst/>
          </a:prstGeom>
        </p:spPr>
        <p:txBody>
          <a:bodyPr anchor="t" rtlCol="false" tIns="0" lIns="0" bIns="0" rIns="0">
            <a:spAutoFit/>
          </a:bodyPr>
          <a:lstStyle/>
          <a:p>
            <a:pPr algn="l">
              <a:lnSpc>
                <a:spcPts val="6280"/>
              </a:lnSpc>
              <a:spcBef>
                <a:spcPct val="0"/>
              </a:spcBef>
            </a:pPr>
            <a:r>
              <a:rPr lang="en-US" sz="5233">
                <a:solidFill>
                  <a:srgbClr val="FFFFFF"/>
                </a:solidFill>
                <a:latin typeface="Calibri (MS)"/>
                <a:ea typeface="Calibri (MS)"/>
                <a:cs typeface="Calibri (MS)"/>
                <a:sym typeface="Calibri (MS)"/>
              </a:rPr>
              <a:t>Extrait du dataset</a:t>
            </a:r>
          </a:p>
        </p:txBody>
      </p:sp>
      <p:sp>
        <p:nvSpPr>
          <p:cNvPr name="TextBox 12" id="12"/>
          <p:cNvSpPr txBox="true"/>
          <p:nvPr/>
        </p:nvSpPr>
        <p:spPr>
          <a:xfrm rot="0">
            <a:off x="17798937"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12697" y="4193543"/>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3A7BD5"/>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3A7BD5"/>
            </a:solidFill>
          </p:spPr>
        </p:sp>
      </p:grpSp>
      <p:grpSp>
        <p:nvGrpSpPr>
          <p:cNvPr name="Group 5" id="5"/>
          <p:cNvGrpSpPr/>
          <p:nvPr/>
        </p:nvGrpSpPr>
        <p:grpSpPr>
          <a:xfrm rot="0">
            <a:off x="810263" y="130433"/>
            <a:ext cx="3291840" cy="3217664"/>
            <a:chOff x="0" y="0"/>
            <a:chExt cx="4389120" cy="4290219"/>
          </a:xfrm>
        </p:grpSpPr>
        <p:sp>
          <p:nvSpPr>
            <p:cNvPr name="Freeform 6" id="6"/>
            <p:cNvSpPr/>
            <p:nvPr/>
          </p:nvSpPr>
          <p:spPr>
            <a:xfrm flipH="false" flipV="false" rot="0">
              <a:off x="0" y="0"/>
              <a:ext cx="4389120" cy="4290219"/>
            </a:xfrm>
            <a:custGeom>
              <a:avLst/>
              <a:gdLst/>
              <a:ahLst/>
              <a:cxnLst/>
              <a:rect r="r" b="b" t="t" l="l"/>
              <a:pathLst>
                <a:path h="4290219" w="4389120">
                  <a:moveTo>
                    <a:pt x="0" y="0"/>
                  </a:moveTo>
                  <a:lnTo>
                    <a:pt x="4389120" y="0"/>
                  </a:lnTo>
                  <a:lnTo>
                    <a:pt x="4389120" y="4290219"/>
                  </a:lnTo>
                  <a:lnTo>
                    <a:pt x="0" y="4290219"/>
                  </a:lnTo>
                  <a:close/>
                </a:path>
              </a:pathLst>
            </a:custGeom>
            <a:blipFill>
              <a:blip r:embed="rId3">
                <a:alphaModFix amt="0"/>
              </a:blip>
              <a:stretch>
                <a:fillRect l="-52202" t="0" r="-18869" b="31796"/>
              </a:stretch>
            </a:blipFill>
          </p:spPr>
        </p:sp>
        <p:sp>
          <p:nvSpPr>
            <p:cNvPr name="TextBox 7" id="7"/>
            <p:cNvSpPr txBox="true"/>
            <p:nvPr/>
          </p:nvSpPr>
          <p:spPr>
            <a:xfrm>
              <a:off x="0" y="-333375"/>
              <a:ext cx="4389120" cy="4623594"/>
            </a:xfrm>
            <a:prstGeom prst="rect">
              <a:avLst/>
            </a:prstGeom>
          </p:spPr>
          <p:txBody>
            <a:bodyPr anchor="ctr" rtlCol="false" tIns="0" lIns="0" bIns="0" rIns="0"/>
            <a:lstStyle/>
            <a:p>
              <a:pPr algn="l">
                <a:lnSpc>
                  <a:spcPts val="19200"/>
                </a:lnSpc>
              </a:pPr>
              <a:r>
                <a:rPr lang="en-US" sz="16000" b="true">
                  <a:solidFill>
                    <a:srgbClr val="3A7BD5"/>
                  </a:solidFill>
                  <a:latin typeface="Calibri (MS) Bold"/>
                  <a:ea typeface="Calibri (MS) Bold"/>
                  <a:cs typeface="Calibri (MS) Bold"/>
                  <a:sym typeface="Calibri (MS) Bold"/>
                </a:rPr>
                <a:t>A3</a:t>
              </a:r>
            </a:p>
          </p:txBody>
        </p:sp>
      </p:grpSp>
      <p:grpSp>
        <p:nvGrpSpPr>
          <p:cNvPr name="Group 8" id="8"/>
          <p:cNvGrpSpPr/>
          <p:nvPr/>
        </p:nvGrpSpPr>
        <p:grpSpPr>
          <a:xfrm rot="0">
            <a:off x="3719185" y="916305"/>
            <a:ext cx="13716000" cy="1645920"/>
            <a:chOff x="0" y="0"/>
            <a:chExt cx="18288000" cy="2194560"/>
          </a:xfrm>
        </p:grpSpPr>
        <p:sp>
          <p:nvSpPr>
            <p:cNvPr name="Freeform 9" id="9"/>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blipFill>
              <a:blip r:embed="rId3">
                <a:alphaModFix amt="0"/>
              </a:blip>
              <a:stretch>
                <a:fillRect l="0" t="-112375" r="0" b="-112375"/>
              </a:stretch>
            </a:blipFill>
          </p:spPr>
        </p:sp>
        <p:sp>
          <p:nvSpPr>
            <p:cNvPr name="TextBox 10" id="10"/>
            <p:cNvSpPr txBox="true"/>
            <p:nvPr/>
          </p:nvSpPr>
          <p:spPr>
            <a:xfrm>
              <a:off x="0" y="-171450"/>
              <a:ext cx="18288000" cy="2366010"/>
            </a:xfrm>
            <a:prstGeom prst="rect">
              <a:avLst/>
            </a:prstGeom>
          </p:spPr>
          <p:txBody>
            <a:bodyPr anchor="ctr" rtlCol="false" tIns="0" lIns="0" bIns="0" rIns="0"/>
            <a:lstStyle/>
            <a:p>
              <a:pPr algn="l">
                <a:lnSpc>
                  <a:spcPts val="10560"/>
                </a:lnSpc>
              </a:pPr>
              <a:r>
                <a:rPr lang="en-US" sz="8800" b="true">
                  <a:solidFill>
                    <a:srgbClr val="FFFFFF"/>
                  </a:solidFill>
                  <a:latin typeface="Calibri (MS) Bold"/>
                  <a:ea typeface="Calibri (MS) Bold"/>
                  <a:cs typeface="Calibri (MS) Bold"/>
                  <a:sym typeface="Calibri (MS) Bold"/>
                </a:rPr>
                <a:t>Évaluation</a:t>
              </a:r>
            </a:p>
          </p:txBody>
        </p:sp>
      </p:grpSp>
      <p:grpSp>
        <p:nvGrpSpPr>
          <p:cNvPr name="Group 11" id="11"/>
          <p:cNvGrpSpPr/>
          <p:nvPr/>
        </p:nvGrpSpPr>
        <p:grpSpPr>
          <a:xfrm rot="0">
            <a:off x="3291840" y="2743200"/>
            <a:ext cx="13716000" cy="914400"/>
            <a:chOff x="0" y="0"/>
            <a:chExt cx="18288000" cy="1219200"/>
          </a:xfrm>
        </p:grpSpPr>
        <p:sp>
          <p:nvSpPr>
            <p:cNvPr name="Freeform 12" id="12"/>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3" id="13"/>
            <p:cNvSpPr txBox="true"/>
            <p:nvPr/>
          </p:nvSpPr>
          <p:spPr>
            <a:xfrm>
              <a:off x="0" y="-66675"/>
              <a:ext cx="18288000" cy="1285875"/>
            </a:xfrm>
            <a:prstGeom prst="rect">
              <a:avLst/>
            </a:prstGeom>
          </p:spPr>
          <p:txBody>
            <a:bodyPr anchor="ctr" rtlCol="false" tIns="0" lIns="0" bIns="0" rIns="0"/>
            <a:lstStyle/>
            <a:p>
              <a:pPr algn="l">
                <a:lnSpc>
                  <a:spcPts val="4320"/>
                </a:lnSpc>
              </a:pPr>
              <a:r>
                <a:rPr lang="en-US" sz="3600" i="true">
                  <a:solidFill>
                    <a:srgbClr val="97BC62"/>
                  </a:solidFill>
                  <a:latin typeface="Calibri (MS) Italics"/>
                  <a:ea typeface="Calibri (MS) Italics"/>
                  <a:cs typeface="Calibri (MS) Italics"/>
                  <a:sym typeface="Calibri (MS) Italics"/>
                </a:rPr>
                <a:t>Erreur OOB  ·  Feature Importances  ·  Résultats réels Pima Diabetes</a:t>
              </a:r>
            </a:p>
          </p:txBody>
        </p:sp>
      </p:grpSp>
      <p:grpSp>
        <p:nvGrpSpPr>
          <p:cNvPr name="Group 14" id="14"/>
          <p:cNvGrpSpPr/>
          <p:nvPr/>
        </p:nvGrpSpPr>
        <p:grpSpPr>
          <a:xfrm rot="0">
            <a:off x="1816103" y="4509649"/>
            <a:ext cx="4780283" cy="5043811"/>
            <a:chOff x="0" y="0"/>
            <a:chExt cx="6373711" cy="6725081"/>
          </a:xfrm>
        </p:grpSpPr>
        <p:sp>
          <p:nvSpPr>
            <p:cNvPr name="Freeform 15" id="15"/>
            <p:cNvSpPr/>
            <p:nvPr/>
          </p:nvSpPr>
          <p:spPr>
            <a:xfrm flipH="false" flipV="false" rot="0">
              <a:off x="16891" y="22038"/>
              <a:ext cx="6339840" cy="6680890"/>
            </a:xfrm>
            <a:custGeom>
              <a:avLst/>
              <a:gdLst/>
              <a:ahLst/>
              <a:cxnLst/>
              <a:rect r="r" b="b" t="t" l="l"/>
              <a:pathLst>
                <a:path h="6680890" w="6339840">
                  <a:moveTo>
                    <a:pt x="0" y="0"/>
                  </a:moveTo>
                  <a:lnTo>
                    <a:pt x="6339840" y="0"/>
                  </a:lnTo>
                  <a:lnTo>
                    <a:pt x="6339840" y="6680889"/>
                  </a:lnTo>
                  <a:lnTo>
                    <a:pt x="0" y="6680889"/>
                  </a:lnTo>
                  <a:close/>
                </a:path>
              </a:pathLst>
            </a:custGeom>
            <a:solidFill>
              <a:srgbClr val="1E3A1E"/>
            </a:solidFill>
          </p:spPr>
        </p:sp>
        <p:sp>
          <p:nvSpPr>
            <p:cNvPr name="Freeform 16" id="16"/>
            <p:cNvSpPr/>
            <p:nvPr/>
          </p:nvSpPr>
          <p:spPr>
            <a:xfrm flipH="false" flipV="false" rot="0">
              <a:off x="0" y="0"/>
              <a:ext cx="6373622" cy="6724965"/>
            </a:xfrm>
            <a:custGeom>
              <a:avLst/>
              <a:gdLst/>
              <a:ahLst/>
              <a:cxnLst/>
              <a:rect r="r" b="b" t="t" l="l"/>
              <a:pathLst>
                <a:path h="6724965" w="6373622">
                  <a:moveTo>
                    <a:pt x="16891" y="0"/>
                  </a:moveTo>
                  <a:lnTo>
                    <a:pt x="6356731" y="0"/>
                  </a:lnTo>
                  <a:cubicBezTo>
                    <a:pt x="6366129" y="0"/>
                    <a:pt x="6373622" y="9942"/>
                    <a:pt x="6373622" y="22038"/>
                  </a:cubicBezTo>
                  <a:lnTo>
                    <a:pt x="6373622" y="6702927"/>
                  </a:lnTo>
                  <a:cubicBezTo>
                    <a:pt x="6373622" y="6715189"/>
                    <a:pt x="6366002" y="6724965"/>
                    <a:pt x="6356731" y="6724965"/>
                  </a:cubicBezTo>
                  <a:lnTo>
                    <a:pt x="16891" y="6724965"/>
                  </a:lnTo>
                  <a:cubicBezTo>
                    <a:pt x="7493" y="6724965"/>
                    <a:pt x="0" y="6715023"/>
                    <a:pt x="0" y="6702927"/>
                  </a:cubicBezTo>
                  <a:lnTo>
                    <a:pt x="0" y="22038"/>
                  </a:lnTo>
                  <a:cubicBezTo>
                    <a:pt x="0" y="9942"/>
                    <a:pt x="7620" y="0"/>
                    <a:pt x="16891" y="0"/>
                  </a:cubicBezTo>
                  <a:moveTo>
                    <a:pt x="16891" y="44241"/>
                  </a:moveTo>
                  <a:lnTo>
                    <a:pt x="16891" y="22038"/>
                  </a:lnTo>
                  <a:lnTo>
                    <a:pt x="33909" y="22038"/>
                  </a:lnTo>
                  <a:lnTo>
                    <a:pt x="33909" y="6702927"/>
                  </a:lnTo>
                  <a:lnTo>
                    <a:pt x="16891" y="6702927"/>
                  </a:lnTo>
                  <a:lnTo>
                    <a:pt x="16891" y="6680890"/>
                  </a:lnTo>
                  <a:lnTo>
                    <a:pt x="6356731" y="6680890"/>
                  </a:lnTo>
                  <a:lnTo>
                    <a:pt x="6356731" y="6702927"/>
                  </a:lnTo>
                  <a:lnTo>
                    <a:pt x="6339840" y="6702927"/>
                  </a:lnTo>
                  <a:lnTo>
                    <a:pt x="6339840" y="22038"/>
                  </a:lnTo>
                  <a:lnTo>
                    <a:pt x="6356731" y="22038"/>
                  </a:lnTo>
                  <a:lnTo>
                    <a:pt x="6356731" y="44241"/>
                  </a:lnTo>
                  <a:lnTo>
                    <a:pt x="16891" y="44241"/>
                  </a:lnTo>
                  <a:close/>
                </a:path>
              </a:pathLst>
            </a:custGeom>
            <a:solidFill>
              <a:srgbClr val="3A7BD5"/>
            </a:solidFill>
          </p:spPr>
        </p:sp>
      </p:grpSp>
      <p:grpSp>
        <p:nvGrpSpPr>
          <p:cNvPr name="Group 17" id="17"/>
          <p:cNvGrpSpPr/>
          <p:nvPr/>
        </p:nvGrpSpPr>
        <p:grpSpPr>
          <a:xfrm rot="0">
            <a:off x="1816103" y="4669377"/>
            <a:ext cx="1280160" cy="1312318"/>
            <a:chOff x="0" y="0"/>
            <a:chExt cx="1706880" cy="1749757"/>
          </a:xfrm>
        </p:grpSpPr>
        <p:sp>
          <p:nvSpPr>
            <p:cNvPr name="Freeform 18" id="18"/>
            <p:cNvSpPr/>
            <p:nvPr/>
          </p:nvSpPr>
          <p:spPr>
            <a:xfrm flipH="false" flipV="false" rot="0">
              <a:off x="0" y="0"/>
              <a:ext cx="1706880" cy="1749757"/>
            </a:xfrm>
            <a:custGeom>
              <a:avLst/>
              <a:gdLst/>
              <a:ahLst/>
              <a:cxnLst/>
              <a:rect r="r" b="b" t="t" l="l"/>
              <a:pathLst>
                <a:path h="1749757" w="1706880">
                  <a:moveTo>
                    <a:pt x="0" y="0"/>
                  </a:moveTo>
                  <a:lnTo>
                    <a:pt x="1706880" y="0"/>
                  </a:lnTo>
                  <a:lnTo>
                    <a:pt x="1706880" y="1749757"/>
                  </a:lnTo>
                  <a:lnTo>
                    <a:pt x="0" y="1749757"/>
                  </a:lnTo>
                  <a:close/>
                </a:path>
              </a:pathLst>
            </a:custGeom>
            <a:blipFill>
              <a:blip r:embed="rId3">
                <a:alphaModFix amt="0"/>
              </a:blip>
              <a:stretch>
                <a:fillRect l="-50809" t="0" r="-50809" b="23353"/>
              </a:stretch>
            </a:blipFill>
          </p:spPr>
        </p:sp>
        <p:sp>
          <p:nvSpPr>
            <p:cNvPr name="TextBox 19" id="19"/>
            <p:cNvSpPr txBox="true"/>
            <p:nvPr/>
          </p:nvSpPr>
          <p:spPr>
            <a:xfrm>
              <a:off x="0" y="-76200"/>
              <a:ext cx="1706880" cy="1825957"/>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0" id="20"/>
          <p:cNvGrpSpPr/>
          <p:nvPr/>
        </p:nvGrpSpPr>
        <p:grpSpPr>
          <a:xfrm rot="0">
            <a:off x="2840821" y="4727536"/>
            <a:ext cx="3364403" cy="1073714"/>
            <a:chOff x="0" y="0"/>
            <a:chExt cx="4485870" cy="1431619"/>
          </a:xfrm>
        </p:grpSpPr>
        <p:sp>
          <p:nvSpPr>
            <p:cNvPr name="Freeform 21" id="21"/>
            <p:cNvSpPr/>
            <p:nvPr/>
          </p:nvSpPr>
          <p:spPr>
            <a:xfrm flipH="false" flipV="false" rot="0">
              <a:off x="0" y="0"/>
              <a:ext cx="4485870" cy="1431619"/>
            </a:xfrm>
            <a:custGeom>
              <a:avLst/>
              <a:gdLst/>
              <a:ahLst/>
              <a:cxnLst/>
              <a:rect r="r" b="b" t="t" l="l"/>
              <a:pathLst>
                <a:path h="1431619" w="4485870">
                  <a:moveTo>
                    <a:pt x="0" y="0"/>
                  </a:moveTo>
                  <a:lnTo>
                    <a:pt x="4485870" y="0"/>
                  </a:lnTo>
                  <a:lnTo>
                    <a:pt x="4485870" y="1431619"/>
                  </a:lnTo>
                  <a:lnTo>
                    <a:pt x="0" y="1431619"/>
                  </a:lnTo>
                  <a:close/>
                </a:path>
              </a:pathLst>
            </a:custGeom>
            <a:blipFill>
              <a:blip r:embed="rId3">
                <a:alphaModFix amt="0"/>
              </a:blip>
              <a:stretch>
                <a:fillRect l="0" t="-16436" r="10310" b="6917"/>
              </a:stretch>
            </a:blipFill>
          </p:spPr>
        </p:sp>
        <p:sp>
          <p:nvSpPr>
            <p:cNvPr name="TextBox 22" id="22"/>
            <p:cNvSpPr txBox="true"/>
            <p:nvPr/>
          </p:nvSpPr>
          <p:spPr>
            <a:xfrm>
              <a:off x="0" y="-66675"/>
              <a:ext cx="4485870" cy="1498294"/>
            </a:xfrm>
            <a:prstGeom prst="rect">
              <a:avLst/>
            </a:prstGeom>
          </p:spPr>
          <p:txBody>
            <a:bodyPr anchor="ctr" rtlCol="false" tIns="0" lIns="0" bIns="0" rIns="0"/>
            <a:lstStyle/>
            <a:p>
              <a:pPr algn="l">
                <a:lnSpc>
                  <a:spcPts val="3600"/>
                </a:lnSpc>
              </a:pPr>
              <a:r>
                <a:rPr lang="en-US" sz="3000" b="true">
                  <a:solidFill>
                    <a:srgbClr val="97BC62"/>
                  </a:solidFill>
                  <a:latin typeface="Calibri (MS) Bold"/>
                  <a:ea typeface="Calibri (MS) Bold"/>
                  <a:cs typeface="Calibri (MS) Bold"/>
                  <a:sym typeface="Calibri (MS) Bold"/>
                </a:rPr>
                <a:t>OOB SCORE  (Out-Of-Bag)</a:t>
              </a:r>
            </a:p>
          </p:txBody>
        </p:sp>
      </p:grpSp>
      <p:grpSp>
        <p:nvGrpSpPr>
          <p:cNvPr name="Group 23" id="23"/>
          <p:cNvGrpSpPr/>
          <p:nvPr/>
        </p:nvGrpSpPr>
        <p:grpSpPr>
          <a:xfrm rot="0">
            <a:off x="2011680" y="5829070"/>
            <a:ext cx="4389120" cy="3490838"/>
            <a:chOff x="0" y="0"/>
            <a:chExt cx="5852160" cy="4654450"/>
          </a:xfrm>
        </p:grpSpPr>
        <p:sp>
          <p:nvSpPr>
            <p:cNvPr name="Freeform 24" id="24"/>
            <p:cNvSpPr/>
            <p:nvPr/>
          </p:nvSpPr>
          <p:spPr>
            <a:xfrm flipH="false" flipV="false" rot="0">
              <a:off x="0" y="0"/>
              <a:ext cx="5852160" cy="4654450"/>
            </a:xfrm>
            <a:custGeom>
              <a:avLst/>
              <a:gdLst/>
              <a:ahLst/>
              <a:cxnLst/>
              <a:rect r="r" b="b" t="t" l="l"/>
              <a:pathLst>
                <a:path h="4654450" w="5852160">
                  <a:moveTo>
                    <a:pt x="0" y="0"/>
                  </a:moveTo>
                  <a:lnTo>
                    <a:pt x="5852160" y="0"/>
                  </a:lnTo>
                  <a:lnTo>
                    <a:pt x="5852160" y="4654450"/>
                  </a:lnTo>
                  <a:lnTo>
                    <a:pt x="0" y="4654450"/>
                  </a:lnTo>
                  <a:close/>
                </a:path>
              </a:pathLst>
            </a:custGeom>
            <a:blipFill>
              <a:blip r:embed="rId3">
                <a:alphaModFix amt="0"/>
              </a:blip>
              <a:stretch>
                <a:fillRect l="-19497" t="0" r="-19497" b="31894"/>
              </a:stretch>
            </a:blipFill>
          </p:spPr>
        </p:sp>
        <p:sp>
          <p:nvSpPr>
            <p:cNvPr name="TextBox 25" id="25"/>
            <p:cNvSpPr txBox="true"/>
            <p:nvPr/>
          </p:nvSpPr>
          <p:spPr>
            <a:xfrm>
              <a:off x="0" y="-66675"/>
              <a:ext cx="5852160" cy="4721125"/>
            </a:xfrm>
            <a:prstGeom prst="rect">
              <a:avLst/>
            </a:prstGeom>
          </p:spPr>
          <p:txBody>
            <a:bodyPr anchor="ctr" rtlCol="false" tIns="0" lIns="0" bIns="0" rIns="0"/>
            <a:lstStyle/>
            <a:p>
              <a:pPr algn="l" marL="604518" indent="-302259" lvl="1">
                <a:lnSpc>
                  <a:spcPts val="3359"/>
                </a:lnSpc>
                <a:buFont typeface="Arial"/>
                <a:buChar char="•"/>
              </a:pPr>
              <a:r>
                <a:rPr lang="en-US" sz="2799">
                  <a:solidFill>
                    <a:srgbClr val="FFFFFF"/>
                  </a:solidFill>
                  <a:latin typeface="Calibri (MS)"/>
                  <a:ea typeface="Calibri (MS)"/>
                  <a:cs typeface="Calibri (MS)"/>
                  <a:sym typeface="Calibri (MS)"/>
                </a:rPr>
                <a:t>L’OOB score (Out-Of-Bag score) est une méthode d’évaluation interne à la Random Forest.</a:t>
              </a:r>
            </a:p>
            <a:p>
              <a:pPr algn="l">
                <a:lnSpc>
                  <a:spcPts val="3359"/>
                </a:lnSpc>
              </a:pPr>
            </a:p>
            <a:p>
              <a:pPr algn="l" marL="604518" indent="-302259" lvl="1">
                <a:lnSpc>
                  <a:spcPts val="3359"/>
                </a:lnSpc>
                <a:buFont typeface="Arial"/>
                <a:buChar char="•"/>
              </a:pPr>
              <a:r>
                <a:rPr lang="en-US" sz="2799">
                  <a:solidFill>
                    <a:srgbClr val="FFFFFF"/>
                  </a:solidFill>
                  <a:latin typeface="Calibri (MS)"/>
                  <a:ea typeface="Calibri (MS)"/>
                  <a:cs typeface="Calibri (MS)"/>
                  <a:sym typeface="Calibri (MS)"/>
                </a:rPr>
                <a:t>Évaluer la performance de la Random Forest sans séparer les données</a:t>
              </a:r>
            </a:p>
          </p:txBody>
        </p:sp>
      </p:grpSp>
      <p:grpSp>
        <p:nvGrpSpPr>
          <p:cNvPr name="Group 26" id="26"/>
          <p:cNvGrpSpPr/>
          <p:nvPr/>
        </p:nvGrpSpPr>
        <p:grpSpPr>
          <a:xfrm rot="0">
            <a:off x="7119623" y="4509649"/>
            <a:ext cx="4780283" cy="5043811"/>
            <a:chOff x="0" y="0"/>
            <a:chExt cx="6373711" cy="6725081"/>
          </a:xfrm>
        </p:grpSpPr>
        <p:sp>
          <p:nvSpPr>
            <p:cNvPr name="Freeform 27" id="27"/>
            <p:cNvSpPr/>
            <p:nvPr/>
          </p:nvSpPr>
          <p:spPr>
            <a:xfrm flipH="false" flipV="false" rot="0">
              <a:off x="16891" y="22038"/>
              <a:ext cx="6339840" cy="6680890"/>
            </a:xfrm>
            <a:custGeom>
              <a:avLst/>
              <a:gdLst/>
              <a:ahLst/>
              <a:cxnLst/>
              <a:rect r="r" b="b" t="t" l="l"/>
              <a:pathLst>
                <a:path h="6680890" w="6339840">
                  <a:moveTo>
                    <a:pt x="0" y="0"/>
                  </a:moveTo>
                  <a:lnTo>
                    <a:pt x="6339840" y="0"/>
                  </a:lnTo>
                  <a:lnTo>
                    <a:pt x="6339840" y="6680889"/>
                  </a:lnTo>
                  <a:lnTo>
                    <a:pt x="0" y="6680889"/>
                  </a:lnTo>
                  <a:close/>
                </a:path>
              </a:pathLst>
            </a:custGeom>
            <a:solidFill>
              <a:srgbClr val="1E3A1E"/>
            </a:solidFill>
          </p:spPr>
        </p:sp>
        <p:sp>
          <p:nvSpPr>
            <p:cNvPr name="Freeform 28" id="28"/>
            <p:cNvSpPr/>
            <p:nvPr/>
          </p:nvSpPr>
          <p:spPr>
            <a:xfrm flipH="false" flipV="false" rot="0">
              <a:off x="0" y="0"/>
              <a:ext cx="6373622" cy="6724965"/>
            </a:xfrm>
            <a:custGeom>
              <a:avLst/>
              <a:gdLst/>
              <a:ahLst/>
              <a:cxnLst/>
              <a:rect r="r" b="b" t="t" l="l"/>
              <a:pathLst>
                <a:path h="6724965" w="6373622">
                  <a:moveTo>
                    <a:pt x="16891" y="0"/>
                  </a:moveTo>
                  <a:lnTo>
                    <a:pt x="6356731" y="0"/>
                  </a:lnTo>
                  <a:cubicBezTo>
                    <a:pt x="6366129" y="0"/>
                    <a:pt x="6373622" y="9942"/>
                    <a:pt x="6373622" y="22038"/>
                  </a:cubicBezTo>
                  <a:lnTo>
                    <a:pt x="6373622" y="6702927"/>
                  </a:lnTo>
                  <a:cubicBezTo>
                    <a:pt x="6373622" y="6715189"/>
                    <a:pt x="6366002" y="6724965"/>
                    <a:pt x="6356731" y="6724965"/>
                  </a:cubicBezTo>
                  <a:lnTo>
                    <a:pt x="16891" y="6724965"/>
                  </a:lnTo>
                  <a:cubicBezTo>
                    <a:pt x="7493" y="6724965"/>
                    <a:pt x="0" y="6715023"/>
                    <a:pt x="0" y="6702927"/>
                  </a:cubicBezTo>
                  <a:lnTo>
                    <a:pt x="0" y="22038"/>
                  </a:lnTo>
                  <a:cubicBezTo>
                    <a:pt x="0" y="9942"/>
                    <a:pt x="7620" y="0"/>
                    <a:pt x="16891" y="0"/>
                  </a:cubicBezTo>
                  <a:moveTo>
                    <a:pt x="16891" y="44241"/>
                  </a:moveTo>
                  <a:lnTo>
                    <a:pt x="16891" y="22038"/>
                  </a:lnTo>
                  <a:lnTo>
                    <a:pt x="33909" y="22038"/>
                  </a:lnTo>
                  <a:lnTo>
                    <a:pt x="33909" y="6702927"/>
                  </a:lnTo>
                  <a:lnTo>
                    <a:pt x="16891" y="6702927"/>
                  </a:lnTo>
                  <a:lnTo>
                    <a:pt x="16891" y="6680890"/>
                  </a:lnTo>
                  <a:lnTo>
                    <a:pt x="6356731" y="6680890"/>
                  </a:lnTo>
                  <a:lnTo>
                    <a:pt x="6356731" y="6702927"/>
                  </a:lnTo>
                  <a:lnTo>
                    <a:pt x="6339840" y="6702927"/>
                  </a:lnTo>
                  <a:lnTo>
                    <a:pt x="6339840" y="22038"/>
                  </a:lnTo>
                  <a:lnTo>
                    <a:pt x="6356731" y="22038"/>
                  </a:lnTo>
                  <a:lnTo>
                    <a:pt x="6356731" y="44241"/>
                  </a:lnTo>
                  <a:lnTo>
                    <a:pt x="16891" y="44241"/>
                  </a:lnTo>
                  <a:close/>
                </a:path>
              </a:pathLst>
            </a:custGeom>
            <a:solidFill>
              <a:srgbClr val="3A7BD5"/>
            </a:solidFill>
          </p:spPr>
        </p:sp>
      </p:grpSp>
      <p:grpSp>
        <p:nvGrpSpPr>
          <p:cNvPr name="Group 29" id="29"/>
          <p:cNvGrpSpPr/>
          <p:nvPr/>
        </p:nvGrpSpPr>
        <p:grpSpPr>
          <a:xfrm rot="0">
            <a:off x="7315200" y="4669377"/>
            <a:ext cx="1280160" cy="1312318"/>
            <a:chOff x="0" y="0"/>
            <a:chExt cx="1706880" cy="1749757"/>
          </a:xfrm>
        </p:grpSpPr>
        <p:sp>
          <p:nvSpPr>
            <p:cNvPr name="Freeform 30" id="30"/>
            <p:cNvSpPr/>
            <p:nvPr/>
          </p:nvSpPr>
          <p:spPr>
            <a:xfrm flipH="false" flipV="false" rot="0">
              <a:off x="0" y="0"/>
              <a:ext cx="1706880" cy="1749757"/>
            </a:xfrm>
            <a:custGeom>
              <a:avLst/>
              <a:gdLst/>
              <a:ahLst/>
              <a:cxnLst/>
              <a:rect r="r" b="b" t="t" l="l"/>
              <a:pathLst>
                <a:path h="1749757" w="1706880">
                  <a:moveTo>
                    <a:pt x="0" y="0"/>
                  </a:moveTo>
                  <a:lnTo>
                    <a:pt x="1706880" y="0"/>
                  </a:lnTo>
                  <a:lnTo>
                    <a:pt x="1706880" y="1749757"/>
                  </a:lnTo>
                  <a:lnTo>
                    <a:pt x="0" y="1749757"/>
                  </a:lnTo>
                  <a:close/>
                </a:path>
              </a:pathLst>
            </a:custGeom>
            <a:blipFill>
              <a:blip r:embed="rId3">
                <a:alphaModFix amt="0"/>
              </a:blip>
              <a:stretch>
                <a:fillRect l="-50809" t="0" r="-50809" b="23353"/>
              </a:stretch>
            </a:blipFill>
          </p:spPr>
        </p:sp>
        <p:sp>
          <p:nvSpPr>
            <p:cNvPr name="TextBox 31" id="31"/>
            <p:cNvSpPr txBox="true"/>
            <p:nvPr/>
          </p:nvSpPr>
          <p:spPr>
            <a:xfrm>
              <a:off x="0" y="-76200"/>
              <a:ext cx="1706880" cy="1825957"/>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32" id="32"/>
          <p:cNvGrpSpPr/>
          <p:nvPr/>
        </p:nvGrpSpPr>
        <p:grpSpPr>
          <a:xfrm rot="0">
            <a:off x="8375339" y="4669377"/>
            <a:ext cx="3017520" cy="1073714"/>
            <a:chOff x="0" y="0"/>
            <a:chExt cx="4023360" cy="1431619"/>
          </a:xfrm>
        </p:grpSpPr>
        <p:sp>
          <p:nvSpPr>
            <p:cNvPr name="Freeform 33" id="33"/>
            <p:cNvSpPr/>
            <p:nvPr/>
          </p:nvSpPr>
          <p:spPr>
            <a:xfrm flipH="false" flipV="false" rot="0">
              <a:off x="0" y="0"/>
              <a:ext cx="4023360" cy="1431619"/>
            </a:xfrm>
            <a:custGeom>
              <a:avLst/>
              <a:gdLst/>
              <a:ahLst/>
              <a:cxnLst/>
              <a:rect r="r" b="b" t="t" l="l"/>
              <a:pathLst>
                <a:path h="1431619" w="4023360">
                  <a:moveTo>
                    <a:pt x="0" y="0"/>
                  </a:moveTo>
                  <a:lnTo>
                    <a:pt x="4023360" y="0"/>
                  </a:lnTo>
                  <a:lnTo>
                    <a:pt x="4023360" y="1431619"/>
                  </a:lnTo>
                  <a:lnTo>
                    <a:pt x="0" y="1431619"/>
                  </a:lnTo>
                  <a:close/>
                </a:path>
              </a:pathLst>
            </a:custGeom>
            <a:blipFill>
              <a:blip r:embed="rId3">
                <a:alphaModFix amt="0"/>
              </a:blip>
              <a:stretch>
                <a:fillRect l="0" t="-16436" r="0" b="6917"/>
              </a:stretch>
            </a:blipFill>
          </p:spPr>
        </p:sp>
        <p:sp>
          <p:nvSpPr>
            <p:cNvPr name="TextBox 34" id="34"/>
            <p:cNvSpPr txBox="true"/>
            <p:nvPr/>
          </p:nvSpPr>
          <p:spPr>
            <a:xfrm>
              <a:off x="0" y="-66675"/>
              <a:ext cx="4023360" cy="1498294"/>
            </a:xfrm>
            <a:prstGeom prst="rect">
              <a:avLst/>
            </a:prstGeom>
          </p:spPr>
          <p:txBody>
            <a:bodyPr anchor="ctr" rtlCol="false" tIns="0" lIns="0" bIns="0" rIns="0"/>
            <a:lstStyle/>
            <a:p>
              <a:pPr algn="l">
                <a:lnSpc>
                  <a:spcPts val="3600"/>
                </a:lnSpc>
              </a:pPr>
              <a:r>
                <a:rPr lang="en-US" sz="3000" b="true">
                  <a:solidFill>
                    <a:srgbClr val="97BC62"/>
                  </a:solidFill>
                  <a:latin typeface="Calibri (MS) Bold"/>
                  <a:ea typeface="Calibri (MS) Bold"/>
                  <a:cs typeface="Calibri (MS) Bold"/>
                  <a:sym typeface="Calibri (MS) Bold"/>
                </a:rPr>
                <a:t>Feature Importance</a:t>
              </a:r>
            </a:p>
          </p:txBody>
        </p:sp>
      </p:grpSp>
      <p:grpSp>
        <p:nvGrpSpPr>
          <p:cNvPr name="Group 35" id="35"/>
          <p:cNvGrpSpPr/>
          <p:nvPr/>
        </p:nvGrpSpPr>
        <p:grpSpPr>
          <a:xfrm rot="0">
            <a:off x="7119623" y="5981694"/>
            <a:ext cx="4389120" cy="2694883"/>
            <a:chOff x="0" y="0"/>
            <a:chExt cx="5852160" cy="3593177"/>
          </a:xfrm>
        </p:grpSpPr>
        <p:sp>
          <p:nvSpPr>
            <p:cNvPr name="Freeform 36" id="36"/>
            <p:cNvSpPr/>
            <p:nvPr/>
          </p:nvSpPr>
          <p:spPr>
            <a:xfrm flipH="false" flipV="false" rot="0">
              <a:off x="0" y="0"/>
              <a:ext cx="5852160" cy="3593177"/>
            </a:xfrm>
            <a:custGeom>
              <a:avLst/>
              <a:gdLst/>
              <a:ahLst/>
              <a:cxnLst/>
              <a:rect r="r" b="b" t="t" l="l"/>
              <a:pathLst>
                <a:path h="3593177" w="5852160">
                  <a:moveTo>
                    <a:pt x="0" y="0"/>
                  </a:moveTo>
                  <a:lnTo>
                    <a:pt x="5852160" y="0"/>
                  </a:lnTo>
                  <a:lnTo>
                    <a:pt x="5852160" y="3593177"/>
                  </a:lnTo>
                  <a:lnTo>
                    <a:pt x="0" y="3593177"/>
                  </a:lnTo>
                  <a:close/>
                </a:path>
              </a:pathLst>
            </a:custGeom>
            <a:blipFill>
              <a:blip r:embed="rId3">
                <a:alphaModFix amt="0"/>
              </a:blip>
              <a:stretch>
                <a:fillRect l="-19497" t="0" r="-19497" b="11779"/>
              </a:stretch>
            </a:blipFill>
          </p:spPr>
        </p:sp>
        <p:sp>
          <p:nvSpPr>
            <p:cNvPr name="TextBox 37" id="37"/>
            <p:cNvSpPr txBox="true"/>
            <p:nvPr/>
          </p:nvSpPr>
          <p:spPr>
            <a:xfrm>
              <a:off x="0" y="-114300"/>
              <a:ext cx="5852160" cy="3707477"/>
            </a:xfrm>
            <a:prstGeom prst="rect">
              <a:avLst/>
            </a:prstGeom>
          </p:spPr>
          <p:txBody>
            <a:bodyPr anchor="ctr" rtlCol="false" tIns="0" lIns="0" bIns="0" rIns="0"/>
            <a:lstStyle/>
            <a:p>
              <a:pPr algn="l" marL="647700" indent="-323850" lvl="1">
                <a:lnSpc>
                  <a:spcPts val="4170"/>
                </a:lnSpc>
                <a:buFont typeface="Arial"/>
                <a:buChar char="•"/>
              </a:pPr>
              <a:r>
                <a:rPr lang="en-US" sz="3000">
                  <a:solidFill>
                    <a:srgbClr val="FFFFFF"/>
                  </a:solidFill>
                  <a:latin typeface="Calibri (MS)"/>
                  <a:ea typeface="Calibri (MS)"/>
                  <a:cs typeface="Calibri (MS)"/>
                  <a:sym typeface="Calibri (MS)"/>
                </a:rPr>
                <a:t>Mesure l’importance de chaque variable dans la réduction de l’impureté (Gini)</a:t>
              </a:r>
            </a:p>
            <a:p>
              <a:pPr algn="l">
                <a:lnSpc>
                  <a:spcPts val="4170"/>
                </a:lnSpc>
              </a:pPr>
            </a:p>
          </p:txBody>
        </p:sp>
      </p:grpSp>
      <p:grpSp>
        <p:nvGrpSpPr>
          <p:cNvPr name="Group 38" id="38"/>
          <p:cNvGrpSpPr/>
          <p:nvPr/>
        </p:nvGrpSpPr>
        <p:grpSpPr>
          <a:xfrm rot="0">
            <a:off x="12423143" y="4509649"/>
            <a:ext cx="4780283" cy="5043811"/>
            <a:chOff x="0" y="0"/>
            <a:chExt cx="6373711" cy="6725081"/>
          </a:xfrm>
        </p:grpSpPr>
        <p:sp>
          <p:nvSpPr>
            <p:cNvPr name="Freeform 39" id="39"/>
            <p:cNvSpPr/>
            <p:nvPr/>
          </p:nvSpPr>
          <p:spPr>
            <a:xfrm flipH="false" flipV="false" rot="0">
              <a:off x="16891" y="22038"/>
              <a:ext cx="6339840" cy="6680890"/>
            </a:xfrm>
            <a:custGeom>
              <a:avLst/>
              <a:gdLst/>
              <a:ahLst/>
              <a:cxnLst/>
              <a:rect r="r" b="b" t="t" l="l"/>
              <a:pathLst>
                <a:path h="6680890" w="6339840">
                  <a:moveTo>
                    <a:pt x="0" y="0"/>
                  </a:moveTo>
                  <a:lnTo>
                    <a:pt x="6339840" y="0"/>
                  </a:lnTo>
                  <a:lnTo>
                    <a:pt x="6339840" y="6680889"/>
                  </a:lnTo>
                  <a:lnTo>
                    <a:pt x="0" y="6680889"/>
                  </a:lnTo>
                  <a:close/>
                </a:path>
              </a:pathLst>
            </a:custGeom>
            <a:solidFill>
              <a:srgbClr val="1E3A1E"/>
            </a:solidFill>
          </p:spPr>
        </p:sp>
        <p:sp>
          <p:nvSpPr>
            <p:cNvPr name="Freeform 40" id="40"/>
            <p:cNvSpPr/>
            <p:nvPr/>
          </p:nvSpPr>
          <p:spPr>
            <a:xfrm flipH="false" flipV="false" rot="0">
              <a:off x="0" y="0"/>
              <a:ext cx="6373622" cy="6724965"/>
            </a:xfrm>
            <a:custGeom>
              <a:avLst/>
              <a:gdLst/>
              <a:ahLst/>
              <a:cxnLst/>
              <a:rect r="r" b="b" t="t" l="l"/>
              <a:pathLst>
                <a:path h="6724965" w="6373622">
                  <a:moveTo>
                    <a:pt x="16891" y="0"/>
                  </a:moveTo>
                  <a:lnTo>
                    <a:pt x="6356731" y="0"/>
                  </a:lnTo>
                  <a:cubicBezTo>
                    <a:pt x="6366129" y="0"/>
                    <a:pt x="6373622" y="9942"/>
                    <a:pt x="6373622" y="22038"/>
                  </a:cubicBezTo>
                  <a:lnTo>
                    <a:pt x="6373622" y="6702927"/>
                  </a:lnTo>
                  <a:cubicBezTo>
                    <a:pt x="6373622" y="6715189"/>
                    <a:pt x="6366002" y="6724965"/>
                    <a:pt x="6356731" y="6724965"/>
                  </a:cubicBezTo>
                  <a:lnTo>
                    <a:pt x="16891" y="6724965"/>
                  </a:lnTo>
                  <a:cubicBezTo>
                    <a:pt x="7493" y="6724965"/>
                    <a:pt x="0" y="6715023"/>
                    <a:pt x="0" y="6702927"/>
                  </a:cubicBezTo>
                  <a:lnTo>
                    <a:pt x="0" y="22038"/>
                  </a:lnTo>
                  <a:cubicBezTo>
                    <a:pt x="0" y="9942"/>
                    <a:pt x="7620" y="0"/>
                    <a:pt x="16891" y="0"/>
                  </a:cubicBezTo>
                  <a:moveTo>
                    <a:pt x="16891" y="44241"/>
                  </a:moveTo>
                  <a:lnTo>
                    <a:pt x="16891" y="22038"/>
                  </a:lnTo>
                  <a:lnTo>
                    <a:pt x="33909" y="22038"/>
                  </a:lnTo>
                  <a:lnTo>
                    <a:pt x="33909" y="6702927"/>
                  </a:lnTo>
                  <a:lnTo>
                    <a:pt x="16891" y="6702927"/>
                  </a:lnTo>
                  <a:lnTo>
                    <a:pt x="16891" y="6680890"/>
                  </a:lnTo>
                  <a:lnTo>
                    <a:pt x="6356731" y="6680890"/>
                  </a:lnTo>
                  <a:lnTo>
                    <a:pt x="6356731" y="6702927"/>
                  </a:lnTo>
                  <a:lnTo>
                    <a:pt x="6339840" y="6702927"/>
                  </a:lnTo>
                  <a:lnTo>
                    <a:pt x="6339840" y="22038"/>
                  </a:lnTo>
                  <a:lnTo>
                    <a:pt x="6356731" y="22038"/>
                  </a:lnTo>
                  <a:lnTo>
                    <a:pt x="6356731" y="44241"/>
                  </a:lnTo>
                  <a:lnTo>
                    <a:pt x="16891" y="44241"/>
                  </a:lnTo>
                  <a:close/>
                </a:path>
              </a:pathLst>
            </a:custGeom>
            <a:solidFill>
              <a:srgbClr val="3A7BD5"/>
            </a:solidFill>
          </p:spPr>
        </p:sp>
      </p:grpSp>
      <p:grpSp>
        <p:nvGrpSpPr>
          <p:cNvPr name="Group 41" id="41"/>
          <p:cNvGrpSpPr/>
          <p:nvPr/>
        </p:nvGrpSpPr>
        <p:grpSpPr>
          <a:xfrm rot="0">
            <a:off x="12423781" y="4669377"/>
            <a:ext cx="1280160" cy="1312318"/>
            <a:chOff x="0" y="0"/>
            <a:chExt cx="1706880" cy="1749757"/>
          </a:xfrm>
        </p:grpSpPr>
        <p:sp>
          <p:nvSpPr>
            <p:cNvPr name="Freeform 42" id="42"/>
            <p:cNvSpPr/>
            <p:nvPr/>
          </p:nvSpPr>
          <p:spPr>
            <a:xfrm flipH="false" flipV="false" rot="0">
              <a:off x="0" y="0"/>
              <a:ext cx="1706880" cy="1749757"/>
            </a:xfrm>
            <a:custGeom>
              <a:avLst/>
              <a:gdLst/>
              <a:ahLst/>
              <a:cxnLst/>
              <a:rect r="r" b="b" t="t" l="l"/>
              <a:pathLst>
                <a:path h="1749757" w="1706880">
                  <a:moveTo>
                    <a:pt x="0" y="0"/>
                  </a:moveTo>
                  <a:lnTo>
                    <a:pt x="1706880" y="0"/>
                  </a:lnTo>
                  <a:lnTo>
                    <a:pt x="1706880" y="1749757"/>
                  </a:lnTo>
                  <a:lnTo>
                    <a:pt x="0" y="1749757"/>
                  </a:lnTo>
                  <a:close/>
                </a:path>
              </a:pathLst>
            </a:custGeom>
            <a:blipFill>
              <a:blip r:embed="rId3">
                <a:alphaModFix amt="0"/>
              </a:blip>
              <a:stretch>
                <a:fillRect l="-50809" t="0" r="-50809" b="23353"/>
              </a:stretch>
            </a:blipFill>
          </p:spPr>
        </p:sp>
        <p:sp>
          <p:nvSpPr>
            <p:cNvPr name="TextBox 43" id="43"/>
            <p:cNvSpPr txBox="true"/>
            <p:nvPr/>
          </p:nvSpPr>
          <p:spPr>
            <a:xfrm>
              <a:off x="0" y="-76200"/>
              <a:ext cx="1706880" cy="1825957"/>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44" id="44"/>
          <p:cNvGrpSpPr/>
          <p:nvPr/>
        </p:nvGrpSpPr>
        <p:grpSpPr>
          <a:xfrm rot="0">
            <a:off x="13562975" y="4788678"/>
            <a:ext cx="3444865" cy="1073714"/>
            <a:chOff x="0" y="0"/>
            <a:chExt cx="4593153" cy="1431619"/>
          </a:xfrm>
        </p:grpSpPr>
        <p:sp>
          <p:nvSpPr>
            <p:cNvPr name="Freeform 45" id="45"/>
            <p:cNvSpPr/>
            <p:nvPr/>
          </p:nvSpPr>
          <p:spPr>
            <a:xfrm flipH="false" flipV="false" rot="0">
              <a:off x="0" y="0"/>
              <a:ext cx="4593153" cy="1431619"/>
            </a:xfrm>
            <a:custGeom>
              <a:avLst/>
              <a:gdLst/>
              <a:ahLst/>
              <a:cxnLst/>
              <a:rect r="r" b="b" t="t" l="l"/>
              <a:pathLst>
                <a:path h="1431619" w="4593153">
                  <a:moveTo>
                    <a:pt x="0" y="0"/>
                  </a:moveTo>
                  <a:lnTo>
                    <a:pt x="4593153" y="0"/>
                  </a:lnTo>
                  <a:lnTo>
                    <a:pt x="4593153" y="1431619"/>
                  </a:lnTo>
                  <a:lnTo>
                    <a:pt x="0" y="1431619"/>
                  </a:lnTo>
                  <a:close/>
                </a:path>
              </a:pathLst>
            </a:custGeom>
            <a:blipFill>
              <a:blip r:embed="rId3">
                <a:alphaModFix amt="0"/>
              </a:blip>
              <a:stretch>
                <a:fillRect l="0" t="-16436" r="12405" b="6917"/>
              </a:stretch>
            </a:blipFill>
          </p:spPr>
        </p:sp>
        <p:sp>
          <p:nvSpPr>
            <p:cNvPr name="TextBox 46" id="46"/>
            <p:cNvSpPr txBox="true"/>
            <p:nvPr/>
          </p:nvSpPr>
          <p:spPr>
            <a:xfrm>
              <a:off x="0" y="-66675"/>
              <a:ext cx="4593153" cy="1498294"/>
            </a:xfrm>
            <a:prstGeom prst="rect">
              <a:avLst/>
            </a:prstGeom>
          </p:spPr>
          <p:txBody>
            <a:bodyPr anchor="ctr" rtlCol="false" tIns="0" lIns="0" bIns="0" rIns="0"/>
            <a:lstStyle/>
            <a:p>
              <a:pPr algn="l">
                <a:lnSpc>
                  <a:spcPts val="3600"/>
                </a:lnSpc>
              </a:pPr>
              <a:r>
                <a:rPr lang="en-US" sz="3000" b="true">
                  <a:solidFill>
                    <a:srgbClr val="97BC62"/>
                  </a:solidFill>
                  <a:latin typeface="Calibri (MS) Bold"/>
                  <a:ea typeface="Calibri (MS) Bold"/>
                  <a:cs typeface="Calibri (MS) Bold"/>
                  <a:sym typeface="Calibri (MS) Bold"/>
                </a:rPr>
                <a:t> Comparaison modèles</a:t>
              </a:r>
            </a:p>
          </p:txBody>
        </p:sp>
      </p:grpSp>
      <p:grpSp>
        <p:nvGrpSpPr>
          <p:cNvPr name="Group 47" id="47"/>
          <p:cNvGrpSpPr/>
          <p:nvPr/>
        </p:nvGrpSpPr>
        <p:grpSpPr>
          <a:xfrm rot="0">
            <a:off x="12614281" y="5778215"/>
            <a:ext cx="4389120" cy="3101842"/>
            <a:chOff x="0" y="0"/>
            <a:chExt cx="5852160" cy="4135789"/>
          </a:xfrm>
        </p:grpSpPr>
        <p:sp>
          <p:nvSpPr>
            <p:cNvPr name="Freeform 48" id="48"/>
            <p:cNvSpPr/>
            <p:nvPr/>
          </p:nvSpPr>
          <p:spPr>
            <a:xfrm flipH="false" flipV="false" rot="0">
              <a:off x="0" y="0"/>
              <a:ext cx="5852160" cy="4135789"/>
            </a:xfrm>
            <a:custGeom>
              <a:avLst/>
              <a:gdLst/>
              <a:ahLst/>
              <a:cxnLst/>
              <a:rect r="r" b="b" t="t" l="l"/>
              <a:pathLst>
                <a:path h="4135789" w="5852160">
                  <a:moveTo>
                    <a:pt x="0" y="0"/>
                  </a:moveTo>
                  <a:lnTo>
                    <a:pt x="5852160" y="0"/>
                  </a:lnTo>
                  <a:lnTo>
                    <a:pt x="5852160" y="4135789"/>
                  </a:lnTo>
                  <a:lnTo>
                    <a:pt x="0" y="4135789"/>
                  </a:lnTo>
                  <a:close/>
                </a:path>
              </a:pathLst>
            </a:custGeom>
            <a:blipFill>
              <a:blip r:embed="rId3">
                <a:alphaModFix amt="0"/>
              </a:blip>
              <a:stretch>
                <a:fillRect l="-19497" t="0" r="-19497" b="23353"/>
              </a:stretch>
            </a:blipFill>
          </p:spPr>
        </p:sp>
        <p:sp>
          <p:nvSpPr>
            <p:cNvPr name="TextBox 49" id="49"/>
            <p:cNvSpPr txBox="true"/>
            <p:nvPr/>
          </p:nvSpPr>
          <p:spPr>
            <a:xfrm>
              <a:off x="0" y="-104775"/>
              <a:ext cx="5852160" cy="4240564"/>
            </a:xfrm>
            <a:prstGeom prst="rect">
              <a:avLst/>
            </a:prstGeom>
          </p:spPr>
          <p:txBody>
            <a:bodyPr anchor="ctr" rtlCol="false" tIns="0" lIns="0" bIns="0" rIns="0"/>
            <a:lstStyle/>
            <a:p>
              <a:pPr algn="l" marL="647700" indent="-323850" lvl="1">
                <a:lnSpc>
                  <a:spcPts val="4080"/>
                </a:lnSpc>
                <a:buFont typeface="Arial"/>
                <a:buChar char="•"/>
              </a:pPr>
              <a:r>
                <a:rPr lang="en-US" sz="3000">
                  <a:solidFill>
                    <a:srgbClr val="FFFFFF"/>
                  </a:solidFill>
                  <a:latin typeface="Calibri (MS)"/>
                  <a:ea typeface="Calibri (MS)"/>
                  <a:cs typeface="Calibri (MS)"/>
                  <a:sym typeface="Calibri (MS)"/>
                </a:rPr>
                <a:t>Random Forest vs Decision Tree</a:t>
              </a:r>
            </a:p>
            <a:p>
              <a:pPr algn="l" marL="647700" indent="-323850" lvl="1">
                <a:lnSpc>
                  <a:spcPts val="4080"/>
                </a:lnSpc>
                <a:buFont typeface="Arial"/>
                <a:buChar char="•"/>
              </a:pPr>
              <a:r>
                <a:rPr lang="en-US" sz="3000">
                  <a:solidFill>
                    <a:srgbClr val="FFFFFF"/>
                  </a:solidFill>
                  <a:latin typeface="Calibri (MS)"/>
                  <a:ea typeface="Calibri (MS)"/>
                  <a:cs typeface="Calibri (MS)"/>
                  <a:sym typeface="Calibri (MS)"/>
                </a:rPr>
                <a:t>Permet</a:t>
              </a:r>
              <a:r>
                <a:rPr lang="en-US" sz="3000">
                  <a:solidFill>
                    <a:srgbClr val="FFFFFF"/>
                  </a:solidFill>
                  <a:latin typeface="Calibri (MS)"/>
                  <a:ea typeface="Calibri (MS)"/>
                  <a:cs typeface="Calibri (MS)"/>
                  <a:sym typeface="Calibri (MS)"/>
                </a:rPr>
                <a:t> de montrer le gain du bagging</a:t>
              </a:r>
            </a:p>
            <a:p>
              <a:pPr algn="l">
                <a:lnSpc>
                  <a:spcPts val="4080"/>
                </a:lnSpc>
              </a:pPr>
            </a:p>
          </p:txBody>
        </p:sp>
      </p:grpSp>
      <p:sp>
        <p:nvSpPr>
          <p:cNvPr name="TextBox 50" id="50"/>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0F7F0"/>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52B788"/>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52B788"/>
            </a:solidFill>
          </p:spPr>
        </p:sp>
      </p:grpSp>
      <p:grpSp>
        <p:nvGrpSpPr>
          <p:cNvPr name="Group 5" id="5"/>
          <p:cNvGrpSpPr/>
          <p:nvPr/>
        </p:nvGrpSpPr>
        <p:grpSpPr>
          <a:xfrm rot="0">
            <a:off x="731520" y="256032"/>
            <a:ext cx="16824960" cy="822960"/>
            <a:chOff x="0" y="0"/>
            <a:chExt cx="22433280" cy="1097280"/>
          </a:xfrm>
        </p:grpSpPr>
        <p:sp>
          <p:nvSpPr>
            <p:cNvPr name="Freeform 6" id="6"/>
            <p:cNvSpPr/>
            <p:nvPr/>
          </p:nvSpPr>
          <p:spPr>
            <a:xfrm flipH="false" flipV="false" rot="0">
              <a:off x="0" y="0"/>
              <a:ext cx="22433280" cy="1097280"/>
            </a:xfrm>
            <a:custGeom>
              <a:avLst/>
              <a:gdLst/>
              <a:ahLst/>
              <a:cxnLst/>
              <a:rect r="r" b="b" t="t" l="l"/>
              <a:pathLst>
                <a:path h="1097280" w="22433280">
                  <a:moveTo>
                    <a:pt x="0" y="0"/>
                  </a:moveTo>
                  <a:lnTo>
                    <a:pt x="22433280" y="0"/>
                  </a:lnTo>
                  <a:lnTo>
                    <a:pt x="22433280" y="1097280"/>
                  </a:lnTo>
                  <a:lnTo>
                    <a:pt x="0" y="1097280"/>
                  </a:lnTo>
                  <a:close/>
                </a:path>
              </a:pathLst>
            </a:custGeom>
            <a:blipFill>
              <a:blip r:embed="rId3">
                <a:alphaModFix amt="0"/>
              </a:blip>
              <a:stretch>
                <a:fillRect l="0" t="-348360" r="0" b="-348360"/>
              </a:stretch>
            </a:blipFill>
          </p:spPr>
        </p:sp>
        <p:sp>
          <p:nvSpPr>
            <p:cNvPr name="TextBox 7" id="7"/>
            <p:cNvSpPr txBox="true"/>
            <p:nvPr/>
          </p:nvSpPr>
          <p:spPr>
            <a:xfrm>
              <a:off x="0" y="-66675"/>
              <a:ext cx="22433280" cy="1163955"/>
            </a:xfrm>
            <a:prstGeom prst="rect">
              <a:avLst/>
            </a:prstGeom>
          </p:spPr>
          <p:txBody>
            <a:bodyPr anchor="ctr" rtlCol="false" tIns="0" lIns="0" bIns="0" rIns="0"/>
            <a:lstStyle/>
            <a:p>
              <a:pPr algn="l">
                <a:lnSpc>
                  <a:spcPts val="4079"/>
                </a:lnSpc>
              </a:pPr>
              <a:r>
                <a:rPr lang="en-US" sz="3400" b="true">
                  <a:solidFill>
                    <a:srgbClr val="1E3A1E"/>
                  </a:solidFill>
                  <a:latin typeface="Calibri (MS) Bold"/>
                  <a:ea typeface="Calibri (MS) Bold"/>
                  <a:cs typeface="Calibri (MS) Bold"/>
                  <a:sym typeface="Calibri (MS) Bold"/>
                </a:rPr>
                <a:t>Comprendre le Score OOB (Out-Of-Bag)</a:t>
              </a:r>
            </a:p>
          </p:txBody>
        </p:sp>
      </p:grpSp>
      <p:grpSp>
        <p:nvGrpSpPr>
          <p:cNvPr name="Group 8" id="8"/>
          <p:cNvGrpSpPr/>
          <p:nvPr/>
        </p:nvGrpSpPr>
        <p:grpSpPr>
          <a:xfrm rot="0">
            <a:off x="731520" y="1133856"/>
            <a:ext cx="16824960" cy="698674"/>
            <a:chOff x="0" y="0"/>
            <a:chExt cx="22433280" cy="931565"/>
          </a:xfrm>
        </p:grpSpPr>
        <p:sp>
          <p:nvSpPr>
            <p:cNvPr name="Freeform 9" id="9"/>
            <p:cNvSpPr/>
            <p:nvPr/>
          </p:nvSpPr>
          <p:spPr>
            <a:xfrm flipH="false" flipV="false" rot="0">
              <a:off x="0" y="0"/>
              <a:ext cx="22433280" cy="931565"/>
            </a:xfrm>
            <a:custGeom>
              <a:avLst/>
              <a:gdLst/>
              <a:ahLst/>
              <a:cxnLst/>
              <a:rect r="r" b="b" t="t" l="l"/>
              <a:pathLst>
                <a:path h="931565" w="22433280">
                  <a:moveTo>
                    <a:pt x="0" y="0"/>
                  </a:moveTo>
                  <a:lnTo>
                    <a:pt x="22433280" y="0"/>
                  </a:lnTo>
                  <a:lnTo>
                    <a:pt x="22433280" y="931565"/>
                  </a:lnTo>
                  <a:lnTo>
                    <a:pt x="0" y="931565"/>
                  </a:lnTo>
                  <a:close/>
                </a:path>
              </a:pathLst>
            </a:custGeom>
            <a:blipFill>
              <a:blip r:embed="rId3">
                <a:alphaModFix amt="0"/>
              </a:blip>
              <a:stretch>
                <a:fillRect l="0" t="-435196" r="0" b="-403252"/>
              </a:stretch>
            </a:blipFill>
          </p:spPr>
        </p:sp>
        <p:sp>
          <p:nvSpPr>
            <p:cNvPr name="TextBox 10" id="10"/>
            <p:cNvSpPr txBox="true"/>
            <p:nvPr/>
          </p:nvSpPr>
          <p:spPr>
            <a:xfrm>
              <a:off x="0" y="-38100"/>
              <a:ext cx="22433280" cy="969665"/>
            </a:xfrm>
            <a:prstGeom prst="rect">
              <a:avLst/>
            </a:prstGeom>
          </p:spPr>
          <p:txBody>
            <a:bodyPr anchor="ctr" rtlCol="false" tIns="0" lIns="0" bIns="0" rIns="0"/>
            <a:lstStyle/>
            <a:p>
              <a:pPr algn="l">
                <a:lnSpc>
                  <a:spcPts val="2400"/>
                </a:lnSpc>
              </a:pPr>
              <a:r>
                <a:rPr lang="en-US" sz="2000" i="true">
                  <a:solidFill>
                    <a:srgbClr val="6B8F6B"/>
                  </a:solidFill>
                  <a:latin typeface="Calibri (MS) Italics"/>
                  <a:ea typeface="Calibri (MS) Italics"/>
                  <a:cs typeface="Calibri (MS) Italics"/>
                  <a:sym typeface="Calibri (MS) Italics"/>
                </a:rPr>
                <a:t>Une validation interne propre à la Random Forest, sans validation croisée explicite.</a:t>
              </a:r>
            </a:p>
            <a:p>
              <a:pPr algn="l">
                <a:lnSpc>
                  <a:spcPts val="2400"/>
                </a:lnSpc>
              </a:pPr>
            </a:p>
          </p:txBody>
        </p:sp>
      </p:grpSp>
      <p:grpSp>
        <p:nvGrpSpPr>
          <p:cNvPr name="Group 11" id="11"/>
          <p:cNvGrpSpPr/>
          <p:nvPr/>
        </p:nvGrpSpPr>
        <p:grpSpPr>
          <a:xfrm rot="0">
            <a:off x="725167" y="1826322"/>
            <a:ext cx="8242297" cy="4969899"/>
            <a:chOff x="0" y="0"/>
            <a:chExt cx="10989729" cy="6626532"/>
          </a:xfrm>
        </p:grpSpPr>
        <p:sp>
          <p:nvSpPr>
            <p:cNvPr name="Freeform 12" id="12"/>
            <p:cNvSpPr/>
            <p:nvPr/>
          </p:nvSpPr>
          <p:spPr>
            <a:xfrm flipH="false" flipV="false" rot="0">
              <a:off x="8509" y="13708"/>
              <a:ext cx="10972800" cy="6599260"/>
            </a:xfrm>
            <a:custGeom>
              <a:avLst/>
              <a:gdLst/>
              <a:ahLst/>
              <a:cxnLst/>
              <a:rect r="r" b="b" t="t" l="l"/>
              <a:pathLst>
                <a:path h="6599260" w="10972800">
                  <a:moveTo>
                    <a:pt x="0" y="0"/>
                  </a:moveTo>
                  <a:lnTo>
                    <a:pt x="10972800" y="0"/>
                  </a:lnTo>
                  <a:lnTo>
                    <a:pt x="10972800" y="6599260"/>
                  </a:lnTo>
                  <a:lnTo>
                    <a:pt x="0" y="6599260"/>
                  </a:lnTo>
                  <a:close/>
                </a:path>
              </a:pathLst>
            </a:custGeom>
            <a:solidFill>
              <a:srgbClr val="FFFFFF"/>
            </a:solidFill>
          </p:spPr>
        </p:sp>
        <p:sp>
          <p:nvSpPr>
            <p:cNvPr name="Freeform 13" id="13"/>
            <p:cNvSpPr/>
            <p:nvPr/>
          </p:nvSpPr>
          <p:spPr>
            <a:xfrm flipH="false" flipV="false" rot="0">
              <a:off x="0" y="0"/>
              <a:ext cx="10989818" cy="6626621"/>
            </a:xfrm>
            <a:custGeom>
              <a:avLst/>
              <a:gdLst/>
              <a:ahLst/>
              <a:cxnLst/>
              <a:rect r="r" b="b" t="t" l="l"/>
              <a:pathLst>
                <a:path h="6626621" w="10989818">
                  <a:moveTo>
                    <a:pt x="8509" y="0"/>
                  </a:moveTo>
                  <a:lnTo>
                    <a:pt x="10981309" y="0"/>
                  </a:lnTo>
                  <a:cubicBezTo>
                    <a:pt x="10986008" y="0"/>
                    <a:pt x="10989818" y="6138"/>
                    <a:pt x="10989818" y="13708"/>
                  </a:cubicBezTo>
                  <a:lnTo>
                    <a:pt x="10989818" y="6612968"/>
                  </a:lnTo>
                  <a:cubicBezTo>
                    <a:pt x="10989818" y="6620538"/>
                    <a:pt x="10986008" y="6626621"/>
                    <a:pt x="10981309" y="6626621"/>
                  </a:cubicBezTo>
                  <a:lnTo>
                    <a:pt x="8509" y="6626621"/>
                  </a:lnTo>
                  <a:cubicBezTo>
                    <a:pt x="3810" y="6626621"/>
                    <a:pt x="0" y="6620538"/>
                    <a:pt x="0" y="6612968"/>
                  </a:cubicBezTo>
                  <a:lnTo>
                    <a:pt x="0" y="13708"/>
                  </a:lnTo>
                  <a:cubicBezTo>
                    <a:pt x="0" y="6138"/>
                    <a:pt x="3810" y="0"/>
                    <a:pt x="8509" y="0"/>
                  </a:cubicBezTo>
                  <a:moveTo>
                    <a:pt x="8509" y="27210"/>
                  </a:moveTo>
                  <a:lnTo>
                    <a:pt x="8509" y="13708"/>
                  </a:lnTo>
                  <a:lnTo>
                    <a:pt x="17018" y="13708"/>
                  </a:lnTo>
                  <a:lnTo>
                    <a:pt x="17018" y="6612968"/>
                  </a:lnTo>
                  <a:lnTo>
                    <a:pt x="8509" y="6612968"/>
                  </a:lnTo>
                  <a:lnTo>
                    <a:pt x="8509" y="6599260"/>
                  </a:lnTo>
                  <a:lnTo>
                    <a:pt x="10981309" y="6599260"/>
                  </a:lnTo>
                  <a:lnTo>
                    <a:pt x="10981309" y="6612968"/>
                  </a:lnTo>
                  <a:lnTo>
                    <a:pt x="10972800" y="6612968"/>
                  </a:lnTo>
                  <a:lnTo>
                    <a:pt x="10972800" y="13708"/>
                  </a:lnTo>
                  <a:lnTo>
                    <a:pt x="10981309" y="13708"/>
                  </a:lnTo>
                  <a:lnTo>
                    <a:pt x="10981309" y="27415"/>
                  </a:lnTo>
                  <a:lnTo>
                    <a:pt x="8509" y="27415"/>
                  </a:lnTo>
                  <a:close/>
                </a:path>
              </a:pathLst>
            </a:custGeom>
            <a:solidFill>
              <a:srgbClr val="E0E0E0"/>
            </a:solidFill>
          </p:spPr>
        </p:sp>
      </p:grpSp>
      <p:grpSp>
        <p:nvGrpSpPr>
          <p:cNvPr name="Group 14" id="14"/>
          <p:cNvGrpSpPr/>
          <p:nvPr/>
        </p:nvGrpSpPr>
        <p:grpSpPr>
          <a:xfrm rot="0">
            <a:off x="718823" y="1816103"/>
            <a:ext cx="135131" cy="4990368"/>
            <a:chOff x="0" y="0"/>
            <a:chExt cx="180175" cy="6653824"/>
          </a:xfrm>
        </p:grpSpPr>
        <p:sp>
          <p:nvSpPr>
            <p:cNvPr name="Freeform 15" id="15"/>
            <p:cNvSpPr/>
            <p:nvPr/>
          </p:nvSpPr>
          <p:spPr>
            <a:xfrm flipH="false" flipV="false" rot="0">
              <a:off x="16891" y="27210"/>
              <a:ext cx="146304" cy="6599260"/>
            </a:xfrm>
            <a:custGeom>
              <a:avLst/>
              <a:gdLst/>
              <a:ahLst/>
              <a:cxnLst/>
              <a:rect r="r" b="b" t="t" l="l"/>
              <a:pathLst>
                <a:path h="6599260" w="146304">
                  <a:moveTo>
                    <a:pt x="0" y="0"/>
                  </a:moveTo>
                  <a:lnTo>
                    <a:pt x="146304" y="0"/>
                  </a:lnTo>
                  <a:lnTo>
                    <a:pt x="146304" y="6599261"/>
                  </a:lnTo>
                  <a:lnTo>
                    <a:pt x="0" y="6599261"/>
                  </a:lnTo>
                  <a:close/>
                </a:path>
              </a:pathLst>
            </a:custGeom>
            <a:solidFill>
              <a:srgbClr val="52B788"/>
            </a:solidFill>
          </p:spPr>
        </p:sp>
        <p:sp>
          <p:nvSpPr>
            <p:cNvPr name="Freeform 16" id="16"/>
            <p:cNvSpPr/>
            <p:nvPr/>
          </p:nvSpPr>
          <p:spPr>
            <a:xfrm flipH="false" flipV="false" rot="0">
              <a:off x="0" y="0"/>
              <a:ext cx="180086" cy="6653681"/>
            </a:xfrm>
            <a:custGeom>
              <a:avLst/>
              <a:gdLst/>
              <a:ahLst/>
              <a:cxnLst/>
              <a:rect r="r" b="b" t="t" l="l"/>
              <a:pathLst>
                <a:path h="6653681" w="180086">
                  <a:moveTo>
                    <a:pt x="16891" y="0"/>
                  </a:moveTo>
                  <a:lnTo>
                    <a:pt x="163195" y="0"/>
                  </a:lnTo>
                  <a:cubicBezTo>
                    <a:pt x="172593" y="0"/>
                    <a:pt x="180086" y="12275"/>
                    <a:pt x="180086" y="27210"/>
                  </a:cubicBezTo>
                  <a:lnTo>
                    <a:pt x="180086" y="6626471"/>
                  </a:lnTo>
                  <a:cubicBezTo>
                    <a:pt x="180086" y="6641610"/>
                    <a:pt x="172466" y="6653681"/>
                    <a:pt x="163195" y="6653681"/>
                  </a:cubicBezTo>
                  <a:lnTo>
                    <a:pt x="16891" y="6653681"/>
                  </a:lnTo>
                  <a:cubicBezTo>
                    <a:pt x="7493" y="6653681"/>
                    <a:pt x="0" y="6641406"/>
                    <a:pt x="0" y="6626471"/>
                  </a:cubicBezTo>
                  <a:lnTo>
                    <a:pt x="0" y="27210"/>
                  </a:lnTo>
                  <a:cubicBezTo>
                    <a:pt x="0" y="12275"/>
                    <a:pt x="7620" y="0"/>
                    <a:pt x="16891" y="0"/>
                  </a:cubicBezTo>
                  <a:moveTo>
                    <a:pt x="16891" y="54626"/>
                  </a:moveTo>
                  <a:lnTo>
                    <a:pt x="16891" y="27210"/>
                  </a:lnTo>
                  <a:lnTo>
                    <a:pt x="33909" y="27210"/>
                  </a:lnTo>
                  <a:lnTo>
                    <a:pt x="33909" y="6626471"/>
                  </a:lnTo>
                  <a:lnTo>
                    <a:pt x="16891" y="6626471"/>
                  </a:lnTo>
                  <a:lnTo>
                    <a:pt x="16891" y="6599261"/>
                  </a:lnTo>
                  <a:lnTo>
                    <a:pt x="163195" y="6599261"/>
                  </a:lnTo>
                  <a:lnTo>
                    <a:pt x="163195" y="6626471"/>
                  </a:lnTo>
                  <a:lnTo>
                    <a:pt x="146304" y="6626471"/>
                  </a:lnTo>
                  <a:lnTo>
                    <a:pt x="146304" y="27210"/>
                  </a:lnTo>
                  <a:lnTo>
                    <a:pt x="163195" y="27210"/>
                  </a:lnTo>
                  <a:lnTo>
                    <a:pt x="163195" y="54626"/>
                  </a:lnTo>
                  <a:lnTo>
                    <a:pt x="16891" y="54626"/>
                  </a:lnTo>
                  <a:close/>
                </a:path>
              </a:pathLst>
            </a:custGeom>
            <a:solidFill>
              <a:srgbClr val="52B788"/>
            </a:solidFill>
          </p:spPr>
        </p:sp>
      </p:grpSp>
      <p:grpSp>
        <p:nvGrpSpPr>
          <p:cNvPr name="Group 17" id="17"/>
          <p:cNvGrpSpPr/>
          <p:nvPr/>
        </p:nvGrpSpPr>
        <p:grpSpPr>
          <a:xfrm rot="0">
            <a:off x="1005840" y="1938528"/>
            <a:ext cx="7772400" cy="542683"/>
            <a:chOff x="0" y="0"/>
            <a:chExt cx="10363200" cy="723577"/>
          </a:xfrm>
        </p:grpSpPr>
        <p:sp>
          <p:nvSpPr>
            <p:cNvPr name="Freeform 18" id="18"/>
            <p:cNvSpPr/>
            <p:nvPr/>
          </p:nvSpPr>
          <p:spPr>
            <a:xfrm flipH="false" flipV="false" rot="0">
              <a:off x="0" y="0"/>
              <a:ext cx="10363200" cy="723577"/>
            </a:xfrm>
            <a:custGeom>
              <a:avLst/>
              <a:gdLst/>
              <a:ahLst/>
              <a:cxnLst/>
              <a:rect r="r" b="b" t="t" l="l"/>
              <a:pathLst>
                <a:path h="723577" w="10363200">
                  <a:moveTo>
                    <a:pt x="0" y="0"/>
                  </a:moveTo>
                  <a:lnTo>
                    <a:pt x="10363200" y="0"/>
                  </a:lnTo>
                  <a:lnTo>
                    <a:pt x="10363200" y="723577"/>
                  </a:lnTo>
                  <a:lnTo>
                    <a:pt x="0" y="723577"/>
                  </a:lnTo>
                  <a:close/>
                </a:path>
              </a:pathLst>
            </a:custGeom>
            <a:blipFill>
              <a:blip r:embed="rId3">
                <a:alphaModFix amt="0"/>
              </a:blip>
              <a:stretch>
                <a:fillRect l="0" t="-231889" r="0" b="-226247"/>
              </a:stretch>
            </a:blipFill>
          </p:spPr>
        </p:sp>
        <p:sp>
          <p:nvSpPr>
            <p:cNvPr name="TextBox 19" id="19"/>
            <p:cNvSpPr txBox="true"/>
            <p:nvPr/>
          </p:nvSpPr>
          <p:spPr>
            <a:xfrm>
              <a:off x="0" y="-57150"/>
              <a:ext cx="10363200" cy="780727"/>
            </a:xfrm>
            <a:prstGeom prst="rect">
              <a:avLst/>
            </a:prstGeom>
          </p:spPr>
          <p:txBody>
            <a:bodyPr anchor="ctr" rtlCol="false" tIns="0" lIns="0" bIns="0" rIns="0"/>
            <a:lstStyle/>
            <a:p>
              <a:pPr algn="l">
                <a:lnSpc>
                  <a:spcPts val="3239"/>
                </a:lnSpc>
              </a:pPr>
              <a:r>
                <a:rPr lang="en-US" sz="2699" b="true">
                  <a:solidFill>
                    <a:srgbClr val="2D6A2D"/>
                  </a:solidFill>
                  <a:latin typeface="Calibri (MS) Bold"/>
                  <a:ea typeface="Calibri (MS) Bold"/>
                  <a:cs typeface="Calibri (MS) Bold"/>
                  <a:sym typeface="Calibri (MS) Bold"/>
                </a:rPr>
                <a:t>Qu'est-ce que l'OOB ?</a:t>
              </a:r>
            </a:p>
          </p:txBody>
        </p:sp>
      </p:grpSp>
      <p:grpSp>
        <p:nvGrpSpPr>
          <p:cNvPr name="Group 20" id="20"/>
          <p:cNvGrpSpPr/>
          <p:nvPr/>
        </p:nvGrpSpPr>
        <p:grpSpPr>
          <a:xfrm rot="0">
            <a:off x="1028700" y="1813199"/>
            <a:ext cx="7772400" cy="3511200"/>
            <a:chOff x="0" y="0"/>
            <a:chExt cx="10363200" cy="4681600"/>
          </a:xfrm>
        </p:grpSpPr>
        <p:sp>
          <p:nvSpPr>
            <p:cNvPr name="Freeform 21" id="21"/>
            <p:cNvSpPr/>
            <p:nvPr/>
          </p:nvSpPr>
          <p:spPr>
            <a:xfrm flipH="false" flipV="false" rot="0">
              <a:off x="0" y="0"/>
              <a:ext cx="10363200" cy="4681600"/>
            </a:xfrm>
            <a:custGeom>
              <a:avLst/>
              <a:gdLst/>
              <a:ahLst/>
              <a:cxnLst/>
              <a:rect r="r" b="b" t="t" l="l"/>
              <a:pathLst>
                <a:path h="4681600" w="10363200">
                  <a:moveTo>
                    <a:pt x="0" y="0"/>
                  </a:moveTo>
                  <a:lnTo>
                    <a:pt x="10363200" y="0"/>
                  </a:lnTo>
                  <a:lnTo>
                    <a:pt x="10363200" y="4681600"/>
                  </a:lnTo>
                  <a:lnTo>
                    <a:pt x="0" y="4681600"/>
                  </a:lnTo>
                  <a:close/>
                </a:path>
              </a:pathLst>
            </a:custGeom>
            <a:blipFill>
              <a:blip r:embed="rId3">
                <a:alphaModFix amt="0"/>
              </a:blip>
              <a:stretch>
                <a:fillRect l="0" t="-11881" r="0" b="25617"/>
              </a:stretch>
            </a:blipFill>
          </p:spPr>
        </p:sp>
        <p:sp>
          <p:nvSpPr>
            <p:cNvPr name="TextBox 22" id="22"/>
            <p:cNvSpPr txBox="true"/>
            <p:nvPr/>
          </p:nvSpPr>
          <p:spPr>
            <a:xfrm>
              <a:off x="0" y="-161925"/>
              <a:ext cx="10363200" cy="4843525"/>
            </a:xfrm>
            <a:prstGeom prst="rect">
              <a:avLst/>
            </a:prstGeom>
          </p:spPr>
          <p:txBody>
            <a:bodyPr anchor="ctr" rtlCol="false" tIns="0" lIns="0" bIns="0" rIns="0"/>
            <a:lstStyle/>
            <a:p>
              <a:pPr algn="l">
                <a:lnSpc>
                  <a:spcPts val="4199"/>
                </a:lnSpc>
              </a:pPr>
              <a:r>
                <a:rPr lang="en-US" sz="2499">
                  <a:solidFill>
                    <a:srgbClr val="1E3A1E"/>
                  </a:solidFill>
                  <a:latin typeface="Calibri (MS)"/>
                  <a:ea typeface="Calibri (MS)"/>
                  <a:cs typeface="Calibri (MS)"/>
                  <a:sym typeface="Calibri (MS)"/>
                </a:rPr>
                <a:t>Lors du Bootstrap, chaque arbre est entraîné sur un tirage aléatoire avec remise d'environ 63% des données. Les 37% restants — ne sont pas utilisées par cet arbre — elles sont appelés échantillons Out-Of-Bag (OOB). </a:t>
              </a:r>
            </a:p>
          </p:txBody>
        </p:sp>
      </p:grpSp>
      <p:grpSp>
        <p:nvGrpSpPr>
          <p:cNvPr name="Group 23" id="23"/>
          <p:cNvGrpSpPr/>
          <p:nvPr/>
        </p:nvGrpSpPr>
        <p:grpSpPr>
          <a:xfrm rot="0">
            <a:off x="9320527" y="1824175"/>
            <a:ext cx="8333737" cy="3925593"/>
            <a:chOff x="0" y="0"/>
            <a:chExt cx="11111649" cy="5234123"/>
          </a:xfrm>
        </p:grpSpPr>
        <p:sp>
          <p:nvSpPr>
            <p:cNvPr name="Freeform 24" id="24"/>
            <p:cNvSpPr/>
            <p:nvPr/>
          </p:nvSpPr>
          <p:spPr>
            <a:xfrm flipH="false" flipV="false" rot="0">
              <a:off x="8509" y="10827"/>
              <a:ext cx="11094719" cy="5212582"/>
            </a:xfrm>
            <a:custGeom>
              <a:avLst/>
              <a:gdLst/>
              <a:ahLst/>
              <a:cxnLst/>
              <a:rect r="r" b="b" t="t" l="l"/>
              <a:pathLst>
                <a:path h="5212582" w="11094719">
                  <a:moveTo>
                    <a:pt x="0" y="0"/>
                  </a:moveTo>
                  <a:lnTo>
                    <a:pt x="11094719" y="0"/>
                  </a:lnTo>
                  <a:lnTo>
                    <a:pt x="11094719" y="5212582"/>
                  </a:lnTo>
                  <a:lnTo>
                    <a:pt x="0" y="5212582"/>
                  </a:lnTo>
                  <a:close/>
                </a:path>
              </a:pathLst>
            </a:custGeom>
            <a:solidFill>
              <a:srgbClr val="FFFFFF"/>
            </a:solidFill>
          </p:spPr>
        </p:sp>
        <p:sp>
          <p:nvSpPr>
            <p:cNvPr name="Freeform 25" id="25"/>
            <p:cNvSpPr/>
            <p:nvPr/>
          </p:nvSpPr>
          <p:spPr>
            <a:xfrm flipH="false" flipV="false" rot="0">
              <a:off x="0" y="0"/>
              <a:ext cx="11111738" cy="5234213"/>
            </a:xfrm>
            <a:custGeom>
              <a:avLst/>
              <a:gdLst/>
              <a:ahLst/>
              <a:cxnLst/>
              <a:rect r="r" b="b" t="t" l="l"/>
              <a:pathLst>
                <a:path h="5234213" w="11111738">
                  <a:moveTo>
                    <a:pt x="8509" y="0"/>
                  </a:moveTo>
                  <a:lnTo>
                    <a:pt x="11103228" y="0"/>
                  </a:lnTo>
                  <a:cubicBezTo>
                    <a:pt x="11107927" y="0"/>
                    <a:pt x="11111738" y="4848"/>
                    <a:pt x="11111738" y="10827"/>
                  </a:cubicBezTo>
                  <a:lnTo>
                    <a:pt x="11111738" y="5223409"/>
                  </a:lnTo>
                  <a:cubicBezTo>
                    <a:pt x="11111738" y="5229389"/>
                    <a:pt x="11107927" y="5234213"/>
                    <a:pt x="11103228" y="5234213"/>
                  </a:cubicBezTo>
                  <a:lnTo>
                    <a:pt x="8509" y="5234213"/>
                  </a:lnTo>
                  <a:cubicBezTo>
                    <a:pt x="3810" y="5234213"/>
                    <a:pt x="0" y="5229389"/>
                    <a:pt x="0" y="5223409"/>
                  </a:cubicBezTo>
                  <a:lnTo>
                    <a:pt x="0" y="10827"/>
                  </a:lnTo>
                  <a:cubicBezTo>
                    <a:pt x="0" y="4848"/>
                    <a:pt x="3810" y="0"/>
                    <a:pt x="8509" y="0"/>
                  </a:cubicBezTo>
                  <a:moveTo>
                    <a:pt x="8509" y="21493"/>
                  </a:moveTo>
                  <a:lnTo>
                    <a:pt x="8509" y="10827"/>
                  </a:lnTo>
                  <a:lnTo>
                    <a:pt x="17018" y="10827"/>
                  </a:lnTo>
                  <a:lnTo>
                    <a:pt x="17018" y="5223409"/>
                  </a:lnTo>
                  <a:lnTo>
                    <a:pt x="8509" y="5223409"/>
                  </a:lnTo>
                  <a:lnTo>
                    <a:pt x="8509" y="5212582"/>
                  </a:lnTo>
                  <a:lnTo>
                    <a:pt x="11103228" y="5212582"/>
                  </a:lnTo>
                  <a:lnTo>
                    <a:pt x="11103228" y="5223409"/>
                  </a:lnTo>
                  <a:lnTo>
                    <a:pt x="11094720" y="5223409"/>
                  </a:lnTo>
                  <a:lnTo>
                    <a:pt x="11094720" y="10827"/>
                  </a:lnTo>
                  <a:lnTo>
                    <a:pt x="11103228" y="10827"/>
                  </a:lnTo>
                  <a:lnTo>
                    <a:pt x="11103228" y="21654"/>
                  </a:lnTo>
                  <a:lnTo>
                    <a:pt x="8509" y="21654"/>
                  </a:lnTo>
                  <a:close/>
                </a:path>
              </a:pathLst>
            </a:custGeom>
            <a:solidFill>
              <a:srgbClr val="E0E0E0"/>
            </a:solidFill>
          </p:spPr>
        </p:sp>
      </p:grpSp>
      <p:grpSp>
        <p:nvGrpSpPr>
          <p:cNvPr name="Group 26" id="26"/>
          <p:cNvGrpSpPr/>
          <p:nvPr/>
        </p:nvGrpSpPr>
        <p:grpSpPr>
          <a:xfrm rot="0">
            <a:off x="9314183" y="1816103"/>
            <a:ext cx="135131" cy="3941761"/>
            <a:chOff x="0" y="0"/>
            <a:chExt cx="180175" cy="5255681"/>
          </a:xfrm>
        </p:grpSpPr>
        <p:sp>
          <p:nvSpPr>
            <p:cNvPr name="Freeform 27" id="27"/>
            <p:cNvSpPr/>
            <p:nvPr/>
          </p:nvSpPr>
          <p:spPr>
            <a:xfrm flipH="false" flipV="false" rot="0">
              <a:off x="16891" y="21493"/>
              <a:ext cx="146304" cy="5212582"/>
            </a:xfrm>
            <a:custGeom>
              <a:avLst/>
              <a:gdLst/>
              <a:ahLst/>
              <a:cxnLst/>
              <a:rect r="r" b="b" t="t" l="l"/>
              <a:pathLst>
                <a:path h="5212582" w="146304">
                  <a:moveTo>
                    <a:pt x="0" y="0"/>
                  </a:moveTo>
                  <a:lnTo>
                    <a:pt x="146304" y="0"/>
                  </a:lnTo>
                  <a:lnTo>
                    <a:pt x="146304" y="5212582"/>
                  </a:lnTo>
                  <a:lnTo>
                    <a:pt x="0" y="5212582"/>
                  </a:lnTo>
                  <a:close/>
                </a:path>
              </a:pathLst>
            </a:custGeom>
            <a:solidFill>
              <a:srgbClr val="F4A261"/>
            </a:solidFill>
          </p:spPr>
        </p:sp>
        <p:sp>
          <p:nvSpPr>
            <p:cNvPr name="Freeform 28" id="28"/>
            <p:cNvSpPr/>
            <p:nvPr/>
          </p:nvSpPr>
          <p:spPr>
            <a:xfrm flipH="false" flipV="false" rot="0">
              <a:off x="0" y="0"/>
              <a:ext cx="180086" cy="5255568"/>
            </a:xfrm>
            <a:custGeom>
              <a:avLst/>
              <a:gdLst/>
              <a:ahLst/>
              <a:cxnLst/>
              <a:rect r="r" b="b" t="t" l="l"/>
              <a:pathLst>
                <a:path h="5255568" w="180086">
                  <a:moveTo>
                    <a:pt x="16891" y="0"/>
                  </a:moveTo>
                  <a:lnTo>
                    <a:pt x="163195" y="0"/>
                  </a:lnTo>
                  <a:cubicBezTo>
                    <a:pt x="172593" y="0"/>
                    <a:pt x="180086" y="9696"/>
                    <a:pt x="180086" y="21493"/>
                  </a:cubicBezTo>
                  <a:lnTo>
                    <a:pt x="180086" y="5234075"/>
                  </a:lnTo>
                  <a:cubicBezTo>
                    <a:pt x="180086" y="5246033"/>
                    <a:pt x="172466" y="5255568"/>
                    <a:pt x="163195" y="5255568"/>
                  </a:cubicBezTo>
                  <a:lnTo>
                    <a:pt x="16891" y="5255568"/>
                  </a:lnTo>
                  <a:cubicBezTo>
                    <a:pt x="7493" y="5255568"/>
                    <a:pt x="0" y="5245872"/>
                    <a:pt x="0" y="5234075"/>
                  </a:cubicBezTo>
                  <a:lnTo>
                    <a:pt x="0" y="21493"/>
                  </a:lnTo>
                  <a:cubicBezTo>
                    <a:pt x="0" y="9696"/>
                    <a:pt x="7620" y="0"/>
                    <a:pt x="16891" y="0"/>
                  </a:cubicBezTo>
                  <a:moveTo>
                    <a:pt x="16891" y="43147"/>
                  </a:moveTo>
                  <a:lnTo>
                    <a:pt x="16891" y="21493"/>
                  </a:lnTo>
                  <a:lnTo>
                    <a:pt x="33909" y="21493"/>
                  </a:lnTo>
                  <a:lnTo>
                    <a:pt x="33909" y="5234075"/>
                  </a:lnTo>
                  <a:lnTo>
                    <a:pt x="16891" y="5234075"/>
                  </a:lnTo>
                  <a:lnTo>
                    <a:pt x="16891" y="5212583"/>
                  </a:lnTo>
                  <a:lnTo>
                    <a:pt x="163195" y="5212583"/>
                  </a:lnTo>
                  <a:lnTo>
                    <a:pt x="163195" y="5234075"/>
                  </a:lnTo>
                  <a:lnTo>
                    <a:pt x="146304" y="5234075"/>
                  </a:lnTo>
                  <a:lnTo>
                    <a:pt x="146304" y="21493"/>
                  </a:lnTo>
                  <a:lnTo>
                    <a:pt x="163195" y="21493"/>
                  </a:lnTo>
                  <a:lnTo>
                    <a:pt x="163195" y="43147"/>
                  </a:lnTo>
                  <a:lnTo>
                    <a:pt x="16891" y="43147"/>
                  </a:lnTo>
                  <a:close/>
                </a:path>
              </a:pathLst>
            </a:custGeom>
            <a:solidFill>
              <a:srgbClr val="F4A261"/>
            </a:solidFill>
          </p:spPr>
        </p:sp>
      </p:grpSp>
      <p:grpSp>
        <p:nvGrpSpPr>
          <p:cNvPr name="Group 29" id="29"/>
          <p:cNvGrpSpPr/>
          <p:nvPr/>
        </p:nvGrpSpPr>
        <p:grpSpPr>
          <a:xfrm rot="0">
            <a:off x="9601200" y="1938528"/>
            <a:ext cx="7772400" cy="542683"/>
            <a:chOff x="0" y="0"/>
            <a:chExt cx="10363200" cy="723577"/>
          </a:xfrm>
        </p:grpSpPr>
        <p:sp>
          <p:nvSpPr>
            <p:cNvPr name="Freeform 30" id="30"/>
            <p:cNvSpPr/>
            <p:nvPr/>
          </p:nvSpPr>
          <p:spPr>
            <a:xfrm flipH="false" flipV="false" rot="0">
              <a:off x="0" y="0"/>
              <a:ext cx="10363200" cy="723577"/>
            </a:xfrm>
            <a:custGeom>
              <a:avLst/>
              <a:gdLst/>
              <a:ahLst/>
              <a:cxnLst/>
              <a:rect r="r" b="b" t="t" l="l"/>
              <a:pathLst>
                <a:path h="723577" w="10363200">
                  <a:moveTo>
                    <a:pt x="0" y="0"/>
                  </a:moveTo>
                  <a:lnTo>
                    <a:pt x="10363200" y="0"/>
                  </a:lnTo>
                  <a:lnTo>
                    <a:pt x="10363200" y="723577"/>
                  </a:lnTo>
                  <a:lnTo>
                    <a:pt x="0" y="723577"/>
                  </a:lnTo>
                  <a:close/>
                </a:path>
              </a:pathLst>
            </a:custGeom>
            <a:blipFill>
              <a:blip r:embed="rId3">
                <a:alphaModFix amt="0"/>
              </a:blip>
              <a:stretch>
                <a:fillRect l="0" t="-231889" r="0" b="-226247"/>
              </a:stretch>
            </a:blipFill>
          </p:spPr>
        </p:sp>
        <p:sp>
          <p:nvSpPr>
            <p:cNvPr name="TextBox 31" id="31"/>
            <p:cNvSpPr txBox="true"/>
            <p:nvPr/>
          </p:nvSpPr>
          <p:spPr>
            <a:xfrm>
              <a:off x="0" y="-57150"/>
              <a:ext cx="10363200" cy="780727"/>
            </a:xfrm>
            <a:prstGeom prst="rect">
              <a:avLst/>
            </a:prstGeom>
          </p:spPr>
          <p:txBody>
            <a:bodyPr anchor="ctr" rtlCol="false" tIns="0" lIns="0" bIns="0" rIns="0"/>
            <a:lstStyle/>
            <a:p>
              <a:pPr algn="l">
                <a:lnSpc>
                  <a:spcPts val="3239"/>
                </a:lnSpc>
              </a:pPr>
              <a:r>
                <a:rPr lang="en-US" sz="2699" b="true">
                  <a:solidFill>
                    <a:srgbClr val="F4A261"/>
                  </a:solidFill>
                  <a:latin typeface="Calibri (MS) Bold"/>
                  <a:ea typeface="Calibri (MS) Bold"/>
                  <a:cs typeface="Calibri (MS) Bold"/>
                  <a:sym typeface="Calibri (MS) Bold"/>
                </a:rPr>
                <a:t>Formule &amp; Interprétation</a:t>
              </a:r>
            </a:p>
          </p:txBody>
        </p:sp>
      </p:grpSp>
      <p:grpSp>
        <p:nvGrpSpPr>
          <p:cNvPr name="Group 32" id="32"/>
          <p:cNvGrpSpPr/>
          <p:nvPr/>
        </p:nvGrpSpPr>
        <p:grpSpPr>
          <a:xfrm rot="0">
            <a:off x="9594847" y="2754993"/>
            <a:ext cx="7785097" cy="853892"/>
            <a:chOff x="0" y="0"/>
            <a:chExt cx="10380129" cy="1138523"/>
          </a:xfrm>
        </p:grpSpPr>
        <p:sp>
          <p:nvSpPr>
            <p:cNvPr name="Freeform 33" id="33"/>
            <p:cNvSpPr/>
            <p:nvPr/>
          </p:nvSpPr>
          <p:spPr>
            <a:xfrm flipH="false" flipV="false" rot="0">
              <a:off x="8509" y="10827"/>
              <a:ext cx="10363200" cy="1116982"/>
            </a:xfrm>
            <a:custGeom>
              <a:avLst/>
              <a:gdLst/>
              <a:ahLst/>
              <a:cxnLst/>
              <a:rect r="r" b="b" t="t" l="l"/>
              <a:pathLst>
                <a:path h="1116982" w="10363200">
                  <a:moveTo>
                    <a:pt x="0" y="0"/>
                  </a:moveTo>
                  <a:lnTo>
                    <a:pt x="10363200" y="0"/>
                  </a:lnTo>
                  <a:lnTo>
                    <a:pt x="10363200" y="1116982"/>
                  </a:lnTo>
                  <a:lnTo>
                    <a:pt x="0" y="1116982"/>
                  </a:lnTo>
                  <a:close/>
                </a:path>
              </a:pathLst>
            </a:custGeom>
            <a:solidFill>
              <a:srgbClr val="0D1117"/>
            </a:solidFill>
          </p:spPr>
        </p:sp>
        <p:sp>
          <p:nvSpPr>
            <p:cNvPr name="Freeform 34" id="34"/>
            <p:cNvSpPr/>
            <p:nvPr/>
          </p:nvSpPr>
          <p:spPr>
            <a:xfrm flipH="false" flipV="false" rot="0">
              <a:off x="0" y="0"/>
              <a:ext cx="10380218" cy="1138612"/>
            </a:xfrm>
            <a:custGeom>
              <a:avLst/>
              <a:gdLst/>
              <a:ahLst/>
              <a:cxnLst/>
              <a:rect r="r" b="b" t="t" l="l"/>
              <a:pathLst>
                <a:path h="1138612" w="10380218">
                  <a:moveTo>
                    <a:pt x="8509" y="0"/>
                  </a:moveTo>
                  <a:lnTo>
                    <a:pt x="10371709" y="0"/>
                  </a:lnTo>
                  <a:cubicBezTo>
                    <a:pt x="10376408" y="0"/>
                    <a:pt x="10380218" y="4848"/>
                    <a:pt x="10380218" y="10827"/>
                  </a:cubicBezTo>
                  <a:lnTo>
                    <a:pt x="10380218" y="1127809"/>
                  </a:lnTo>
                  <a:cubicBezTo>
                    <a:pt x="10380218" y="1133788"/>
                    <a:pt x="10376408" y="1138612"/>
                    <a:pt x="10371709" y="1138612"/>
                  </a:cubicBezTo>
                  <a:lnTo>
                    <a:pt x="8509" y="1138612"/>
                  </a:lnTo>
                  <a:cubicBezTo>
                    <a:pt x="3810" y="1138612"/>
                    <a:pt x="0" y="1133788"/>
                    <a:pt x="0" y="1127809"/>
                  </a:cubicBezTo>
                  <a:lnTo>
                    <a:pt x="0" y="10827"/>
                  </a:lnTo>
                  <a:cubicBezTo>
                    <a:pt x="0" y="4848"/>
                    <a:pt x="3810" y="0"/>
                    <a:pt x="8509" y="0"/>
                  </a:cubicBezTo>
                  <a:moveTo>
                    <a:pt x="8509" y="21493"/>
                  </a:moveTo>
                  <a:lnTo>
                    <a:pt x="8509" y="10827"/>
                  </a:lnTo>
                  <a:lnTo>
                    <a:pt x="17018" y="10827"/>
                  </a:lnTo>
                  <a:lnTo>
                    <a:pt x="17018" y="1127809"/>
                  </a:lnTo>
                  <a:lnTo>
                    <a:pt x="8509" y="1127809"/>
                  </a:lnTo>
                  <a:lnTo>
                    <a:pt x="8509" y="1116982"/>
                  </a:lnTo>
                  <a:lnTo>
                    <a:pt x="10371709" y="1116982"/>
                  </a:lnTo>
                  <a:lnTo>
                    <a:pt x="10371709" y="1127809"/>
                  </a:lnTo>
                  <a:lnTo>
                    <a:pt x="10363200" y="1127809"/>
                  </a:lnTo>
                  <a:lnTo>
                    <a:pt x="10363200" y="10827"/>
                  </a:lnTo>
                  <a:lnTo>
                    <a:pt x="10371709" y="10827"/>
                  </a:lnTo>
                  <a:lnTo>
                    <a:pt x="10371709" y="21654"/>
                  </a:lnTo>
                  <a:lnTo>
                    <a:pt x="8509" y="21654"/>
                  </a:lnTo>
                  <a:close/>
                </a:path>
              </a:pathLst>
            </a:custGeom>
            <a:solidFill>
              <a:srgbClr val="333333"/>
            </a:solidFill>
          </p:spPr>
        </p:sp>
      </p:grpSp>
      <p:grpSp>
        <p:nvGrpSpPr>
          <p:cNvPr name="Group 35" id="35"/>
          <p:cNvGrpSpPr/>
          <p:nvPr/>
        </p:nvGrpSpPr>
        <p:grpSpPr>
          <a:xfrm rot="0">
            <a:off x="9692640" y="2763077"/>
            <a:ext cx="7589520" cy="837736"/>
            <a:chOff x="0" y="0"/>
            <a:chExt cx="10119360" cy="1116982"/>
          </a:xfrm>
        </p:grpSpPr>
        <p:sp>
          <p:nvSpPr>
            <p:cNvPr name="Freeform 36" id="36"/>
            <p:cNvSpPr/>
            <p:nvPr/>
          </p:nvSpPr>
          <p:spPr>
            <a:xfrm flipH="false" flipV="false" rot="0">
              <a:off x="0" y="0"/>
              <a:ext cx="10119360" cy="1116982"/>
            </a:xfrm>
            <a:custGeom>
              <a:avLst/>
              <a:gdLst/>
              <a:ahLst/>
              <a:cxnLst/>
              <a:rect r="r" b="b" t="t" l="l"/>
              <a:pathLst>
                <a:path h="1116982" w="10119360">
                  <a:moveTo>
                    <a:pt x="0" y="0"/>
                  </a:moveTo>
                  <a:lnTo>
                    <a:pt x="10119360" y="0"/>
                  </a:lnTo>
                  <a:lnTo>
                    <a:pt x="10119360" y="1116982"/>
                  </a:lnTo>
                  <a:lnTo>
                    <a:pt x="0" y="1116982"/>
                  </a:lnTo>
                  <a:close/>
                </a:path>
              </a:pathLst>
            </a:custGeom>
            <a:blipFill>
              <a:blip r:embed="rId3">
                <a:alphaModFix amt="0"/>
              </a:blip>
              <a:stretch>
                <a:fillRect l="0" t="-137231" r="0" b="-115820"/>
              </a:stretch>
            </a:blipFill>
          </p:spPr>
        </p:sp>
        <p:sp>
          <p:nvSpPr>
            <p:cNvPr name="TextBox 37" id="37"/>
            <p:cNvSpPr txBox="true"/>
            <p:nvPr/>
          </p:nvSpPr>
          <p:spPr>
            <a:xfrm>
              <a:off x="0" y="-47625"/>
              <a:ext cx="10119360" cy="1164607"/>
            </a:xfrm>
            <a:prstGeom prst="rect">
              <a:avLst/>
            </a:prstGeom>
          </p:spPr>
          <p:txBody>
            <a:bodyPr anchor="ctr" rtlCol="false" tIns="0" lIns="0" bIns="0" rIns="0"/>
            <a:lstStyle/>
            <a:p>
              <a:pPr algn="ctr">
                <a:lnSpc>
                  <a:spcPts val="2639"/>
                </a:lnSpc>
              </a:pPr>
              <a:r>
                <a:rPr lang="en-US" sz="2199" b="true">
                  <a:solidFill>
                    <a:srgbClr val="A8FF60"/>
                  </a:solidFill>
                  <a:latin typeface="Consolas Bold"/>
                  <a:ea typeface="Consolas Bold"/>
                  <a:cs typeface="Consolas Bold"/>
                  <a:sym typeface="Consolas Bold"/>
                </a:rPr>
                <a:t>OOB Score  =  Proportion de prédictions OOB correctes</a:t>
              </a:r>
            </a:p>
          </p:txBody>
        </p:sp>
      </p:grpSp>
      <p:grpSp>
        <p:nvGrpSpPr>
          <p:cNvPr name="Group 38" id="38"/>
          <p:cNvGrpSpPr/>
          <p:nvPr/>
        </p:nvGrpSpPr>
        <p:grpSpPr>
          <a:xfrm rot="0">
            <a:off x="9594847" y="3732352"/>
            <a:ext cx="7785097" cy="853892"/>
            <a:chOff x="0" y="0"/>
            <a:chExt cx="10380129" cy="1138523"/>
          </a:xfrm>
        </p:grpSpPr>
        <p:sp>
          <p:nvSpPr>
            <p:cNvPr name="Freeform 39" id="39"/>
            <p:cNvSpPr/>
            <p:nvPr/>
          </p:nvSpPr>
          <p:spPr>
            <a:xfrm flipH="false" flipV="false" rot="0">
              <a:off x="8509" y="10827"/>
              <a:ext cx="10363200" cy="1116982"/>
            </a:xfrm>
            <a:custGeom>
              <a:avLst/>
              <a:gdLst/>
              <a:ahLst/>
              <a:cxnLst/>
              <a:rect r="r" b="b" t="t" l="l"/>
              <a:pathLst>
                <a:path h="1116982" w="10363200">
                  <a:moveTo>
                    <a:pt x="0" y="0"/>
                  </a:moveTo>
                  <a:lnTo>
                    <a:pt x="10363200" y="0"/>
                  </a:lnTo>
                  <a:lnTo>
                    <a:pt x="10363200" y="1116982"/>
                  </a:lnTo>
                  <a:lnTo>
                    <a:pt x="0" y="1116982"/>
                  </a:lnTo>
                  <a:close/>
                </a:path>
              </a:pathLst>
            </a:custGeom>
            <a:solidFill>
              <a:srgbClr val="0D1117"/>
            </a:solidFill>
          </p:spPr>
        </p:sp>
        <p:sp>
          <p:nvSpPr>
            <p:cNvPr name="Freeform 40" id="40"/>
            <p:cNvSpPr/>
            <p:nvPr/>
          </p:nvSpPr>
          <p:spPr>
            <a:xfrm flipH="false" flipV="false" rot="0">
              <a:off x="0" y="0"/>
              <a:ext cx="10380218" cy="1138612"/>
            </a:xfrm>
            <a:custGeom>
              <a:avLst/>
              <a:gdLst/>
              <a:ahLst/>
              <a:cxnLst/>
              <a:rect r="r" b="b" t="t" l="l"/>
              <a:pathLst>
                <a:path h="1138612" w="10380218">
                  <a:moveTo>
                    <a:pt x="8509" y="0"/>
                  </a:moveTo>
                  <a:lnTo>
                    <a:pt x="10371709" y="0"/>
                  </a:lnTo>
                  <a:cubicBezTo>
                    <a:pt x="10376408" y="0"/>
                    <a:pt x="10380218" y="4848"/>
                    <a:pt x="10380218" y="10827"/>
                  </a:cubicBezTo>
                  <a:lnTo>
                    <a:pt x="10380218" y="1127809"/>
                  </a:lnTo>
                  <a:cubicBezTo>
                    <a:pt x="10380218" y="1133788"/>
                    <a:pt x="10376408" y="1138612"/>
                    <a:pt x="10371709" y="1138612"/>
                  </a:cubicBezTo>
                  <a:lnTo>
                    <a:pt x="8509" y="1138612"/>
                  </a:lnTo>
                  <a:cubicBezTo>
                    <a:pt x="3810" y="1138612"/>
                    <a:pt x="0" y="1133788"/>
                    <a:pt x="0" y="1127809"/>
                  </a:cubicBezTo>
                  <a:lnTo>
                    <a:pt x="0" y="10827"/>
                  </a:lnTo>
                  <a:cubicBezTo>
                    <a:pt x="0" y="4848"/>
                    <a:pt x="3810" y="0"/>
                    <a:pt x="8509" y="0"/>
                  </a:cubicBezTo>
                  <a:moveTo>
                    <a:pt x="8509" y="21493"/>
                  </a:moveTo>
                  <a:lnTo>
                    <a:pt x="8509" y="10827"/>
                  </a:lnTo>
                  <a:lnTo>
                    <a:pt x="17018" y="10827"/>
                  </a:lnTo>
                  <a:lnTo>
                    <a:pt x="17018" y="1127809"/>
                  </a:lnTo>
                  <a:lnTo>
                    <a:pt x="8509" y="1127809"/>
                  </a:lnTo>
                  <a:lnTo>
                    <a:pt x="8509" y="1116982"/>
                  </a:lnTo>
                  <a:lnTo>
                    <a:pt x="10371709" y="1116982"/>
                  </a:lnTo>
                  <a:lnTo>
                    <a:pt x="10371709" y="1127809"/>
                  </a:lnTo>
                  <a:lnTo>
                    <a:pt x="10363200" y="1127809"/>
                  </a:lnTo>
                  <a:lnTo>
                    <a:pt x="10363200" y="10827"/>
                  </a:lnTo>
                  <a:lnTo>
                    <a:pt x="10371709" y="10827"/>
                  </a:lnTo>
                  <a:lnTo>
                    <a:pt x="10371709" y="21654"/>
                  </a:lnTo>
                  <a:lnTo>
                    <a:pt x="8509" y="21654"/>
                  </a:lnTo>
                  <a:close/>
                </a:path>
              </a:pathLst>
            </a:custGeom>
            <a:solidFill>
              <a:srgbClr val="333333"/>
            </a:solidFill>
          </p:spPr>
        </p:sp>
      </p:grpSp>
      <p:grpSp>
        <p:nvGrpSpPr>
          <p:cNvPr name="Group 41" id="41"/>
          <p:cNvGrpSpPr/>
          <p:nvPr/>
        </p:nvGrpSpPr>
        <p:grpSpPr>
          <a:xfrm rot="0">
            <a:off x="9692640" y="3740437"/>
            <a:ext cx="7589520" cy="837736"/>
            <a:chOff x="0" y="0"/>
            <a:chExt cx="10119360" cy="1116982"/>
          </a:xfrm>
        </p:grpSpPr>
        <p:sp>
          <p:nvSpPr>
            <p:cNvPr name="Freeform 42" id="42"/>
            <p:cNvSpPr/>
            <p:nvPr/>
          </p:nvSpPr>
          <p:spPr>
            <a:xfrm flipH="false" flipV="false" rot="0">
              <a:off x="0" y="0"/>
              <a:ext cx="10119360" cy="1116982"/>
            </a:xfrm>
            <a:custGeom>
              <a:avLst/>
              <a:gdLst/>
              <a:ahLst/>
              <a:cxnLst/>
              <a:rect r="r" b="b" t="t" l="l"/>
              <a:pathLst>
                <a:path h="1116982" w="10119360">
                  <a:moveTo>
                    <a:pt x="0" y="0"/>
                  </a:moveTo>
                  <a:lnTo>
                    <a:pt x="10119360" y="0"/>
                  </a:lnTo>
                  <a:lnTo>
                    <a:pt x="10119360" y="1116982"/>
                  </a:lnTo>
                  <a:lnTo>
                    <a:pt x="0" y="1116982"/>
                  </a:lnTo>
                  <a:close/>
                </a:path>
              </a:pathLst>
            </a:custGeom>
            <a:blipFill>
              <a:blip r:embed="rId3">
                <a:alphaModFix amt="0"/>
              </a:blip>
              <a:stretch>
                <a:fillRect l="0" t="-137231" r="0" b="-115820"/>
              </a:stretch>
            </a:blipFill>
          </p:spPr>
        </p:sp>
        <p:sp>
          <p:nvSpPr>
            <p:cNvPr name="TextBox 43" id="43"/>
            <p:cNvSpPr txBox="true"/>
            <p:nvPr/>
          </p:nvSpPr>
          <p:spPr>
            <a:xfrm>
              <a:off x="0" y="-47625"/>
              <a:ext cx="10119360" cy="1164607"/>
            </a:xfrm>
            <a:prstGeom prst="rect">
              <a:avLst/>
            </a:prstGeom>
          </p:spPr>
          <p:txBody>
            <a:bodyPr anchor="ctr" rtlCol="false" tIns="0" lIns="0" bIns="0" rIns="0"/>
            <a:lstStyle/>
            <a:p>
              <a:pPr algn="ctr">
                <a:lnSpc>
                  <a:spcPts val="2639"/>
                </a:lnSpc>
              </a:pPr>
              <a:r>
                <a:rPr lang="en-US" sz="2199">
                  <a:solidFill>
                    <a:srgbClr val="F4A261"/>
                  </a:solidFill>
                  <a:latin typeface="Consolas"/>
                  <a:ea typeface="Consolas"/>
                  <a:cs typeface="Consolas"/>
                  <a:sym typeface="Consolas"/>
                </a:rPr>
                <a:t>OOB Error  =  1 − OOB Score</a:t>
              </a:r>
            </a:p>
          </p:txBody>
        </p:sp>
      </p:grpSp>
      <p:grpSp>
        <p:nvGrpSpPr>
          <p:cNvPr name="Group 44" id="44"/>
          <p:cNvGrpSpPr/>
          <p:nvPr/>
        </p:nvGrpSpPr>
        <p:grpSpPr>
          <a:xfrm rot="0">
            <a:off x="9601200" y="4717796"/>
            <a:ext cx="7772400" cy="799188"/>
            <a:chOff x="0" y="0"/>
            <a:chExt cx="10363200" cy="1065584"/>
          </a:xfrm>
        </p:grpSpPr>
        <p:sp>
          <p:nvSpPr>
            <p:cNvPr name="Freeform 45" id="45"/>
            <p:cNvSpPr/>
            <p:nvPr/>
          </p:nvSpPr>
          <p:spPr>
            <a:xfrm flipH="false" flipV="false" rot="0">
              <a:off x="0" y="0"/>
              <a:ext cx="10363200" cy="1065584"/>
            </a:xfrm>
            <a:custGeom>
              <a:avLst/>
              <a:gdLst/>
              <a:ahLst/>
              <a:cxnLst/>
              <a:rect r="r" b="b" t="t" l="l"/>
              <a:pathLst>
                <a:path h="1065584" w="10363200">
                  <a:moveTo>
                    <a:pt x="0" y="0"/>
                  </a:moveTo>
                  <a:lnTo>
                    <a:pt x="10363200" y="0"/>
                  </a:lnTo>
                  <a:lnTo>
                    <a:pt x="10363200" y="1065584"/>
                  </a:lnTo>
                  <a:lnTo>
                    <a:pt x="0" y="1065584"/>
                  </a:lnTo>
                  <a:close/>
                </a:path>
              </a:pathLst>
            </a:custGeom>
            <a:blipFill>
              <a:blip r:embed="rId3">
                <a:alphaModFix amt="0"/>
              </a:blip>
              <a:stretch>
                <a:fillRect l="0" t="-155174" r="0" b="-123824"/>
              </a:stretch>
            </a:blipFill>
          </p:spPr>
        </p:sp>
        <p:sp>
          <p:nvSpPr>
            <p:cNvPr name="TextBox 46" id="46"/>
            <p:cNvSpPr txBox="true"/>
            <p:nvPr/>
          </p:nvSpPr>
          <p:spPr>
            <a:xfrm>
              <a:off x="0" y="-47625"/>
              <a:ext cx="10363200" cy="1113209"/>
            </a:xfrm>
            <a:prstGeom prst="rect">
              <a:avLst/>
            </a:prstGeom>
          </p:spPr>
          <p:txBody>
            <a:bodyPr anchor="ctr" rtlCol="false" tIns="0" lIns="0" bIns="0" rIns="0"/>
            <a:lstStyle/>
            <a:p>
              <a:pPr algn="l">
                <a:lnSpc>
                  <a:spcPts val="2759"/>
                </a:lnSpc>
              </a:pPr>
              <a:r>
                <a:rPr lang="en-US" sz="2299">
                  <a:solidFill>
                    <a:srgbClr val="6B8F6B"/>
                  </a:solidFill>
                  <a:latin typeface="Calibri (MS)"/>
                  <a:ea typeface="Calibri (MS)"/>
                  <a:cs typeface="Calibri (MS)"/>
                  <a:sym typeface="Calibri (MS)"/>
                </a:rPr>
                <a:t>→  OOB score est une bonne approximation de l’accuracy sur le test set.</a:t>
              </a:r>
            </a:p>
          </p:txBody>
        </p:sp>
      </p:grpSp>
      <p:grpSp>
        <p:nvGrpSpPr>
          <p:cNvPr name="Group 47" id="47"/>
          <p:cNvGrpSpPr/>
          <p:nvPr/>
        </p:nvGrpSpPr>
        <p:grpSpPr>
          <a:xfrm rot="0">
            <a:off x="721357" y="7017519"/>
            <a:ext cx="5506717" cy="2654240"/>
            <a:chOff x="0" y="0"/>
            <a:chExt cx="7342289" cy="3538987"/>
          </a:xfrm>
        </p:grpSpPr>
        <p:sp>
          <p:nvSpPr>
            <p:cNvPr name="Freeform 48" id="48"/>
            <p:cNvSpPr/>
            <p:nvPr/>
          </p:nvSpPr>
          <p:spPr>
            <a:xfrm flipH="false" flipV="false" rot="0">
              <a:off x="13589" y="12634"/>
              <a:ext cx="7315200" cy="3513803"/>
            </a:xfrm>
            <a:custGeom>
              <a:avLst/>
              <a:gdLst/>
              <a:ahLst/>
              <a:cxnLst/>
              <a:rect r="r" b="b" t="t" l="l"/>
              <a:pathLst>
                <a:path h="3513803" w="7315200">
                  <a:moveTo>
                    <a:pt x="0" y="0"/>
                  </a:moveTo>
                  <a:lnTo>
                    <a:pt x="7315200" y="0"/>
                  </a:lnTo>
                  <a:lnTo>
                    <a:pt x="7315200" y="3513802"/>
                  </a:lnTo>
                  <a:lnTo>
                    <a:pt x="0" y="3513802"/>
                  </a:lnTo>
                  <a:close/>
                </a:path>
              </a:pathLst>
            </a:custGeom>
            <a:solidFill>
              <a:srgbClr val="FFFFFF"/>
            </a:solidFill>
          </p:spPr>
        </p:sp>
        <p:sp>
          <p:nvSpPr>
            <p:cNvPr name="Freeform 49" id="49"/>
            <p:cNvSpPr/>
            <p:nvPr/>
          </p:nvSpPr>
          <p:spPr>
            <a:xfrm flipH="false" flipV="false" rot="0">
              <a:off x="0" y="0"/>
              <a:ext cx="7342378" cy="3539076"/>
            </a:xfrm>
            <a:custGeom>
              <a:avLst/>
              <a:gdLst/>
              <a:ahLst/>
              <a:cxnLst/>
              <a:rect r="r" b="b" t="t" l="l"/>
              <a:pathLst>
                <a:path h="3539076" w="7342378">
                  <a:moveTo>
                    <a:pt x="13589" y="0"/>
                  </a:moveTo>
                  <a:lnTo>
                    <a:pt x="7328789" y="0"/>
                  </a:lnTo>
                  <a:cubicBezTo>
                    <a:pt x="7336282" y="0"/>
                    <a:pt x="7342378" y="5667"/>
                    <a:pt x="7342378" y="12634"/>
                  </a:cubicBezTo>
                  <a:lnTo>
                    <a:pt x="7342378" y="3526436"/>
                  </a:lnTo>
                  <a:cubicBezTo>
                    <a:pt x="7342378" y="3533403"/>
                    <a:pt x="7336282" y="3539076"/>
                    <a:pt x="7328789" y="3539076"/>
                  </a:cubicBezTo>
                  <a:lnTo>
                    <a:pt x="13589" y="3539076"/>
                  </a:lnTo>
                  <a:cubicBezTo>
                    <a:pt x="6096" y="3539076"/>
                    <a:pt x="0" y="3533403"/>
                    <a:pt x="0" y="3526436"/>
                  </a:cubicBezTo>
                  <a:lnTo>
                    <a:pt x="0" y="12634"/>
                  </a:lnTo>
                  <a:cubicBezTo>
                    <a:pt x="0" y="5667"/>
                    <a:pt x="6096" y="0"/>
                    <a:pt x="13589" y="0"/>
                  </a:cubicBezTo>
                  <a:moveTo>
                    <a:pt x="13589" y="25149"/>
                  </a:moveTo>
                  <a:lnTo>
                    <a:pt x="13589" y="12634"/>
                  </a:lnTo>
                  <a:lnTo>
                    <a:pt x="27051" y="12634"/>
                  </a:lnTo>
                  <a:lnTo>
                    <a:pt x="27051" y="3526436"/>
                  </a:lnTo>
                  <a:lnTo>
                    <a:pt x="13589" y="3526436"/>
                  </a:lnTo>
                  <a:lnTo>
                    <a:pt x="13589" y="3513803"/>
                  </a:lnTo>
                  <a:lnTo>
                    <a:pt x="7328789" y="3513803"/>
                  </a:lnTo>
                  <a:lnTo>
                    <a:pt x="7328789" y="3526436"/>
                  </a:lnTo>
                  <a:lnTo>
                    <a:pt x="7315200" y="3526436"/>
                  </a:lnTo>
                  <a:lnTo>
                    <a:pt x="7315200" y="12634"/>
                  </a:lnTo>
                  <a:lnTo>
                    <a:pt x="7328789" y="12634"/>
                  </a:lnTo>
                  <a:lnTo>
                    <a:pt x="7328789" y="25149"/>
                  </a:lnTo>
                  <a:lnTo>
                    <a:pt x="13589" y="25149"/>
                  </a:lnTo>
                  <a:close/>
                </a:path>
              </a:pathLst>
            </a:custGeom>
            <a:solidFill>
              <a:srgbClr val="52B788"/>
            </a:solidFill>
          </p:spPr>
        </p:sp>
      </p:grpSp>
      <p:grpSp>
        <p:nvGrpSpPr>
          <p:cNvPr name="Group 50" id="50"/>
          <p:cNvGrpSpPr/>
          <p:nvPr/>
        </p:nvGrpSpPr>
        <p:grpSpPr>
          <a:xfrm rot="0">
            <a:off x="718823" y="7015164"/>
            <a:ext cx="135131" cy="2658969"/>
            <a:chOff x="0" y="0"/>
            <a:chExt cx="180175" cy="3545292"/>
          </a:xfrm>
        </p:grpSpPr>
        <p:sp>
          <p:nvSpPr>
            <p:cNvPr name="Freeform 51" id="51"/>
            <p:cNvSpPr/>
            <p:nvPr/>
          </p:nvSpPr>
          <p:spPr>
            <a:xfrm flipH="false" flipV="false" rot="0">
              <a:off x="16891" y="15703"/>
              <a:ext cx="146304" cy="3513802"/>
            </a:xfrm>
            <a:custGeom>
              <a:avLst/>
              <a:gdLst/>
              <a:ahLst/>
              <a:cxnLst/>
              <a:rect r="r" b="b" t="t" l="l"/>
              <a:pathLst>
                <a:path h="3513802" w="146304">
                  <a:moveTo>
                    <a:pt x="0" y="0"/>
                  </a:moveTo>
                  <a:lnTo>
                    <a:pt x="146304" y="0"/>
                  </a:lnTo>
                  <a:lnTo>
                    <a:pt x="146304" y="3513803"/>
                  </a:lnTo>
                  <a:lnTo>
                    <a:pt x="0" y="3513803"/>
                  </a:lnTo>
                  <a:close/>
                </a:path>
              </a:pathLst>
            </a:custGeom>
            <a:solidFill>
              <a:srgbClr val="52B788"/>
            </a:solidFill>
          </p:spPr>
        </p:sp>
        <p:sp>
          <p:nvSpPr>
            <p:cNvPr name="Freeform 52" id="52"/>
            <p:cNvSpPr/>
            <p:nvPr/>
          </p:nvSpPr>
          <p:spPr>
            <a:xfrm flipH="false" flipV="false" rot="0">
              <a:off x="0" y="0"/>
              <a:ext cx="180086" cy="3545210"/>
            </a:xfrm>
            <a:custGeom>
              <a:avLst/>
              <a:gdLst/>
              <a:ahLst/>
              <a:cxnLst/>
              <a:rect r="r" b="b" t="t" l="l"/>
              <a:pathLst>
                <a:path h="3545210" w="180086">
                  <a:moveTo>
                    <a:pt x="16891" y="0"/>
                  </a:moveTo>
                  <a:lnTo>
                    <a:pt x="163195" y="0"/>
                  </a:lnTo>
                  <a:cubicBezTo>
                    <a:pt x="172593" y="0"/>
                    <a:pt x="180086" y="7084"/>
                    <a:pt x="180086" y="15703"/>
                  </a:cubicBezTo>
                  <a:lnTo>
                    <a:pt x="180086" y="3529506"/>
                  </a:lnTo>
                  <a:cubicBezTo>
                    <a:pt x="180086" y="3538243"/>
                    <a:pt x="172466" y="3545210"/>
                    <a:pt x="163195" y="3545210"/>
                  </a:cubicBezTo>
                  <a:lnTo>
                    <a:pt x="16891" y="3545210"/>
                  </a:lnTo>
                  <a:cubicBezTo>
                    <a:pt x="7493" y="3545210"/>
                    <a:pt x="0" y="3538125"/>
                    <a:pt x="0" y="3529506"/>
                  </a:cubicBezTo>
                  <a:lnTo>
                    <a:pt x="0" y="15703"/>
                  </a:lnTo>
                  <a:cubicBezTo>
                    <a:pt x="0" y="7084"/>
                    <a:pt x="7620" y="0"/>
                    <a:pt x="16891" y="0"/>
                  </a:cubicBezTo>
                  <a:moveTo>
                    <a:pt x="16891" y="31525"/>
                  </a:moveTo>
                  <a:lnTo>
                    <a:pt x="16891" y="15703"/>
                  </a:lnTo>
                  <a:lnTo>
                    <a:pt x="33909" y="15703"/>
                  </a:lnTo>
                  <a:lnTo>
                    <a:pt x="33909" y="3529506"/>
                  </a:lnTo>
                  <a:lnTo>
                    <a:pt x="16891" y="3529506"/>
                  </a:lnTo>
                  <a:lnTo>
                    <a:pt x="16891" y="3513803"/>
                  </a:lnTo>
                  <a:lnTo>
                    <a:pt x="163195" y="3513803"/>
                  </a:lnTo>
                  <a:lnTo>
                    <a:pt x="163195" y="3529506"/>
                  </a:lnTo>
                  <a:lnTo>
                    <a:pt x="146304" y="3529506"/>
                  </a:lnTo>
                  <a:lnTo>
                    <a:pt x="146304" y="15703"/>
                  </a:lnTo>
                  <a:lnTo>
                    <a:pt x="163195" y="15703"/>
                  </a:lnTo>
                  <a:lnTo>
                    <a:pt x="163195" y="31525"/>
                  </a:lnTo>
                  <a:lnTo>
                    <a:pt x="16891" y="31525"/>
                  </a:lnTo>
                  <a:close/>
                </a:path>
              </a:pathLst>
            </a:custGeom>
            <a:solidFill>
              <a:srgbClr val="52B788"/>
            </a:solidFill>
          </p:spPr>
        </p:sp>
      </p:grpSp>
      <p:grpSp>
        <p:nvGrpSpPr>
          <p:cNvPr name="Group 53" id="53"/>
          <p:cNvGrpSpPr/>
          <p:nvPr/>
        </p:nvGrpSpPr>
        <p:grpSpPr>
          <a:xfrm rot="0">
            <a:off x="950976" y="7162986"/>
            <a:ext cx="5084064" cy="510068"/>
            <a:chOff x="0" y="0"/>
            <a:chExt cx="6778752" cy="680091"/>
          </a:xfrm>
        </p:grpSpPr>
        <p:sp>
          <p:nvSpPr>
            <p:cNvPr name="Freeform 54" id="54"/>
            <p:cNvSpPr/>
            <p:nvPr/>
          </p:nvSpPr>
          <p:spPr>
            <a:xfrm flipH="false" flipV="false" rot="0">
              <a:off x="0" y="0"/>
              <a:ext cx="6778752" cy="680091"/>
            </a:xfrm>
            <a:custGeom>
              <a:avLst/>
              <a:gdLst/>
              <a:ahLst/>
              <a:cxnLst/>
              <a:rect r="r" b="b" t="t" l="l"/>
              <a:pathLst>
                <a:path h="680091" w="6778752">
                  <a:moveTo>
                    <a:pt x="0" y="0"/>
                  </a:moveTo>
                  <a:lnTo>
                    <a:pt x="6778752" y="0"/>
                  </a:lnTo>
                  <a:lnTo>
                    <a:pt x="6778752" y="680091"/>
                  </a:lnTo>
                  <a:lnTo>
                    <a:pt x="0" y="680091"/>
                  </a:lnTo>
                  <a:close/>
                </a:path>
              </a:pathLst>
            </a:custGeom>
            <a:blipFill>
              <a:blip r:embed="rId3">
                <a:alphaModFix amt="0"/>
              </a:blip>
              <a:stretch>
                <a:fillRect l="0" t="-140434" r="0" b="-147996"/>
              </a:stretch>
            </a:blipFill>
          </p:spPr>
        </p:sp>
        <p:sp>
          <p:nvSpPr>
            <p:cNvPr name="TextBox 55" id="55"/>
            <p:cNvSpPr txBox="true"/>
            <p:nvPr/>
          </p:nvSpPr>
          <p:spPr>
            <a:xfrm>
              <a:off x="0" y="-47625"/>
              <a:ext cx="6778752" cy="727716"/>
            </a:xfrm>
            <a:prstGeom prst="rect">
              <a:avLst/>
            </a:prstGeom>
          </p:spPr>
          <p:txBody>
            <a:bodyPr anchor="ctr" rtlCol="false" tIns="0" lIns="0" bIns="0" rIns="0"/>
            <a:lstStyle/>
            <a:p>
              <a:pPr algn="l">
                <a:lnSpc>
                  <a:spcPts val="2759"/>
                </a:lnSpc>
              </a:pPr>
              <a:r>
                <a:rPr lang="en-US" sz="2299" b="true">
                  <a:solidFill>
                    <a:srgbClr val="1E3A1E"/>
                  </a:solidFill>
                  <a:latin typeface="Calibri (MS) Bold"/>
                  <a:ea typeface="Calibri (MS) Bold"/>
                  <a:cs typeface="Calibri (MS) Bold"/>
                  <a:sym typeface="Calibri (MS) Bold"/>
                </a:rPr>
                <a:t>🆓  Gratuit &amp; intégré</a:t>
              </a:r>
            </a:p>
          </p:txBody>
        </p:sp>
      </p:grpSp>
      <p:grpSp>
        <p:nvGrpSpPr>
          <p:cNvPr name="Group 56" id="56"/>
          <p:cNvGrpSpPr/>
          <p:nvPr/>
        </p:nvGrpSpPr>
        <p:grpSpPr>
          <a:xfrm rot="0">
            <a:off x="909704" y="7658073"/>
            <a:ext cx="5084064" cy="1700227"/>
            <a:chOff x="0" y="0"/>
            <a:chExt cx="6778752" cy="2266969"/>
          </a:xfrm>
        </p:grpSpPr>
        <p:sp>
          <p:nvSpPr>
            <p:cNvPr name="Freeform 57" id="57"/>
            <p:cNvSpPr/>
            <p:nvPr/>
          </p:nvSpPr>
          <p:spPr>
            <a:xfrm flipH="false" flipV="false" rot="0">
              <a:off x="0" y="0"/>
              <a:ext cx="6778752" cy="2266969"/>
            </a:xfrm>
            <a:custGeom>
              <a:avLst/>
              <a:gdLst/>
              <a:ahLst/>
              <a:cxnLst/>
              <a:rect r="r" b="b" t="t" l="l"/>
              <a:pathLst>
                <a:path h="2266969" w="6778752">
                  <a:moveTo>
                    <a:pt x="0" y="0"/>
                  </a:moveTo>
                  <a:lnTo>
                    <a:pt x="6778752" y="0"/>
                  </a:lnTo>
                  <a:lnTo>
                    <a:pt x="6778752" y="2266969"/>
                  </a:lnTo>
                  <a:lnTo>
                    <a:pt x="0" y="2266969"/>
                  </a:lnTo>
                  <a:close/>
                </a:path>
              </a:pathLst>
            </a:custGeom>
            <a:blipFill>
              <a:blip r:embed="rId3">
                <a:alphaModFix amt="0"/>
              </a:blip>
              <a:stretch>
                <a:fillRect l="0" t="-4483" r="0" b="-12045"/>
              </a:stretch>
            </a:blipFill>
          </p:spPr>
        </p:sp>
        <p:sp>
          <p:nvSpPr>
            <p:cNvPr name="TextBox 58" id="58"/>
            <p:cNvSpPr txBox="true"/>
            <p:nvPr/>
          </p:nvSpPr>
          <p:spPr>
            <a:xfrm>
              <a:off x="0" y="-47625"/>
              <a:ext cx="6778752" cy="2314594"/>
            </a:xfrm>
            <a:prstGeom prst="rect">
              <a:avLst/>
            </a:prstGeom>
          </p:spPr>
          <p:txBody>
            <a:bodyPr anchor="ctr" rtlCol="false" tIns="0" lIns="0" bIns="0" rIns="0"/>
            <a:lstStyle/>
            <a:p>
              <a:pPr algn="l">
                <a:lnSpc>
                  <a:spcPts val="2519"/>
                </a:lnSpc>
              </a:pPr>
              <a:r>
                <a:rPr lang="en-US" sz="2099">
                  <a:solidFill>
                    <a:srgbClr val="6B8F6B"/>
                  </a:solidFill>
                  <a:latin typeface="Calibri (MS)"/>
                  <a:ea typeface="Calibri (MS)"/>
                  <a:cs typeface="Calibri (MS)"/>
                  <a:sym typeface="Calibri (MS)"/>
                </a:rPr>
                <a:t> Sert à évaluer l</a:t>
              </a:r>
              <a:r>
                <a:rPr lang="en-US" sz="2099">
                  <a:solidFill>
                    <a:srgbClr val="6B8F6B"/>
                  </a:solidFill>
                  <a:latin typeface="Calibri (MS)"/>
                  <a:ea typeface="Calibri (MS)"/>
                  <a:cs typeface="Calibri (MS)"/>
                  <a:sym typeface="Calibri (MS)"/>
                </a:rPr>
                <a:t>a performance de Random Forest sans avoir besoin d’un ensemble de validation séparé (ni de cross-validation explicite). </a:t>
              </a:r>
            </a:p>
            <a:p>
              <a:pPr algn="l">
                <a:lnSpc>
                  <a:spcPts val="2519"/>
                </a:lnSpc>
              </a:pPr>
            </a:p>
          </p:txBody>
        </p:sp>
      </p:grpSp>
      <p:grpSp>
        <p:nvGrpSpPr>
          <p:cNvPr name="Group 59" id="59"/>
          <p:cNvGrpSpPr/>
          <p:nvPr/>
        </p:nvGrpSpPr>
        <p:grpSpPr>
          <a:xfrm rot="0">
            <a:off x="6482077" y="7017519"/>
            <a:ext cx="5506717" cy="2654240"/>
            <a:chOff x="0" y="0"/>
            <a:chExt cx="7342289" cy="3538987"/>
          </a:xfrm>
        </p:grpSpPr>
        <p:sp>
          <p:nvSpPr>
            <p:cNvPr name="Freeform 60" id="60"/>
            <p:cNvSpPr/>
            <p:nvPr/>
          </p:nvSpPr>
          <p:spPr>
            <a:xfrm flipH="false" flipV="false" rot="0">
              <a:off x="13589" y="12634"/>
              <a:ext cx="7315200" cy="3513803"/>
            </a:xfrm>
            <a:custGeom>
              <a:avLst/>
              <a:gdLst/>
              <a:ahLst/>
              <a:cxnLst/>
              <a:rect r="r" b="b" t="t" l="l"/>
              <a:pathLst>
                <a:path h="3513803" w="7315200">
                  <a:moveTo>
                    <a:pt x="0" y="0"/>
                  </a:moveTo>
                  <a:lnTo>
                    <a:pt x="7315200" y="0"/>
                  </a:lnTo>
                  <a:lnTo>
                    <a:pt x="7315200" y="3513802"/>
                  </a:lnTo>
                  <a:lnTo>
                    <a:pt x="0" y="3513802"/>
                  </a:lnTo>
                  <a:close/>
                </a:path>
              </a:pathLst>
            </a:custGeom>
            <a:solidFill>
              <a:srgbClr val="FFFFFF"/>
            </a:solidFill>
          </p:spPr>
        </p:sp>
        <p:sp>
          <p:nvSpPr>
            <p:cNvPr name="Freeform 61" id="61"/>
            <p:cNvSpPr/>
            <p:nvPr/>
          </p:nvSpPr>
          <p:spPr>
            <a:xfrm flipH="false" flipV="false" rot="0">
              <a:off x="0" y="0"/>
              <a:ext cx="7342378" cy="3539076"/>
            </a:xfrm>
            <a:custGeom>
              <a:avLst/>
              <a:gdLst/>
              <a:ahLst/>
              <a:cxnLst/>
              <a:rect r="r" b="b" t="t" l="l"/>
              <a:pathLst>
                <a:path h="3539076" w="7342378">
                  <a:moveTo>
                    <a:pt x="13589" y="0"/>
                  </a:moveTo>
                  <a:lnTo>
                    <a:pt x="7328789" y="0"/>
                  </a:lnTo>
                  <a:cubicBezTo>
                    <a:pt x="7336282" y="0"/>
                    <a:pt x="7342378" y="5667"/>
                    <a:pt x="7342378" y="12634"/>
                  </a:cubicBezTo>
                  <a:lnTo>
                    <a:pt x="7342378" y="3526436"/>
                  </a:lnTo>
                  <a:cubicBezTo>
                    <a:pt x="7342378" y="3533403"/>
                    <a:pt x="7336282" y="3539076"/>
                    <a:pt x="7328789" y="3539076"/>
                  </a:cubicBezTo>
                  <a:lnTo>
                    <a:pt x="13589" y="3539076"/>
                  </a:lnTo>
                  <a:cubicBezTo>
                    <a:pt x="6096" y="3539076"/>
                    <a:pt x="0" y="3533403"/>
                    <a:pt x="0" y="3526436"/>
                  </a:cubicBezTo>
                  <a:lnTo>
                    <a:pt x="0" y="12634"/>
                  </a:lnTo>
                  <a:cubicBezTo>
                    <a:pt x="0" y="5667"/>
                    <a:pt x="6096" y="0"/>
                    <a:pt x="13589" y="0"/>
                  </a:cubicBezTo>
                  <a:moveTo>
                    <a:pt x="13589" y="25149"/>
                  </a:moveTo>
                  <a:lnTo>
                    <a:pt x="13589" y="12634"/>
                  </a:lnTo>
                  <a:lnTo>
                    <a:pt x="27051" y="12634"/>
                  </a:lnTo>
                  <a:lnTo>
                    <a:pt x="27051" y="3526436"/>
                  </a:lnTo>
                  <a:lnTo>
                    <a:pt x="13589" y="3526436"/>
                  </a:lnTo>
                  <a:lnTo>
                    <a:pt x="13589" y="3513803"/>
                  </a:lnTo>
                  <a:lnTo>
                    <a:pt x="7328789" y="3513803"/>
                  </a:lnTo>
                  <a:lnTo>
                    <a:pt x="7328789" y="3526436"/>
                  </a:lnTo>
                  <a:lnTo>
                    <a:pt x="7315200" y="3526436"/>
                  </a:lnTo>
                  <a:lnTo>
                    <a:pt x="7315200" y="12634"/>
                  </a:lnTo>
                  <a:lnTo>
                    <a:pt x="7328789" y="12634"/>
                  </a:lnTo>
                  <a:lnTo>
                    <a:pt x="7328789" y="25149"/>
                  </a:lnTo>
                  <a:lnTo>
                    <a:pt x="13589" y="25149"/>
                  </a:lnTo>
                  <a:close/>
                </a:path>
              </a:pathLst>
            </a:custGeom>
            <a:solidFill>
              <a:srgbClr val="F4A261"/>
            </a:solidFill>
          </p:spPr>
        </p:sp>
      </p:grpSp>
      <p:grpSp>
        <p:nvGrpSpPr>
          <p:cNvPr name="Group 62" id="62"/>
          <p:cNvGrpSpPr/>
          <p:nvPr/>
        </p:nvGrpSpPr>
        <p:grpSpPr>
          <a:xfrm rot="0">
            <a:off x="6479543" y="7015164"/>
            <a:ext cx="135131" cy="2658969"/>
            <a:chOff x="0" y="0"/>
            <a:chExt cx="180175" cy="3545292"/>
          </a:xfrm>
        </p:grpSpPr>
        <p:sp>
          <p:nvSpPr>
            <p:cNvPr name="Freeform 63" id="63"/>
            <p:cNvSpPr/>
            <p:nvPr/>
          </p:nvSpPr>
          <p:spPr>
            <a:xfrm flipH="false" flipV="false" rot="0">
              <a:off x="16891" y="15703"/>
              <a:ext cx="146304" cy="3513802"/>
            </a:xfrm>
            <a:custGeom>
              <a:avLst/>
              <a:gdLst/>
              <a:ahLst/>
              <a:cxnLst/>
              <a:rect r="r" b="b" t="t" l="l"/>
              <a:pathLst>
                <a:path h="3513802" w="146304">
                  <a:moveTo>
                    <a:pt x="0" y="0"/>
                  </a:moveTo>
                  <a:lnTo>
                    <a:pt x="146304" y="0"/>
                  </a:lnTo>
                  <a:lnTo>
                    <a:pt x="146304" y="3513803"/>
                  </a:lnTo>
                  <a:lnTo>
                    <a:pt x="0" y="3513803"/>
                  </a:lnTo>
                  <a:close/>
                </a:path>
              </a:pathLst>
            </a:custGeom>
            <a:solidFill>
              <a:srgbClr val="F4A261"/>
            </a:solidFill>
          </p:spPr>
        </p:sp>
        <p:sp>
          <p:nvSpPr>
            <p:cNvPr name="Freeform 64" id="64"/>
            <p:cNvSpPr/>
            <p:nvPr/>
          </p:nvSpPr>
          <p:spPr>
            <a:xfrm flipH="false" flipV="false" rot="0">
              <a:off x="0" y="0"/>
              <a:ext cx="180086" cy="3545210"/>
            </a:xfrm>
            <a:custGeom>
              <a:avLst/>
              <a:gdLst/>
              <a:ahLst/>
              <a:cxnLst/>
              <a:rect r="r" b="b" t="t" l="l"/>
              <a:pathLst>
                <a:path h="3545210" w="180086">
                  <a:moveTo>
                    <a:pt x="16891" y="0"/>
                  </a:moveTo>
                  <a:lnTo>
                    <a:pt x="163195" y="0"/>
                  </a:lnTo>
                  <a:cubicBezTo>
                    <a:pt x="172593" y="0"/>
                    <a:pt x="180086" y="7084"/>
                    <a:pt x="180086" y="15703"/>
                  </a:cubicBezTo>
                  <a:lnTo>
                    <a:pt x="180086" y="3529506"/>
                  </a:lnTo>
                  <a:cubicBezTo>
                    <a:pt x="180086" y="3538243"/>
                    <a:pt x="172466" y="3545210"/>
                    <a:pt x="163195" y="3545210"/>
                  </a:cubicBezTo>
                  <a:lnTo>
                    <a:pt x="16891" y="3545210"/>
                  </a:lnTo>
                  <a:cubicBezTo>
                    <a:pt x="7493" y="3545210"/>
                    <a:pt x="0" y="3538125"/>
                    <a:pt x="0" y="3529506"/>
                  </a:cubicBezTo>
                  <a:lnTo>
                    <a:pt x="0" y="15703"/>
                  </a:lnTo>
                  <a:cubicBezTo>
                    <a:pt x="0" y="7084"/>
                    <a:pt x="7620" y="0"/>
                    <a:pt x="16891" y="0"/>
                  </a:cubicBezTo>
                  <a:moveTo>
                    <a:pt x="16891" y="31525"/>
                  </a:moveTo>
                  <a:lnTo>
                    <a:pt x="16891" y="15703"/>
                  </a:lnTo>
                  <a:lnTo>
                    <a:pt x="33909" y="15703"/>
                  </a:lnTo>
                  <a:lnTo>
                    <a:pt x="33909" y="3529506"/>
                  </a:lnTo>
                  <a:lnTo>
                    <a:pt x="16891" y="3529506"/>
                  </a:lnTo>
                  <a:lnTo>
                    <a:pt x="16891" y="3513803"/>
                  </a:lnTo>
                  <a:lnTo>
                    <a:pt x="163195" y="3513803"/>
                  </a:lnTo>
                  <a:lnTo>
                    <a:pt x="163195" y="3529506"/>
                  </a:lnTo>
                  <a:lnTo>
                    <a:pt x="146304" y="3529506"/>
                  </a:lnTo>
                  <a:lnTo>
                    <a:pt x="146304" y="15703"/>
                  </a:lnTo>
                  <a:lnTo>
                    <a:pt x="163195" y="15703"/>
                  </a:lnTo>
                  <a:lnTo>
                    <a:pt x="163195" y="31525"/>
                  </a:lnTo>
                  <a:lnTo>
                    <a:pt x="16891" y="31525"/>
                  </a:lnTo>
                  <a:close/>
                </a:path>
              </a:pathLst>
            </a:custGeom>
            <a:solidFill>
              <a:srgbClr val="F4A261"/>
            </a:solidFill>
          </p:spPr>
        </p:sp>
      </p:grpSp>
      <p:grpSp>
        <p:nvGrpSpPr>
          <p:cNvPr name="Group 65" id="65"/>
          <p:cNvGrpSpPr/>
          <p:nvPr/>
        </p:nvGrpSpPr>
        <p:grpSpPr>
          <a:xfrm rot="0">
            <a:off x="6711696" y="7162986"/>
            <a:ext cx="5084064" cy="510068"/>
            <a:chOff x="0" y="0"/>
            <a:chExt cx="6778752" cy="680091"/>
          </a:xfrm>
        </p:grpSpPr>
        <p:sp>
          <p:nvSpPr>
            <p:cNvPr name="Freeform 66" id="66"/>
            <p:cNvSpPr/>
            <p:nvPr/>
          </p:nvSpPr>
          <p:spPr>
            <a:xfrm flipH="false" flipV="false" rot="0">
              <a:off x="0" y="0"/>
              <a:ext cx="6778752" cy="680091"/>
            </a:xfrm>
            <a:custGeom>
              <a:avLst/>
              <a:gdLst/>
              <a:ahLst/>
              <a:cxnLst/>
              <a:rect r="r" b="b" t="t" l="l"/>
              <a:pathLst>
                <a:path h="680091" w="6778752">
                  <a:moveTo>
                    <a:pt x="0" y="0"/>
                  </a:moveTo>
                  <a:lnTo>
                    <a:pt x="6778752" y="0"/>
                  </a:lnTo>
                  <a:lnTo>
                    <a:pt x="6778752" y="680091"/>
                  </a:lnTo>
                  <a:lnTo>
                    <a:pt x="0" y="680091"/>
                  </a:lnTo>
                  <a:close/>
                </a:path>
              </a:pathLst>
            </a:custGeom>
            <a:blipFill>
              <a:blip r:embed="rId3">
                <a:alphaModFix amt="0"/>
              </a:blip>
              <a:stretch>
                <a:fillRect l="0" t="-140434" r="0" b="-147996"/>
              </a:stretch>
            </a:blipFill>
          </p:spPr>
        </p:sp>
        <p:sp>
          <p:nvSpPr>
            <p:cNvPr name="TextBox 67" id="67"/>
            <p:cNvSpPr txBox="true"/>
            <p:nvPr/>
          </p:nvSpPr>
          <p:spPr>
            <a:xfrm>
              <a:off x="0" y="-47625"/>
              <a:ext cx="6778752" cy="727716"/>
            </a:xfrm>
            <a:prstGeom prst="rect">
              <a:avLst/>
            </a:prstGeom>
          </p:spPr>
          <p:txBody>
            <a:bodyPr anchor="ctr" rtlCol="false" tIns="0" lIns="0" bIns="0" rIns="0"/>
            <a:lstStyle/>
            <a:p>
              <a:pPr algn="l">
                <a:lnSpc>
                  <a:spcPts val="2759"/>
                </a:lnSpc>
              </a:pPr>
              <a:r>
                <a:rPr lang="en-US" sz="2299" b="true">
                  <a:solidFill>
                    <a:srgbClr val="1E3A1E"/>
                  </a:solidFill>
                  <a:latin typeface="Calibri (MS) Bold"/>
                  <a:ea typeface="Calibri (MS) Bold"/>
                  <a:cs typeface="Calibri (MS) Bold"/>
                  <a:sym typeface="Calibri (MS) Bold"/>
                </a:rPr>
                <a:t>📉  Mesure la convergence</a:t>
              </a:r>
            </a:p>
          </p:txBody>
        </p:sp>
      </p:grpSp>
      <p:grpSp>
        <p:nvGrpSpPr>
          <p:cNvPr name="Group 68" id="68"/>
          <p:cNvGrpSpPr/>
          <p:nvPr/>
        </p:nvGrpSpPr>
        <p:grpSpPr>
          <a:xfrm rot="0">
            <a:off x="6772151" y="7673054"/>
            <a:ext cx="5084064" cy="1718531"/>
            <a:chOff x="0" y="0"/>
            <a:chExt cx="6778752" cy="2291375"/>
          </a:xfrm>
        </p:grpSpPr>
        <p:sp>
          <p:nvSpPr>
            <p:cNvPr name="Freeform 69" id="69"/>
            <p:cNvSpPr/>
            <p:nvPr/>
          </p:nvSpPr>
          <p:spPr>
            <a:xfrm flipH="false" flipV="false" rot="0">
              <a:off x="0" y="0"/>
              <a:ext cx="6778752" cy="2291374"/>
            </a:xfrm>
            <a:custGeom>
              <a:avLst/>
              <a:gdLst/>
              <a:ahLst/>
              <a:cxnLst/>
              <a:rect r="r" b="b" t="t" l="l"/>
              <a:pathLst>
                <a:path h="2291374" w="6778752">
                  <a:moveTo>
                    <a:pt x="0" y="0"/>
                  </a:moveTo>
                  <a:lnTo>
                    <a:pt x="6778752" y="0"/>
                  </a:lnTo>
                  <a:lnTo>
                    <a:pt x="6778752" y="2291374"/>
                  </a:lnTo>
                  <a:lnTo>
                    <a:pt x="0" y="2291374"/>
                  </a:lnTo>
                  <a:close/>
                </a:path>
              </a:pathLst>
            </a:custGeom>
            <a:blipFill>
              <a:blip r:embed="rId3">
                <a:alphaModFix amt="0"/>
              </a:blip>
              <a:stretch>
                <a:fillRect l="0" t="-4435" r="0" b="-10852"/>
              </a:stretch>
            </a:blipFill>
          </p:spPr>
        </p:sp>
        <p:sp>
          <p:nvSpPr>
            <p:cNvPr name="TextBox 70" id="70"/>
            <p:cNvSpPr txBox="true"/>
            <p:nvPr/>
          </p:nvSpPr>
          <p:spPr>
            <a:xfrm>
              <a:off x="0" y="-47625"/>
              <a:ext cx="6778752" cy="2339000"/>
            </a:xfrm>
            <a:prstGeom prst="rect">
              <a:avLst/>
            </a:prstGeom>
          </p:spPr>
          <p:txBody>
            <a:bodyPr anchor="ctr" rtlCol="false" tIns="0" lIns="0" bIns="0" rIns="0"/>
            <a:lstStyle/>
            <a:p>
              <a:pPr algn="l">
                <a:lnSpc>
                  <a:spcPts val="2519"/>
                </a:lnSpc>
              </a:pPr>
              <a:r>
                <a:rPr lang="en-US" sz="2099">
                  <a:solidFill>
                    <a:srgbClr val="6B8F6B"/>
                  </a:solidFill>
                  <a:latin typeface="Calibri (MS)"/>
                  <a:ea typeface="Calibri (MS)"/>
                  <a:cs typeface="Calibri (MS)"/>
                  <a:sym typeface="Calibri (MS)"/>
                </a:rPr>
                <a:t>En traçant l’erreur OOB en fonction du nombre d’arbres, on peut observer à partir de quel moment l’ajout d’arbres n’apporte plus d’amélioration. En général, la performance se stabilise autour de 100 à 200 arbres.</a:t>
              </a:r>
            </a:p>
          </p:txBody>
        </p:sp>
      </p:grpSp>
      <p:grpSp>
        <p:nvGrpSpPr>
          <p:cNvPr name="Group 71" id="71"/>
          <p:cNvGrpSpPr/>
          <p:nvPr/>
        </p:nvGrpSpPr>
        <p:grpSpPr>
          <a:xfrm rot="0">
            <a:off x="12242797" y="7017519"/>
            <a:ext cx="5506717" cy="2654240"/>
            <a:chOff x="0" y="0"/>
            <a:chExt cx="7342289" cy="3538987"/>
          </a:xfrm>
        </p:grpSpPr>
        <p:sp>
          <p:nvSpPr>
            <p:cNvPr name="Freeform 72" id="72"/>
            <p:cNvSpPr/>
            <p:nvPr/>
          </p:nvSpPr>
          <p:spPr>
            <a:xfrm flipH="false" flipV="false" rot="0">
              <a:off x="13589" y="12634"/>
              <a:ext cx="7315200" cy="3513803"/>
            </a:xfrm>
            <a:custGeom>
              <a:avLst/>
              <a:gdLst/>
              <a:ahLst/>
              <a:cxnLst/>
              <a:rect r="r" b="b" t="t" l="l"/>
              <a:pathLst>
                <a:path h="3513803" w="7315200">
                  <a:moveTo>
                    <a:pt x="0" y="0"/>
                  </a:moveTo>
                  <a:lnTo>
                    <a:pt x="7315200" y="0"/>
                  </a:lnTo>
                  <a:lnTo>
                    <a:pt x="7315200" y="3513802"/>
                  </a:lnTo>
                  <a:lnTo>
                    <a:pt x="0" y="3513802"/>
                  </a:lnTo>
                  <a:close/>
                </a:path>
              </a:pathLst>
            </a:custGeom>
            <a:solidFill>
              <a:srgbClr val="FFFFFF"/>
            </a:solidFill>
          </p:spPr>
        </p:sp>
        <p:sp>
          <p:nvSpPr>
            <p:cNvPr name="Freeform 73" id="73"/>
            <p:cNvSpPr/>
            <p:nvPr/>
          </p:nvSpPr>
          <p:spPr>
            <a:xfrm flipH="false" flipV="false" rot="0">
              <a:off x="0" y="0"/>
              <a:ext cx="7342378" cy="3539076"/>
            </a:xfrm>
            <a:custGeom>
              <a:avLst/>
              <a:gdLst/>
              <a:ahLst/>
              <a:cxnLst/>
              <a:rect r="r" b="b" t="t" l="l"/>
              <a:pathLst>
                <a:path h="3539076" w="7342378">
                  <a:moveTo>
                    <a:pt x="13589" y="0"/>
                  </a:moveTo>
                  <a:lnTo>
                    <a:pt x="7328789" y="0"/>
                  </a:lnTo>
                  <a:cubicBezTo>
                    <a:pt x="7336282" y="0"/>
                    <a:pt x="7342378" y="5667"/>
                    <a:pt x="7342378" y="12634"/>
                  </a:cubicBezTo>
                  <a:lnTo>
                    <a:pt x="7342378" y="3526436"/>
                  </a:lnTo>
                  <a:cubicBezTo>
                    <a:pt x="7342378" y="3533403"/>
                    <a:pt x="7336282" y="3539076"/>
                    <a:pt x="7328789" y="3539076"/>
                  </a:cubicBezTo>
                  <a:lnTo>
                    <a:pt x="13589" y="3539076"/>
                  </a:lnTo>
                  <a:cubicBezTo>
                    <a:pt x="6096" y="3539076"/>
                    <a:pt x="0" y="3533403"/>
                    <a:pt x="0" y="3526436"/>
                  </a:cubicBezTo>
                  <a:lnTo>
                    <a:pt x="0" y="12634"/>
                  </a:lnTo>
                  <a:cubicBezTo>
                    <a:pt x="0" y="5667"/>
                    <a:pt x="6096" y="0"/>
                    <a:pt x="13589" y="0"/>
                  </a:cubicBezTo>
                  <a:moveTo>
                    <a:pt x="13589" y="25149"/>
                  </a:moveTo>
                  <a:lnTo>
                    <a:pt x="13589" y="12634"/>
                  </a:lnTo>
                  <a:lnTo>
                    <a:pt x="27051" y="12634"/>
                  </a:lnTo>
                  <a:lnTo>
                    <a:pt x="27051" y="3526436"/>
                  </a:lnTo>
                  <a:lnTo>
                    <a:pt x="13589" y="3526436"/>
                  </a:lnTo>
                  <a:lnTo>
                    <a:pt x="13589" y="3513803"/>
                  </a:lnTo>
                  <a:lnTo>
                    <a:pt x="7328789" y="3513803"/>
                  </a:lnTo>
                  <a:lnTo>
                    <a:pt x="7328789" y="3526436"/>
                  </a:lnTo>
                  <a:lnTo>
                    <a:pt x="7315200" y="3526436"/>
                  </a:lnTo>
                  <a:lnTo>
                    <a:pt x="7315200" y="12634"/>
                  </a:lnTo>
                  <a:lnTo>
                    <a:pt x="7328789" y="12634"/>
                  </a:lnTo>
                  <a:lnTo>
                    <a:pt x="7328789" y="25149"/>
                  </a:lnTo>
                  <a:lnTo>
                    <a:pt x="13589" y="25149"/>
                  </a:lnTo>
                  <a:close/>
                </a:path>
              </a:pathLst>
            </a:custGeom>
            <a:solidFill>
              <a:srgbClr val="2D6A2D"/>
            </a:solidFill>
          </p:spPr>
        </p:sp>
      </p:grpSp>
      <p:grpSp>
        <p:nvGrpSpPr>
          <p:cNvPr name="Group 74" id="74"/>
          <p:cNvGrpSpPr/>
          <p:nvPr/>
        </p:nvGrpSpPr>
        <p:grpSpPr>
          <a:xfrm rot="0">
            <a:off x="12240263" y="7015164"/>
            <a:ext cx="135131" cy="2658969"/>
            <a:chOff x="0" y="0"/>
            <a:chExt cx="180175" cy="3545292"/>
          </a:xfrm>
        </p:grpSpPr>
        <p:sp>
          <p:nvSpPr>
            <p:cNvPr name="Freeform 75" id="75"/>
            <p:cNvSpPr/>
            <p:nvPr/>
          </p:nvSpPr>
          <p:spPr>
            <a:xfrm flipH="false" flipV="false" rot="0">
              <a:off x="16891" y="15703"/>
              <a:ext cx="146304" cy="3513802"/>
            </a:xfrm>
            <a:custGeom>
              <a:avLst/>
              <a:gdLst/>
              <a:ahLst/>
              <a:cxnLst/>
              <a:rect r="r" b="b" t="t" l="l"/>
              <a:pathLst>
                <a:path h="3513802" w="146304">
                  <a:moveTo>
                    <a:pt x="0" y="0"/>
                  </a:moveTo>
                  <a:lnTo>
                    <a:pt x="146304" y="0"/>
                  </a:lnTo>
                  <a:lnTo>
                    <a:pt x="146304" y="3513803"/>
                  </a:lnTo>
                  <a:lnTo>
                    <a:pt x="0" y="3513803"/>
                  </a:lnTo>
                  <a:close/>
                </a:path>
              </a:pathLst>
            </a:custGeom>
            <a:solidFill>
              <a:srgbClr val="2D6A2D"/>
            </a:solidFill>
          </p:spPr>
        </p:sp>
        <p:sp>
          <p:nvSpPr>
            <p:cNvPr name="Freeform 76" id="76"/>
            <p:cNvSpPr/>
            <p:nvPr/>
          </p:nvSpPr>
          <p:spPr>
            <a:xfrm flipH="false" flipV="false" rot="0">
              <a:off x="0" y="0"/>
              <a:ext cx="180086" cy="3545210"/>
            </a:xfrm>
            <a:custGeom>
              <a:avLst/>
              <a:gdLst/>
              <a:ahLst/>
              <a:cxnLst/>
              <a:rect r="r" b="b" t="t" l="l"/>
              <a:pathLst>
                <a:path h="3545210" w="180086">
                  <a:moveTo>
                    <a:pt x="16891" y="0"/>
                  </a:moveTo>
                  <a:lnTo>
                    <a:pt x="163195" y="0"/>
                  </a:lnTo>
                  <a:cubicBezTo>
                    <a:pt x="172593" y="0"/>
                    <a:pt x="180086" y="7084"/>
                    <a:pt x="180086" y="15703"/>
                  </a:cubicBezTo>
                  <a:lnTo>
                    <a:pt x="180086" y="3529506"/>
                  </a:lnTo>
                  <a:cubicBezTo>
                    <a:pt x="180086" y="3538243"/>
                    <a:pt x="172466" y="3545210"/>
                    <a:pt x="163195" y="3545210"/>
                  </a:cubicBezTo>
                  <a:lnTo>
                    <a:pt x="16891" y="3545210"/>
                  </a:lnTo>
                  <a:cubicBezTo>
                    <a:pt x="7493" y="3545210"/>
                    <a:pt x="0" y="3538125"/>
                    <a:pt x="0" y="3529506"/>
                  </a:cubicBezTo>
                  <a:lnTo>
                    <a:pt x="0" y="15703"/>
                  </a:lnTo>
                  <a:cubicBezTo>
                    <a:pt x="0" y="7084"/>
                    <a:pt x="7620" y="0"/>
                    <a:pt x="16891" y="0"/>
                  </a:cubicBezTo>
                  <a:moveTo>
                    <a:pt x="16891" y="31525"/>
                  </a:moveTo>
                  <a:lnTo>
                    <a:pt x="16891" y="15703"/>
                  </a:lnTo>
                  <a:lnTo>
                    <a:pt x="33909" y="15703"/>
                  </a:lnTo>
                  <a:lnTo>
                    <a:pt x="33909" y="3529506"/>
                  </a:lnTo>
                  <a:lnTo>
                    <a:pt x="16891" y="3529506"/>
                  </a:lnTo>
                  <a:lnTo>
                    <a:pt x="16891" y="3513803"/>
                  </a:lnTo>
                  <a:lnTo>
                    <a:pt x="163195" y="3513803"/>
                  </a:lnTo>
                  <a:lnTo>
                    <a:pt x="163195" y="3529506"/>
                  </a:lnTo>
                  <a:lnTo>
                    <a:pt x="146304" y="3529506"/>
                  </a:lnTo>
                  <a:lnTo>
                    <a:pt x="146304" y="15703"/>
                  </a:lnTo>
                  <a:lnTo>
                    <a:pt x="163195" y="15703"/>
                  </a:lnTo>
                  <a:lnTo>
                    <a:pt x="163195" y="31525"/>
                  </a:lnTo>
                  <a:lnTo>
                    <a:pt x="16891" y="31525"/>
                  </a:lnTo>
                  <a:close/>
                </a:path>
              </a:pathLst>
            </a:custGeom>
            <a:solidFill>
              <a:srgbClr val="2D6A2D"/>
            </a:solidFill>
          </p:spPr>
        </p:sp>
      </p:grpSp>
      <p:grpSp>
        <p:nvGrpSpPr>
          <p:cNvPr name="Group 77" id="77"/>
          <p:cNvGrpSpPr/>
          <p:nvPr/>
        </p:nvGrpSpPr>
        <p:grpSpPr>
          <a:xfrm rot="0">
            <a:off x="12472416" y="7162986"/>
            <a:ext cx="5084064" cy="510068"/>
            <a:chOff x="0" y="0"/>
            <a:chExt cx="6778752" cy="680091"/>
          </a:xfrm>
        </p:grpSpPr>
        <p:sp>
          <p:nvSpPr>
            <p:cNvPr name="Freeform 78" id="78"/>
            <p:cNvSpPr/>
            <p:nvPr/>
          </p:nvSpPr>
          <p:spPr>
            <a:xfrm flipH="false" flipV="false" rot="0">
              <a:off x="0" y="0"/>
              <a:ext cx="6778752" cy="680091"/>
            </a:xfrm>
            <a:custGeom>
              <a:avLst/>
              <a:gdLst/>
              <a:ahLst/>
              <a:cxnLst/>
              <a:rect r="r" b="b" t="t" l="l"/>
              <a:pathLst>
                <a:path h="680091" w="6778752">
                  <a:moveTo>
                    <a:pt x="0" y="0"/>
                  </a:moveTo>
                  <a:lnTo>
                    <a:pt x="6778752" y="0"/>
                  </a:lnTo>
                  <a:lnTo>
                    <a:pt x="6778752" y="680091"/>
                  </a:lnTo>
                  <a:lnTo>
                    <a:pt x="0" y="680091"/>
                  </a:lnTo>
                  <a:close/>
                </a:path>
              </a:pathLst>
            </a:custGeom>
            <a:blipFill>
              <a:blip r:embed="rId3">
                <a:alphaModFix amt="0"/>
              </a:blip>
              <a:stretch>
                <a:fillRect l="0" t="-140434" r="0" b="-147996"/>
              </a:stretch>
            </a:blipFill>
          </p:spPr>
        </p:sp>
        <p:sp>
          <p:nvSpPr>
            <p:cNvPr name="TextBox 79" id="79"/>
            <p:cNvSpPr txBox="true"/>
            <p:nvPr/>
          </p:nvSpPr>
          <p:spPr>
            <a:xfrm>
              <a:off x="0" y="-47625"/>
              <a:ext cx="6778752" cy="727716"/>
            </a:xfrm>
            <a:prstGeom prst="rect">
              <a:avLst/>
            </a:prstGeom>
          </p:spPr>
          <p:txBody>
            <a:bodyPr anchor="ctr" rtlCol="false" tIns="0" lIns="0" bIns="0" rIns="0"/>
            <a:lstStyle/>
            <a:p>
              <a:pPr algn="l">
                <a:lnSpc>
                  <a:spcPts val="2759"/>
                </a:lnSpc>
              </a:pPr>
              <a:r>
                <a:rPr lang="en-US" sz="2299" b="true">
                  <a:solidFill>
                    <a:srgbClr val="1E3A1E"/>
                  </a:solidFill>
                  <a:latin typeface="Calibri (MS) Bold"/>
                  <a:ea typeface="Calibri (MS) Bold"/>
                  <a:cs typeface="Calibri (MS) Bold"/>
                  <a:sym typeface="Calibri (MS) Bold"/>
                </a:rPr>
                <a:t>⚖️  Économie de données</a:t>
              </a:r>
            </a:p>
          </p:txBody>
        </p:sp>
      </p:grpSp>
      <p:grpSp>
        <p:nvGrpSpPr>
          <p:cNvPr name="Group 80" id="80"/>
          <p:cNvGrpSpPr/>
          <p:nvPr/>
        </p:nvGrpSpPr>
        <p:grpSpPr>
          <a:xfrm rot="0">
            <a:off x="12472416" y="7421173"/>
            <a:ext cx="5084064" cy="1700227"/>
            <a:chOff x="0" y="0"/>
            <a:chExt cx="6778752" cy="2266969"/>
          </a:xfrm>
        </p:grpSpPr>
        <p:sp>
          <p:nvSpPr>
            <p:cNvPr name="Freeform 81" id="81"/>
            <p:cNvSpPr/>
            <p:nvPr/>
          </p:nvSpPr>
          <p:spPr>
            <a:xfrm flipH="false" flipV="false" rot="0">
              <a:off x="0" y="0"/>
              <a:ext cx="6778752" cy="2266969"/>
            </a:xfrm>
            <a:custGeom>
              <a:avLst/>
              <a:gdLst/>
              <a:ahLst/>
              <a:cxnLst/>
              <a:rect r="r" b="b" t="t" l="l"/>
              <a:pathLst>
                <a:path h="2266969" w="6778752">
                  <a:moveTo>
                    <a:pt x="0" y="0"/>
                  </a:moveTo>
                  <a:lnTo>
                    <a:pt x="6778752" y="0"/>
                  </a:lnTo>
                  <a:lnTo>
                    <a:pt x="6778752" y="2266969"/>
                  </a:lnTo>
                  <a:lnTo>
                    <a:pt x="0" y="2266969"/>
                  </a:lnTo>
                  <a:close/>
                </a:path>
              </a:pathLst>
            </a:custGeom>
            <a:blipFill>
              <a:blip r:embed="rId3">
                <a:alphaModFix amt="0"/>
              </a:blip>
              <a:stretch>
                <a:fillRect l="0" t="-4483" r="0" b="-12045"/>
              </a:stretch>
            </a:blipFill>
          </p:spPr>
        </p:sp>
        <p:sp>
          <p:nvSpPr>
            <p:cNvPr name="TextBox 82" id="82"/>
            <p:cNvSpPr txBox="true"/>
            <p:nvPr/>
          </p:nvSpPr>
          <p:spPr>
            <a:xfrm>
              <a:off x="0" y="-47625"/>
              <a:ext cx="6778752" cy="2314594"/>
            </a:xfrm>
            <a:prstGeom prst="rect">
              <a:avLst/>
            </a:prstGeom>
          </p:spPr>
          <p:txBody>
            <a:bodyPr anchor="ctr" rtlCol="false" tIns="0" lIns="0" bIns="0" rIns="0"/>
            <a:lstStyle/>
            <a:p>
              <a:pPr algn="l">
                <a:lnSpc>
                  <a:spcPts val="2519"/>
                </a:lnSpc>
              </a:pPr>
              <a:r>
                <a:rPr lang="en-US" sz="2099">
                  <a:solidFill>
                    <a:srgbClr val="6B8F6B"/>
                  </a:solidFill>
                  <a:latin typeface="Calibri (MS)"/>
                  <a:ea typeface="Calibri (MS)"/>
                  <a:cs typeface="Calibri (MS)"/>
                  <a:sym typeface="Calibri (MS)"/>
                </a:rPr>
                <a:t>P</a:t>
              </a:r>
              <a:r>
                <a:rPr lang="en-US" sz="2099">
                  <a:solidFill>
                    <a:srgbClr val="6B8F6B"/>
                  </a:solidFill>
                  <a:latin typeface="Calibri (MS)"/>
                  <a:ea typeface="Calibri (MS)"/>
                  <a:cs typeface="Calibri (MS)"/>
                  <a:sym typeface="Calibri (MS)"/>
                </a:rPr>
                <a:t>as besoin de réserver un test set pour la validation interne ; on peut garder tout l’entraînement pour construire les arbres.</a:t>
              </a:r>
            </a:p>
          </p:txBody>
        </p:sp>
      </p:grpSp>
      <p:sp>
        <p:nvSpPr>
          <p:cNvPr name="TextBox 83" id="83"/>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26</a:t>
            </a:r>
          </a:p>
        </p:txBody>
      </p:sp>
      <p:sp>
        <p:nvSpPr>
          <p:cNvPr name="TextBox 84" id="84"/>
          <p:cNvSpPr txBox="true"/>
          <p:nvPr/>
        </p:nvSpPr>
        <p:spPr>
          <a:xfrm rot="0">
            <a:off x="1100696" y="4795839"/>
            <a:ext cx="7582689" cy="1866900"/>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Calibri (MS)"/>
                <a:ea typeface="Calibri (MS)"/>
                <a:cs typeface="Calibri (MS)"/>
                <a:sym typeface="Calibri (MS)"/>
              </a:rPr>
              <a:t>⚠️ Pour chaque observation, seules les prédictions des arbres qui ne l’ont pas utilisée pour l’entraînement (OOB) sont agrégées.</a:t>
            </a:r>
          </a:p>
          <a:p>
            <a:pPr algn="ctr">
              <a:lnSpc>
                <a:spcPts val="2879"/>
              </a:lnSpc>
              <a:spcBef>
                <a:spcPct val="0"/>
              </a:spcBef>
            </a:pPr>
            <a:r>
              <a:rPr lang="en-US" sz="2399">
                <a:solidFill>
                  <a:srgbClr val="000000"/>
                </a:solidFill>
                <a:latin typeface="Calibri (MS)"/>
                <a:ea typeface="Calibri (MS)"/>
                <a:cs typeface="Calibri (MS)"/>
                <a:sym typeface="Calibri (MS)"/>
              </a:rPr>
              <a:t> Cela garantit une évaluation sans biais et évite tout data leakage.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403" y="-25403"/>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A3 —  Bootstrap &amp; OOB vs Validation croisée</a:t>
              </a:r>
            </a:p>
          </p:txBody>
        </p:sp>
      </p:grpSp>
      <p:grpSp>
        <p:nvGrpSpPr>
          <p:cNvPr name="Group 8" id="8"/>
          <p:cNvGrpSpPr/>
          <p:nvPr/>
        </p:nvGrpSpPr>
        <p:grpSpPr>
          <a:xfrm rot="0">
            <a:off x="633424" y="2846474"/>
            <a:ext cx="7539991" cy="5280375"/>
            <a:chOff x="0" y="0"/>
            <a:chExt cx="12347016" cy="8646809"/>
          </a:xfrm>
        </p:grpSpPr>
        <p:sp>
          <p:nvSpPr>
            <p:cNvPr name="Freeform 9" id="9"/>
            <p:cNvSpPr/>
            <p:nvPr/>
          </p:nvSpPr>
          <p:spPr>
            <a:xfrm flipH="false" flipV="false" rot="0">
              <a:off x="9085" y="78411"/>
              <a:ext cx="12328797" cy="8489575"/>
            </a:xfrm>
            <a:custGeom>
              <a:avLst/>
              <a:gdLst/>
              <a:ahLst/>
              <a:cxnLst/>
              <a:rect r="r" b="b" t="t" l="l"/>
              <a:pathLst>
                <a:path h="8489575" w="12328797">
                  <a:moveTo>
                    <a:pt x="0" y="0"/>
                  </a:moveTo>
                  <a:lnTo>
                    <a:pt x="12328798" y="0"/>
                  </a:lnTo>
                  <a:lnTo>
                    <a:pt x="12328798" y="8489575"/>
                  </a:lnTo>
                  <a:lnTo>
                    <a:pt x="0" y="8489575"/>
                  </a:lnTo>
                  <a:close/>
                </a:path>
              </a:pathLst>
            </a:custGeom>
            <a:solidFill>
              <a:srgbClr val="E8F5E8"/>
            </a:solidFill>
          </p:spPr>
        </p:sp>
        <p:sp>
          <p:nvSpPr>
            <p:cNvPr name="Freeform 10" id="10"/>
            <p:cNvSpPr/>
            <p:nvPr/>
          </p:nvSpPr>
          <p:spPr>
            <a:xfrm flipH="false" flipV="false" rot="0">
              <a:off x="0" y="0"/>
              <a:ext cx="12346968" cy="8646396"/>
            </a:xfrm>
            <a:custGeom>
              <a:avLst/>
              <a:gdLst/>
              <a:ahLst/>
              <a:cxnLst/>
              <a:rect r="r" b="b" t="t" l="l"/>
              <a:pathLst>
                <a:path h="8646396" w="12346968">
                  <a:moveTo>
                    <a:pt x="9085" y="0"/>
                  </a:moveTo>
                  <a:lnTo>
                    <a:pt x="12337883" y="0"/>
                  </a:lnTo>
                  <a:cubicBezTo>
                    <a:pt x="12342937" y="0"/>
                    <a:pt x="12346968" y="35373"/>
                    <a:pt x="12346968" y="78411"/>
                  </a:cubicBezTo>
                  <a:lnTo>
                    <a:pt x="12346968" y="8567986"/>
                  </a:lnTo>
                  <a:cubicBezTo>
                    <a:pt x="12346968" y="8611613"/>
                    <a:pt x="12342870" y="8646396"/>
                    <a:pt x="12337883" y="8646396"/>
                  </a:cubicBezTo>
                  <a:lnTo>
                    <a:pt x="9085" y="8646396"/>
                  </a:lnTo>
                  <a:cubicBezTo>
                    <a:pt x="4030" y="8646396"/>
                    <a:pt x="0" y="8611023"/>
                    <a:pt x="0" y="8567986"/>
                  </a:cubicBezTo>
                  <a:lnTo>
                    <a:pt x="0" y="78411"/>
                  </a:lnTo>
                  <a:cubicBezTo>
                    <a:pt x="0" y="35373"/>
                    <a:pt x="4099" y="0"/>
                    <a:pt x="9085" y="0"/>
                  </a:cubicBezTo>
                  <a:moveTo>
                    <a:pt x="9085" y="157411"/>
                  </a:moveTo>
                  <a:lnTo>
                    <a:pt x="9085" y="78411"/>
                  </a:lnTo>
                  <a:lnTo>
                    <a:pt x="18239" y="78411"/>
                  </a:lnTo>
                  <a:lnTo>
                    <a:pt x="18239" y="8567986"/>
                  </a:lnTo>
                  <a:lnTo>
                    <a:pt x="9085" y="8567986"/>
                  </a:lnTo>
                  <a:lnTo>
                    <a:pt x="9085" y="8489575"/>
                  </a:lnTo>
                  <a:lnTo>
                    <a:pt x="12337883" y="8489575"/>
                  </a:lnTo>
                  <a:lnTo>
                    <a:pt x="12337883" y="8567986"/>
                  </a:lnTo>
                  <a:lnTo>
                    <a:pt x="12328797" y="8567986"/>
                  </a:lnTo>
                  <a:lnTo>
                    <a:pt x="12328797" y="78411"/>
                  </a:lnTo>
                  <a:lnTo>
                    <a:pt x="12337883" y="78411"/>
                  </a:lnTo>
                  <a:lnTo>
                    <a:pt x="12337883" y="157411"/>
                  </a:lnTo>
                  <a:lnTo>
                    <a:pt x="9085" y="157411"/>
                  </a:lnTo>
                  <a:close/>
                </a:path>
              </a:pathLst>
            </a:custGeom>
            <a:solidFill>
              <a:srgbClr val="5B9E3D"/>
            </a:solidFill>
          </p:spPr>
        </p:sp>
      </p:grpSp>
      <p:grpSp>
        <p:nvGrpSpPr>
          <p:cNvPr name="Group 11" id="11"/>
          <p:cNvGrpSpPr/>
          <p:nvPr/>
        </p:nvGrpSpPr>
        <p:grpSpPr>
          <a:xfrm rot="0">
            <a:off x="9777371" y="2846474"/>
            <a:ext cx="7539991" cy="5280375"/>
            <a:chOff x="0" y="0"/>
            <a:chExt cx="12347016" cy="8646809"/>
          </a:xfrm>
        </p:grpSpPr>
        <p:sp>
          <p:nvSpPr>
            <p:cNvPr name="Freeform 12" id="12"/>
            <p:cNvSpPr/>
            <p:nvPr/>
          </p:nvSpPr>
          <p:spPr>
            <a:xfrm flipH="false" flipV="false" rot="0">
              <a:off x="9085" y="78411"/>
              <a:ext cx="12328797" cy="8489575"/>
            </a:xfrm>
            <a:custGeom>
              <a:avLst/>
              <a:gdLst/>
              <a:ahLst/>
              <a:cxnLst/>
              <a:rect r="r" b="b" t="t" l="l"/>
              <a:pathLst>
                <a:path h="8489575" w="12328797">
                  <a:moveTo>
                    <a:pt x="0" y="0"/>
                  </a:moveTo>
                  <a:lnTo>
                    <a:pt x="12328798" y="0"/>
                  </a:lnTo>
                  <a:lnTo>
                    <a:pt x="12328798" y="8489575"/>
                  </a:lnTo>
                  <a:lnTo>
                    <a:pt x="0" y="8489575"/>
                  </a:lnTo>
                  <a:close/>
                </a:path>
              </a:pathLst>
            </a:custGeom>
            <a:solidFill>
              <a:srgbClr val="E8F5E8"/>
            </a:solidFill>
          </p:spPr>
        </p:sp>
        <p:sp>
          <p:nvSpPr>
            <p:cNvPr name="Freeform 13" id="13"/>
            <p:cNvSpPr/>
            <p:nvPr/>
          </p:nvSpPr>
          <p:spPr>
            <a:xfrm flipH="false" flipV="false" rot="0">
              <a:off x="0" y="0"/>
              <a:ext cx="12346968" cy="8646396"/>
            </a:xfrm>
            <a:custGeom>
              <a:avLst/>
              <a:gdLst/>
              <a:ahLst/>
              <a:cxnLst/>
              <a:rect r="r" b="b" t="t" l="l"/>
              <a:pathLst>
                <a:path h="8646396" w="12346968">
                  <a:moveTo>
                    <a:pt x="9085" y="0"/>
                  </a:moveTo>
                  <a:lnTo>
                    <a:pt x="12337883" y="0"/>
                  </a:lnTo>
                  <a:cubicBezTo>
                    <a:pt x="12342937" y="0"/>
                    <a:pt x="12346968" y="35373"/>
                    <a:pt x="12346968" y="78411"/>
                  </a:cubicBezTo>
                  <a:lnTo>
                    <a:pt x="12346968" y="8567986"/>
                  </a:lnTo>
                  <a:cubicBezTo>
                    <a:pt x="12346968" y="8611613"/>
                    <a:pt x="12342870" y="8646396"/>
                    <a:pt x="12337883" y="8646396"/>
                  </a:cubicBezTo>
                  <a:lnTo>
                    <a:pt x="9085" y="8646396"/>
                  </a:lnTo>
                  <a:cubicBezTo>
                    <a:pt x="4030" y="8646396"/>
                    <a:pt x="0" y="8611023"/>
                    <a:pt x="0" y="8567986"/>
                  </a:cubicBezTo>
                  <a:lnTo>
                    <a:pt x="0" y="78411"/>
                  </a:lnTo>
                  <a:cubicBezTo>
                    <a:pt x="0" y="35373"/>
                    <a:pt x="4099" y="0"/>
                    <a:pt x="9085" y="0"/>
                  </a:cubicBezTo>
                  <a:moveTo>
                    <a:pt x="9085" y="157411"/>
                  </a:moveTo>
                  <a:lnTo>
                    <a:pt x="9085" y="78411"/>
                  </a:lnTo>
                  <a:lnTo>
                    <a:pt x="18239" y="78411"/>
                  </a:lnTo>
                  <a:lnTo>
                    <a:pt x="18239" y="8567986"/>
                  </a:lnTo>
                  <a:lnTo>
                    <a:pt x="9085" y="8567986"/>
                  </a:lnTo>
                  <a:lnTo>
                    <a:pt x="9085" y="8489575"/>
                  </a:lnTo>
                  <a:lnTo>
                    <a:pt x="12337883" y="8489575"/>
                  </a:lnTo>
                  <a:lnTo>
                    <a:pt x="12337883" y="8567986"/>
                  </a:lnTo>
                  <a:lnTo>
                    <a:pt x="12328797" y="8567986"/>
                  </a:lnTo>
                  <a:lnTo>
                    <a:pt x="12328797" y="78411"/>
                  </a:lnTo>
                  <a:lnTo>
                    <a:pt x="12337883" y="78411"/>
                  </a:lnTo>
                  <a:lnTo>
                    <a:pt x="12337883" y="157411"/>
                  </a:lnTo>
                  <a:lnTo>
                    <a:pt x="9085" y="157411"/>
                  </a:lnTo>
                  <a:close/>
                </a:path>
              </a:pathLst>
            </a:custGeom>
            <a:solidFill>
              <a:srgbClr val="5B9E3D"/>
            </a:solidFill>
          </p:spPr>
        </p:sp>
      </p:grpSp>
      <p:grpSp>
        <p:nvGrpSpPr>
          <p:cNvPr name="Group 14" id="14"/>
          <p:cNvGrpSpPr/>
          <p:nvPr/>
        </p:nvGrpSpPr>
        <p:grpSpPr>
          <a:xfrm rot="0">
            <a:off x="9870476" y="3024513"/>
            <a:ext cx="7446887" cy="874251"/>
            <a:chOff x="0" y="0"/>
            <a:chExt cx="12194554" cy="1431619"/>
          </a:xfrm>
        </p:grpSpPr>
        <p:sp>
          <p:nvSpPr>
            <p:cNvPr name="Freeform 15" id="15"/>
            <p:cNvSpPr/>
            <p:nvPr/>
          </p:nvSpPr>
          <p:spPr>
            <a:xfrm flipH="false" flipV="false" rot="0">
              <a:off x="0" y="0"/>
              <a:ext cx="12194553" cy="1431619"/>
            </a:xfrm>
            <a:custGeom>
              <a:avLst/>
              <a:gdLst/>
              <a:ahLst/>
              <a:cxnLst/>
              <a:rect r="r" b="b" t="t" l="l"/>
              <a:pathLst>
                <a:path h="1431619" w="12194553">
                  <a:moveTo>
                    <a:pt x="0" y="0"/>
                  </a:moveTo>
                  <a:lnTo>
                    <a:pt x="12194553" y="0"/>
                  </a:lnTo>
                  <a:lnTo>
                    <a:pt x="12194553" y="1431619"/>
                  </a:lnTo>
                  <a:lnTo>
                    <a:pt x="0" y="1431619"/>
                  </a:lnTo>
                  <a:close/>
                </a:path>
              </a:pathLst>
            </a:custGeom>
            <a:blipFill>
              <a:blip r:embed="rId3">
                <a:alphaModFix amt="0"/>
              </a:blip>
              <a:stretch>
                <a:fillRect l="0" t="-16436" r="67006" b="6917"/>
              </a:stretch>
            </a:blipFill>
          </p:spPr>
        </p:sp>
        <p:sp>
          <p:nvSpPr>
            <p:cNvPr name="TextBox 16" id="16"/>
            <p:cNvSpPr txBox="true"/>
            <p:nvPr/>
          </p:nvSpPr>
          <p:spPr>
            <a:xfrm>
              <a:off x="0" y="-85725"/>
              <a:ext cx="12194554" cy="1517344"/>
            </a:xfrm>
            <a:prstGeom prst="rect">
              <a:avLst/>
            </a:prstGeom>
          </p:spPr>
          <p:txBody>
            <a:bodyPr anchor="ctr" rtlCol="false" tIns="0" lIns="0" bIns="0" rIns="0"/>
            <a:lstStyle/>
            <a:p>
              <a:pPr algn="l">
                <a:lnSpc>
                  <a:spcPts val="4799"/>
                </a:lnSpc>
              </a:pPr>
              <a:r>
                <a:rPr lang="en-US" sz="3999" b="true">
                  <a:solidFill>
                    <a:srgbClr val="97BC62"/>
                  </a:solidFill>
                  <a:latin typeface="Calibri (MS) Bold"/>
                  <a:ea typeface="Calibri (MS) Bold"/>
                  <a:cs typeface="Calibri (MS) Bold"/>
                  <a:sym typeface="Calibri (MS) Bold"/>
                </a:rPr>
                <a:t>R</a:t>
              </a:r>
              <a:r>
                <a:rPr lang="en-US" sz="3999" b="true">
                  <a:solidFill>
                    <a:srgbClr val="97BC62"/>
                  </a:solidFill>
                  <a:latin typeface="Calibri (MS) Bold"/>
                  <a:ea typeface="Calibri (MS) Bold"/>
                  <a:cs typeface="Calibri (MS) Bold"/>
                  <a:sym typeface="Calibri (MS) Bold"/>
                </a:rPr>
                <a:t>andom Forest (Bootstrap + OOB)</a:t>
              </a:r>
            </a:p>
          </p:txBody>
        </p:sp>
      </p:grpSp>
      <p:grpSp>
        <p:nvGrpSpPr>
          <p:cNvPr name="Group 17" id="17"/>
          <p:cNvGrpSpPr/>
          <p:nvPr/>
        </p:nvGrpSpPr>
        <p:grpSpPr>
          <a:xfrm rot="0">
            <a:off x="1243177" y="3024513"/>
            <a:ext cx="6320485" cy="874251"/>
            <a:chOff x="0" y="0"/>
            <a:chExt cx="10350028" cy="1431619"/>
          </a:xfrm>
        </p:grpSpPr>
        <p:sp>
          <p:nvSpPr>
            <p:cNvPr name="Freeform 18" id="18"/>
            <p:cNvSpPr/>
            <p:nvPr/>
          </p:nvSpPr>
          <p:spPr>
            <a:xfrm flipH="false" flipV="false" rot="0">
              <a:off x="0" y="0"/>
              <a:ext cx="10350028" cy="1431619"/>
            </a:xfrm>
            <a:custGeom>
              <a:avLst/>
              <a:gdLst/>
              <a:ahLst/>
              <a:cxnLst/>
              <a:rect r="r" b="b" t="t" l="l"/>
              <a:pathLst>
                <a:path h="1431619" w="10350028">
                  <a:moveTo>
                    <a:pt x="0" y="0"/>
                  </a:moveTo>
                  <a:lnTo>
                    <a:pt x="10350028" y="0"/>
                  </a:lnTo>
                  <a:lnTo>
                    <a:pt x="10350028" y="1431619"/>
                  </a:lnTo>
                  <a:lnTo>
                    <a:pt x="0" y="1431619"/>
                  </a:lnTo>
                  <a:close/>
                </a:path>
              </a:pathLst>
            </a:custGeom>
            <a:blipFill>
              <a:blip r:embed="rId3">
                <a:alphaModFix amt="0"/>
              </a:blip>
              <a:stretch>
                <a:fillRect l="0" t="-16436" r="61127" b="6917"/>
              </a:stretch>
            </a:blipFill>
          </p:spPr>
        </p:sp>
        <p:sp>
          <p:nvSpPr>
            <p:cNvPr name="TextBox 19" id="19"/>
            <p:cNvSpPr txBox="true"/>
            <p:nvPr/>
          </p:nvSpPr>
          <p:spPr>
            <a:xfrm>
              <a:off x="0" y="-85725"/>
              <a:ext cx="10350028" cy="1517344"/>
            </a:xfrm>
            <a:prstGeom prst="rect">
              <a:avLst/>
            </a:prstGeom>
          </p:spPr>
          <p:txBody>
            <a:bodyPr anchor="ctr" rtlCol="false" tIns="0" lIns="0" bIns="0" rIns="0"/>
            <a:lstStyle/>
            <a:p>
              <a:pPr algn="l">
                <a:lnSpc>
                  <a:spcPts val="4799"/>
                </a:lnSpc>
              </a:pPr>
              <a:r>
                <a:rPr lang="en-US" sz="3999" b="true">
                  <a:solidFill>
                    <a:srgbClr val="97BC62"/>
                  </a:solidFill>
                  <a:latin typeface="Calibri (MS) Bold"/>
                  <a:ea typeface="Calibri (MS) Bold"/>
                  <a:cs typeface="Calibri (MS) Bold"/>
                  <a:sym typeface="Calibri (MS) Bold"/>
                </a:rPr>
                <a:t>Valid</a:t>
              </a:r>
              <a:r>
                <a:rPr lang="en-US" sz="3999" b="true">
                  <a:solidFill>
                    <a:srgbClr val="97BC62"/>
                  </a:solidFill>
                  <a:latin typeface="Calibri (MS) Bold"/>
                  <a:ea typeface="Calibri (MS) Bold"/>
                  <a:cs typeface="Calibri (MS) Bold"/>
                  <a:sym typeface="Calibri (MS) Bold"/>
                </a:rPr>
                <a:t>ation croisée classique</a:t>
              </a:r>
            </a:p>
          </p:txBody>
        </p:sp>
      </p:grpSp>
      <p:sp>
        <p:nvSpPr>
          <p:cNvPr name="Freeform 20" id="20"/>
          <p:cNvSpPr/>
          <p:nvPr/>
        </p:nvSpPr>
        <p:spPr>
          <a:xfrm flipH="false" flipV="false" rot="0">
            <a:off x="10058461" y="7001628"/>
            <a:ext cx="498556" cy="393358"/>
          </a:xfrm>
          <a:custGeom>
            <a:avLst/>
            <a:gdLst/>
            <a:ahLst/>
            <a:cxnLst/>
            <a:rect r="r" b="b" t="t" l="l"/>
            <a:pathLst>
              <a:path h="393358" w="498556">
                <a:moveTo>
                  <a:pt x="0" y="0"/>
                </a:moveTo>
                <a:lnTo>
                  <a:pt x="498556" y="0"/>
                </a:lnTo>
                <a:lnTo>
                  <a:pt x="498556" y="393358"/>
                </a:lnTo>
                <a:lnTo>
                  <a:pt x="0" y="393358"/>
                </a:lnTo>
                <a:lnTo>
                  <a:pt x="0" y="0"/>
                </a:lnTo>
                <a:close/>
              </a:path>
            </a:pathLst>
          </a:custGeom>
          <a:blipFill>
            <a:blip r:embed="rId4"/>
            <a:stretch>
              <a:fillRect l="0" t="-13371" r="0" b="-13371"/>
            </a:stretch>
          </a:blipFill>
        </p:spPr>
      </p:sp>
      <p:sp>
        <p:nvSpPr>
          <p:cNvPr name="Freeform 21" id="21"/>
          <p:cNvSpPr/>
          <p:nvPr/>
        </p:nvSpPr>
        <p:spPr>
          <a:xfrm flipH="false" flipV="false" rot="0">
            <a:off x="649999" y="5273583"/>
            <a:ext cx="593178" cy="305937"/>
          </a:xfrm>
          <a:custGeom>
            <a:avLst/>
            <a:gdLst/>
            <a:ahLst/>
            <a:cxnLst/>
            <a:rect r="r" b="b" t="t" l="l"/>
            <a:pathLst>
              <a:path h="305937" w="593178">
                <a:moveTo>
                  <a:pt x="0" y="0"/>
                </a:moveTo>
                <a:lnTo>
                  <a:pt x="593178" y="0"/>
                </a:lnTo>
                <a:lnTo>
                  <a:pt x="593178" y="305937"/>
                </a:lnTo>
                <a:lnTo>
                  <a:pt x="0" y="305937"/>
                </a:lnTo>
                <a:lnTo>
                  <a:pt x="0" y="0"/>
                </a:lnTo>
                <a:close/>
              </a:path>
            </a:pathLst>
          </a:custGeom>
          <a:blipFill>
            <a:blip r:embed="rId5"/>
            <a:stretch>
              <a:fillRect l="-4757" t="0" r="-4757" b="0"/>
            </a:stretch>
          </a:blipFill>
        </p:spPr>
      </p:sp>
      <p:sp>
        <p:nvSpPr>
          <p:cNvPr name="TextBox 22" id="22"/>
          <p:cNvSpPr txBox="true"/>
          <p:nvPr/>
        </p:nvSpPr>
        <p:spPr>
          <a:xfrm rot="0">
            <a:off x="633424" y="3985036"/>
            <a:ext cx="7789390" cy="3409950"/>
          </a:xfrm>
          <a:prstGeom prst="rect">
            <a:avLst/>
          </a:prstGeom>
        </p:spPr>
        <p:txBody>
          <a:bodyPr anchor="t" rtlCol="false" tIns="0" lIns="0" bIns="0" rIns="0">
            <a:spAutoFit/>
          </a:bodyPr>
          <a:lstStyle/>
          <a:p>
            <a:pPr algn="l" marL="627299" indent="-313650" lvl="1">
              <a:lnSpc>
                <a:spcPts val="3486"/>
              </a:lnSpc>
              <a:buFont typeface="Arial"/>
              <a:buChar char="•"/>
            </a:pPr>
            <a:r>
              <a:rPr lang="en-US" sz="2905">
                <a:solidFill>
                  <a:srgbClr val="000000"/>
                </a:solidFill>
                <a:latin typeface="Calibri (MS)"/>
                <a:ea typeface="Calibri (MS)"/>
                <a:cs typeface="Calibri (MS)"/>
                <a:sym typeface="Calibri (MS)"/>
              </a:rPr>
              <a:t>Découpage du dataset en k p</a:t>
            </a:r>
            <a:r>
              <a:rPr lang="en-US" sz="2905">
                <a:solidFill>
                  <a:srgbClr val="000000"/>
                </a:solidFill>
                <a:latin typeface="Calibri (MS)"/>
                <a:ea typeface="Calibri (MS)"/>
                <a:cs typeface="Calibri (MS)"/>
                <a:sym typeface="Calibri (MS)"/>
              </a:rPr>
              <a:t>l</a:t>
            </a:r>
            <a:r>
              <a:rPr lang="en-US" sz="2905">
                <a:solidFill>
                  <a:srgbClr val="000000"/>
                </a:solidFill>
                <a:latin typeface="Calibri (MS)"/>
                <a:ea typeface="Calibri (MS)"/>
                <a:cs typeface="Calibri (MS)"/>
                <a:sym typeface="Calibri (MS)"/>
              </a:rPr>
              <a:t>i</a:t>
            </a:r>
            <a:r>
              <a:rPr lang="en-US" sz="2905">
                <a:solidFill>
                  <a:srgbClr val="000000"/>
                </a:solidFill>
                <a:latin typeface="Calibri (MS)"/>
                <a:ea typeface="Calibri (MS)"/>
                <a:cs typeface="Calibri (MS)"/>
                <a:sym typeface="Calibri (MS)"/>
              </a:rPr>
              <a:t>s (folds)</a:t>
            </a:r>
          </a:p>
          <a:p>
            <a:pPr algn="l" marL="627299" indent="-313650" lvl="1">
              <a:lnSpc>
                <a:spcPts val="3486"/>
              </a:lnSpc>
              <a:buFont typeface="Arial"/>
              <a:buChar char="•"/>
            </a:pPr>
            <a:r>
              <a:rPr lang="en-US" sz="2905">
                <a:solidFill>
                  <a:srgbClr val="000000"/>
                </a:solidFill>
                <a:latin typeface="Calibri (MS)"/>
                <a:ea typeface="Calibri (MS)"/>
                <a:cs typeface="Calibri (MS)"/>
                <a:sym typeface="Calibri (MS)"/>
              </a:rPr>
              <a:t>Entraînem</a:t>
            </a:r>
            <a:r>
              <a:rPr lang="en-US" sz="2905">
                <a:solidFill>
                  <a:srgbClr val="000000"/>
                </a:solidFill>
                <a:latin typeface="Calibri (MS)"/>
                <a:ea typeface="Calibri (MS)"/>
                <a:cs typeface="Calibri (MS)"/>
                <a:sym typeface="Calibri (MS)"/>
              </a:rPr>
              <a:t>e</a:t>
            </a:r>
            <a:r>
              <a:rPr lang="en-US" sz="2905">
                <a:solidFill>
                  <a:srgbClr val="000000"/>
                </a:solidFill>
                <a:latin typeface="Calibri (MS)"/>
                <a:ea typeface="Calibri (MS)"/>
                <a:cs typeface="Calibri (MS)"/>
                <a:sym typeface="Calibri (MS)"/>
              </a:rPr>
              <a:t>nt k</a:t>
            </a:r>
            <a:r>
              <a:rPr lang="en-US" sz="2905">
                <a:solidFill>
                  <a:srgbClr val="000000"/>
                </a:solidFill>
                <a:latin typeface="Calibri (MS)"/>
                <a:ea typeface="Calibri (MS)"/>
                <a:cs typeface="Calibri (MS)"/>
                <a:sym typeface="Calibri (MS)"/>
              </a:rPr>
              <a:t> f</a:t>
            </a:r>
            <a:r>
              <a:rPr lang="en-US" sz="2905">
                <a:solidFill>
                  <a:srgbClr val="000000"/>
                </a:solidFill>
                <a:latin typeface="Calibri (MS)"/>
                <a:ea typeface="Calibri (MS)"/>
                <a:cs typeface="Calibri (MS)"/>
                <a:sym typeface="Calibri (MS)"/>
              </a:rPr>
              <a:t>ois le modèle</a:t>
            </a:r>
          </a:p>
          <a:p>
            <a:pPr algn="l">
              <a:lnSpc>
                <a:spcPts val="3486"/>
              </a:lnSpc>
            </a:pPr>
          </a:p>
          <a:p>
            <a:pPr algn="l">
              <a:lnSpc>
                <a:spcPts val="4242"/>
              </a:lnSpc>
            </a:pPr>
            <a:r>
              <a:rPr lang="en-US" sz="2905">
                <a:solidFill>
                  <a:srgbClr val="000000"/>
                </a:solidFill>
                <a:latin typeface="Calibri (MS)"/>
                <a:ea typeface="Calibri (MS)"/>
                <a:cs typeface="Calibri (MS)"/>
                <a:sym typeface="Calibri (MS)"/>
              </a:rPr>
              <a:t>      </a:t>
            </a:r>
            <a:r>
              <a:rPr lang="en-US" sz="2905">
                <a:solidFill>
                  <a:srgbClr val="000000"/>
                </a:solidFill>
                <a:latin typeface="Calibri (MS)"/>
                <a:ea typeface="Calibri (MS)"/>
                <a:cs typeface="Calibri (MS)"/>
                <a:sym typeface="Calibri (MS)"/>
              </a:rPr>
              <a:t>Coût d</a:t>
            </a:r>
            <a:r>
              <a:rPr lang="en-US" sz="2905">
                <a:solidFill>
                  <a:srgbClr val="000000"/>
                </a:solidFill>
                <a:latin typeface="Calibri (MS)"/>
                <a:ea typeface="Calibri (MS)"/>
                <a:cs typeface="Calibri (MS)"/>
                <a:sym typeface="Calibri (MS)"/>
              </a:rPr>
              <a:t>e calcul élevé </a:t>
            </a:r>
          </a:p>
          <a:p>
            <a:pPr algn="l">
              <a:lnSpc>
                <a:spcPts val="4242"/>
              </a:lnSpc>
            </a:pPr>
            <a:r>
              <a:rPr lang="en-US" sz="2905">
                <a:solidFill>
                  <a:srgbClr val="000000"/>
                </a:solidFill>
                <a:latin typeface="Calibri (MS)"/>
                <a:ea typeface="Calibri (MS)"/>
                <a:cs typeface="Calibri (MS)"/>
                <a:sym typeface="Calibri (MS)"/>
              </a:rPr>
              <a:t>      </a:t>
            </a:r>
            <a:r>
              <a:rPr lang="en-US" sz="2905">
                <a:solidFill>
                  <a:srgbClr val="000000"/>
                </a:solidFill>
                <a:latin typeface="Calibri (MS)"/>
                <a:ea typeface="Calibri (MS)"/>
                <a:cs typeface="Calibri (MS)"/>
                <a:sym typeface="Calibri (MS)"/>
              </a:rPr>
              <a:t>Nécessite</a:t>
            </a:r>
            <a:r>
              <a:rPr lang="en-US" sz="2905">
                <a:solidFill>
                  <a:srgbClr val="000000"/>
                </a:solidFill>
                <a:latin typeface="Calibri (MS)"/>
                <a:ea typeface="Calibri (MS)"/>
                <a:cs typeface="Calibri (MS)"/>
                <a:sym typeface="Calibri (MS)"/>
              </a:rPr>
              <a:t> une séparation explicite</a:t>
            </a:r>
          </a:p>
          <a:p>
            <a:pPr algn="l">
              <a:lnSpc>
                <a:spcPts val="4242"/>
              </a:lnSpc>
            </a:pPr>
            <a:r>
              <a:rPr lang="en-US" sz="2905">
                <a:solidFill>
                  <a:srgbClr val="000000"/>
                </a:solidFill>
                <a:latin typeface="Calibri (MS)"/>
                <a:ea typeface="Calibri (MS)"/>
                <a:cs typeface="Calibri (MS)"/>
                <a:sym typeface="Calibri (MS)"/>
              </a:rPr>
              <a:t>     </a:t>
            </a:r>
          </a:p>
          <a:p>
            <a:pPr algn="l">
              <a:lnSpc>
                <a:spcPts val="3486"/>
              </a:lnSpc>
            </a:pPr>
          </a:p>
        </p:txBody>
      </p:sp>
      <p:sp>
        <p:nvSpPr>
          <p:cNvPr name="TextBox 23" id="23"/>
          <p:cNvSpPr txBox="true"/>
          <p:nvPr/>
        </p:nvSpPr>
        <p:spPr>
          <a:xfrm rot="0">
            <a:off x="10182286" y="3841615"/>
            <a:ext cx="7259014" cy="4876800"/>
          </a:xfrm>
          <a:prstGeom prst="rect">
            <a:avLst/>
          </a:prstGeom>
        </p:spPr>
        <p:txBody>
          <a:bodyPr anchor="t" rtlCol="false" tIns="0" lIns="0" bIns="0" rIns="0">
            <a:spAutoFit/>
          </a:bodyPr>
          <a:lstStyle/>
          <a:p>
            <a:pPr algn="l" marL="627299" indent="-313650" lvl="1">
              <a:lnSpc>
                <a:spcPts val="3486"/>
              </a:lnSpc>
              <a:buFont typeface="Arial"/>
              <a:buChar char="•"/>
            </a:pPr>
            <a:r>
              <a:rPr lang="en-US" sz="2905">
                <a:solidFill>
                  <a:srgbClr val="000000"/>
                </a:solidFill>
                <a:latin typeface="Calibri (MS)"/>
                <a:ea typeface="Calibri (MS)"/>
                <a:cs typeface="Calibri (MS)"/>
                <a:sym typeface="Calibri (MS)"/>
              </a:rPr>
              <a:t>Bootstrap : tirage avec remise → plusieurs échantillons</a:t>
            </a:r>
          </a:p>
          <a:p>
            <a:pPr algn="l" marL="627299" indent="-313650" lvl="1">
              <a:lnSpc>
                <a:spcPts val="3486"/>
              </a:lnSpc>
              <a:buFont typeface="Arial"/>
              <a:buChar char="•"/>
            </a:pPr>
            <a:r>
              <a:rPr lang="en-US" sz="2905">
                <a:solidFill>
                  <a:srgbClr val="000000"/>
                </a:solidFill>
                <a:latin typeface="Calibri (MS)"/>
                <a:ea typeface="Calibri (MS)"/>
                <a:cs typeface="Calibri (MS)"/>
                <a:sym typeface="Calibri (MS)"/>
              </a:rPr>
              <a:t>Chaque arbre entraîné sur un bootstrap différent</a:t>
            </a:r>
          </a:p>
          <a:p>
            <a:pPr algn="l" marL="627299" indent="-313650" lvl="1">
              <a:lnSpc>
                <a:spcPts val="3486"/>
              </a:lnSpc>
              <a:buFont typeface="Arial"/>
              <a:buChar char="•"/>
            </a:pPr>
            <a:r>
              <a:rPr lang="en-US" sz="2905">
                <a:solidFill>
                  <a:srgbClr val="000000"/>
                </a:solidFill>
                <a:latin typeface="Calibri (MS)"/>
                <a:ea typeface="Calibri (MS)"/>
                <a:cs typeface="Calibri (MS)"/>
                <a:sym typeface="Calibri (MS)"/>
              </a:rPr>
              <a:t>Les données non t</a:t>
            </a:r>
            <a:r>
              <a:rPr lang="en-US" sz="2905">
                <a:solidFill>
                  <a:srgbClr val="000000"/>
                </a:solidFill>
                <a:latin typeface="Calibri (MS)"/>
                <a:ea typeface="Calibri (MS)"/>
                <a:cs typeface="Calibri (MS)"/>
                <a:sym typeface="Calibri (MS)"/>
              </a:rPr>
              <a:t>irées (≈37%) = OOB samp</a:t>
            </a:r>
            <a:r>
              <a:rPr lang="en-US" sz="2905">
                <a:solidFill>
                  <a:srgbClr val="000000"/>
                </a:solidFill>
                <a:latin typeface="Calibri (MS)"/>
                <a:ea typeface="Calibri (MS)"/>
                <a:cs typeface="Calibri (MS)"/>
                <a:sym typeface="Calibri (MS)"/>
              </a:rPr>
              <a:t>les</a:t>
            </a:r>
          </a:p>
          <a:p>
            <a:pPr algn="l">
              <a:lnSpc>
                <a:spcPts val="3486"/>
              </a:lnSpc>
            </a:pPr>
          </a:p>
          <a:p>
            <a:pPr algn="l">
              <a:lnSpc>
                <a:spcPts val="3486"/>
              </a:lnSpc>
            </a:pPr>
            <a:r>
              <a:rPr lang="en-US" sz="2905">
                <a:solidFill>
                  <a:srgbClr val="000000"/>
                </a:solidFill>
                <a:latin typeface="Calibri (MS)"/>
                <a:ea typeface="Calibri (MS)"/>
                <a:cs typeface="Calibri (MS)"/>
                <a:sym typeface="Calibri (MS)"/>
              </a:rPr>
              <a:t>     </a:t>
            </a:r>
            <a:r>
              <a:rPr lang="en-US" sz="2905">
                <a:solidFill>
                  <a:srgbClr val="000000"/>
                </a:solidFill>
                <a:latin typeface="Calibri (MS)"/>
                <a:ea typeface="Calibri (MS)"/>
                <a:cs typeface="Calibri (MS)"/>
                <a:sym typeface="Calibri (MS)"/>
              </a:rPr>
              <a:t>Ces OOB s</a:t>
            </a:r>
            <a:r>
              <a:rPr lang="en-US" sz="2905">
                <a:solidFill>
                  <a:srgbClr val="000000"/>
                </a:solidFill>
                <a:latin typeface="Calibri (MS)"/>
                <a:ea typeface="Calibri (MS)"/>
                <a:cs typeface="Calibri (MS)"/>
                <a:sym typeface="Calibri (MS)"/>
              </a:rPr>
              <a:t>e</a:t>
            </a:r>
            <a:r>
              <a:rPr lang="en-US" sz="2905">
                <a:solidFill>
                  <a:srgbClr val="000000"/>
                </a:solidFill>
                <a:latin typeface="Calibri (MS)"/>
                <a:ea typeface="Calibri (MS)"/>
                <a:cs typeface="Calibri (MS)"/>
                <a:sym typeface="Calibri (MS)"/>
              </a:rPr>
              <a:t>rvent de validation interne (gratuite, sans coût supplémentaire)  </a:t>
            </a:r>
          </a:p>
          <a:p>
            <a:pPr algn="l">
              <a:lnSpc>
                <a:spcPts val="3486"/>
              </a:lnSpc>
            </a:pPr>
          </a:p>
          <a:p>
            <a:pPr algn="l">
              <a:lnSpc>
                <a:spcPts val="3486"/>
              </a:lnSpc>
            </a:pPr>
          </a:p>
        </p:txBody>
      </p:sp>
      <p:sp>
        <p:nvSpPr>
          <p:cNvPr name="Freeform 24" id="24"/>
          <p:cNvSpPr/>
          <p:nvPr/>
        </p:nvSpPr>
        <p:spPr>
          <a:xfrm flipH="false" flipV="false" rot="0">
            <a:off x="649999" y="5768260"/>
            <a:ext cx="593178" cy="305937"/>
          </a:xfrm>
          <a:custGeom>
            <a:avLst/>
            <a:gdLst/>
            <a:ahLst/>
            <a:cxnLst/>
            <a:rect r="r" b="b" t="t" l="l"/>
            <a:pathLst>
              <a:path h="305937" w="593178">
                <a:moveTo>
                  <a:pt x="0" y="0"/>
                </a:moveTo>
                <a:lnTo>
                  <a:pt x="593178" y="0"/>
                </a:lnTo>
                <a:lnTo>
                  <a:pt x="593178" y="305937"/>
                </a:lnTo>
                <a:lnTo>
                  <a:pt x="0" y="305937"/>
                </a:lnTo>
                <a:lnTo>
                  <a:pt x="0" y="0"/>
                </a:lnTo>
                <a:close/>
              </a:path>
            </a:pathLst>
          </a:custGeom>
          <a:blipFill>
            <a:blip r:embed="rId5"/>
            <a:stretch>
              <a:fillRect l="-4757" t="0" r="-4757" b="0"/>
            </a:stretch>
          </a:blipFill>
        </p:spPr>
      </p:sp>
      <p:sp>
        <p:nvSpPr>
          <p:cNvPr name="TextBox 25" id="25"/>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800"/>
                </a:lnSpc>
              </a:pPr>
              <a:r>
                <a:rPr lang="en-US" sz="4000" b="true">
                  <a:solidFill>
                    <a:srgbClr val="FFFFFF"/>
                  </a:solidFill>
                  <a:latin typeface="Calibri (MS) Bold"/>
                  <a:ea typeface="Calibri (MS) Bold"/>
                  <a:cs typeface="Calibri (MS) Bold"/>
                  <a:sym typeface="Calibri (MS) Bold"/>
                </a:rPr>
                <a:t>A3 —OOB remplace la validation croisée dans Random forest</a:t>
              </a:r>
            </a:p>
          </p:txBody>
        </p:sp>
      </p:grpSp>
      <p:grpSp>
        <p:nvGrpSpPr>
          <p:cNvPr name="Group 8" id="8"/>
          <p:cNvGrpSpPr/>
          <p:nvPr/>
        </p:nvGrpSpPr>
        <p:grpSpPr>
          <a:xfrm rot="0">
            <a:off x="790309" y="2487777"/>
            <a:ext cx="15066648" cy="1690316"/>
            <a:chOff x="0" y="0"/>
            <a:chExt cx="20088864" cy="2253754"/>
          </a:xfrm>
        </p:grpSpPr>
        <p:sp>
          <p:nvSpPr>
            <p:cNvPr name="Freeform 9" id="9"/>
            <p:cNvSpPr/>
            <p:nvPr/>
          </p:nvSpPr>
          <p:spPr>
            <a:xfrm flipH="false" flipV="false" rot="0">
              <a:off x="14782" y="20437"/>
              <a:ext cx="20059222" cy="2212772"/>
            </a:xfrm>
            <a:custGeom>
              <a:avLst/>
              <a:gdLst/>
              <a:ahLst/>
              <a:cxnLst/>
              <a:rect r="r" b="b" t="t" l="l"/>
              <a:pathLst>
                <a:path h="2212772" w="20059222">
                  <a:moveTo>
                    <a:pt x="0" y="0"/>
                  </a:moveTo>
                  <a:lnTo>
                    <a:pt x="20059222" y="0"/>
                  </a:lnTo>
                  <a:lnTo>
                    <a:pt x="20059222" y="2212772"/>
                  </a:lnTo>
                  <a:lnTo>
                    <a:pt x="0" y="2212772"/>
                  </a:lnTo>
                  <a:close/>
                </a:path>
              </a:pathLst>
            </a:custGeom>
            <a:solidFill>
              <a:srgbClr val="E8F5E8"/>
            </a:solidFill>
          </p:spPr>
        </p:sp>
        <p:sp>
          <p:nvSpPr>
            <p:cNvPr name="Freeform 10" id="10"/>
            <p:cNvSpPr/>
            <p:nvPr/>
          </p:nvSpPr>
          <p:spPr>
            <a:xfrm flipH="false" flipV="false" rot="0">
              <a:off x="0" y="0"/>
              <a:ext cx="20088788" cy="2253647"/>
            </a:xfrm>
            <a:custGeom>
              <a:avLst/>
              <a:gdLst/>
              <a:ahLst/>
              <a:cxnLst/>
              <a:rect r="r" b="b" t="t" l="l"/>
              <a:pathLst>
                <a:path h="2253647" w="20088788">
                  <a:moveTo>
                    <a:pt x="14782" y="0"/>
                  </a:moveTo>
                  <a:lnTo>
                    <a:pt x="20074004" y="0"/>
                  </a:lnTo>
                  <a:cubicBezTo>
                    <a:pt x="20082228" y="0"/>
                    <a:pt x="20088788" y="9220"/>
                    <a:pt x="20088788" y="20437"/>
                  </a:cubicBezTo>
                  <a:lnTo>
                    <a:pt x="20088788" y="2233209"/>
                  </a:lnTo>
                  <a:cubicBezTo>
                    <a:pt x="20088788" y="2244581"/>
                    <a:pt x="20082118" y="2253647"/>
                    <a:pt x="20074004" y="2253647"/>
                  </a:cubicBezTo>
                  <a:lnTo>
                    <a:pt x="14782" y="2253647"/>
                  </a:lnTo>
                  <a:cubicBezTo>
                    <a:pt x="6557" y="2253647"/>
                    <a:pt x="0" y="2244427"/>
                    <a:pt x="0" y="2233209"/>
                  </a:cubicBezTo>
                  <a:lnTo>
                    <a:pt x="0" y="20437"/>
                  </a:lnTo>
                  <a:cubicBezTo>
                    <a:pt x="0" y="9220"/>
                    <a:pt x="6669" y="0"/>
                    <a:pt x="14782" y="0"/>
                  </a:cubicBezTo>
                  <a:moveTo>
                    <a:pt x="14782" y="41028"/>
                  </a:moveTo>
                  <a:lnTo>
                    <a:pt x="14782" y="20437"/>
                  </a:lnTo>
                  <a:lnTo>
                    <a:pt x="29675" y="20437"/>
                  </a:lnTo>
                  <a:lnTo>
                    <a:pt x="29675" y="2233209"/>
                  </a:lnTo>
                  <a:lnTo>
                    <a:pt x="14782" y="2233209"/>
                  </a:lnTo>
                  <a:lnTo>
                    <a:pt x="14782" y="2212772"/>
                  </a:lnTo>
                  <a:lnTo>
                    <a:pt x="20074004" y="2212772"/>
                  </a:lnTo>
                  <a:lnTo>
                    <a:pt x="20074004" y="2233209"/>
                  </a:lnTo>
                  <a:lnTo>
                    <a:pt x="20059222" y="2233209"/>
                  </a:lnTo>
                  <a:lnTo>
                    <a:pt x="20059222" y="20437"/>
                  </a:lnTo>
                  <a:lnTo>
                    <a:pt x="20074004" y="20437"/>
                  </a:lnTo>
                  <a:lnTo>
                    <a:pt x="20074004" y="41028"/>
                  </a:lnTo>
                  <a:lnTo>
                    <a:pt x="14782" y="41028"/>
                  </a:lnTo>
                  <a:close/>
                </a:path>
              </a:pathLst>
            </a:custGeom>
            <a:solidFill>
              <a:srgbClr val="5B9E3D"/>
            </a:solidFill>
          </p:spPr>
        </p:sp>
      </p:grpSp>
      <p:sp>
        <p:nvSpPr>
          <p:cNvPr name="TextBox 11" id="11"/>
          <p:cNvSpPr txBox="true"/>
          <p:nvPr/>
        </p:nvSpPr>
        <p:spPr>
          <a:xfrm rot="0">
            <a:off x="1028700" y="2625527"/>
            <a:ext cx="14422143" cy="2124075"/>
          </a:xfrm>
          <a:prstGeom prst="rect">
            <a:avLst/>
          </a:prstGeom>
        </p:spPr>
        <p:txBody>
          <a:bodyPr anchor="t" rtlCol="false" tIns="0" lIns="0" bIns="0" rIns="0">
            <a:spAutoFit/>
          </a:bodyPr>
          <a:lstStyle/>
          <a:p>
            <a:pPr algn="just">
              <a:lnSpc>
                <a:spcPts val="4079"/>
              </a:lnSpc>
            </a:pPr>
            <a:r>
              <a:rPr lang="en-US" sz="3399">
                <a:solidFill>
                  <a:srgbClr val="000000"/>
                </a:solidFill>
                <a:latin typeface="Calibri (MS)"/>
                <a:ea typeface="Calibri (MS)"/>
                <a:cs typeface="Calibri (MS)"/>
                <a:sym typeface="Calibri (MS)"/>
              </a:rPr>
              <a:t>L’OOB</a:t>
            </a:r>
            <a:r>
              <a:rPr lang="en-US" sz="3399">
                <a:solidFill>
                  <a:srgbClr val="000000"/>
                </a:solidFill>
                <a:latin typeface="Calibri (MS)"/>
                <a:ea typeface="Calibri (MS)"/>
                <a:cs typeface="Calibri (MS)"/>
                <a:sym typeface="Calibri (MS)"/>
              </a:rPr>
              <a:t> (Out-Of-Bag) remplace la validation croisée dans deux objectifs principaux pour Random Forest :</a:t>
            </a:r>
          </a:p>
          <a:p>
            <a:pPr algn="just">
              <a:lnSpc>
                <a:spcPts val="4079"/>
              </a:lnSpc>
            </a:pPr>
          </a:p>
          <a:p>
            <a:pPr algn="just">
              <a:lnSpc>
                <a:spcPts val="4079"/>
              </a:lnSpc>
            </a:pPr>
          </a:p>
        </p:txBody>
      </p:sp>
      <p:grpSp>
        <p:nvGrpSpPr>
          <p:cNvPr name="Group 12" id="12"/>
          <p:cNvGrpSpPr/>
          <p:nvPr/>
        </p:nvGrpSpPr>
        <p:grpSpPr>
          <a:xfrm rot="0">
            <a:off x="790309" y="5143500"/>
            <a:ext cx="6712952" cy="3580124"/>
            <a:chOff x="0" y="0"/>
            <a:chExt cx="8950603" cy="4773498"/>
          </a:xfrm>
        </p:grpSpPr>
        <p:sp>
          <p:nvSpPr>
            <p:cNvPr name="Freeform 13" id="13"/>
            <p:cNvSpPr/>
            <p:nvPr/>
          </p:nvSpPr>
          <p:spPr>
            <a:xfrm flipH="false" flipV="false" rot="0">
              <a:off x="6586" y="43287"/>
              <a:ext cx="8937397" cy="4686697"/>
            </a:xfrm>
            <a:custGeom>
              <a:avLst/>
              <a:gdLst/>
              <a:ahLst/>
              <a:cxnLst/>
              <a:rect r="r" b="b" t="t" l="l"/>
              <a:pathLst>
                <a:path h="4686697" w="8937397">
                  <a:moveTo>
                    <a:pt x="0" y="0"/>
                  </a:moveTo>
                  <a:lnTo>
                    <a:pt x="8937397" y="0"/>
                  </a:lnTo>
                  <a:lnTo>
                    <a:pt x="8937397" y="4686697"/>
                  </a:lnTo>
                  <a:lnTo>
                    <a:pt x="0" y="4686697"/>
                  </a:lnTo>
                  <a:close/>
                </a:path>
              </a:pathLst>
            </a:custGeom>
            <a:solidFill>
              <a:srgbClr val="C0392B">
                <a:alpha val="17647"/>
              </a:srgbClr>
            </a:solidFill>
          </p:spPr>
        </p:sp>
        <p:sp>
          <p:nvSpPr>
            <p:cNvPr name="Freeform 14" id="14"/>
            <p:cNvSpPr/>
            <p:nvPr/>
          </p:nvSpPr>
          <p:spPr>
            <a:xfrm flipH="false" flipV="false" rot="0">
              <a:off x="0" y="0"/>
              <a:ext cx="8950569" cy="4773271"/>
            </a:xfrm>
            <a:custGeom>
              <a:avLst/>
              <a:gdLst/>
              <a:ahLst/>
              <a:cxnLst/>
              <a:rect r="r" b="b" t="t" l="l"/>
              <a:pathLst>
                <a:path h="4773271" w="8950569">
                  <a:moveTo>
                    <a:pt x="6586" y="0"/>
                  </a:moveTo>
                  <a:lnTo>
                    <a:pt x="8943983" y="0"/>
                  </a:lnTo>
                  <a:cubicBezTo>
                    <a:pt x="8947647" y="0"/>
                    <a:pt x="8950569" y="19528"/>
                    <a:pt x="8950569" y="43287"/>
                  </a:cubicBezTo>
                  <a:lnTo>
                    <a:pt x="8950569" y="4729984"/>
                  </a:lnTo>
                  <a:cubicBezTo>
                    <a:pt x="8950569" y="4754068"/>
                    <a:pt x="8947598" y="4773271"/>
                    <a:pt x="8943983" y="4773271"/>
                  </a:cubicBezTo>
                  <a:lnTo>
                    <a:pt x="6586" y="4773271"/>
                  </a:lnTo>
                  <a:cubicBezTo>
                    <a:pt x="2922" y="4773271"/>
                    <a:pt x="0" y="4753743"/>
                    <a:pt x="0" y="4729984"/>
                  </a:cubicBezTo>
                  <a:lnTo>
                    <a:pt x="0" y="43287"/>
                  </a:lnTo>
                  <a:cubicBezTo>
                    <a:pt x="0" y="19528"/>
                    <a:pt x="2971" y="0"/>
                    <a:pt x="6586" y="0"/>
                  </a:cubicBezTo>
                  <a:moveTo>
                    <a:pt x="6586" y="86899"/>
                  </a:moveTo>
                  <a:lnTo>
                    <a:pt x="6586" y="43287"/>
                  </a:lnTo>
                  <a:lnTo>
                    <a:pt x="13222" y="43287"/>
                  </a:lnTo>
                  <a:lnTo>
                    <a:pt x="13222" y="4729984"/>
                  </a:lnTo>
                  <a:lnTo>
                    <a:pt x="6586" y="4729984"/>
                  </a:lnTo>
                  <a:lnTo>
                    <a:pt x="6586" y="4686697"/>
                  </a:lnTo>
                  <a:lnTo>
                    <a:pt x="8943983" y="4686697"/>
                  </a:lnTo>
                  <a:lnTo>
                    <a:pt x="8943983" y="4729984"/>
                  </a:lnTo>
                  <a:lnTo>
                    <a:pt x="8937396" y="4729984"/>
                  </a:lnTo>
                  <a:lnTo>
                    <a:pt x="8937396" y="43287"/>
                  </a:lnTo>
                  <a:lnTo>
                    <a:pt x="8943983" y="43287"/>
                  </a:lnTo>
                  <a:lnTo>
                    <a:pt x="8943983" y="86899"/>
                  </a:lnTo>
                  <a:lnTo>
                    <a:pt x="6586" y="86899"/>
                  </a:lnTo>
                  <a:close/>
                </a:path>
              </a:pathLst>
            </a:custGeom>
            <a:solidFill>
              <a:srgbClr val="5B9E3D">
                <a:alpha val="17647"/>
              </a:srgbClr>
            </a:solidFill>
          </p:spPr>
        </p:sp>
      </p:grpSp>
      <p:sp>
        <p:nvSpPr>
          <p:cNvPr name="TextBox 15" id="15"/>
          <p:cNvSpPr txBox="true"/>
          <p:nvPr/>
        </p:nvSpPr>
        <p:spPr>
          <a:xfrm rot="0">
            <a:off x="1028700" y="5436997"/>
            <a:ext cx="5882474" cy="3333750"/>
          </a:xfrm>
          <a:prstGeom prst="rect">
            <a:avLst/>
          </a:prstGeom>
        </p:spPr>
        <p:txBody>
          <a:bodyPr anchor="t" rtlCol="false" tIns="0" lIns="0" bIns="0" rIns="0">
            <a:spAutoFit/>
          </a:bodyPr>
          <a:lstStyle/>
          <a:p>
            <a:pPr algn="l">
              <a:lnSpc>
                <a:spcPts val="3236"/>
              </a:lnSpc>
            </a:pPr>
            <a:r>
              <a:rPr lang="en-US" sz="2696" b="true">
                <a:solidFill>
                  <a:srgbClr val="000000"/>
                </a:solidFill>
                <a:latin typeface="Calibri (MS) Bold"/>
                <a:ea typeface="Calibri (MS) Bold"/>
                <a:cs typeface="Calibri (MS) Bold"/>
                <a:sym typeface="Calibri (MS) Bold"/>
              </a:rPr>
              <a:t>1.</a:t>
            </a:r>
            <a:r>
              <a:rPr lang="en-US" b="true" sz="2696">
                <a:solidFill>
                  <a:srgbClr val="000000"/>
                </a:solidFill>
                <a:latin typeface="Calibri (MS) Bold"/>
                <a:ea typeface="Calibri (MS) Bold"/>
                <a:cs typeface="Calibri (MS) Bold"/>
                <a:sym typeface="Calibri (MS) Bold"/>
              </a:rPr>
              <a:t> Pour évaluer le modèle</a:t>
            </a:r>
          </a:p>
          <a:p>
            <a:pPr algn="l" marL="582281" indent="-291140" lvl="1">
              <a:lnSpc>
                <a:spcPts val="3236"/>
              </a:lnSpc>
              <a:buFont typeface="Arial"/>
              <a:buChar char="•"/>
            </a:pPr>
            <a:r>
              <a:rPr lang="en-US" sz="2696">
                <a:solidFill>
                  <a:srgbClr val="000000"/>
                </a:solidFill>
                <a:latin typeface="Calibri (MS)"/>
                <a:ea typeface="Calibri (MS)"/>
                <a:cs typeface="Calibri (MS)"/>
                <a:sym typeface="Calibri (MS)"/>
              </a:rPr>
              <a:t>Au lieu de faire plusieurs découpages (k-fold CV)</a:t>
            </a:r>
          </a:p>
          <a:p>
            <a:pPr algn="l" marL="582281" indent="-291140" lvl="1">
              <a:lnSpc>
                <a:spcPts val="3236"/>
              </a:lnSpc>
              <a:buFont typeface="Arial"/>
              <a:buChar char="•"/>
            </a:pPr>
            <a:r>
              <a:rPr lang="en-US" sz="2696">
                <a:solidFill>
                  <a:srgbClr val="000000"/>
                </a:solidFill>
                <a:latin typeface="Calibri (MS)"/>
                <a:ea typeface="Calibri (MS)"/>
                <a:cs typeface="Calibri (MS)"/>
                <a:sym typeface="Calibri (MS)"/>
              </a:rPr>
              <a:t>On utilise les données que l’arbre n’a pas vues (OOB)</a:t>
            </a:r>
          </a:p>
          <a:p>
            <a:pPr algn="l">
              <a:lnSpc>
                <a:spcPts val="3236"/>
              </a:lnSpc>
            </a:pPr>
            <a:r>
              <a:rPr lang="en-US" sz="2696">
                <a:solidFill>
                  <a:srgbClr val="000000"/>
                </a:solidFill>
                <a:latin typeface="Calibri (MS)"/>
                <a:ea typeface="Calibri (MS)"/>
                <a:cs typeface="Calibri (MS)"/>
                <a:sym typeface="Calibri (MS)"/>
              </a:rPr>
              <a:t>      Cela permet de tester le modèle pendant l’entraînement</a:t>
            </a:r>
          </a:p>
          <a:p>
            <a:pPr algn="l">
              <a:lnSpc>
                <a:spcPts val="3236"/>
              </a:lnSpc>
            </a:pPr>
          </a:p>
        </p:txBody>
      </p:sp>
      <p:grpSp>
        <p:nvGrpSpPr>
          <p:cNvPr name="Group 16" id="16"/>
          <p:cNvGrpSpPr/>
          <p:nvPr/>
        </p:nvGrpSpPr>
        <p:grpSpPr>
          <a:xfrm rot="0">
            <a:off x="9144005" y="5143500"/>
            <a:ext cx="6712952" cy="3580124"/>
            <a:chOff x="0" y="0"/>
            <a:chExt cx="8950603" cy="4773498"/>
          </a:xfrm>
        </p:grpSpPr>
        <p:sp>
          <p:nvSpPr>
            <p:cNvPr name="Freeform 17" id="17"/>
            <p:cNvSpPr/>
            <p:nvPr/>
          </p:nvSpPr>
          <p:spPr>
            <a:xfrm flipH="false" flipV="false" rot="0">
              <a:off x="6586" y="43287"/>
              <a:ext cx="8937397" cy="4686697"/>
            </a:xfrm>
            <a:custGeom>
              <a:avLst/>
              <a:gdLst/>
              <a:ahLst/>
              <a:cxnLst/>
              <a:rect r="r" b="b" t="t" l="l"/>
              <a:pathLst>
                <a:path h="4686697" w="8937397">
                  <a:moveTo>
                    <a:pt x="0" y="0"/>
                  </a:moveTo>
                  <a:lnTo>
                    <a:pt x="8937397" y="0"/>
                  </a:lnTo>
                  <a:lnTo>
                    <a:pt x="8937397" y="4686697"/>
                  </a:lnTo>
                  <a:lnTo>
                    <a:pt x="0" y="4686697"/>
                  </a:lnTo>
                  <a:close/>
                </a:path>
              </a:pathLst>
            </a:custGeom>
            <a:solidFill>
              <a:srgbClr val="C0392B">
                <a:alpha val="17647"/>
              </a:srgbClr>
            </a:solidFill>
          </p:spPr>
        </p:sp>
        <p:sp>
          <p:nvSpPr>
            <p:cNvPr name="Freeform 18" id="18"/>
            <p:cNvSpPr/>
            <p:nvPr/>
          </p:nvSpPr>
          <p:spPr>
            <a:xfrm flipH="false" flipV="false" rot="0">
              <a:off x="0" y="0"/>
              <a:ext cx="8950569" cy="4773271"/>
            </a:xfrm>
            <a:custGeom>
              <a:avLst/>
              <a:gdLst/>
              <a:ahLst/>
              <a:cxnLst/>
              <a:rect r="r" b="b" t="t" l="l"/>
              <a:pathLst>
                <a:path h="4773271" w="8950569">
                  <a:moveTo>
                    <a:pt x="6586" y="0"/>
                  </a:moveTo>
                  <a:lnTo>
                    <a:pt x="8943983" y="0"/>
                  </a:lnTo>
                  <a:cubicBezTo>
                    <a:pt x="8947647" y="0"/>
                    <a:pt x="8950569" y="19528"/>
                    <a:pt x="8950569" y="43287"/>
                  </a:cubicBezTo>
                  <a:lnTo>
                    <a:pt x="8950569" y="4729984"/>
                  </a:lnTo>
                  <a:cubicBezTo>
                    <a:pt x="8950569" y="4754068"/>
                    <a:pt x="8947598" y="4773271"/>
                    <a:pt x="8943983" y="4773271"/>
                  </a:cubicBezTo>
                  <a:lnTo>
                    <a:pt x="6586" y="4773271"/>
                  </a:lnTo>
                  <a:cubicBezTo>
                    <a:pt x="2922" y="4773271"/>
                    <a:pt x="0" y="4753743"/>
                    <a:pt x="0" y="4729984"/>
                  </a:cubicBezTo>
                  <a:lnTo>
                    <a:pt x="0" y="43287"/>
                  </a:lnTo>
                  <a:cubicBezTo>
                    <a:pt x="0" y="19528"/>
                    <a:pt x="2971" y="0"/>
                    <a:pt x="6586" y="0"/>
                  </a:cubicBezTo>
                  <a:moveTo>
                    <a:pt x="6586" y="86899"/>
                  </a:moveTo>
                  <a:lnTo>
                    <a:pt x="6586" y="43287"/>
                  </a:lnTo>
                  <a:lnTo>
                    <a:pt x="13222" y="43287"/>
                  </a:lnTo>
                  <a:lnTo>
                    <a:pt x="13222" y="4729984"/>
                  </a:lnTo>
                  <a:lnTo>
                    <a:pt x="6586" y="4729984"/>
                  </a:lnTo>
                  <a:lnTo>
                    <a:pt x="6586" y="4686697"/>
                  </a:lnTo>
                  <a:lnTo>
                    <a:pt x="8943983" y="4686697"/>
                  </a:lnTo>
                  <a:lnTo>
                    <a:pt x="8943983" y="4729984"/>
                  </a:lnTo>
                  <a:lnTo>
                    <a:pt x="8937396" y="4729984"/>
                  </a:lnTo>
                  <a:lnTo>
                    <a:pt x="8937396" y="43287"/>
                  </a:lnTo>
                  <a:lnTo>
                    <a:pt x="8943983" y="43287"/>
                  </a:lnTo>
                  <a:lnTo>
                    <a:pt x="8943983" y="86899"/>
                  </a:lnTo>
                  <a:lnTo>
                    <a:pt x="6586" y="86899"/>
                  </a:lnTo>
                  <a:close/>
                </a:path>
              </a:pathLst>
            </a:custGeom>
            <a:solidFill>
              <a:srgbClr val="5B9E3D">
                <a:alpha val="17647"/>
              </a:srgbClr>
            </a:solidFill>
          </p:spPr>
        </p:sp>
      </p:grpSp>
      <p:sp>
        <p:nvSpPr>
          <p:cNvPr name="TextBox 19" id="19"/>
          <p:cNvSpPr txBox="true"/>
          <p:nvPr/>
        </p:nvSpPr>
        <p:spPr>
          <a:xfrm rot="0">
            <a:off x="9382396" y="5436997"/>
            <a:ext cx="5882474" cy="3333750"/>
          </a:xfrm>
          <a:prstGeom prst="rect">
            <a:avLst/>
          </a:prstGeom>
        </p:spPr>
        <p:txBody>
          <a:bodyPr anchor="t" rtlCol="false" tIns="0" lIns="0" bIns="0" rIns="0">
            <a:spAutoFit/>
          </a:bodyPr>
          <a:lstStyle/>
          <a:p>
            <a:pPr algn="l">
              <a:lnSpc>
                <a:spcPts val="3236"/>
              </a:lnSpc>
            </a:pPr>
            <a:r>
              <a:rPr lang="en-US" sz="2696" b="true">
                <a:solidFill>
                  <a:srgbClr val="000000"/>
                </a:solidFill>
                <a:latin typeface="Calibri (MS) Bold"/>
                <a:ea typeface="Calibri (MS) Bold"/>
                <a:cs typeface="Calibri (MS) Bold"/>
                <a:sym typeface="Calibri (MS) Bold"/>
              </a:rPr>
              <a:t>2.</a:t>
            </a:r>
            <a:r>
              <a:rPr lang="en-US" b="true" sz="2696">
                <a:solidFill>
                  <a:srgbClr val="000000"/>
                </a:solidFill>
                <a:latin typeface="Calibri (MS) Bold"/>
                <a:ea typeface="Calibri (MS) Bold"/>
                <a:cs typeface="Calibri (MS) Bold"/>
                <a:sym typeface="Calibri (MS) Bold"/>
              </a:rPr>
              <a:t> Pour choisir les meilleurs paramètres</a:t>
            </a:r>
          </a:p>
          <a:p>
            <a:pPr algn="l" marL="582281" indent="-291140" lvl="1">
              <a:lnSpc>
                <a:spcPts val="3236"/>
              </a:lnSpc>
              <a:buFont typeface="Arial"/>
              <a:buChar char="•"/>
            </a:pPr>
            <a:r>
              <a:rPr lang="en-US" sz="2696">
                <a:solidFill>
                  <a:srgbClr val="000000"/>
                </a:solidFill>
                <a:latin typeface="Calibri (MS)"/>
                <a:ea typeface="Calibri (MS)"/>
                <a:cs typeface="Calibri (MS)"/>
                <a:sym typeface="Calibri (MS)"/>
              </a:rPr>
              <a:t>On teste différentes valeurs (ex : nombre d’arbres, profondeur…)</a:t>
            </a:r>
          </a:p>
          <a:p>
            <a:pPr algn="l" marL="582281" indent="-291140" lvl="1">
              <a:lnSpc>
                <a:spcPts val="3236"/>
              </a:lnSpc>
              <a:buFont typeface="Arial"/>
              <a:buChar char="•"/>
            </a:pPr>
            <a:r>
              <a:rPr lang="en-US" sz="2696">
                <a:solidFill>
                  <a:srgbClr val="000000"/>
                </a:solidFill>
                <a:latin typeface="Calibri (MS)"/>
                <a:ea typeface="Calibri (MS)"/>
                <a:cs typeface="Calibri (MS)"/>
                <a:sym typeface="Calibri (MS)"/>
              </a:rPr>
              <a:t>On garde celles qui donnent le meilleur score OOB</a:t>
            </a:r>
          </a:p>
          <a:p>
            <a:pPr algn="l">
              <a:lnSpc>
                <a:spcPts val="3236"/>
              </a:lnSpc>
            </a:pPr>
            <a:r>
              <a:rPr lang="en-US" sz="2696">
                <a:solidFill>
                  <a:srgbClr val="000000"/>
                </a:solidFill>
                <a:latin typeface="Calibri (MS)"/>
                <a:ea typeface="Calibri (MS)"/>
                <a:cs typeface="Calibri (MS)"/>
                <a:sym typeface="Calibri (MS)"/>
              </a:rPr>
              <a:t>       Sans refaire une validation croisée compliquée</a:t>
            </a:r>
          </a:p>
          <a:p>
            <a:pPr algn="l">
              <a:lnSpc>
                <a:spcPts val="3236"/>
              </a:lnSpc>
            </a:pPr>
          </a:p>
        </p:txBody>
      </p:sp>
      <p:sp>
        <p:nvSpPr>
          <p:cNvPr name="Freeform 20" id="20"/>
          <p:cNvSpPr/>
          <p:nvPr/>
        </p:nvSpPr>
        <p:spPr>
          <a:xfrm flipH="false" flipV="false" rot="0">
            <a:off x="1028700" y="7465076"/>
            <a:ext cx="457634" cy="457634"/>
          </a:xfrm>
          <a:custGeom>
            <a:avLst/>
            <a:gdLst/>
            <a:ahLst/>
            <a:cxnLst/>
            <a:rect r="r" b="b" t="t" l="l"/>
            <a:pathLst>
              <a:path h="457634" w="457634">
                <a:moveTo>
                  <a:pt x="0" y="0"/>
                </a:moveTo>
                <a:lnTo>
                  <a:pt x="457634" y="0"/>
                </a:lnTo>
                <a:lnTo>
                  <a:pt x="457634" y="457634"/>
                </a:lnTo>
                <a:lnTo>
                  <a:pt x="0" y="457634"/>
                </a:lnTo>
                <a:lnTo>
                  <a:pt x="0" y="0"/>
                </a:lnTo>
                <a:close/>
              </a:path>
            </a:pathLst>
          </a:custGeom>
          <a:blipFill>
            <a:blip r:embed="rId4"/>
            <a:stretch>
              <a:fillRect l="0" t="0" r="0" b="0"/>
            </a:stretch>
          </a:blipFill>
        </p:spPr>
      </p:sp>
      <p:sp>
        <p:nvSpPr>
          <p:cNvPr name="Freeform 21" id="21"/>
          <p:cNvSpPr/>
          <p:nvPr/>
        </p:nvSpPr>
        <p:spPr>
          <a:xfrm flipH="false" flipV="false" rot="0">
            <a:off x="9382396" y="7465076"/>
            <a:ext cx="457634" cy="457634"/>
          </a:xfrm>
          <a:custGeom>
            <a:avLst/>
            <a:gdLst/>
            <a:ahLst/>
            <a:cxnLst/>
            <a:rect r="r" b="b" t="t" l="l"/>
            <a:pathLst>
              <a:path h="457634" w="457634">
                <a:moveTo>
                  <a:pt x="0" y="0"/>
                </a:moveTo>
                <a:lnTo>
                  <a:pt x="457633" y="0"/>
                </a:lnTo>
                <a:lnTo>
                  <a:pt x="457633" y="457634"/>
                </a:lnTo>
                <a:lnTo>
                  <a:pt x="0" y="457634"/>
                </a:lnTo>
                <a:lnTo>
                  <a:pt x="0" y="0"/>
                </a:lnTo>
                <a:close/>
              </a:path>
            </a:pathLst>
          </a:custGeom>
          <a:blipFill>
            <a:blip r:embed="rId4"/>
            <a:stretch>
              <a:fillRect l="0" t="0" r="0" b="0"/>
            </a:stretch>
          </a:blipFill>
        </p:spPr>
      </p:sp>
      <p:sp>
        <p:nvSpPr>
          <p:cNvPr name="TextBox 22" id="2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8F5E8"/>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52B788"/>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52B788"/>
            </a:solidFill>
          </p:spPr>
        </p:sp>
      </p:grpSp>
      <p:grpSp>
        <p:nvGrpSpPr>
          <p:cNvPr name="Group 5" id="5"/>
          <p:cNvGrpSpPr/>
          <p:nvPr/>
        </p:nvGrpSpPr>
        <p:grpSpPr>
          <a:xfrm rot="0">
            <a:off x="538477" y="1939190"/>
            <a:ext cx="2854957" cy="6603997"/>
            <a:chOff x="0" y="0"/>
            <a:chExt cx="3806609" cy="8805329"/>
          </a:xfrm>
        </p:grpSpPr>
        <p:sp>
          <p:nvSpPr>
            <p:cNvPr name="Freeform 6" id="6"/>
            <p:cNvSpPr/>
            <p:nvPr/>
          </p:nvSpPr>
          <p:spPr>
            <a:xfrm flipH="false" flipV="false" rot="0">
              <a:off x="13589" y="13589"/>
              <a:ext cx="3779520" cy="8778240"/>
            </a:xfrm>
            <a:custGeom>
              <a:avLst/>
              <a:gdLst/>
              <a:ahLst/>
              <a:cxnLst/>
              <a:rect r="r" b="b" t="t" l="l"/>
              <a:pathLst>
                <a:path h="8778240" w="3779520">
                  <a:moveTo>
                    <a:pt x="0" y="0"/>
                  </a:moveTo>
                  <a:lnTo>
                    <a:pt x="3779520" y="0"/>
                  </a:lnTo>
                  <a:lnTo>
                    <a:pt x="3779520" y="8778240"/>
                  </a:lnTo>
                  <a:lnTo>
                    <a:pt x="0" y="8778240"/>
                  </a:lnTo>
                  <a:close/>
                </a:path>
              </a:pathLst>
            </a:custGeom>
            <a:solidFill>
              <a:srgbClr val="1E3A1E"/>
            </a:solidFill>
          </p:spPr>
        </p:sp>
        <p:sp>
          <p:nvSpPr>
            <p:cNvPr name="Freeform 7" id="7"/>
            <p:cNvSpPr/>
            <p:nvPr/>
          </p:nvSpPr>
          <p:spPr>
            <a:xfrm flipH="false" flipV="false" rot="0">
              <a:off x="0" y="0"/>
              <a:ext cx="3806698" cy="8805418"/>
            </a:xfrm>
            <a:custGeom>
              <a:avLst/>
              <a:gdLst/>
              <a:ahLst/>
              <a:cxnLst/>
              <a:rect r="r" b="b" t="t" l="l"/>
              <a:pathLst>
                <a:path h="8805418" w="3806698">
                  <a:moveTo>
                    <a:pt x="13589" y="0"/>
                  </a:moveTo>
                  <a:lnTo>
                    <a:pt x="3793109" y="0"/>
                  </a:lnTo>
                  <a:cubicBezTo>
                    <a:pt x="3800602" y="0"/>
                    <a:pt x="3806698" y="6096"/>
                    <a:pt x="3806698" y="13589"/>
                  </a:cubicBezTo>
                  <a:lnTo>
                    <a:pt x="3806698" y="8791829"/>
                  </a:lnTo>
                  <a:cubicBezTo>
                    <a:pt x="3806698" y="8799322"/>
                    <a:pt x="3800602" y="8805418"/>
                    <a:pt x="3793109" y="8805418"/>
                  </a:cubicBezTo>
                  <a:lnTo>
                    <a:pt x="13589" y="8805418"/>
                  </a:lnTo>
                  <a:cubicBezTo>
                    <a:pt x="6096" y="8805418"/>
                    <a:pt x="0" y="8799322"/>
                    <a:pt x="0" y="8791829"/>
                  </a:cubicBezTo>
                  <a:lnTo>
                    <a:pt x="0" y="13589"/>
                  </a:lnTo>
                  <a:cubicBezTo>
                    <a:pt x="0" y="6096"/>
                    <a:pt x="6096" y="0"/>
                    <a:pt x="13589" y="0"/>
                  </a:cubicBezTo>
                  <a:moveTo>
                    <a:pt x="13589" y="27051"/>
                  </a:moveTo>
                  <a:lnTo>
                    <a:pt x="13589" y="13589"/>
                  </a:lnTo>
                  <a:lnTo>
                    <a:pt x="27051" y="13589"/>
                  </a:lnTo>
                  <a:lnTo>
                    <a:pt x="27051" y="8791829"/>
                  </a:lnTo>
                  <a:lnTo>
                    <a:pt x="13589" y="8791829"/>
                  </a:lnTo>
                  <a:lnTo>
                    <a:pt x="13589" y="8778240"/>
                  </a:lnTo>
                  <a:lnTo>
                    <a:pt x="3793109" y="8778240"/>
                  </a:lnTo>
                  <a:lnTo>
                    <a:pt x="3793109" y="8791829"/>
                  </a:lnTo>
                  <a:lnTo>
                    <a:pt x="3779520" y="8791829"/>
                  </a:lnTo>
                  <a:lnTo>
                    <a:pt x="3779520" y="13589"/>
                  </a:lnTo>
                  <a:lnTo>
                    <a:pt x="3793109" y="13589"/>
                  </a:lnTo>
                  <a:lnTo>
                    <a:pt x="3793109" y="27051"/>
                  </a:lnTo>
                  <a:lnTo>
                    <a:pt x="13589" y="27051"/>
                  </a:lnTo>
                  <a:close/>
                </a:path>
              </a:pathLst>
            </a:custGeom>
            <a:solidFill>
              <a:srgbClr val="52B788"/>
            </a:solidFill>
          </p:spPr>
        </p:sp>
      </p:grpSp>
      <p:grpSp>
        <p:nvGrpSpPr>
          <p:cNvPr name="Group 8" id="8"/>
          <p:cNvGrpSpPr/>
          <p:nvPr/>
        </p:nvGrpSpPr>
        <p:grpSpPr>
          <a:xfrm rot="0">
            <a:off x="548640" y="2040793"/>
            <a:ext cx="2834640" cy="976237"/>
            <a:chOff x="0" y="0"/>
            <a:chExt cx="3779520" cy="1301650"/>
          </a:xfrm>
        </p:grpSpPr>
        <p:sp>
          <p:nvSpPr>
            <p:cNvPr name="Freeform 9" id="9"/>
            <p:cNvSpPr/>
            <p:nvPr/>
          </p:nvSpPr>
          <p:spPr>
            <a:xfrm flipH="false" flipV="false" rot="0">
              <a:off x="0" y="0"/>
              <a:ext cx="3779520" cy="1301650"/>
            </a:xfrm>
            <a:custGeom>
              <a:avLst/>
              <a:gdLst/>
              <a:ahLst/>
              <a:cxnLst/>
              <a:rect r="r" b="b" t="t" l="l"/>
              <a:pathLst>
                <a:path h="1301650" w="3779520">
                  <a:moveTo>
                    <a:pt x="0" y="0"/>
                  </a:moveTo>
                  <a:lnTo>
                    <a:pt x="3779520" y="0"/>
                  </a:lnTo>
                  <a:lnTo>
                    <a:pt x="3779520" y="1301650"/>
                  </a:lnTo>
                  <a:lnTo>
                    <a:pt x="0" y="1301650"/>
                  </a:lnTo>
                  <a:close/>
                </a:path>
              </a:pathLst>
            </a:custGeom>
            <a:blipFill>
              <a:blip r:embed="rId3">
                <a:alphaModFix amt="0"/>
              </a:blip>
              <a:stretch>
                <a:fillRect l="0" t="-7871" r="0" b="-5283"/>
              </a:stretch>
            </a:blipFill>
          </p:spPr>
        </p:sp>
        <p:sp>
          <p:nvSpPr>
            <p:cNvPr name="TextBox 10" id="10"/>
            <p:cNvSpPr txBox="true"/>
            <p:nvPr/>
          </p:nvSpPr>
          <p:spPr>
            <a:xfrm>
              <a:off x="0" y="-66675"/>
              <a:ext cx="3779520" cy="1368325"/>
            </a:xfrm>
            <a:prstGeom prst="rect">
              <a:avLst/>
            </a:prstGeom>
          </p:spPr>
          <p:txBody>
            <a:bodyPr anchor="ctr" rtlCol="false" tIns="0" lIns="0" bIns="0" rIns="0"/>
            <a:lstStyle/>
            <a:p>
              <a:pPr algn="ctr">
                <a:lnSpc>
                  <a:spcPts val="3359"/>
                </a:lnSpc>
              </a:pPr>
              <a:r>
                <a:rPr lang="en-US" sz="2799" b="true">
                  <a:solidFill>
                    <a:srgbClr val="FFFFFF"/>
                  </a:solidFill>
                  <a:latin typeface="Calibri (MS) Bold"/>
                  <a:ea typeface="Calibri (MS) Bold"/>
                  <a:cs typeface="Calibri (MS) Bold"/>
                  <a:sym typeface="Calibri (MS) Bold"/>
                </a:rPr>
                <a:t>Dataset</a:t>
              </a:r>
            </a:p>
            <a:p>
              <a:pPr algn="ctr">
                <a:lnSpc>
                  <a:spcPts val="3359"/>
                </a:lnSpc>
              </a:pPr>
              <a:r>
                <a:rPr lang="en-US" sz="2799" b="true">
                  <a:solidFill>
                    <a:srgbClr val="FFFFFF"/>
                  </a:solidFill>
                  <a:latin typeface="Calibri (MS) Bold"/>
                  <a:ea typeface="Calibri (MS) Bold"/>
                  <a:cs typeface="Calibri (MS) Bold"/>
                  <a:sym typeface="Calibri (MS) Bold"/>
                </a:rPr>
                <a:t>original</a:t>
              </a:r>
            </a:p>
          </p:txBody>
        </p:sp>
      </p:grpSp>
      <p:grpSp>
        <p:nvGrpSpPr>
          <p:cNvPr name="Group 11" id="11"/>
          <p:cNvGrpSpPr/>
          <p:nvPr/>
        </p:nvGrpSpPr>
        <p:grpSpPr>
          <a:xfrm rot="0">
            <a:off x="548640" y="3015219"/>
            <a:ext cx="2834640" cy="731520"/>
            <a:chOff x="0" y="0"/>
            <a:chExt cx="3779520" cy="975360"/>
          </a:xfrm>
        </p:grpSpPr>
        <p:sp>
          <p:nvSpPr>
            <p:cNvPr name="Freeform 12" id="12"/>
            <p:cNvSpPr/>
            <p:nvPr/>
          </p:nvSpPr>
          <p:spPr>
            <a:xfrm flipH="false" flipV="false" rot="0">
              <a:off x="0" y="0"/>
              <a:ext cx="3779520" cy="975360"/>
            </a:xfrm>
            <a:custGeom>
              <a:avLst/>
              <a:gdLst/>
              <a:ahLst/>
              <a:cxnLst/>
              <a:rect r="r" b="b" t="t" l="l"/>
              <a:pathLst>
                <a:path h="975360" w="3779520">
                  <a:moveTo>
                    <a:pt x="0" y="0"/>
                  </a:moveTo>
                  <a:lnTo>
                    <a:pt x="3779520" y="0"/>
                  </a:lnTo>
                  <a:lnTo>
                    <a:pt x="3779520" y="975360"/>
                  </a:lnTo>
                  <a:lnTo>
                    <a:pt x="0" y="975360"/>
                  </a:lnTo>
                  <a:close/>
                </a:path>
              </a:pathLst>
            </a:custGeom>
            <a:blipFill>
              <a:blip r:embed="rId3">
                <a:alphaModFix amt="0"/>
              </a:blip>
              <a:stretch>
                <a:fillRect l="0" t="-25504" r="0" b="-25504"/>
              </a:stretch>
            </a:blipFill>
          </p:spPr>
        </p:sp>
        <p:sp>
          <p:nvSpPr>
            <p:cNvPr name="TextBox 13" id="13"/>
            <p:cNvSpPr txBox="true"/>
            <p:nvPr/>
          </p:nvSpPr>
          <p:spPr>
            <a:xfrm>
              <a:off x="0" y="-47625"/>
              <a:ext cx="3779520" cy="1022985"/>
            </a:xfrm>
            <a:prstGeom prst="rect">
              <a:avLst/>
            </a:prstGeom>
          </p:spPr>
          <p:txBody>
            <a:bodyPr anchor="ctr" rtlCol="false" tIns="0" lIns="0" bIns="0" rIns="0"/>
            <a:lstStyle/>
            <a:p>
              <a:pPr algn="ctr">
                <a:lnSpc>
                  <a:spcPts val="2759"/>
                </a:lnSpc>
              </a:pPr>
              <a:r>
                <a:rPr lang="en-US" sz="2299">
                  <a:solidFill>
                    <a:srgbClr val="F0F8FF"/>
                  </a:solidFill>
                  <a:latin typeface="Calibri (MS)"/>
                  <a:ea typeface="Calibri (MS)"/>
                  <a:cs typeface="Calibri (MS)"/>
                  <a:sym typeface="Calibri (MS)"/>
                </a:rPr>
                <a:t>N = 768</a:t>
              </a:r>
            </a:p>
          </p:txBody>
        </p:sp>
      </p:grpSp>
      <p:grpSp>
        <p:nvGrpSpPr>
          <p:cNvPr name="Group 14" id="14"/>
          <p:cNvGrpSpPr/>
          <p:nvPr/>
        </p:nvGrpSpPr>
        <p:grpSpPr>
          <a:xfrm rot="0">
            <a:off x="755399" y="3856896"/>
            <a:ext cx="2402843" cy="299723"/>
            <a:chOff x="0" y="0"/>
            <a:chExt cx="3203791" cy="399631"/>
          </a:xfrm>
        </p:grpSpPr>
        <p:sp>
          <p:nvSpPr>
            <p:cNvPr name="Freeform 15" id="15"/>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16" id="16"/>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17" id="17"/>
          <p:cNvGrpSpPr/>
          <p:nvPr/>
        </p:nvGrpSpPr>
        <p:grpSpPr>
          <a:xfrm rot="0">
            <a:off x="755399" y="4204368"/>
            <a:ext cx="2402843" cy="299723"/>
            <a:chOff x="0" y="0"/>
            <a:chExt cx="3203791" cy="399631"/>
          </a:xfrm>
        </p:grpSpPr>
        <p:sp>
          <p:nvSpPr>
            <p:cNvPr name="Freeform 18" id="18"/>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24706"/>
              </a:srgbClr>
            </a:solidFill>
          </p:spPr>
        </p:sp>
        <p:sp>
          <p:nvSpPr>
            <p:cNvPr name="Freeform 19" id="19"/>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20" id="20"/>
          <p:cNvGrpSpPr/>
          <p:nvPr/>
        </p:nvGrpSpPr>
        <p:grpSpPr>
          <a:xfrm rot="0">
            <a:off x="755399" y="4551840"/>
            <a:ext cx="2402843" cy="299723"/>
            <a:chOff x="0" y="0"/>
            <a:chExt cx="3203791" cy="399631"/>
          </a:xfrm>
        </p:grpSpPr>
        <p:sp>
          <p:nvSpPr>
            <p:cNvPr name="Freeform 21" id="21"/>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22" id="22"/>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23" id="23"/>
          <p:cNvGrpSpPr/>
          <p:nvPr/>
        </p:nvGrpSpPr>
        <p:grpSpPr>
          <a:xfrm rot="0">
            <a:off x="755399" y="4899312"/>
            <a:ext cx="2402843" cy="299723"/>
            <a:chOff x="0" y="0"/>
            <a:chExt cx="3203791" cy="399631"/>
          </a:xfrm>
        </p:grpSpPr>
        <p:sp>
          <p:nvSpPr>
            <p:cNvPr name="Freeform 24" id="24"/>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F4A261">
                <a:alpha val="63922"/>
              </a:srgbClr>
            </a:solidFill>
          </p:spPr>
        </p:sp>
        <p:sp>
          <p:nvSpPr>
            <p:cNvPr name="Freeform 25" id="25"/>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F4A261"/>
            </a:solidFill>
          </p:spPr>
        </p:sp>
      </p:grpSp>
      <p:grpSp>
        <p:nvGrpSpPr>
          <p:cNvPr name="Group 26" id="26"/>
          <p:cNvGrpSpPr/>
          <p:nvPr/>
        </p:nvGrpSpPr>
        <p:grpSpPr>
          <a:xfrm rot="0">
            <a:off x="755399" y="5246784"/>
            <a:ext cx="2402843" cy="299723"/>
            <a:chOff x="0" y="0"/>
            <a:chExt cx="3203791" cy="399631"/>
          </a:xfrm>
        </p:grpSpPr>
        <p:sp>
          <p:nvSpPr>
            <p:cNvPr name="Freeform 27" id="27"/>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24706"/>
              </a:srgbClr>
            </a:solidFill>
          </p:spPr>
        </p:sp>
        <p:sp>
          <p:nvSpPr>
            <p:cNvPr name="Freeform 28" id="28"/>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29" id="29"/>
          <p:cNvGrpSpPr/>
          <p:nvPr/>
        </p:nvGrpSpPr>
        <p:grpSpPr>
          <a:xfrm rot="0">
            <a:off x="755399" y="5594256"/>
            <a:ext cx="2402843" cy="299723"/>
            <a:chOff x="0" y="0"/>
            <a:chExt cx="3203791" cy="399631"/>
          </a:xfrm>
        </p:grpSpPr>
        <p:sp>
          <p:nvSpPr>
            <p:cNvPr name="Freeform 30" id="30"/>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31" id="31"/>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32" id="32"/>
          <p:cNvGrpSpPr/>
          <p:nvPr/>
        </p:nvGrpSpPr>
        <p:grpSpPr>
          <a:xfrm rot="0">
            <a:off x="755399" y="5941728"/>
            <a:ext cx="2402843" cy="299723"/>
            <a:chOff x="0" y="0"/>
            <a:chExt cx="3203791" cy="399631"/>
          </a:xfrm>
        </p:grpSpPr>
        <p:sp>
          <p:nvSpPr>
            <p:cNvPr name="Freeform 33" id="33"/>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F4A261">
                <a:alpha val="63922"/>
              </a:srgbClr>
            </a:solidFill>
          </p:spPr>
        </p:sp>
        <p:sp>
          <p:nvSpPr>
            <p:cNvPr name="Freeform 34" id="34"/>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F4A261"/>
            </a:solidFill>
          </p:spPr>
        </p:sp>
      </p:grpSp>
      <p:grpSp>
        <p:nvGrpSpPr>
          <p:cNvPr name="Group 35" id="35"/>
          <p:cNvGrpSpPr/>
          <p:nvPr/>
        </p:nvGrpSpPr>
        <p:grpSpPr>
          <a:xfrm rot="0">
            <a:off x="755399" y="6289200"/>
            <a:ext cx="2402843" cy="299723"/>
            <a:chOff x="0" y="0"/>
            <a:chExt cx="3203791" cy="399631"/>
          </a:xfrm>
        </p:grpSpPr>
        <p:sp>
          <p:nvSpPr>
            <p:cNvPr name="Freeform 36" id="36"/>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24706"/>
              </a:srgbClr>
            </a:solidFill>
          </p:spPr>
        </p:sp>
        <p:sp>
          <p:nvSpPr>
            <p:cNvPr name="Freeform 37" id="37"/>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38" id="38"/>
          <p:cNvGrpSpPr/>
          <p:nvPr/>
        </p:nvGrpSpPr>
        <p:grpSpPr>
          <a:xfrm rot="0">
            <a:off x="755399" y="6636672"/>
            <a:ext cx="2402843" cy="299723"/>
            <a:chOff x="0" y="0"/>
            <a:chExt cx="3203791" cy="399631"/>
          </a:xfrm>
        </p:grpSpPr>
        <p:sp>
          <p:nvSpPr>
            <p:cNvPr name="Freeform 39" id="39"/>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40" id="40"/>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41" id="41"/>
          <p:cNvGrpSpPr/>
          <p:nvPr/>
        </p:nvGrpSpPr>
        <p:grpSpPr>
          <a:xfrm rot="0">
            <a:off x="755399" y="6984144"/>
            <a:ext cx="2402843" cy="299723"/>
            <a:chOff x="0" y="0"/>
            <a:chExt cx="3203791" cy="399631"/>
          </a:xfrm>
        </p:grpSpPr>
        <p:sp>
          <p:nvSpPr>
            <p:cNvPr name="Freeform 42" id="42"/>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43" id="43"/>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44" id="44"/>
          <p:cNvGrpSpPr/>
          <p:nvPr/>
        </p:nvGrpSpPr>
        <p:grpSpPr>
          <a:xfrm rot="0">
            <a:off x="755399" y="7331616"/>
            <a:ext cx="2402843" cy="299723"/>
            <a:chOff x="0" y="0"/>
            <a:chExt cx="3203791" cy="399631"/>
          </a:xfrm>
        </p:grpSpPr>
        <p:sp>
          <p:nvSpPr>
            <p:cNvPr name="Freeform 45" id="45"/>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F4A261">
                <a:alpha val="24706"/>
              </a:srgbClr>
            </a:solidFill>
          </p:spPr>
        </p:sp>
        <p:sp>
          <p:nvSpPr>
            <p:cNvPr name="Freeform 46" id="46"/>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F4A261"/>
            </a:solidFill>
          </p:spPr>
        </p:sp>
      </p:grpSp>
      <p:grpSp>
        <p:nvGrpSpPr>
          <p:cNvPr name="Group 47" id="47"/>
          <p:cNvGrpSpPr/>
          <p:nvPr/>
        </p:nvGrpSpPr>
        <p:grpSpPr>
          <a:xfrm rot="0">
            <a:off x="755399" y="7679088"/>
            <a:ext cx="2402843" cy="299723"/>
            <a:chOff x="0" y="0"/>
            <a:chExt cx="3203791" cy="399631"/>
          </a:xfrm>
        </p:grpSpPr>
        <p:sp>
          <p:nvSpPr>
            <p:cNvPr name="Freeform 48" id="48"/>
            <p:cNvSpPr/>
            <p:nvPr/>
          </p:nvSpPr>
          <p:spPr>
            <a:xfrm flipH="false" flipV="false" rot="0">
              <a:off x="16891" y="16891"/>
              <a:ext cx="3169920" cy="365760"/>
            </a:xfrm>
            <a:custGeom>
              <a:avLst/>
              <a:gdLst/>
              <a:ahLst/>
              <a:cxnLst/>
              <a:rect r="r" b="b" t="t" l="l"/>
              <a:pathLst>
                <a:path h="365760" w="3169920">
                  <a:moveTo>
                    <a:pt x="0" y="0"/>
                  </a:moveTo>
                  <a:lnTo>
                    <a:pt x="3169920" y="0"/>
                  </a:lnTo>
                  <a:lnTo>
                    <a:pt x="3169920" y="365760"/>
                  </a:lnTo>
                  <a:lnTo>
                    <a:pt x="0" y="365760"/>
                  </a:lnTo>
                  <a:close/>
                </a:path>
              </a:pathLst>
            </a:custGeom>
            <a:solidFill>
              <a:srgbClr val="52B788">
                <a:alpha val="63922"/>
              </a:srgbClr>
            </a:solidFill>
          </p:spPr>
        </p:sp>
        <p:sp>
          <p:nvSpPr>
            <p:cNvPr name="Freeform 49" id="49"/>
            <p:cNvSpPr/>
            <p:nvPr/>
          </p:nvSpPr>
          <p:spPr>
            <a:xfrm flipH="false" flipV="false" rot="0">
              <a:off x="0" y="0"/>
              <a:ext cx="3203702" cy="399544"/>
            </a:xfrm>
            <a:custGeom>
              <a:avLst/>
              <a:gdLst/>
              <a:ahLst/>
              <a:cxnLst/>
              <a:rect r="r" b="b" t="t" l="l"/>
              <a:pathLst>
                <a:path h="399544" w="3203702">
                  <a:moveTo>
                    <a:pt x="16891" y="0"/>
                  </a:moveTo>
                  <a:lnTo>
                    <a:pt x="3186811" y="0"/>
                  </a:lnTo>
                  <a:cubicBezTo>
                    <a:pt x="3196209" y="0"/>
                    <a:pt x="3203702" y="7620"/>
                    <a:pt x="3203702" y="16891"/>
                  </a:cubicBezTo>
                  <a:lnTo>
                    <a:pt x="3203702" y="382651"/>
                  </a:lnTo>
                  <a:cubicBezTo>
                    <a:pt x="3203702" y="392049"/>
                    <a:pt x="3196082" y="399542"/>
                    <a:pt x="3186811" y="399542"/>
                  </a:cubicBezTo>
                  <a:lnTo>
                    <a:pt x="16891" y="399542"/>
                  </a:lnTo>
                  <a:cubicBezTo>
                    <a:pt x="7620" y="399669"/>
                    <a:pt x="0" y="392049"/>
                    <a:pt x="0" y="382651"/>
                  </a:cubicBezTo>
                  <a:lnTo>
                    <a:pt x="0" y="16891"/>
                  </a:lnTo>
                  <a:cubicBezTo>
                    <a:pt x="0" y="7620"/>
                    <a:pt x="7620" y="0"/>
                    <a:pt x="16891" y="0"/>
                  </a:cubicBezTo>
                  <a:moveTo>
                    <a:pt x="16891" y="33909"/>
                  </a:moveTo>
                  <a:lnTo>
                    <a:pt x="16891" y="16891"/>
                  </a:lnTo>
                  <a:lnTo>
                    <a:pt x="33909" y="16891"/>
                  </a:lnTo>
                  <a:lnTo>
                    <a:pt x="33909" y="382651"/>
                  </a:lnTo>
                  <a:lnTo>
                    <a:pt x="16891" y="382651"/>
                  </a:lnTo>
                  <a:lnTo>
                    <a:pt x="16891" y="365760"/>
                  </a:lnTo>
                  <a:lnTo>
                    <a:pt x="3186811" y="365760"/>
                  </a:lnTo>
                  <a:lnTo>
                    <a:pt x="3186811" y="382651"/>
                  </a:lnTo>
                  <a:lnTo>
                    <a:pt x="3169920" y="382651"/>
                  </a:lnTo>
                  <a:lnTo>
                    <a:pt x="3169920" y="16891"/>
                  </a:lnTo>
                  <a:lnTo>
                    <a:pt x="3186811" y="16891"/>
                  </a:lnTo>
                  <a:lnTo>
                    <a:pt x="3186811" y="33909"/>
                  </a:lnTo>
                  <a:lnTo>
                    <a:pt x="16891" y="33909"/>
                  </a:lnTo>
                  <a:close/>
                </a:path>
              </a:pathLst>
            </a:custGeom>
            <a:solidFill>
              <a:srgbClr val="52B788"/>
            </a:solidFill>
          </p:spPr>
        </p:sp>
      </p:grpSp>
      <p:grpSp>
        <p:nvGrpSpPr>
          <p:cNvPr name="Group 50" id="50"/>
          <p:cNvGrpSpPr/>
          <p:nvPr/>
        </p:nvGrpSpPr>
        <p:grpSpPr>
          <a:xfrm rot="0">
            <a:off x="548640" y="8112409"/>
            <a:ext cx="2834640" cy="393873"/>
            <a:chOff x="0" y="0"/>
            <a:chExt cx="3779520" cy="525164"/>
          </a:xfrm>
        </p:grpSpPr>
        <p:sp>
          <p:nvSpPr>
            <p:cNvPr name="Freeform 51" id="51"/>
            <p:cNvSpPr/>
            <p:nvPr/>
          </p:nvSpPr>
          <p:spPr>
            <a:xfrm flipH="false" flipV="false" rot="0">
              <a:off x="0" y="0"/>
              <a:ext cx="3779520" cy="525164"/>
            </a:xfrm>
            <a:custGeom>
              <a:avLst/>
              <a:gdLst/>
              <a:ahLst/>
              <a:cxnLst/>
              <a:rect r="r" b="b" t="t" l="l"/>
              <a:pathLst>
                <a:path h="525164" w="3779520">
                  <a:moveTo>
                    <a:pt x="0" y="0"/>
                  </a:moveTo>
                  <a:lnTo>
                    <a:pt x="3779520" y="0"/>
                  </a:lnTo>
                  <a:lnTo>
                    <a:pt x="3779520" y="525164"/>
                  </a:lnTo>
                  <a:lnTo>
                    <a:pt x="0" y="525164"/>
                  </a:lnTo>
                  <a:close/>
                </a:path>
              </a:pathLst>
            </a:custGeom>
            <a:blipFill>
              <a:blip r:embed="rId3">
                <a:alphaModFix amt="0"/>
              </a:blip>
              <a:stretch>
                <a:fillRect l="0" t="-98442" r="0" b="-82018"/>
              </a:stretch>
            </a:blipFill>
          </p:spPr>
        </p:sp>
        <p:sp>
          <p:nvSpPr>
            <p:cNvPr name="TextBox 52" id="52"/>
            <p:cNvSpPr txBox="true"/>
            <p:nvPr/>
          </p:nvSpPr>
          <p:spPr>
            <a:xfrm>
              <a:off x="0" y="-47625"/>
              <a:ext cx="3779520" cy="572789"/>
            </a:xfrm>
            <a:prstGeom prst="rect">
              <a:avLst/>
            </a:prstGeom>
          </p:spPr>
          <p:txBody>
            <a:bodyPr anchor="ctr" rtlCol="false" tIns="0" lIns="0" bIns="0" rIns="0"/>
            <a:lstStyle/>
            <a:p>
              <a:pPr algn="ctr">
                <a:lnSpc>
                  <a:spcPts val="2399"/>
                </a:lnSpc>
              </a:pPr>
              <a:r>
                <a:rPr lang="en-US" sz="1999">
                  <a:solidFill>
                    <a:srgbClr val="6B8F6B"/>
                  </a:solidFill>
                  <a:latin typeface="Calibri (MS)"/>
                  <a:ea typeface="Calibri (MS)"/>
                  <a:cs typeface="Calibri (MS)"/>
                  <a:sym typeface="Calibri (MS)"/>
                </a:rPr>
                <a:t>··· 768 obs.</a:t>
              </a:r>
            </a:p>
          </p:txBody>
        </p:sp>
      </p:grpSp>
      <p:grpSp>
        <p:nvGrpSpPr>
          <p:cNvPr name="Group 53" id="53"/>
          <p:cNvGrpSpPr/>
          <p:nvPr/>
        </p:nvGrpSpPr>
        <p:grpSpPr>
          <a:xfrm rot="0">
            <a:off x="3315687" y="5844697"/>
            <a:ext cx="1463040" cy="689148"/>
            <a:chOff x="0" y="0"/>
            <a:chExt cx="1950720" cy="918864"/>
          </a:xfrm>
        </p:grpSpPr>
        <p:sp>
          <p:nvSpPr>
            <p:cNvPr name="Freeform 54" id="54"/>
            <p:cNvSpPr/>
            <p:nvPr/>
          </p:nvSpPr>
          <p:spPr>
            <a:xfrm flipH="false" flipV="false" rot="0">
              <a:off x="0" y="0"/>
              <a:ext cx="1950720" cy="918864"/>
            </a:xfrm>
            <a:custGeom>
              <a:avLst/>
              <a:gdLst/>
              <a:ahLst/>
              <a:cxnLst/>
              <a:rect r="r" b="b" t="t" l="l"/>
              <a:pathLst>
                <a:path h="918864" w="1950720">
                  <a:moveTo>
                    <a:pt x="0" y="0"/>
                  </a:moveTo>
                  <a:lnTo>
                    <a:pt x="1950720" y="0"/>
                  </a:lnTo>
                  <a:lnTo>
                    <a:pt x="1950720" y="918864"/>
                  </a:lnTo>
                  <a:lnTo>
                    <a:pt x="0" y="918864"/>
                  </a:lnTo>
                  <a:close/>
                </a:path>
              </a:pathLst>
            </a:custGeom>
            <a:blipFill>
              <a:blip r:embed="rId3">
                <a:alphaModFix amt="0"/>
              </a:blip>
              <a:stretch>
                <a:fillRect l="-6132" t="0" r="-6132" b="7120"/>
              </a:stretch>
            </a:blipFill>
          </p:spPr>
        </p:sp>
        <p:sp>
          <p:nvSpPr>
            <p:cNvPr name="TextBox 55" id="55"/>
            <p:cNvSpPr txBox="true"/>
            <p:nvPr/>
          </p:nvSpPr>
          <p:spPr>
            <a:xfrm>
              <a:off x="0" y="-47625"/>
              <a:ext cx="1950720" cy="966489"/>
            </a:xfrm>
            <a:prstGeom prst="rect">
              <a:avLst/>
            </a:prstGeom>
          </p:spPr>
          <p:txBody>
            <a:bodyPr anchor="ctr" rtlCol="false" tIns="0" lIns="0" bIns="0" rIns="0"/>
            <a:lstStyle/>
            <a:p>
              <a:pPr algn="ctr">
                <a:lnSpc>
                  <a:spcPts val="2399"/>
                </a:lnSpc>
              </a:pPr>
              <a:r>
                <a:rPr lang="en-US" sz="1999">
                  <a:solidFill>
                    <a:srgbClr val="6B8F6B"/>
                  </a:solidFill>
                  <a:latin typeface="Calibri (MS)"/>
                  <a:ea typeface="Calibri (MS)"/>
                  <a:cs typeface="Calibri (MS)"/>
                  <a:sym typeface="Calibri (MS)"/>
                </a:rPr>
                <a:t>tirage</a:t>
              </a:r>
            </a:p>
            <a:p>
              <a:pPr algn="ctr">
                <a:lnSpc>
                  <a:spcPts val="2399"/>
                </a:lnSpc>
              </a:pPr>
              <a:r>
                <a:rPr lang="en-US" sz="1999">
                  <a:solidFill>
                    <a:srgbClr val="6B8F6B"/>
                  </a:solidFill>
                  <a:latin typeface="Calibri (MS)"/>
                  <a:ea typeface="Calibri (MS)"/>
                  <a:cs typeface="Calibri (MS)"/>
                  <a:sym typeface="Calibri (MS)"/>
                </a:rPr>
                <a:t>avec remise</a:t>
              </a:r>
            </a:p>
          </p:txBody>
        </p:sp>
      </p:grpSp>
      <p:grpSp>
        <p:nvGrpSpPr>
          <p:cNvPr name="Group 56" id="56"/>
          <p:cNvGrpSpPr/>
          <p:nvPr/>
        </p:nvGrpSpPr>
        <p:grpSpPr>
          <a:xfrm rot="0">
            <a:off x="4698873" y="1876963"/>
            <a:ext cx="2667000" cy="1792224"/>
            <a:chOff x="0" y="0"/>
            <a:chExt cx="3556000" cy="2389632"/>
          </a:xfrm>
        </p:grpSpPr>
        <p:sp>
          <p:nvSpPr>
            <p:cNvPr name="Freeform 57" id="57"/>
            <p:cNvSpPr/>
            <p:nvPr/>
          </p:nvSpPr>
          <p:spPr>
            <a:xfrm flipH="false" flipV="false" rot="0">
              <a:off x="10160" y="8379"/>
              <a:ext cx="3535680" cy="2372875"/>
            </a:xfrm>
            <a:custGeom>
              <a:avLst/>
              <a:gdLst/>
              <a:ahLst/>
              <a:cxnLst/>
              <a:rect r="r" b="b" t="t" l="l"/>
              <a:pathLst>
                <a:path h="2372875" w="3535680">
                  <a:moveTo>
                    <a:pt x="0" y="0"/>
                  </a:moveTo>
                  <a:lnTo>
                    <a:pt x="3535680" y="0"/>
                  </a:lnTo>
                  <a:lnTo>
                    <a:pt x="3535680" y="2372874"/>
                  </a:lnTo>
                  <a:lnTo>
                    <a:pt x="0" y="2372874"/>
                  </a:lnTo>
                  <a:close/>
                </a:path>
              </a:pathLst>
            </a:custGeom>
            <a:solidFill>
              <a:srgbClr val="1E3A1E"/>
            </a:solidFill>
          </p:spPr>
        </p:sp>
        <p:sp>
          <p:nvSpPr>
            <p:cNvPr name="Freeform 58" id="58"/>
            <p:cNvSpPr/>
            <p:nvPr/>
          </p:nvSpPr>
          <p:spPr>
            <a:xfrm flipH="false" flipV="false" rot="0">
              <a:off x="0" y="0"/>
              <a:ext cx="3556000" cy="2389632"/>
            </a:xfrm>
            <a:custGeom>
              <a:avLst/>
              <a:gdLst/>
              <a:ahLst/>
              <a:cxnLst/>
              <a:rect r="r" b="b" t="t" l="l"/>
              <a:pathLst>
                <a:path h="2389632" w="3556000">
                  <a:moveTo>
                    <a:pt x="10160" y="0"/>
                  </a:moveTo>
                  <a:lnTo>
                    <a:pt x="3545840" y="0"/>
                  </a:lnTo>
                  <a:cubicBezTo>
                    <a:pt x="3551428" y="0"/>
                    <a:pt x="3556000" y="3770"/>
                    <a:pt x="3556000" y="8379"/>
                  </a:cubicBezTo>
                  <a:lnTo>
                    <a:pt x="3556000" y="2381253"/>
                  </a:lnTo>
                  <a:cubicBezTo>
                    <a:pt x="3556000" y="2385862"/>
                    <a:pt x="3551428" y="2389632"/>
                    <a:pt x="3545840" y="2389632"/>
                  </a:cubicBezTo>
                  <a:lnTo>
                    <a:pt x="10160" y="2389632"/>
                  </a:lnTo>
                  <a:cubicBezTo>
                    <a:pt x="4572" y="2389632"/>
                    <a:pt x="0" y="2385862"/>
                    <a:pt x="0" y="2381253"/>
                  </a:cubicBezTo>
                  <a:lnTo>
                    <a:pt x="0" y="8379"/>
                  </a:lnTo>
                  <a:cubicBezTo>
                    <a:pt x="0" y="3770"/>
                    <a:pt x="4572" y="0"/>
                    <a:pt x="10160" y="0"/>
                  </a:cubicBezTo>
                  <a:moveTo>
                    <a:pt x="10160" y="16758"/>
                  </a:moveTo>
                  <a:lnTo>
                    <a:pt x="10160" y="8379"/>
                  </a:lnTo>
                  <a:lnTo>
                    <a:pt x="20320" y="8379"/>
                  </a:lnTo>
                  <a:lnTo>
                    <a:pt x="20320" y="2381253"/>
                  </a:lnTo>
                  <a:lnTo>
                    <a:pt x="10160" y="2381253"/>
                  </a:lnTo>
                  <a:lnTo>
                    <a:pt x="10160" y="2372874"/>
                  </a:lnTo>
                  <a:lnTo>
                    <a:pt x="3545840" y="2372874"/>
                  </a:lnTo>
                  <a:lnTo>
                    <a:pt x="3545840" y="2381253"/>
                  </a:lnTo>
                  <a:lnTo>
                    <a:pt x="3535680" y="2381253"/>
                  </a:lnTo>
                  <a:lnTo>
                    <a:pt x="3535680" y="8379"/>
                  </a:lnTo>
                  <a:lnTo>
                    <a:pt x="3545840" y="8379"/>
                  </a:lnTo>
                  <a:lnTo>
                    <a:pt x="3545840" y="16758"/>
                  </a:lnTo>
                  <a:lnTo>
                    <a:pt x="10160" y="16758"/>
                  </a:lnTo>
                  <a:close/>
                </a:path>
              </a:pathLst>
            </a:custGeom>
            <a:solidFill>
              <a:srgbClr val="52B788"/>
            </a:solidFill>
          </p:spPr>
        </p:sp>
      </p:grpSp>
      <p:grpSp>
        <p:nvGrpSpPr>
          <p:cNvPr name="Group 59" id="59"/>
          <p:cNvGrpSpPr/>
          <p:nvPr/>
        </p:nvGrpSpPr>
        <p:grpSpPr>
          <a:xfrm rot="0">
            <a:off x="4663440" y="2059081"/>
            <a:ext cx="2651760" cy="441833"/>
            <a:chOff x="0" y="0"/>
            <a:chExt cx="3535680" cy="589111"/>
          </a:xfrm>
        </p:grpSpPr>
        <p:sp>
          <p:nvSpPr>
            <p:cNvPr name="Freeform 60" id="60"/>
            <p:cNvSpPr/>
            <p:nvPr/>
          </p:nvSpPr>
          <p:spPr>
            <a:xfrm flipH="false" flipV="false" rot="0">
              <a:off x="0" y="0"/>
              <a:ext cx="3535680" cy="589111"/>
            </a:xfrm>
            <a:custGeom>
              <a:avLst/>
              <a:gdLst/>
              <a:ahLst/>
              <a:cxnLst/>
              <a:rect r="r" b="b" t="t" l="l"/>
              <a:pathLst>
                <a:path h="589111" w="3535680">
                  <a:moveTo>
                    <a:pt x="0" y="0"/>
                  </a:moveTo>
                  <a:lnTo>
                    <a:pt x="3535680" y="0"/>
                  </a:lnTo>
                  <a:lnTo>
                    <a:pt x="3535680" y="589111"/>
                  </a:lnTo>
                  <a:lnTo>
                    <a:pt x="0" y="589111"/>
                  </a:lnTo>
                  <a:close/>
                </a:path>
              </a:pathLst>
            </a:custGeom>
            <a:blipFill>
              <a:blip r:embed="rId3">
                <a:alphaModFix amt="0"/>
              </a:blip>
              <a:stretch>
                <a:fillRect l="0" t="-67274" r="0" b="-66613"/>
              </a:stretch>
            </a:blipFill>
          </p:spPr>
        </p:sp>
        <p:sp>
          <p:nvSpPr>
            <p:cNvPr name="TextBox 61" id="61"/>
            <p:cNvSpPr txBox="true"/>
            <p:nvPr/>
          </p:nvSpPr>
          <p:spPr>
            <a:xfrm>
              <a:off x="0" y="-47625"/>
              <a:ext cx="3535680" cy="636736"/>
            </a:xfrm>
            <a:prstGeom prst="rect">
              <a:avLst/>
            </a:prstGeom>
          </p:spPr>
          <p:txBody>
            <a:bodyPr anchor="ctr" rtlCol="false" tIns="0" lIns="0" bIns="0" rIns="0"/>
            <a:lstStyle/>
            <a:p>
              <a:pPr algn="ctr">
                <a:lnSpc>
                  <a:spcPts val="2639"/>
                </a:lnSpc>
              </a:pPr>
              <a:r>
                <a:rPr lang="en-US" b="true" sz="2199">
                  <a:solidFill>
                    <a:srgbClr val="FFFFFF"/>
                  </a:solidFill>
                  <a:latin typeface="Calibri (MS) Bold"/>
                  <a:ea typeface="Calibri (MS) Bold"/>
                  <a:cs typeface="Calibri (MS) Bold"/>
                  <a:sym typeface="Calibri (MS) Bold"/>
                </a:rPr>
                <a:t>Bootstrap 1</a:t>
              </a:r>
            </a:p>
          </p:txBody>
        </p:sp>
      </p:grpSp>
      <p:grpSp>
        <p:nvGrpSpPr>
          <p:cNvPr name="Group 62" id="62"/>
          <p:cNvGrpSpPr/>
          <p:nvPr/>
        </p:nvGrpSpPr>
        <p:grpSpPr>
          <a:xfrm rot="0">
            <a:off x="4635627" y="2680878"/>
            <a:ext cx="2651760" cy="393873"/>
            <a:chOff x="0" y="0"/>
            <a:chExt cx="3535680" cy="525164"/>
          </a:xfrm>
        </p:grpSpPr>
        <p:sp>
          <p:nvSpPr>
            <p:cNvPr name="Freeform 63" id="63"/>
            <p:cNvSpPr/>
            <p:nvPr/>
          </p:nvSpPr>
          <p:spPr>
            <a:xfrm flipH="false" flipV="false" rot="0">
              <a:off x="0" y="0"/>
              <a:ext cx="3535680" cy="525164"/>
            </a:xfrm>
            <a:custGeom>
              <a:avLst/>
              <a:gdLst/>
              <a:ahLst/>
              <a:cxnLst/>
              <a:rect r="r" b="b" t="t" l="l"/>
              <a:pathLst>
                <a:path h="525164" w="3535680">
                  <a:moveTo>
                    <a:pt x="0" y="0"/>
                  </a:moveTo>
                  <a:lnTo>
                    <a:pt x="3535680" y="0"/>
                  </a:lnTo>
                  <a:lnTo>
                    <a:pt x="3535680" y="525164"/>
                  </a:lnTo>
                  <a:lnTo>
                    <a:pt x="0" y="525164"/>
                  </a:lnTo>
                  <a:close/>
                </a:path>
              </a:pathLst>
            </a:custGeom>
            <a:blipFill>
              <a:blip r:embed="rId3">
                <a:alphaModFix amt="0"/>
              </a:blip>
              <a:stretch>
                <a:fillRect l="0" t="-89395" r="0" b="-72971"/>
              </a:stretch>
            </a:blipFill>
          </p:spPr>
        </p:sp>
        <p:sp>
          <p:nvSpPr>
            <p:cNvPr name="TextBox 64" id="64"/>
            <p:cNvSpPr txBox="true"/>
            <p:nvPr/>
          </p:nvSpPr>
          <p:spPr>
            <a:xfrm>
              <a:off x="0" y="-47625"/>
              <a:ext cx="3535680" cy="572789"/>
            </a:xfrm>
            <a:prstGeom prst="rect">
              <a:avLst/>
            </a:prstGeom>
          </p:spPr>
          <p:txBody>
            <a:bodyPr anchor="ctr" rtlCol="false" tIns="0" lIns="0" bIns="0" rIns="0"/>
            <a:lstStyle/>
            <a:p>
              <a:pPr algn="ctr">
                <a:lnSpc>
                  <a:spcPts val="2399"/>
                </a:lnSpc>
              </a:pPr>
              <a:r>
                <a:rPr lang="en-US" sz="1999">
                  <a:solidFill>
                    <a:srgbClr val="FFFFFF"/>
                  </a:solidFill>
                  <a:latin typeface="Calibri (MS)"/>
                  <a:ea typeface="Calibri (MS)"/>
                  <a:cs typeface="Calibri (MS)"/>
                  <a:sym typeface="Calibri (MS)"/>
                </a:rPr>
                <a:t>~63% uniques</a:t>
              </a:r>
            </a:p>
          </p:txBody>
        </p:sp>
      </p:grpSp>
      <p:grpSp>
        <p:nvGrpSpPr>
          <p:cNvPr name="Group 65" id="65"/>
          <p:cNvGrpSpPr/>
          <p:nvPr/>
        </p:nvGrpSpPr>
        <p:grpSpPr>
          <a:xfrm rot="0">
            <a:off x="8129264" y="1947167"/>
            <a:ext cx="2031997" cy="1666237"/>
            <a:chOff x="0" y="0"/>
            <a:chExt cx="2709329" cy="2221649"/>
          </a:xfrm>
        </p:grpSpPr>
        <p:sp>
          <p:nvSpPr>
            <p:cNvPr name="Freeform 66" id="66"/>
            <p:cNvSpPr/>
            <p:nvPr/>
          </p:nvSpPr>
          <p:spPr>
            <a:xfrm flipH="false" flipV="false" rot="0">
              <a:off x="13589" y="13589"/>
              <a:ext cx="2682240" cy="2194560"/>
            </a:xfrm>
            <a:custGeom>
              <a:avLst/>
              <a:gdLst/>
              <a:ahLst/>
              <a:cxnLst/>
              <a:rect r="r" b="b" t="t" l="l"/>
              <a:pathLst>
                <a:path h="2194560" w="2682240">
                  <a:moveTo>
                    <a:pt x="0" y="0"/>
                  </a:moveTo>
                  <a:lnTo>
                    <a:pt x="2682240" y="0"/>
                  </a:lnTo>
                  <a:lnTo>
                    <a:pt x="2682240" y="2194560"/>
                  </a:lnTo>
                  <a:lnTo>
                    <a:pt x="0" y="2194560"/>
                  </a:lnTo>
                  <a:close/>
                </a:path>
              </a:pathLst>
            </a:custGeom>
            <a:solidFill>
              <a:srgbClr val="52B788">
                <a:alpha val="5882"/>
              </a:srgbClr>
            </a:solidFill>
          </p:spPr>
        </p:sp>
        <p:sp>
          <p:nvSpPr>
            <p:cNvPr name="Freeform 67" id="67"/>
            <p:cNvSpPr/>
            <p:nvPr/>
          </p:nvSpPr>
          <p:spPr>
            <a:xfrm flipH="false" flipV="false" rot="0">
              <a:off x="0" y="0"/>
              <a:ext cx="2709418" cy="2221738"/>
            </a:xfrm>
            <a:custGeom>
              <a:avLst/>
              <a:gdLst/>
              <a:ahLst/>
              <a:cxnLst/>
              <a:rect r="r" b="b" t="t" l="l"/>
              <a:pathLst>
                <a:path h="2221738" w="2709418">
                  <a:moveTo>
                    <a:pt x="13589" y="0"/>
                  </a:moveTo>
                  <a:lnTo>
                    <a:pt x="2695829" y="0"/>
                  </a:lnTo>
                  <a:cubicBezTo>
                    <a:pt x="2703322" y="0"/>
                    <a:pt x="2709418" y="6096"/>
                    <a:pt x="2709418" y="13589"/>
                  </a:cubicBezTo>
                  <a:lnTo>
                    <a:pt x="2709418" y="2208149"/>
                  </a:lnTo>
                  <a:cubicBezTo>
                    <a:pt x="2709418" y="2215642"/>
                    <a:pt x="2703322" y="2221738"/>
                    <a:pt x="269582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2695829" y="2194560"/>
                  </a:lnTo>
                  <a:lnTo>
                    <a:pt x="2695829" y="2208149"/>
                  </a:lnTo>
                  <a:lnTo>
                    <a:pt x="2682240" y="2208149"/>
                  </a:lnTo>
                  <a:lnTo>
                    <a:pt x="2682240" y="13589"/>
                  </a:lnTo>
                  <a:lnTo>
                    <a:pt x="2695829" y="13589"/>
                  </a:lnTo>
                  <a:lnTo>
                    <a:pt x="2695829" y="27051"/>
                  </a:lnTo>
                  <a:lnTo>
                    <a:pt x="13589" y="27051"/>
                  </a:lnTo>
                  <a:close/>
                </a:path>
              </a:pathLst>
            </a:custGeom>
            <a:solidFill>
              <a:srgbClr val="52B788"/>
            </a:solidFill>
          </p:spPr>
        </p:sp>
      </p:grpSp>
      <p:grpSp>
        <p:nvGrpSpPr>
          <p:cNvPr name="Group 68" id="68"/>
          <p:cNvGrpSpPr/>
          <p:nvPr/>
        </p:nvGrpSpPr>
        <p:grpSpPr>
          <a:xfrm rot="0">
            <a:off x="8273034" y="2017786"/>
            <a:ext cx="1744475" cy="903227"/>
            <a:chOff x="0" y="0"/>
            <a:chExt cx="2325967" cy="1204303"/>
          </a:xfrm>
        </p:grpSpPr>
        <p:sp>
          <p:nvSpPr>
            <p:cNvPr name="Freeform 69" id="69"/>
            <p:cNvSpPr/>
            <p:nvPr/>
          </p:nvSpPr>
          <p:spPr>
            <a:xfrm flipH="false" flipV="false" rot="0">
              <a:off x="16891" y="16891"/>
              <a:ext cx="2292096" cy="1170432"/>
            </a:xfrm>
            <a:custGeom>
              <a:avLst/>
              <a:gdLst/>
              <a:ahLst/>
              <a:cxnLst/>
              <a:rect r="r" b="b" t="t" l="l"/>
              <a:pathLst>
                <a:path h="1170432" w="2292096">
                  <a:moveTo>
                    <a:pt x="0" y="0"/>
                  </a:moveTo>
                  <a:lnTo>
                    <a:pt x="2292096" y="0"/>
                  </a:lnTo>
                  <a:lnTo>
                    <a:pt x="2292096" y="1170432"/>
                  </a:lnTo>
                  <a:lnTo>
                    <a:pt x="0" y="1170432"/>
                  </a:lnTo>
                  <a:close/>
                </a:path>
              </a:pathLst>
            </a:custGeom>
            <a:solidFill>
              <a:srgbClr val="52B788">
                <a:alpha val="35686"/>
              </a:srgbClr>
            </a:solidFill>
          </p:spPr>
        </p:sp>
        <p:sp>
          <p:nvSpPr>
            <p:cNvPr name="Freeform 70" id="70"/>
            <p:cNvSpPr/>
            <p:nvPr/>
          </p:nvSpPr>
          <p:spPr>
            <a:xfrm flipH="false" flipV="false" rot="0">
              <a:off x="0" y="0"/>
              <a:ext cx="2325878" cy="1204216"/>
            </a:xfrm>
            <a:custGeom>
              <a:avLst/>
              <a:gdLst/>
              <a:ahLst/>
              <a:cxnLst/>
              <a:rect r="r" b="b" t="t" l="l"/>
              <a:pathLst>
                <a:path h="1204216" w="2325878">
                  <a:moveTo>
                    <a:pt x="16891" y="0"/>
                  </a:moveTo>
                  <a:lnTo>
                    <a:pt x="2308987" y="0"/>
                  </a:lnTo>
                  <a:cubicBezTo>
                    <a:pt x="2318385" y="0"/>
                    <a:pt x="2325878" y="7620"/>
                    <a:pt x="2325878" y="16891"/>
                  </a:cubicBezTo>
                  <a:lnTo>
                    <a:pt x="2325878" y="1187323"/>
                  </a:lnTo>
                  <a:cubicBezTo>
                    <a:pt x="2325878" y="1196721"/>
                    <a:pt x="2318258" y="1204214"/>
                    <a:pt x="2308987"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308987" y="1170432"/>
                  </a:lnTo>
                  <a:lnTo>
                    <a:pt x="2308987" y="1187323"/>
                  </a:lnTo>
                  <a:lnTo>
                    <a:pt x="2292096" y="1187323"/>
                  </a:lnTo>
                  <a:lnTo>
                    <a:pt x="2292096" y="16891"/>
                  </a:lnTo>
                  <a:lnTo>
                    <a:pt x="2308987" y="16891"/>
                  </a:lnTo>
                  <a:lnTo>
                    <a:pt x="2308987" y="33909"/>
                  </a:lnTo>
                  <a:lnTo>
                    <a:pt x="16891" y="33909"/>
                  </a:lnTo>
                  <a:close/>
                </a:path>
              </a:pathLst>
            </a:custGeom>
            <a:solidFill>
              <a:srgbClr val="52B788"/>
            </a:solidFill>
          </p:spPr>
        </p:sp>
      </p:grpSp>
      <p:grpSp>
        <p:nvGrpSpPr>
          <p:cNvPr name="Group 71" id="71"/>
          <p:cNvGrpSpPr/>
          <p:nvPr/>
        </p:nvGrpSpPr>
        <p:grpSpPr>
          <a:xfrm rot="0">
            <a:off x="8139427" y="2030482"/>
            <a:ext cx="2011680" cy="877824"/>
            <a:chOff x="0" y="0"/>
            <a:chExt cx="2682240" cy="1170432"/>
          </a:xfrm>
        </p:grpSpPr>
        <p:sp>
          <p:nvSpPr>
            <p:cNvPr name="Freeform 72" id="72"/>
            <p:cNvSpPr/>
            <p:nvPr/>
          </p:nvSpPr>
          <p:spPr>
            <a:xfrm flipH="false" flipV="false" rot="0">
              <a:off x="0" y="0"/>
              <a:ext cx="2682240" cy="1170432"/>
            </a:xfrm>
            <a:custGeom>
              <a:avLst/>
              <a:gdLst/>
              <a:ahLst/>
              <a:cxnLst/>
              <a:rect r="r" b="b" t="t" l="l"/>
              <a:pathLst>
                <a:path h="1170432" w="2682240">
                  <a:moveTo>
                    <a:pt x="0" y="0"/>
                  </a:moveTo>
                  <a:lnTo>
                    <a:pt x="2682240" y="0"/>
                  </a:lnTo>
                  <a:lnTo>
                    <a:pt x="2682240" y="1170432"/>
                  </a:lnTo>
                  <a:lnTo>
                    <a:pt x="0" y="1170432"/>
                  </a:lnTo>
                  <a:close/>
                </a:path>
              </a:pathLst>
            </a:custGeom>
            <a:blipFill>
              <a:blip r:embed="rId3">
                <a:alphaModFix amt="0"/>
              </a:blip>
              <a:stretch>
                <a:fillRect l="-5987" t="0" r="-5987" b="0"/>
              </a:stretch>
            </a:blipFill>
          </p:spPr>
        </p:sp>
        <p:sp>
          <p:nvSpPr>
            <p:cNvPr name="TextBox 73" id="73"/>
            <p:cNvSpPr txBox="true"/>
            <p:nvPr/>
          </p:nvSpPr>
          <p:spPr>
            <a:xfrm>
              <a:off x="0" y="-85725"/>
              <a:ext cx="2682240" cy="1256157"/>
            </a:xfrm>
            <a:prstGeom prst="rect">
              <a:avLst/>
            </a:prstGeom>
          </p:spPr>
          <p:txBody>
            <a:bodyPr anchor="ctr" rtlCol="false" tIns="0" lIns="0" bIns="0" rIns="0"/>
            <a:lstStyle/>
            <a:p>
              <a:pPr algn="ctr">
                <a:lnSpc>
                  <a:spcPts val="4920"/>
                </a:lnSpc>
              </a:pPr>
              <a:r>
                <a:rPr lang="en-US" sz="4100">
                  <a:solidFill>
                    <a:srgbClr val="000000"/>
                  </a:solidFill>
                  <a:latin typeface="Calibri (MS)"/>
                  <a:ea typeface="Calibri (MS)"/>
                  <a:cs typeface="Calibri (MS)"/>
                  <a:sym typeface="Calibri (MS)"/>
                </a:rPr>
                <a:t>🌲</a:t>
              </a:r>
            </a:p>
          </p:txBody>
        </p:sp>
      </p:grpSp>
      <p:grpSp>
        <p:nvGrpSpPr>
          <p:cNvPr name="Group 74" id="74"/>
          <p:cNvGrpSpPr/>
          <p:nvPr/>
        </p:nvGrpSpPr>
        <p:grpSpPr>
          <a:xfrm rot="0">
            <a:off x="8139427" y="2981458"/>
            <a:ext cx="2011680" cy="480268"/>
            <a:chOff x="0" y="0"/>
            <a:chExt cx="2682240" cy="640357"/>
          </a:xfrm>
        </p:grpSpPr>
        <p:sp>
          <p:nvSpPr>
            <p:cNvPr name="Freeform 75" id="75"/>
            <p:cNvSpPr/>
            <p:nvPr/>
          </p:nvSpPr>
          <p:spPr>
            <a:xfrm flipH="false" flipV="false" rot="0">
              <a:off x="0" y="0"/>
              <a:ext cx="2682240" cy="640357"/>
            </a:xfrm>
            <a:custGeom>
              <a:avLst/>
              <a:gdLst/>
              <a:ahLst/>
              <a:cxnLst/>
              <a:rect r="r" b="b" t="t" l="l"/>
              <a:pathLst>
                <a:path h="640357" w="2682240">
                  <a:moveTo>
                    <a:pt x="0" y="0"/>
                  </a:moveTo>
                  <a:lnTo>
                    <a:pt x="2682240" y="0"/>
                  </a:lnTo>
                  <a:lnTo>
                    <a:pt x="2682240" y="640357"/>
                  </a:lnTo>
                  <a:lnTo>
                    <a:pt x="0" y="640357"/>
                  </a:lnTo>
                  <a:close/>
                </a:path>
              </a:pathLst>
            </a:custGeom>
            <a:blipFill>
              <a:blip r:embed="rId3">
                <a:alphaModFix amt="0"/>
              </a:blip>
              <a:stretch>
                <a:fillRect l="0" t="-32113" r="0" b="-31118"/>
              </a:stretch>
            </a:blipFill>
          </p:spPr>
        </p:sp>
        <p:sp>
          <p:nvSpPr>
            <p:cNvPr name="TextBox 76" id="76"/>
            <p:cNvSpPr txBox="true"/>
            <p:nvPr/>
          </p:nvSpPr>
          <p:spPr>
            <a:xfrm>
              <a:off x="0" y="-57150"/>
              <a:ext cx="2682240" cy="697507"/>
            </a:xfrm>
            <a:prstGeom prst="rect">
              <a:avLst/>
            </a:prstGeom>
          </p:spPr>
          <p:txBody>
            <a:bodyPr anchor="ctr" rtlCol="false" tIns="0" lIns="0" bIns="0" rIns="0"/>
            <a:lstStyle/>
            <a:p>
              <a:pPr algn="ctr">
                <a:lnSpc>
                  <a:spcPts val="2879"/>
                </a:lnSpc>
              </a:pPr>
              <a:r>
                <a:rPr lang="en-US" sz="2399" b="true">
                  <a:solidFill>
                    <a:srgbClr val="52B788"/>
                  </a:solidFill>
                  <a:latin typeface="Calibri (MS) Bold"/>
                  <a:ea typeface="Calibri (MS) Bold"/>
                  <a:cs typeface="Calibri (MS) Bold"/>
                  <a:sym typeface="Calibri (MS) Bold"/>
                </a:rPr>
                <a:t>Arbre 1</a:t>
              </a:r>
            </a:p>
          </p:txBody>
        </p:sp>
      </p:grpSp>
      <p:grpSp>
        <p:nvGrpSpPr>
          <p:cNvPr name="Group 77" id="77"/>
          <p:cNvGrpSpPr/>
          <p:nvPr/>
        </p:nvGrpSpPr>
        <p:grpSpPr>
          <a:xfrm rot="0">
            <a:off x="8129264" y="4397759"/>
            <a:ext cx="2031997" cy="1666237"/>
            <a:chOff x="0" y="0"/>
            <a:chExt cx="2709329" cy="2221649"/>
          </a:xfrm>
        </p:grpSpPr>
        <p:sp>
          <p:nvSpPr>
            <p:cNvPr name="Freeform 78" id="78"/>
            <p:cNvSpPr/>
            <p:nvPr/>
          </p:nvSpPr>
          <p:spPr>
            <a:xfrm flipH="false" flipV="false" rot="0">
              <a:off x="13589" y="13589"/>
              <a:ext cx="2682240" cy="2194560"/>
            </a:xfrm>
            <a:custGeom>
              <a:avLst/>
              <a:gdLst/>
              <a:ahLst/>
              <a:cxnLst/>
              <a:rect r="r" b="b" t="t" l="l"/>
              <a:pathLst>
                <a:path h="2194560" w="2682240">
                  <a:moveTo>
                    <a:pt x="0" y="0"/>
                  </a:moveTo>
                  <a:lnTo>
                    <a:pt x="2682240" y="0"/>
                  </a:lnTo>
                  <a:lnTo>
                    <a:pt x="2682240" y="2194560"/>
                  </a:lnTo>
                  <a:lnTo>
                    <a:pt x="0" y="2194560"/>
                  </a:lnTo>
                  <a:close/>
                </a:path>
              </a:pathLst>
            </a:custGeom>
            <a:solidFill>
              <a:srgbClr val="52B788">
                <a:alpha val="5882"/>
              </a:srgbClr>
            </a:solidFill>
          </p:spPr>
        </p:sp>
        <p:sp>
          <p:nvSpPr>
            <p:cNvPr name="Freeform 79" id="79"/>
            <p:cNvSpPr/>
            <p:nvPr/>
          </p:nvSpPr>
          <p:spPr>
            <a:xfrm flipH="false" flipV="false" rot="0">
              <a:off x="0" y="0"/>
              <a:ext cx="2709418" cy="2221738"/>
            </a:xfrm>
            <a:custGeom>
              <a:avLst/>
              <a:gdLst/>
              <a:ahLst/>
              <a:cxnLst/>
              <a:rect r="r" b="b" t="t" l="l"/>
              <a:pathLst>
                <a:path h="2221738" w="2709418">
                  <a:moveTo>
                    <a:pt x="13589" y="0"/>
                  </a:moveTo>
                  <a:lnTo>
                    <a:pt x="2695829" y="0"/>
                  </a:lnTo>
                  <a:cubicBezTo>
                    <a:pt x="2703322" y="0"/>
                    <a:pt x="2709418" y="6096"/>
                    <a:pt x="2709418" y="13589"/>
                  </a:cubicBezTo>
                  <a:lnTo>
                    <a:pt x="2709418" y="2208149"/>
                  </a:lnTo>
                  <a:cubicBezTo>
                    <a:pt x="2709418" y="2215642"/>
                    <a:pt x="2703322" y="2221738"/>
                    <a:pt x="269582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2695829" y="2194560"/>
                  </a:lnTo>
                  <a:lnTo>
                    <a:pt x="2695829" y="2208149"/>
                  </a:lnTo>
                  <a:lnTo>
                    <a:pt x="2682240" y="2208149"/>
                  </a:lnTo>
                  <a:lnTo>
                    <a:pt x="2682240" y="13589"/>
                  </a:lnTo>
                  <a:lnTo>
                    <a:pt x="2695829" y="13589"/>
                  </a:lnTo>
                  <a:lnTo>
                    <a:pt x="2695829" y="27051"/>
                  </a:lnTo>
                  <a:lnTo>
                    <a:pt x="13589" y="27051"/>
                  </a:lnTo>
                  <a:close/>
                </a:path>
              </a:pathLst>
            </a:custGeom>
            <a:solidFill>
              <a:srgbClr val="52B788"/>
            </a:solidFill>
          </p:spPr>
        </p:sp>
      </p:grpSp>
      <p:grpSp>
        <p:nvGrpSpPr>
          <p:cNvPr name="Group 80" id="80"/>
          <p:cNvGrpSpPr/>
          <p:nvPr/>
        </p:nvGrpSpPr>
        <p:grpSpPr>
          <a:xfrm rot="0">
            <a:off x="8273034" y="4468378"/>
            <a:ext cx="1744475" cy="903227"/>
            <a:chOff x="0" y="0"/>
            <a:chExt cx="2325967" cy="1204303"/>
          </a:xfrm>
        </p:grpSpPr>
        <p:sp>
          <p:nvSpPr>
            <p:cNvPr name="Freeform 81" id="81"/>
            <p:cNvSpPr/>
            <p:nvPr/>
          </p:nvSpPr>
          <p:spPr>
            <a:xfrm flipH="false" flipV="false" rot="0">
              <a:off x="16891" y="16891"/>
              <a:ext cx="2292096" cy="1170432"/>
            </a:xfrm>
            <a:custGeom>
              <a:avLst/>
              <a:gdLst/>
              <a:ahLst/>
              <a:cxnLst/>
              <a:rect r="r" b="b" t="t" l="l"/>
              <a:pathLst>
                <a:path h="1170432" w="2292096">
                  <a:moveTo>
                    <a:pt x="0" y="0"/>
                  </a:moveTo>
                  <a:lnTo>
                    <a:pt x="2292096" y="0"/>
                  </a:lnTo>
                  <a:lnTo>
                    <a:pt x="2292096" y="1170432"/>
                  </a:lnTo>
                  <a:lnTo>
                    <a:pt x="0" y="1170432"/>
                  </a:lnTo>
                  <a:close/>
                </a:path>
              </a:pathLst>
            </a:custGeom>
            <a:solidFill>
              <a:srgbClr val="52B788">
                <a:alpha val="35686"/>
              </a:srgbClr>
            </a:solidFill>
          </p:spPr>
        </p:sp>
        <p:sp>
          <p:nvSpPr>
            <p:cNvPr name="Freeform 82" id="82"/>
            <p:cNvSpPr/>
            <p:nvPr/>
          </p:nvSpPr>
          <p:spPr>
            <a:xfrm flipH="false" flipV="false" rot="0">
              <a:off x="0" y="0"/>
              <a:ext cx="2325878" cy="1204216"/>
            </a:xfrm>
            <a:custGeom>
              <a:avLst/>
              <a:gdLst/>
              <a:ahLst/>
              <a:cxnLst/>
              <a:rect r="r" b="b" t="t" l="l"/>
              <a:pathLst>
                <a:path h="1204216" w="2325878">
                  <a:moveTo>
                    <a:pt x="16891" y="0"/>
                  </a:moveTo>
                  <a:lnTo>
                    <a:pt x="2308987" y="0"/>
                  </a:lnTo>
                  <a:cubicBezTo>
                    <a:pt x="2318385" y="0"/>
                    <a:pt x="2325878" y="7620"/>
                    <a:pt x="2325878" y="16891"/>
                  </a:cubicBezTo>
                  <a:lnTo>
                    <a:pt x="2325878" y="1187323"/>
                  </a:lnTo>
                  <a:cubicBezTo>
                    <a:pt x="2325878" y="1196721"/>
                    <a:pt x="2318258" y="1204214"/>
                    <a:pt x="2308987" y="1204214"/>
                  </a:cubicBezTo>
                  <a:lnTo>
                    <a:pt x="16891" y="1204214"/>
                  </a:lnTo>
                  <a:cubicBezTo>
                    <a:pt x="7620" y="1204341"/>
                    <a:pt x="0" y="1196721"/>
                    <a:pt x="0" y="1187323"/>
                  </a:cubicBezTo>
                  <a:lnTo>
                    <a:pt x="0" y="16891"/>
                  </a:lnTo>
                  <a:cubicBezTo>
                    <a:pt x="0" y="7620"/>
                    <a:pt x="7620" y="0"/>
                    <a:pt x="16891" y="0"/>
                  </a:cubicBezTo>
                  <a:moveTo>
                    <a:pt x="16891" y="33909"/>
                  </a:moveTo>
                  <a:lnTo>
                    <a:pt x="16891" y="16891"/>
                  </a:lnTo>
                  <a:lnTo>
                    <a:pt x="33909" y="16891"/>
                  </a:lnTo>
                  <a:lnTo>
                    <a:pt x="33909" y="1187323"/>
                  </a:lnTo>
                  <a:lnTo>
                    <a:pt x="16891" y="1187323"/>
                  </a:lnTo>
                  <a:lnTo>
                    <a:pt x="16891" y="1170432"/>
                  </a:lnTo>
                  <a:lnTo>
                    <a:pt x="2308987" y="1170432"/>
                  </a:lnTo>
                  <a:lnTo>
                    <a:pt x="2308987" y="1187323"/>
                  </a:lnTo>
                  <a:lnTo>
                    <a:pt x="2292096" y="1187323"/>
                  </a:lnTo>
                  <a:lnTo>
                    <a:pt x="2292096" y="16891"/>
                  </a:lnTo>
                  <a:lnTo>
                    <a:pt x="2308987" y="16891"/>
                  </a:lnTo>
                  <a:lnTo>
                    <a:pt x="2308987" y="33909"/>
                  </a:lnTo>
                  <a:lnTo>
                    <a:pt x="16891" y="33909"/>
                  </a:lnTo>
                  <a:close/>
                </a:path>
              </a:pathLst>
            </a:custGeom>
            <a:solidFill>
              <a:srgbClr val="52B788"/>
            </a:solidFill>
          </p:spPr>
        </p:sp>
      </p:grpSp>
      <p:grpSp>
        <p:nvGrpSpPr>
          <p:cNvPr name="Group 83" id="83"/>
          <p:cNvGrpSpPr/>
          <p:nvPr/>
        </p:nvGrpSpPr>
        <p:grpSpPr>
          <a:xfrm rot="0">
            <a:off x="8139427" y="4481074"/>
            <a:ext cx="2011680" cy="877824"/>
            <a:chOff x="0" y="0"/>
            <a:chExt cx="2682240" cy="1170432"/>
          </a:xfrm>
        </p:grpSpPr>
        <p:sp>
          <p:nvSpPr>
            <p:cNvPr name="Freeform 84" id="84"/>
            <p:cNvSpPr/>
            <p:nvPr/>
          </p:nvSpPr>
          <p:spPr>
            <a:xfrm flipH="false" flipV="false" rot="0">
              <a:off x="0" y="0"/>
              <a:ext cx="2682240" cy="1170432"/>
            </a:xfrm>
            <a:custGeom>
              <a:avLst/>
              <a:gdLst/>
              <a:ahLst/>
              <a:cxnLst/>
              <a:rect r="r" b="b" t="t" l="l"/>
              <a:pathLst>
                <a:path h="1170432" w="2682240">
                  <a:moveTo>
                    <a:pt x="0" y="0"/>
                  </a:moveTo>
                  <a:lnTo>
                    <a:pt x="2682240" y="0"/>
                  </a:lnTo>
                  <a:lnTo>
                    <a:pt x="2682240" y="1170432"/>
                  </a:lnTo>
                  <a:lnTo>
                    <a:pt x="0" y="1170432"/>
                  </a:lnTo>
                  <a:close/>
                </a:path>
              </a:pathLst>
            </a:custGeom>
            <a:blipFill>
              <a:blip r:embed="rId3">
                <a:alphaModFix amt="0"/>
              </a:blip>
              <a:stretch>
                <a:fillRect l="-5987" t="0" r="-5987" b="0"/>
              </a:stretch>
            </a:blipFill>
          </p:spPr>
        </p:sp>
        <p:sp>
          <p:nvSpPr>
            <p:cNvPr name="TextBox 85" id="85"/>
            <p:cNvSpPr txBox="true"/>
            <p:nvPr/>
          </p:nvSpPr>
          <p:spPr>
            <a:xfrm>
              <a:off x="0" y="-85725"/>
              <a:ext cx="2682240" cy="1256157"/>
            </a:xfrm>
            <a:prstGeom prst="rect">
              <a:avLst/>
            </a:prstGeom>
          </p:spPr>
          <p:txBody>
            <a:bodyPr anchor="ctr" rtlCol="false" tIns="0" lIns="0" bIns="0" rIns="0"/>
            <a:lstStyle/>
            <a:p>
              <a:pPr algn="ctr">
                <a:lnSpc>
                  <a:spcPts val="4920"/>
                </a:lnSpc>
              </a:pPr>
              <a:r>
                <a:rPr lang="en-US" sz="4100">
                  <a:solidFill>
                    <a:srgbClr val="000000"/>
                  </a:solidFill>
                  <a:latin typeface="Calibri (MS)"/>
                  <a:ea typeface="Calibri (MS)"/>
                  <a:cs typeface="Calibri (MS)"/>
                  <a:sym typeface="Calibri (MS)"/>
                </a:rPr>
                <a:t>🌲</a:t>
              </a:r>
            </a:p>
          </p:txBody>
        </p:sp>
      </p:grpSp>
      <p:grpSp>
        <p:nvGrpSpPr>
          <p:cNvPr name="Group 86" id="86"/>
          <p:cNvGrpSpPr/>
          <p:nvPr/>
        </p:nvGrpSpPr>
        <p:grpSpPr>
          <a:xfrm rot="0">
            <a:off x="8139427" y="5294008"/>
            <a:ext cx="2011680" cy="493481"/>
            <a:chOff x="0" y="0"/>
            <a:chExt cx="2682240" cy="657975"/>
          </a:xfrm>
        </p:grpSpPr>
        <p:sp>
          <p:nvSpPr>
            <p:cNvPr name="Freeform 87" id="87"/>
            <p:cNvSpPr/>
            <p:nvPr/>
          </p:nvSpPr>
          <p:spPr>
            <a:xfrm flipH="false" flipV="false" rot="0">
              <a:off x="0" y="0"/>
              <a:ext cx="2682240" cy="657974"/>
            </a:xfrm>
            <a:custGeom>
              <a:avLst/>
              <a:gdLst/>
              <a:ahLst/>
              <a:cxnLst/>
              <a:rect r="r" b="b" t="t" l="l"/>
              <a:pathLst>
                <a:path h="657974" w="2682240">
                  <a:moveTo>
                    <a:pt x="0" y="0"/>
                  </a:moveTo>
                  <a:lnTo>
                    <a:pt x="2682240" y="0"/>
                  </a:lnTo>
                  <a:lnTo>
                    <a:pt x="2682240" y="657974"/>
                  </a:lnTo>
                  <a:lnTo>
                    <a:pt x="0" y="657974"/>
                  </a:lnTo>
                  <a:close/>
                </a:path>
              </a:pathLst>
            </a:custGeom>
            <a:blipFill>
              <a:blip r:embed="rId3">
                <a:alphaModFix amt="0"/>
              </a:blip>
              <a:stretch>
                <a:fillRect l="0" t="-31254" r="0" b="-27607"/>
              </a:stretch>
            </a:blipFill>
          </p:spPr>
        </p:sp>
        <p:sp>
          <p:nvSpPr>
            <p:cNvPr name="TextBox 88" id="88"/>
            <p:cNvSpPr txBox="true"/>
            <p:nvPr/>
          </p:nvSpPr>
          <p:spPr>
            <a:xfrm>
              <a:off x="0" y="-57150"/>
              <a:ext cx="2682240" cy="715125"/>
            </a:xfrm>
            <a:prstGeom prst="rect">
              <a:avLst/>
            </a:prstGeom>
          </p:spPr>
          <p:txBody>
            <a:bodyPr anchor="ctr" rtlCol="false" tIns="0" lIns="0" bIns="0" rIns="0"/>
            <a:lstStyle/>
            <a:p>
              <a:pPr algn="ctr">
                <a:lnSpc>
                  <a:spcPts val="2879"/>
                </a:lnSpc>
              </a:pPr>
              <a:r>
                <a:rPr lang="en-US" sz="2399" b="true">
                  <a:solidFill>
                    <a:srgbClr val="52B788"/>
                  </a:solidFill>
                  <a:latin typeface="Calibri (MS) Bold"/>
                  <a:ea typeface="Calibri (MS) Bold"/>
                  <a:cs typeface="Calibri (MS) Bold"/>
                  <a:sym typeface="Calibri (MS) Bold"/>
                </a:rPr>
                <a:t>Arbre 2</a:t>
              </a:r>
            </a:p>
          </p:txBody>
        </p:sp>
      </p:grpSp>
      <p:grpSp>
        <p:nvGrpSpPr>
          <p:cNvPr name="Group 89" id="89"/>
          <p:cNvGrpSpPr/>
          <p:nvPr/>
        </p:nvGrpSpPr>
        <p:grpSpPr>
          <a:xfrm rot="0">
            <a:off x="8194291" y="6236722"/>
            <a:ext cx="1920240" cy="581118"/>
            <a:chOff x="0" y="0"/>
            <a:chExt cx="2560320" cy="774824"/>
          </a:xfrm>
        </p:grpSpPr>
        <p:sp>
          <p:nvSpPr>
            <p:cNvPr name="Freeform 90" id="90"/>
            <p:cNvSpPr/>
            <p:nvPr/>
          </p:nvSpPr>
          <p:spPr>
            <a:xfrm flipH="false" flipV="false" rot="0">
              <a:off x="0" y="0"/>
              <a:ext cx="2560320" cy="774824"/>
            </a:xfrm>
            <a:custGeom>
              <a:avLst/>
              <a:gdLst/>
              <a:ahLst/>
              <a:cxnLst/>
              <a:rect r="r" b="b" t="t" l="l"/>
              <a:pathLst>
                <a:path h="774824" w="2560320">
                  <a:moveTo>
                    <a:pt x="0" y="0"/>
                  </a:moveTo>
                  <a:lnTo>
                    <a:pt x="2560320" y="0"/>
                  </a:lnTo>
                  <a:lnTo>
                    <a:pt x="2560320" y="774824"/>
                  </a:lnTo>
                  <a:lnTo>
                    <a:pt x="0" y="774824"/>
                  </a:lnTo>
                  <a:close/>
                </a:path>
              </a:pathLst>
            </a:custGeom>
            <a:blipFill>
              <a:blip r:embed="rId3">
                <a:alphaModFix amt="0"/>
              </a:blip>
              <a:stretch>
                <a:fillRect l="0" t="-25048" r="0" b="-3724"/>
              </a:stretch>
            </a:blipFill>
          </p:spPr>
        </p:sp>
        <p:sp>
          <p:nvSpPr>
            <p:cNvPr name="TextBox 91" id="91"/>
            <p:cNvSpPr txBox="true"/>
            <p:nvPr/>
          </p:nvSpPr>
          <p:spPr>
            <a:xfrm>
              <a:off x="0" y="-57150"/>
              <a:ext cx="2560320" cy="831974"/>
            </a:xfrm>
            <a:prstGeom prst="rect">
              <a:avLst/>
            </a:prstGeom>
          </p:spPr>
          <p:txBody>
            <a:bodyPr anchor="ctr" rtlCol="false" tIns="0" lIns="0" bIns="0" rIns="0"/>
            <a:lstStyle/>
            <a:p>
              <a:pPr algn="ctr">
                <a:lnSpc>
                  <a:spcPts val="3480"/>
                </a:lnSpc>
              </a:pPr>
              <a:r>
                <a:rPr lang="en-US" sz="2900">
                  <a:solidFill>
                    <a:srgbClr val="6B8F6B"/>
                  </a:solidFill>
                  <a:latin typeface="Calibri (MS)"/>
                  <a:ea typeface="Calibri (MS)"/>
                  <a:cs typeface="Calibri (MS)"/>
                  <a:sym typeface="Calibri (MS)"/>
                </a:rPr>
                <a:t>· · ·</a:t>
              </a:r>
            </a:p>
          </p:txBody>
        </p:sp>
      </p:grpSp>
      <p:grpSp>
        <p:nvGrpSpPr>
          <p:cNvPr name="Group 92" id="92"/>
          <p:cNvGrpSpPr/>
          <p:nvPr/>
        </p:nvGrpSpPr>
        <p:grpSpPr>
          <a:xfrm rot="0">
            <a:off x="10555847" y="1936656"/>
            <a:ext cx="27324" cy="7108743"/>
            <a:chOff x="0" y="0"/>
            <a:chExt cx="33871" cy="8812111"/>
          </a:xfrm>
        </p:grpSpPr>
        <p:sp>
          <p:nvSpPr>
            <p:cNvPr name="Freeform 93" id="93"/>
            <p:cNvSpPr/>
            <p:nvPr/>
          </p:nvSpPr>
          <p:spPr>
            <a:xfrm flipH="false" flipV="false" rot="0">
              <a:off x="0" y="16891"/>
              <a:ext cx="33909" cy="8779637"/>
            </a:xfrm>
            <a:custGeom>
              <a:avLst/>
              <a:gdLst/>
              <a:ahLst/>
              <a:cxnLst/>
              <a:rect r="r" b="b" t="t" l="l"/>
              <a:pathLst>
                <a:path h="8779637" w="33909">
                  <a:moveTo>
                    <a:pt x="33909" y="237109"/>
                  </a:moveTo>
                  <a:lnTo>
                    <a:pt x="33909" y="338709"/>
                  </a:lnTo>
                  <a:lnTo>
                    <a:pt x="0" y="338709"/>
                  </a:lnTo>
                  <a:lnTo>
                    <a:pt x="0" y="237109"/>
                  </a:lnTo>
                  <a:close/>
                  <a:moveTo>
                    <a:pt x="0" y="474218"/>
                  </a:moveTo>
                  <a:lnTo>
                    <a:pt x="0" y="575818"/>
                  </a:lnTo>
                  <a:lnTo>
                    <a:pt x="0" y="474218"/>
                  </a:lnTo>
                  <a:close/>
                  <a:moveTo>
                    <a:pt x="0" y="711327"/>
                  </a:moveTo>
                  <a:lnTo>
                    <a:pt x="0" y="812927"/>
                  </a:lnTo>
                  <a:lnTo>
                    <a:pt x="0" y="711327"/>
                  </a:lnTo>
                  <a:close/>
                  <a:moveTo>
                    <a:pt x="33909" y="948309"/>
                  </a:moveTo>
                  <a:lnTo>
                    <a:pt x="33909" y="1049909"/>
                  </a:lnTo>
                  <a:lnTo>
                    <a:pt x="0" y="1049909"/>
                  </a:lnTo>
                  <a:lnTo>
                    <a:pt x="0" y="948309"/>
                  </a:lnTo>
                  <a:close/>
                  <a:moveTo>
                    <a:pt x="0" y="1185418"/>
                  </a:moveTo>
                  <a:lnTo>
                    <a:pt x="0" y="1287018"/>
                  </a:lnTo>
                  <a:lnTo>
                    <a:pt x="0" y="1185418"/>
                  </a:lnTo>
                  <a:close/>
                  <a:moveTo>
                    <a:pt x="0" y="1422527"/>
                  </a:moveTo>
                  <a:lnTo>
                    <a:pt x="0" y="1524127"/>
                  </a:lnTo>
                  <a:lnTo>
                    <a:pt x="0" y="1422527"/>
                  </a:lnTo>
                  <a:close/>
                  <a:moveTo>
                    <a:pt x="0" y="1659636"/>
                  </a:moveTo>
                  <a:lnTo>
                    <a:pt x="0" y="1761236"/>
                  </a:lnTo>
                  <a:lnTo>
                    <a:pt x="0" y="1659636"/>
                  </a:lnTo>
                  <a:close/>
                  <a:moveTo>
                    <a:pt x="0" y="1896745"/>
                  </a:moveTo>
                  <a:lnTo>
                    <a:pt x="0" y="1998345"/>
                  </a:lnTo>
                  <a:lnTo>
                    <a:pt x="0" y="1896745"/>
                  </a:lnTo>
                  <a:close/>
                  <a:moveTo>
                    <a:pt x="0" y="2133854"/>
                  </a:moveTo>
                  <a:lnTo>
                    <a:pt x="0" y="2235454"/>
                  </a:lnTo>
                  <a:lnTo>
                    <a:pt x="0" y="2133854"/>
                  </a:lnTo>
                  <a:close/>
                  <a:moveTo>
                    <a:pt x="0" y="2370963"/>
                  </a:moveTo>
                  <a:lnTo>
                    <a:pt x="0" y="2472563"/>
                  </a:lnTo>
                  <a:lnTo>
                    <a:pt x="0" y="2370963"/>
                  </a:lnTo>
                  <a:close/>
                  <a:moveTo>
                    <a:pt x="0" y="2608072"/>
                  </a:moveTo>
                  <a:lnTo>
                    <a:pt x="0" y="2709672"/>
                  </a:lnTo>
                  <a:lnTo>
                    <a:pt x="0" y="2608072"/>
                  </a:lnTo>
                  <a:close/>
                  <a:moveTo>
                    <a:pt x="0" y="2845181"/>
                  </a:moveTo>
                  <a:lnTo>
                    <a:pt x="0" y="2946781"/>
                  </a:lnTo>
                  <a:lnTo>
                    <a:pt x="0" y="2845181"/>
                  </a:lnTo>
                  <a:close/>
                  <a:moveTo>
                    <a:pt x="0" y="3082290"/>
                  </a:moveTo>
                  <a:lnTo>
                    <a:pt x="0" y="3183890"/>
                  </a:lnTo>
                  <a:lnTo>
                    <a:pt x="0" y="3082290"/>
                  </a:lnTo>
                  <a:close/>
                  <a:moveTo>
                    <a:pt x="0" y="3319399"/>
                  </a:moveTo>
                  <a:lnTo>
                    <a:pt x="0" y="3420999"/>
                  </a:lnTo>
                  <a:lnTo>
                    <a:pt x="0" y="3319399"/>
                  </a:lnTo>
                  <a:close/>
                  <a:moveTo>
                    <a:pt x="0" y="3556508"/>
                  </a:moveTo>
                  <a:lnTo>
                    <a:pt x="0" y="3658108"/>
                  </a:lnTo>
                  <a:lnTo>
                    <a:pt x="0" y="3556508"/>
                  </a:lnTo>
                  <a:close/>
                  <a:moveTo>
                    <a:pt x="0" y="3793617"/>
                  </a:moveTo>
                  <a:lnTo>
                    <a:pt x="0" y="3895217"/>
                  </a:lnTo>
                  <a:lnTo>
                    <a:pt x="0" y="3793617"/>
                  </a:lnTo>
                  <a:close/>
                  <a:moveTo>
                    <a:pt x="0" y="4030726"/>
                  </a:moveTo>
                  <a:lnTo>
                    <a:pt x="0" y="4132326"/>
                  </a:lnTo>
                  <a:lnTo>
                    <a:pt x="0" y="4030726"/>
                  </a:lnTo>
                  <a:close/>
                  <a:moveTo>
                    <a:pt x="0" y="4267835"/>
                  </a:moveTo>
                  <a:lnTo>
                    <a:pt x="0" y="4369435"/>
                  </a:lnTo>
                  <a:lnTo>
                    <a:pt x="0" y="4267835"/>
                  </a:lnTo>
                  <a:close/>
                  <a:moveTo>
                    <a:pt x="0" y="4504944"/>
                  </a:moveTo>
                  <a:lnTo>
                    <a:pt x="0" y="4606544"/>
                  </a:lnTo>
                  <a:lnTo>
                    <a:pt x="0" y="4504944"/>
                  </a:lnTo>
                  <a:close/>
                  <a:moveTo>
                    <a:pt x="0" y="4742053"/>
                  </a:moveTo>
                  <a:lnTo>
                    <a:pt x="0" y="4843653"/>
                  </a:lnTo>
                  <a:lnTo>
                    <a:pt x="0" y="4742053"/>
                  </a:lnTo>
                  <a:close/>
                  <a:moveTo>
                    <a:pt x="0" y="4979162"/>
                  </a:moveTo>
                  <a:lnTo>
                    <a:pt x="0" y="5080762"/>
                  </a:lnTo>
                  <a:lnTo>
                    <a:pt x="0" y="4979162"/>
                  </a:lnTo>
                  <a:close/>
                  <a:moveTo>
                    <a:pt x="0" y="5216271"/>
                  </a:moveTo>
                  <a:lnTo>
                    <a:pt x="0" y="5317871"/>
                  </a:lnTo>
                  <a:lnTo>
                    <a:pt x="0" y="5216271"/>
                  </a:lnTo>
                  <a:close/>
                  <a:moveTo>
                    <a:pt x="0" y="5453380"/>
                  </a:moveTo>
                  <a:lnTo>
                    <a:pt x="0" y="5554980"/>
                  </a:lnTo>
                  <a:lnTo>
                    <a:pt x="0" y="5453380"/>
                  </a:lnTo>
                  <a:close/>
                  <a:moveTo>
                    <a:pt x="0" y="5690489"/>
                  </a:moveTo>
                  <a:lnTo>
                    <a:pt x="0" y="5792089"/>
                  </a:lnTo>
                  <a:lnTo>
                    <a:pt x="0" y="5690489"/>
                  </a:lnTo>
                  <a:close/>
                  <a:moveTo>
                    <a:pt x="0" y="5927598"/>
                  </a:moveTo>
                  <a:lnTo>
                    <a:pt x="0" y="6029198"/>
                  </a:lnTo>
                  <a:lnTo>
                    <a:pt x="0" y="5927598"/>
                  </a:lnTo>
                  <a:close/>
                  <a:moveTo>
                    <a:pt x="0" y="6164707"/>
                  </a:moveTo>
                  <a:lnTo>
                    <a:pt x="0" y="6266307"/>
                  </a:lnTo>
                  <a:lnTo>
                    <a:pt x="0" y="6164707"/>
                  </a:lnTo>
                  <a:close/>
                  <a:moveTo>
                    <a:pt x="0" y="6401816"/>
                  </a:moveTo>
                  <a:lnTo>
                    <a:pt x="0" y="6503416"/>
                  </a:lnTo>
                  <a:lnTo>
                    <a:pt x="0" y="6401816"/>
                  </a:lnTo>
                  <a:close/>
                  <a:moveTo>
                    <a:pt x="0" y="6638925"/>
                  </a:moveTo>
                  <a:lnTo>
                    <a:pt x="0" y="6740525"/>
                  </a:lnTo>
                  <a:lnTo>
                    <a:pt x="0" y="6638925"/>
                  </a:lnTo>
                  <a:close/>
                  <a:moveTo>
                    <a:pt x="0" y="6876034"/>
                  </a:moveTo>
                  <a:lnTo>
                    <a:pt x="0" y="6977634"/>
                  </a:lnTo>
                  <a:lnTo>
                    <a:pt x="0" y="6876034"/>
                  </a:lnTo>
                  <a:close/>
                  <a:moveTo>
                    <a:pt x="0" y="7113143"/>
                  </a:moveTo>
                  <a:lnTo>
                    <a:pt x="0" y="7214743"/>
                  </a:lnTo>
                  <a:lnTo>
                    <a:pt x="0" y="7113143"/>
                  </a:lnTo>
                  <a:close/>
                  <a:moveTo>
                    <a:pt x="0" y="7350252"/>
                  </a:moveTo>
                  <a:lnTo>
                    <a:pt x="0" y="7451852"/>
                  </a:lnTo>
                  <a:lnTo>
                    <a:pt x="0" y="7350252"/>
                  </a:lnTo>
                  <a:close/>
                  <a:moveTo>
                    <a:pt x="0" y="7587361"/>
                  </a:moveTo>
                  <a:lnTo>
                    <a:pt x="0" y="7688961"/>
                  </a:lnTo>
                  <a:lnTo>
                    <a:pt x="0" y="7587361"/>
                  </a:lnTo>
                  <a:close/>
                  <a:moveTo>
                    <a:pt x="0" y="7824470"/>
                  </a:moveTo>
                  <a:lnTo>
                    <a:pt x="0" y="7926070"/>
                  </a:lnTo>
                  <a:lnTo>
                    <a:pt x="0" y="7824470"/>
                  </a:lnTo>
                  <a:close/>
                  <a:moveTo>
                    <a:pt x="0" y="8061579"/>
                  </a:moveTo>
                  <a:lnTo>
                    <a:pt x="0" y="8163179"/>
                  </a:lnTo>
                  <a:lnTo>
                    <a:pt x="0" y="8061579"/>
                  </a:lnTo>
                  <a:close/>
                  <a:moveTo>
                    <a:pt x="0" y="8298688"/>
                  </a:moveTo>
                  <a:lnTo>
                    <a:pt x="0" y="8400288"/>
                  </a:lnTo>
                  <a:lnTo>
                    <a:pt x="0" y="8298688"/>
                  </a:lnTo>
                  <a:close/>
                  <a:moveTo>
                    <a:pt x="0" y="8535797"/>
                  </a:moveTo>
                  <a:lnTo>
                    <a:pt x="0" y="8637397"/>
                  </a:lnTo>
                  <a:lnTo>
                    <a:pt x="0" y="8535797"/>
                  </a:lnTo>
                  <a:close/>
                  <a:moveTo>
                    <a:pt x="0" y="8772906"/>
                  </a:moveTo>
                  <a:lnTo>
                    <a:pt x="0" y="8779637"/>
                  </a:lnTo>
                  <a:lnTo>
                    <a:pt x="0" y="8771509"/>
                  </a:lnTo>
                  <a:close/>
                  <a:moveTo>
                    <a:pt x="0" y="0"/>
                  </a:moveTo>
                  <a:lnTo>
                    <a:pt x="0" y="101600"/>
                  </a:lnTo>
                  <a:lnTo>
                    <a:pt x="0" y="0"/>
                  </a:lnTo>
                  <a:close/>
                </a:path>
              </a:pathLst>
            </a:custGeom>
            <a:solidFill>
              <a:srgbClr val="E63946"/>
            </a:solidFill>
          </p:spPr>
        </p:sp>
      </p:grpSp>
      <p:grpSp>
        <p:nvGrpSpPr>
          <p:cNvPr name="Group 94" id="94"/>
          <p:cNvGrpSpPr/>
          <p:nvPr/>
        </p:nvGrpSpPr>
        <p:grpSpPr>
          <a:xfrm rot="0">
            <a:off x="10570464" y="1138428"/>
            <a:ext cx="1828800" cy="365760"/>
            <a:chOff x="0" y="0"/>
            <a:chExt cx="2438400" cy="487680"/>
          </a:xfrm>
        </p:grpSpPr>
        <p:sp>
          <p:nvSpPr>
            <p:cNvPr name="Freeform 95" id="95"/>
            <p:cNvSpPr/>
            <p:nvPr/>
          </p:nvSpPr>
          <p:spPr>
            <a:xfrm flipH="false" flipV="false" rot="0">
              <a:off x="0" y="0"/>
              <a:ext cx="2438400" cy="487680"/>
            </a:xfrm>
            <a:custGeom>
              <a:avLst/>
              <a:gdLst/>
              <a:ahLst/>
              <a:cxnLst/>
              <a:rect r="r" b="b" t="t" l="l"/>
              <a:pathLst>
                <a:path h="487680" w="2438400">
                  <a:moveTo>
                    <a:pt x="0" y="0"/>
                  </a:moveTo>
                  <a:lnTo>
                    <a:pt x="2438400" y="0"/>
                  </a:lnTo>
                  <a:lnTo>
                    <a:pt x="2438400" y="487680"/>
                  </a:lnTo>
                  <a:lnTo>
                    <a:pt x="0" y="487680"/>
                  </a:lnTo>
                  <a:close/>
                </a:path>
              </a:pathLst>
            </a:custGeom>
            <a:blipFill>
              <a:blip r:embed="rId3">
                <a:alphaModFix amt="0"/>
              </a:blip>
              <a:stretch>
                <a:fillRect l="0" t="-47425" r="0" b="-47425"/>
              </a:stretch>
            </a:blipFill>
          </p:spPr>
        </p:sp>
        <p:sp>
          <p:nvSpPr>
            <p:cNvPr name="TextBox 96" id="96"/>
            <p:cNvSpPr txBox="true"/>
            <p:nvPr/>
          </p:nvSpPr>
          <p:spPr>
            <a:xfrm>
              <a:off x="0" y="-28575"/>
              <a:ext cx="2438400" cy="516255"/>
            </a:xfrm>
            <a:prstGeom prst="rect">
              <a:avLst/>
            </a:prstGeom>
          </p:spPr>
          <p:txBody>
            <a:bodyPr anchor="ctr" rtlCol="false" tIns="0" lIns="0" bIns="0" rIns="0"/>
            <a:lstStyle/>
            <a:p>
              <a:pPr algn="ctr">
                <a:lnSpc>
                  <a:spcPts val="1919"/>
                </a:lnSpc>
              </a:pPr>
              <a:r>
                <a:rPr lang="en-US" sz="1599" b="true">
                  <a:solidFill>
                    <a:srgbClr val="E63946"/>
                  </a:solidFill>
                  <a:latin typeface="Calibri (MS) Bold"/>
                  <a:ea typeface="Calibri (MS) Bold"/>
                  <a:cs typeface="Calibri (MS) Bold"/>
                  <a:sym typeface="Calibri (MS) Bold"/>
                </a:rPr>
                <a:t>non vu ↓</a:t>
              </a:r>
            </a:p>
          </p:txBody>
        </p:sp>
      </p:grpSp>
      <p:grpSp>
        <p:nvGrpSpPr>
          <p:cNvPr name="Group 97" id="97"/>
          <p:cNvGrpSpPr/>
          <p:nvPr/>
        </p:nvGrpSpPr>
        <p:grpSpPr>
          <a:xfrm rot="0">
            <a:off x="10888573" y="1936656"/>
            <a:ext cx="2397757" cy="1666237"/>
            <a:chOff x="0" y="0"/>
            <a:chExt cx="3197009" cy="2221649"/>
          </a:xfrm>
        </p:grpSpPr>
        <p:sp>
          <p:nvSpPr>
            <p:cNvPr name="Freeform 98" id="98"/>
            <p:cNvSpPr/>
            <p:nvPr/>
          </p:nvSpPr>
          <p:spPr>
            <a:xfrm flipH="false" flipV="false" rot="0">
              <a:off x="13589" y="13589"/>
              <a:ext cx="3169920" cy="2194560"/>
            </a:xfrm>
            <a:custGeom>
              <a:avLst/>
              <a:gdLst/>
              <a:ahLst/>
              <a:cxnLst/>
              <a:rect r="r" b="b" t="t" l="l"/>
              <a:pathLst>
                <a:path h="2194560" w="3169920">
                  <a:moveTo>
                    <a:pt x="0" y="0"/>
                  </a:moveTo>
                  <a:lnTo>
                    <a:pt x="3169920" y="0"/>
                  </a:lnTo>
                  <a:lnTo>
                    <a:pt x="3169920" y="2194560"/>
                  </a:lnTo>
                  <a:lnTo>
                    <a:pt x="0" y="2194560"/>
                  </a:lnTo>
                  <a:close/>
                </a:path>
              </a:pathLst>
            </a:custGeom>
            <a:solidFill>
              <a:srgbClr val="E63946">
                <a:alpha val="5882"/>
              </a:srgbClr>
            </a:solidFill>
          </p:spPr>
        </p:sp>
        <p:sp>
          <p:nvSpPr>
            <p:cNvPr name="Freeform 99" id="99"/>
            <p:cNvSpPr/>
            <p:nvPr/>
          </p:nvSpPr>
          <p:spPr>
            <a:xfrm flipH="false" flipV="false" rot="0">
              <a:off x="0" y="0"/>
              <a:ext cx="3197098" cy="2221738"/>
            </a:xfrm>
            <a:custGeom>
              <a:avLst/>
              <a:gdLst/>
              <a:ahLst/>
              <a:cxnLst/>
              <a:rect r="r" b="b" t="t" l="l"/>
              <a:pathLst>
                <a:path h="2221738" w="3197098">
                  <a:moveTo>
                    <a:pt x="13589" y="0"/>
                  </a:moveTo>
                  <a:lnTo>
                    <a:pt x="3183509" y="0"/>
                  </a:lnTo>
                  <a:cubicBezTo>
                    <a:pt x="3191002" y="0"/>
                    <a:pt x="3197098" y="6096"/>
                    <a:pt x="3197098" y="13589"/>
                  </a:cubicBezTo>
                  <a:lnTo>
                    <a:pt x="3197098" y="2208149"/>
                  </a:lnTo>
                  <a:cubicBezTo>
                    <a:pt x="3197098" y="2215642"/>
                    <a:pt x="3191002" y="2221738"/>
                    <a:pt x="318350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3183509" y="2194560"/>
                  </a:lnTo>
                  <a:lnTo>
                    <a:pt x="3183509" y="2208149"/>
                  </a:lnTo>
                  <a:lnTo>
                    <a:pt x="3169920" y="2208149"/>
                  </a:lnTo>
                  <a:lnTo>
                    <a:pt x="3169920" y="13589"/>
                  </a:lnTo>
                  <a:lnTo>
                    <a:pt x="3183509" y="13589"/>
                  </a:lnTo>
                  <a:lnTo>
                    <a:pt x="3183509" y="27051"/>
                  </a:lnTo>
                  <a:lnTo>
                    <a:pt x="13589" y="27051"/>
                  </a:lnTo>
                  <a:close/>
                </a:path>
              </a:pathLst>
            </a:custGeom>
            <a:solidFill>
              <a:srgbClr val="E63946"/>
            </a:solidFill>
          </p:spPr>
        </p:sp>
      </p:grpSp>
      <p:grpSp>
        <p:nvGrpSpPr>
          <p:cNvPr name="Group 100" id="100"/>
          <p:cNvGrpSpPr/>
          <p:nvPr/>
        </p:nvGrpSpPr>
        <p:grpSpPr>
          <a:xfrm rot="0">
            <a:off x="10898736" y="2093124"/>
            <a:ext cx="2377440" cy="1371600"/>
            <a:chOff x="0" y="0"/>
            <a:chExt cx="3169920" cy="1828800"/>
          </a:xfrm>
        </p:grpSpPr>
        <p:sp>
          <p:nvSpPr>
            <p:cNvPr name="Freeform 101" id="101"/>
            <p:cNvSpPr/>
            <p:nvPr/>
          </p:nvSpPr>
          <p:spPr>
            <a:xfrm flipH="false" flipV="false" rot="0">
              <a:off x="0" y="0"/>
              <a:ext cx="3169920" cy="1828800"/>
            </a:xfrm>
            <a:custGeom>
              <a:avLst/>
              <a:gdLst/>
              <a:ahLst/>
              <a:cxnLst/>
              <a:rect r="r" b="b" t="t" l="l"/>
              <a:pathLst>
                <a:path h="1828800" w="3169920">
                  <a:moveTo>
                    <a:pt x="0" y="0"/>
                  </a:moveTo>
                  <a:lnTo>
                    <a:pt x="3169920" y="0"/>
                  </a:lnTo>
                  <a:lnTo>
                    <a:pt x="3169920" y="1828800"/>
                  </a:lnTo>
                  <a:lnTo>
                    <a:pt x="0" y="1828800"/>
                  </a:lnTo>
                  <a:close/>
                </a:path>
              </a:pathLst>
            </a:custGeom>
            <a:blipFill>
              <a:blip r:embed="rId3">
                <a:alphaModFix amt="0"/>
              </a:blip>
              <a:stretch>
                <a:fillRect l="-24021" t="0" r="-24021" b="0"/>
              </a:stretch>
            </a:blipFill>
          </p:spPr>
        </p:sp>
        <p:sp>
          <p:nvSpPr>
            <p:cNvPr name="TextBox 102" id="102"/>
            <p:cNvSpPr txBox="true"/>
            <p:nvPr/>
          </p:nvSpPr>
          <p:spPr>
            <a:xfrm>
              <a:off x="0" y="-47625"/>
              <a:ext cx="3169920" cy="1876425"/>
            </a:xfrm>
            <a:prstGeom prst="rect">
              <a:avLst/>
            </a:prstGeom>
          </p:spPr>
          <p:txBody>
            <a:bodyPr anchor="ctr" rtlCol="false" tIns="0" lIns="0" bIns="0" rIns="0"/>
            <a:lstStyle/>
            <a:p>
              <a:pPr algn="ctr">
                <a:lnSpc>
                  <a:spcPts val="2639"/>
                </a:lnSpc>
              </a:pPr>
              <a:r>
                <a:rPr lang="en-US" b="true" sz="2199">
                  <a:solidFill>
                    <a:srgbClr val="E63946"/>
                  </a:solidFill>
                  <a:latin typeface="Calibri (MS) Bold"/>
                  <a:ea typeface="Calibri (MS) Bold"/>
                  <a:cs typeface="Calibri (MS) Bold"/>
                  <a:sym typeface="Calibri (MS) Bold"/>
                </a:rPr>
                <a:t>OOB 1</a:t>
              </a:r>
            </a:p>
            <a:p>
              <a:pPr algn="ctr">
                <a:lnSpc>
                  <a:spcPts val="2639"/>
                </a:lnSpc>
              </a:pPr>
              <a:r>
                <a:rPr lang="en-US" b="true" sz="2199">
                  <a:solidFill>
                    <a:srgbClr val="E63946"/>
                  </a:solidFill>
                  <a:latin typeface="Calibri (MS) Bold"/>
                  <a:ea typeface="Calibri (MS) Bold"/>
                  <a:cs typeface="Calibri (MS) Bold"/>
                  <a:sym typeface="Calibri (MS) Bold"/>
                </a:rPr>
                <a:t>~37% non vus</a:t>
              </a:r>
            </a:p>
          </p:txBody>
        </p:sp>
      </p:grpSp>
      <p:grpSp>
        <p:nvGrpSpPr>
          <p:cNvPr name="Group 103" id="103"/>
          <p:cNvGrpSpPr/>
          <p:nvPr/>
        </p:nvGrpSpPr>
        <p:grpSpPr>
          <a:xfrm rot="0">
            <a:off x="10888573" y="4387248"/>
            <a:ext cx="2397757" cy="1666237"/>
            <a:chOff x="0" y="0"/>
            <a:chExt cx="3197009" cy="2221649"/>
          </a:xfrm>
        </p:grpSpPr>
        <p:sp>
          <p:nvSpPr>
            <p:cNvPr name="Freeform 104" id="104"/>
            <p:cNvSpPr/>
            <p:nvPr/>
          </p:nvSpPr>
          <p:spPr>
            <a:xfrm flipH="false" flipV="false" rot="0">
              <a:off x="13589" y="13589"/>
              <a:ext cx="3169920" cy="2194560"/>
            </a:xfrm>
            <a:custGeom>
              <a:avLst/>
              <a:gdLst/>
              <a:ahLst/>
              <a:cxnLst/>
              <a:rect r="r" b="b" t="t" l="l"/>
              <a:pathLst>
                <a:path h="2194560" w="3169920">
                  <a:moveTo>
                    <a:pt x="0" y="0"/>
                  </a:moveTo>
                  <a:lnTo>
                    <a:pt x="3169920" y="0"/>
                  </a:lnTo>
                  <a:lnTo>
                    <a:pt x="3169920" y="2194560"/>
                  </a:lnTo>
                  <a:lnTo>
                    <a:pt x="0" y="2194560"/>
                  </a:lnTo>
                  <a:close/>
                </a:path>
              </a:pathLst>
            </a:custGeom>
            <a:solidFill>
              <a:srgbClr val="E63946">
                <a:alpha val="5882"/>
              </a:srgbClr>
            </a:solidFill>
          </p:spPr>
        </p:sp>
        <p:sp>
          <p:nvSpPr>
            <p:cNvPr name="Freeform 105" id="105"/>
            <p:cNvSpPr/>
            <p:nvPr/>
          </p:nvSpPr>
          <p:spPr>
            <a:xfrm flipH="false" flipV="false" rot="0">
              <a:off x="0" y="0"/>
              <a:ext cx="3197098" cy="2221738"/>
            </a:xfrm>
            <a:custGeom>
              <a:avLst/>
              <a:gdLst/>
              <a:ahLst/>
              <a:cxnLst/>
              <a:rect r="r" b="b" t="t" l="l"/>
              <a:pathLst>
                <a:path h="2221738" w="3197098">
                  <a:moveTo>
                    <a:pt x="13589" y="0"/>
                  </a:moveTo>
                  <a:lnTo>
                    <a:pt x="3183509" y="0"/>
                  </a:lnTo>
                  <a:cubicBezTo>
                    <a:pt x="3191002" y="0"/>
                    <a:pt x="3197098" y="6096"/>
                    <a:pt x="3197098" y="13589"/>
                  </a:cubicBezTo>
                  <a:lnTo>
                    <a:pt x="3197098" y="2208149"/>
                  </a:lnTo>
                  <a:cubicBezTo>
                    <a:pt x="3197098" y="2215642"/>
                    <a:pt x="3191002" y="2221738"/>
                    <a:pt x="318350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3183509" y="2194560"/>
                  </a:lnTo>
                  <a:lnTo>
                    <a:pt x="3183509" y="2208149"/>
                  </a:lnTo>
                  <a:lnTo>
                    <a:pt x="3169920" y="2208149"/>
                  </a:lnTo>
                  <a:lnTo>
                    <a:pt x="3169920" y="13589"/>
                  </a:lnTo>
                  <a:lnTo>
                    <a:pt x="3183509" y="13589"/>
                  </a:lnTo>
                  <a:lnTo>
                    <a:pt x="3183509" y="27051"/>
                  </a:lnTo>
                  <a:lnTo>
                    <a:pt x="13589" y="27051"/>
                  </a:lnTo>
                  <a:close/>
                </a:path>
              </a:pathLst>
            </a:custGeom>
            <a:solidFill>
              <a:srgbClr val="E63946"/>
            </a:solidFill>
          </p:spPr>
        </p:sp>
      </p:grpSp>
      <p:grpSp>
        <p:nvGrpSpPr>
          <p:cNvPr name="Group 106" id="106"/>
          <p:cNvGrpSpPr/>
          <p:nvPr/>
        </p:nvGrpSpPr>
        <p:grpSpPr>
          <a:xfrm rot="0">
            <a:off x="10898736" y="4543716"/>
            <a:ext cx="2377440" cy="1371600"/>
            <a:chOff x="0" y="0"/>
            <a:chExt cx="3169920" cy="1828800"/>
          </a:xfrm>
        </p:grpSpPr>
        <p:sp>
          <p:nvSpPr>
            <p:cNvPr name="Freeform 107" id="107"/>
            <p:cNvSpPr/>
            <p:nvPr/>
          </p:nvSpPr>
          <p:spPr>
            <a:xfrm flipH="false" flipV="false" rot="0">
              <a:off x="0" y="0"/>
              <a:ext cx="3169920" cy="1828800"/>
            </a:xfrm>
            <a:custGeom>
              <a:avLst/>
              <a:gdLst/>
              <a:ahLst/>
              <a:cxnLst/>
              <a:rect r="r" b="b" t="t" l="l"/>
              <a:pathLst>
                <a:path h="1828800" w="3169920">
                  <a:moveTo>
                    <a:pt x="0" y="0"/>
                  </a:moveTo>
                  <a:lnTo>
                    <a:pt x="3169920" y="0"/>
                  </a:lnTo>
                  <a:lnTo>
                    <a:pt x="3169920" y="1828800"/>
                  </a:lnTo>
                  <a:lnTo>
                    <a:pt x="0" y="1828800"/>
                  </a:lnTo>
                  <a:close/>
                </a:path>
              </a:pathLst>
            </a:custGeom>
            <a:blipFill>
              <a:blip r:embed="rId3">
                <a:alphaModFix amt="0"/>
              </a:blip>
              <a:stretch>
                <a:fillRect l="-24021" t="0" r="-24021" b="0"/>
              </a:stretch>
            </a:blipFill>
          </p:spPr>
        </p:sp>
        <p:sp>
          <p:nvSpPr>
            <p:cNvPr name="TextBox 108" id="108"/>
            <p:cNvSpPr txBox="true"/>
            <p:nvPr/>
          </p:nvSpPr>
          <p:spPr>
            <a:xfrm>
              <a:off x="0" y="-47625"/>
              <a:ext cx="3169920" cy="1876425"/>
            </a:xfrm>
            <a:prstGeom prst="rect">
              <a:avLst/>
            </a:prstGeom>
          </p:spPr>
          <p:txBody>
            <a:bodyPr anchor="ctr" rtlCol="false" tIns="0" lIns="0" bIns="0" rIns="0"/>
            <a:lstStyle/>
            <a:p>
              <a:pPr algn="ctr">
                <a:lnSpc>
                  <a:spcPts val="2639"/>
                </a:lnSpc>
              </a:pPr>
              <a:r>
                <a:rPr lang="en-US" sz="2199" b="true">
                  <a:solidFill>
                    <a:srgbClr val="E63946"/>
                  </a:solidFill>
                  <a:latin typeface="Calibri (MS) Bold"/>
                  <a:ea typeface="Calibri (MS) Bold"/>
                  <a:cs typeface="Calibri (MS) Bold"/>
                  <a:sym typeface="Calibri (MS) Bold"/>
                </a:rPr>
                <a:t>OOB 2</a:t>
              </a:r>
            </a:p>
            <a:p>
              <a:pPr algn="ctr">
                <a:lnSpc>
                  <a:spcPts val="2639"/>
                </a:lnSpc>
              </a:pPr>
              <a:r>
                <a:rPr lang="en-US" sz="2199" b="true">
                  <a:solidFill>
                    <a:srgbClr val="E63946"/>
                  </a:solidFill>
                  <a:latin typeface="Calibri (MS) Bold"/>
                  <a:ea typeface="Calibri (MS) Bold"/>
                  <a:cs typeface="Calibri (MS) Bold"/>
                  <a:sym typeface="Calibri (MS) Bold"/>
                </a:rPr>
                <a:t>~37% non vus</a:t>
              </a:r>
            </a:p>
          </p:txBody>
        </p:sp>
      </p:grpSp>
      <p:grpSp>
        <p:nvGrpSpPr>
          <p:cNvPr name="Group 109" id="109"/>
          <p:cNvGrpSpPr/>
          <p:nvPr/>
        </p:nvGrpSpPr>
        <p:grpSpPr>
          <a:xfrm rot="0">
            <a:off x="10888573" y="6819552"/>
            <a:ext cx="2397757" cy="1666237"/>
            <a:chOff x="0" y="0"/>
            <a:chExt cx="3197009" cy="2221649"/>
          </a:xfrm>
        </p:grpSpPr>
        <p:sp>
          <p:nvSpPr>
            <p:cNvPr name="Freeform 110" id="110"/>
            <p:cNvSpPr/>
            <p:nvPr/>
          </p:nvSpPr>
          <p:spPr>
            <a:xfrm flipH="false" flipV="false" rot="0">
              <a:off x="13589" y="13589"/>
              <a:ext cx="3169920" cy="2194560"/>
            </a:xfrm>
            <a:custGeom>
              <a:avLst/>
              <a:gdLst/>
              <a:ahLst/>
              <a:cxnLst/>
              <a:rect r="r" b="b" t="t" l="l"/>
              <a:pathLst>
                <a:path h="2194560" w="3169920">
                  <a:moveTo>
                    <a:pt x="0" y="0"/>
                  </a:moveTo>
                  <a:lnTo>
                    <a:pt x="3169920" y="0"/>
                  </a:lnTo>
                  <a:lnTo>
                    <a:pt x="3169920" y="2194560"/>
                  </a:lnTo>
                  <a:lnTo>
                    <a:pt x="0" y="2194560"/>
                  </a:lnTo>
                  <a:close/>
                </a:path>
              </a:pathLst>
            </a:custGeom>
            <a:solidFill>
              <a:srgbClr val="E63946">
                <a:alpha val="5882"/>
              </a:srgbClr>
            </a:solidFill>
          </p:spPr>
        </p:sp>
        <p:sp>
          <p:nvSpPr>
            <p:cNvPr name="Freeform 111" id="111"/>
            <p:cNvSpPr/>
            <p:nvPr/>
          </p:nvSpPr>
          <p:spPr>
            <a:xfrm flipH="false" flipV="false" rot="0">
              <a:off x="0" y="0"/>
              <a:ext cx="3197098" cy="2221738"/>
            </a:xfrm>
            <a:custGeom>
              <a:avLst/>
              <a:gdLst/>
              <a:ahLst/>
              <a:cxnLst/>
              <a:rect r="r" b="b" t="t" l="l"/>
              <a:pathLst>
                <a:path h="2221738" w="3197098">
                  <a:moveTo>
                    <a:pt x="13589" y="0"/>
                  </a:moveTo>
                  <a:lnTo>
                    <a:pt x="3183509" y="0"/>
                  </a:lnTo>
                  <a:cubicBezTo>
                    <a:pt x="3191002" y="0"/>
                    <a:pt x="3197098" y="6096"/>
                    <a:pt x="3197098" y="13589"/>
                  </a:cubicBezTo>
                  <a:lnTo>
                    <a:pt x="3197098" y="2208149"/>
                  </a:lnTo>
                  <a:cubicBezTo>
                    <a:pt x="3197098" y="2215642"/>
                    <a:pt x="3191002" y="2221738"/>
                    <a:pt x="318350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3183509" y="2194560"/>
                  </a:lnTo>
                  <a:lnTo>
                    <a:pt x="3183509" y="2208149"/>
                  </a:lnTo>
                  <a:lnTo>
                    <a:pt x="3169920" y="2208149"/>
                  </a:lnTo>
                  <a:lnTo>
                    <a:pt x="3169920" y="13589"/>
                  </a:lnTo>
                  <a:lnTo>
                    <a:pt x="3183509" y="13589"/>
                  </a:lnTo>
                  <a:lnTo>
                    <a:pt x="3183509" y="27051"/>
                  </a:lnTo>
                  <a:lnTo>
                    <a:pt x="13589" y="27051"/>
                  </a:lnTo>
                  <a:close/>
                </a:path>
              </a:pathLst>
            </a:custGeom>
            <a:solidFill>
              <a:srgbClr val="E63946"/>
            </a:solidFill>
          </p:spPr>
        </p:sp>
      </p:grpSp>
      <p:grpSp>
        <p:nvGrpSpPr>
          <p:cNvPr name="Group 112" id="112"/>
          <p:cNvGrpSpPr/>
          <p:nvPr/>
        </p:nvGrpSpPr>
        <p:grpSpPr>
          <a:xfrm rot="0">
            <a:off x="10898736" y="6976020"/>
            <a:ext cx="2377440" cy="1371600"/>
            <a:chOff x="0" y="0"/>
            <a:chExt cx="3169920" cy="1828800"/>
          </a:xfrm>
        </p:grpSpPr>
        <p:sp>
          <p:nvSpPr>
            <p:cNvPr name="Freeform 113" id="113"/>
            <p:cNvSpPr/>
            <p:nvPr/>
          </p:nvSpPr>
          <p:spPr>
            <a:xfrm flipH="false" flipV="false" rot="0">
              <a:off x="0" y="0"/>
              <a:ext cx="3169920" cy="1828800"/>
            </a:xfrm>
            <a:custGeom>
              <a:avLst/>
              <a:gdLst/>
              <a:ahLst/>
              <a:cxnLst/>
              <a:rect r="r" b="b" t="t" l="l"/>
              <a:pathLst>
                <a:path h="1828800" w="3169920">
                  <a:moveTo>
                    <a:pt x="0" y="0"/>
                  </a:moveTo>
                  <a:lnTo>
                    <a:pt x="3169920" y="0"/>
                  </a:lnTo>
                  <a:lnTo>
                    <a:pt x="3169920" y="1828800"/>
                  </a:lnTo>
                  <a:lnTo>
                    <a:pt x="0" y="1828800"/>
                  </a:lnTo>
                  <a:close/>
                </a:path>
              </a:pathLst>
            </a:custGeom>
            <a:blipFill>
              <a:blip r:embed="rId3">
                <a:alphaModFix amt="0"/>
              </a:blip>
              <a:stretch>
                <a:fillRect l="-24021" t="0" r="-24021" b="0"/>
              </a:stretch>
            </a:blipFill>
          </p:spPr>
        </p:sp>
        <p:sp>
          <p:nvSpPr>
            <p:cNvPr name="TextBox 114" id="114"/>
            <p:cNvSpPr txBox="true"/>
            <p:nvPr/>
          </p:nvSpPr>
          <p:spPr>
            <a:xfrm>
              <a:off x="0" y="-47625"/>
              <a:ext cx="3169920" cy="1876425"/>
            </a:xfrm>
            <a:prstGeom prst="rect">
              <a:avLst/>
            </a:prstGeom>
          </p:spPr>
          <p:txBody>
            <a:bodyPr anchor="ctr" rtlCol="false" tIns="0" lIns="0" bIns="0" rIns="0"/>
            <a:lstStyle/>
            <a:p>
              <a:pPr algn="ctr">
                <a:lnSpc>
                  <a:spcPts val="2639"/>
                </a:lnSpc>
              </a:pPr>
              <a:r>
                <a:rPr lang="en-US" sz="2199" b="true">
                  <a:solidFill>
                    <a:srgbClr val="E63946"/>
                  </a:solidFill>
                  <a:latin typeface="Calibri (MS) Bold"/>
                  <a:ea typeface="Calibri (MS) Bold"/>
                  <a:cs typeface="Calibri (MS) Bold"/>
                  <a:sym typeface="Calibri (MS) Bold"/>
                </a:rPr>
                <a:t>OOB K</a:t>
              </a:r>
            </a:p>
            <a:p>
              <a:pPr algn="ctr">
                <a:lnSpc>
                  <a:spcPts val="2639"/>
                </a:lnSpc>
              </a:pPr>
              <a:r>
                <a:rPr lang="en-US" sz="2199" b="true">
                  <a:solidFill>
                    <a:srgbClr val="E63946"/>
                  </a:solidFill>
                  <a:latin typeface="Calibri (MS) Bold"/>
                  <a:ea typeface="Calibri (MS) Bold"/>
                  <a:cs typeface="Calibri (MS) Bold"/>
                  <a:sym typeface="Calibri (MS) Bold"/>
                </a:rPr>
                <a:t>~37% non vus</a:t>
              </a:r>
            </a:p>
          </p:txBody>
        </p:sp>
      </p:grpSp>
      <p:grpSp>
        <p:nvGrpSpPr>
          <p:cNvPr name="Group 115" id="115"/>
          <p:cNvGrpSpPr/>
          <p:nvPr/>
        </p:nvGrpSpPr>
        <p:grpSpPr>
          <a:xfrm rot="0">
            <a:off x="10935312" y="6226212"/>
            <a:ext cx="2286000" cy="581118"/>
            <a:chOff x="0" y="0"/>
            <a:chExt cx="3048000" cy="774824"/>
          </a:xfrm>
        </p:grpSpPr>
        <p:sp>
          <p:nvSpPr>
            <p:cNvPr name="Freeform 116" id="116"/>
            <p:cNvSpPr/>
            <p:nvPr/>
          </p:nvSpPr>
          <p:spPr>
            <a:xfrm flipH="false" flipV="false" rot="0">
              <a:off x="0" y="0"/>
              <a:ext cx="3048000" cy="774824"/>
            </a:xfrm>
            <a:custGeom>
              <a:avLst/>
              <a:gdLst/>
              <a:ahLst/>
              <a:cxnLst/>
              <a:rect r="r" b="b" t="t" l="l"/>
              <a:pathLst>
                <a:path h="774824" w="3048000">
                  <a:moveTo>
                    <a:pt x="0" y="0"/>
                  </a:moveTo>
                  <a:lnTo>
                    <a:pt x="3048000" y="0"/>
                  </a:lnTo>
                  <a:lnTo>
                    <a:pt x="3048000" y="774824"/>
                  </a:lnTo>
                  <a:lnTo>
                    <a:pt x="0" y="774824"/>
                  </a:lnTo>
                  <a:close/>
                </a:path>
              </a:pathLst>
            </a:custGeom>
            <a:blipFill>
              <a:blip r:embed="rId3">
                <a:alphaModFix amt="0"/>
              </a:blip>
              <a:stretch>
                <a:fillRect l="0" t="-37312" r="0" b="-15988"/>
              </a:stretch>
            </a:blipFill>
          </p:spPr>
        </p:sp>
        <p:sp>
          <p:nvSpPr>
            <p:cNvPr name="TextBox 117" id="117"/>
            <p:cNvSpPr txBox="true"/>
            <p:nvPr/>
          </p:nvSpPr>
          <p:spPr>
            <a:xfrm>
              <a:off x="0" y="-57150"/>
              <a:ext cx="3048000" cy="831974"/>
            </a:xfrm>
            <a:prstGeom prst="rect">
              <a:avLst/>
            </a:prstGeom>
          </p:spPr>
          <p:txBody>
            <a:bodyPr anchor="ctr" rtlCol="false" tIns="0" lIns="0" bIns="0" rIns="0"/>
            <a:lstStyle/>
            <a:p>
              <a:pPr algn="ctr">
                <a:lnSpc>
                  <a:spcPts val="3480"/>
                </a:lnSpc>
              </a:pPr>
              <a:r>
                <a:rPr lang="en-US" sz="2900">
                  <a:solidFill>
                    <a:srgbClr val="6B8F6B"/>
                  </a:solidFill>
                  <a:latin typeface="Calibri (MS)"/>
                  <a:ea typeface="Calibri (MS)"/>
                  <a:cs typeface="Calibri (MS)"/>
                  <a:sym typeface="Calibri (MS)"/>
                </a:rPr>
                <a:t>· · ·</a:t>
              </a:r>
            </a:p>
          </p:txBody>
        </p:sp>
      </p:grpSp>
      <p:grpSp>
        <p:nvGrpSpPr>
          <p:cNvPr name="Group 118" id="118"/>
          <p:cNvGrpSpPr/>
          <p:nvPr/>
        </p:nvGrpSpPr>
        <p:grpSpPr>
          <a:xfrm rot="0">
            <a:off x="14288519" y="2613312"/>
            <a:ext cx="3408683" cy="5292347"/>
            <a:chOff x="0" y="0"/>
            <a:chExt cx="4544911" cy="7056463"/>
          </a:xfrm>
        </p:grpSpPr>
        <p:sp>
          <p:nvSpPr>
            <p:cNvPr name="Freeform 119" id="119"/>
            <p:cNvSpPr/>
            <p:nvPr/>
          </p:nvSpPr>
          <p:spPr>
            <a:xfrm flipH="false" flipV="false" rot="0">
              <a:off x="16891" y="16891"/>
              <a:ext cx="4511040" cy="7022592"/>
            </a:xfrm>
            <a:custGeom>
              <a:avLst/>
              <a:gdLst/>
              <a:ahLst/>
              <a:cxnLst/>
              <a:rect r="r" b="b" t="t" l="l"/>
              <a:pathLst>
                <a:path h="7022592" w="4511040">
                  <a:moveTo>
                    <a:pt x="0" y="0"/>
                  </a:moveTo>
                  <a:lnTo>
                    <a:pt x="4511040" y="0"/>
                  </a:lnTo>
                  <a:lnTo>
                    <a:pt x="4511040" y="7022592"/>
                  </a:lnTo>
                  <a:lnTo>
                    <a:pt x="0" y="7022592"/>
                  </a:lnTo>
                  <a:close/>
                </a:path>
              </a:pathLst>
            </a:custGeom>
            <a:solidFill>
              <a:srgbClr val="1A2E1A"/>
            </a:solidFill>
          </p:spPr>
        </p:sp>
        <p:sp>
          <p:nvSpPr>
            <p:cNvPr name="Freeform 120" id="120"/>
            <p:cNvSpPr/>
            <p:nvPr/>
          </p:nvSpPr>
          <p:spPr>
            <a:xfrm flipH="false" flipV="false" rot="0">
              <a:off x="0" y="0"/>
              <a:ext cx="4544822" cy="7056374"/>
            </a:xfrm>
            <a:custGeom>
              <a:avLst/>
              <a:gdLst/>
              <a:ahLst/>
              <a:cxnLst/>
              <a:rect r="r" b="b" t="t" l="l"/>
              <a:pathLst>
                <a:path h="7056374" w="4544822">
                  <a:moveTo>
                    <a:pt x="16891" y="0"/>
                  </a:moveTo>
                  <a:lnTo>
                    <a:pt x="4527931" y="0"/>
                  </a:lnTo>
                  <a:cubicBezTo>
                    <a:pt x="4537329" y="0"/>
                    <a:pt x="4544822" y="7620"/>
                    <a:pt x="4544822" y="16891"/>
                  </a:cubicBezTo>
                  <a:lnTo>
                    <a:pt x="4544822" y="7039483"/>
                  </a:lnTo>
                  <a:cubicBezTo>
                    <a:pt x="4544822" y="7048881"/>
                    <a:pt x="4537202" y="7056374"/>
                    <a:pt x="4527931" y="7056374"/>
                  </a:cubicBezTo>
                  <a:lnTo>
                    <a:pt x="16891" y="7056374"/>
                  </a:lnTo>
                  <a:cubicBezTo>
                    <a:pt x="7493" y="7056374"/>
                    <a:pt x="0" y="7048753"/>
                    <a:pt x="0" y="7039483"/>
                  </a:cubicBezTo>
                  <a:lnTo>
                    <a:pt x="0" y="16891"/>
                  </a:lnTo>
                  <a:cubicBezTo>
                    <a:pt x="0" y="7620"/>
                    <a:pt x="7620" y="0"/>
                    <a:pt x="16891" y="0"/>
                  </a:cubicBezTo>
                  <a:moveTo>
                    <a:pt x="16891" y="33909"/>
                  </a:moveTo>
                  <a:lnTo>
                    <a:pt x="16891" y="16891"/>
                  </a:lnTo>
                  <a:lnTo>
                    <a:pt x="33909" y="16891"/>
                  </a:lnTo>
                  <a:lnTo>
                    <a:pt x="33909" y="7039483"/>
                  </a:lnTo>
                  <a:lnTo>
                    <a:pt x="16891" y="7039483"/>
                  </a:lnTo>
                  <a:lnTo>
                    <a:pt x="16891" y="7022592"/>
                  </a:lnTo>
                  <a:lnTo>
                    <a:pt x="4527931" y="7022592"/>
                  </a:lnTo>
                  <a:lnTo>
                    <a:pt x="4527931" y="7039483"/>
                  </a:lnTo>
                  <a:lnTo>
                    <a:pt x="4511040" y="7039483"/>
                  </a:lnTo>
                  <a:lnTo>
                    <a:pt x="4511040" y="16891"/>
                  </a:lnTo>
                  <a:lnTo>
                    <a:pt x="4527931" y="16891"/>
                  </a:lnTo>
                  <a:lnTo>
                    <a:pt x="4527931" y="33909"/>
                  </a:lnTo>
                  <a:lnTo>
                    <a:pt x="16891" y="33909"/>
                  </a:lnTo>
                  <a:close/>
                </a:path>
              </a:pathLst>
            </a:custGeom>
            <a:solidFill>
              <a:srgbClr val="52B788"/>
            </a:solidFill>
          </p:spPr>
        </p:sp>
      </p:grpSp>
      <p:grpSp>
        <p:nvGrpSpPr>
          <p:cNvPr name="Group 121" id="121"/>
          <p:cNvGrpSpPr/>
          <p:nvPr/>
        </p:nvGrpSpPr>
        <p:grpSpPr>
          <a:xfrm rot="0">
            <a:off x="14288519" y="2613312"/>
            <a:ext cx="3408683" cy="135131"/>
            <a:chOff x="0" y="0"/>
            <a:chExt cx="4544911" cy="180175"/>
          </a:xfrm>
        </p:grpSpPr>
        <p:sp>
          <p:nvSpPr>
            <p:cNvPr name="Freeform 122" id="122"/>
            <p:cNvSpPr/>
            <p:nvPr/>
          </p:nvSpPr>
          <p:spPr>
            <a:xfrm flipH="false" flipV="false" rot="0">
              <a:off x="16891" y="16891"/>
              <a:ext cx="4511040" cy="146304"/>
            </a:xfrm>
            <a:custGeom>
              <a:avLst/>
              <a:gdLst/>
              <a:ahLst/>
              <a:cxnLst/>
              <a:rect r="r" b="b" t="t" l="l"/>
              <a:pathLst>
                <a:path h="146304" w="4511040">
                  <a:moveTo>
                    <a:pt x="0" y="0"/>
                  </a:moveTo>
                  <a:lnTo>
                    <a:pt x="4511040" y="0"/>
                  </a:lnTo>
                  <a:lnTo>
                    <a:pt x="4511040" y="146304"/>
                  </a:lnTo>
                  <a:lnTo>
                    <a:pt x="0" y="146304"/>
                  </a:lnTo>
                  <a:close/>
                </a:path>
              </a:pathLst>
            </a:custGeom>
            <a:solidFill>
              <a:srgbClr val="52B788"/>
            </a:solidFill>
          </p:spPr>
        </p:sp>
        <p:sp>
          <p:nvSpPr>
            <p:cNvPr name="Freeform 123" id="123"/>
            <p:cNvSpPr/>
            <p:nvPr/>
          </p:nvSpPr>
          <p:spPr>
            <a:xfrm flipH="false" flipV="false" rot="0">
              <a:off x="0" y="0"/>
              <a:ext cx="4544822" cy="180088"/>
            </a:xfrm>
            <a:custGeom>
              <a:avLst/>
              <a:gdLst/>
              <a:ahLst/>
              <a:cxnLst/>
              <a:rect r="r" b="b" t="t" l="l"/>
              <a:pathLst>
                <a:path h="180088" w="4544822">
                  <a:moveTo>
                    <a:pt x="16891" y="0"/>
                  </a:moveTo>
                  <a:lnTo>
                    <a:pt x="4527931" y="0"/>
                  </a:lnTo>
                  <a:cubicBezTo>
                    <a:pt x="4537329" y="0"/>
                    <a:pt x="4544822" y="7620"/>
                    <a:pt x="4544822" y="16891"/>
                  </a:cubicBezTo>
                  <a:lnTo>
                    <a:pt x="4544822" y="163195"/>
                  </a:lnTo>
                  <a:cubicBezTo>
                    <a:pt x="4544822" y="172593"/>
                    <a:pt x="4537202" y="180086"/>
                    <a:pt x="4527931"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4527931" y="146304"/>
                  </a:lnTo>
                  <a:lnTo>
                    <a:pt x="4527931" y="163195"/>
                  </a:lnTo>
                  <a:lnTo>
                    <a:pt x="4511040" y="163195"/>
                  </a:lnTo>
                  <a:lnTo>
                    <a:pt x="4511040" y="16891"/>
                  </a:lnTo>
                  <a:lnTo>
                    <a:pt x="4527931" y="16891"/>
                  </a:lnTo>
                  <a:lnTo>
                    <a:pt x="4527931" y="33909"/>
                  </a:lnTo>
                  <a:lnTo>
                    <a:pt x="16891" y="33909"/>
                  </a:lnTo>
                  <a:close/>
                </a:path>
              </a:pathLst>
            </a:custGeom>
            <a:solidFill>
              <a:srgbClr val="52B788"/>
            </a:solidFill>
          </p:spPr>
        </p:sp>
      </p:grpSp>
      <p:grpSp>
        <p:nvGrpSpPr>
          <p:cNvPr name="Group 124" id="124"/>
          <p:cNvGrpSpPr/>
          <p:nvPr/>
        </p:nvGrpSpPr>
        <p:grpSpPr>
          <a:xfrm rot="0">
            <a:off x="14301216" y="2808889"/>
            <a:ext cx="3383280" cy="950976"/>
            <a:chOff x="0" y="0"/>
            <a:chExt cx="4511040" cy="1267968"/>
          </a:xfrm>
        </p:grpSpPr>
        <p:sp>
          <p:nvSpPr>
            <p:cNvPr name="Freeform 125" id="125"/>
            <p:cNvSpPr/>
            <p:nvPr/>
          </p:nvSpPr>
          <p:spPr>
            <a:xfrm flipH="false" flipV="false" rot="0">
              <a:off x="0" y="0"/>
              <a:ext cx="4511040" cy="1267968"/>
            </a:xfrm>
            <a:custGeom>
              <a:avLst/>
              <a:gdLst/>
              <a:ahLst/>
              <a:cxnLst/>
              <a:rect r="r" b="b" t="t" l="l"/>
              <a:pathLst>
                <a:path h="1267968" w="4511040">
                  <a:moveTo>
                    <a:pt x="0" y="0"/>
                  </a:moveTo>
                  <a:lnTo>
                    <a:pt x="4511040" y="0"/>
                  </a:lnTo>
                  <a:lnTo>
                    <a:pt x="4511040" y="1267968"/>
                  </a:lnTo>
                  <a:lnTo>
                    <a:pt x="0" y="1267968"/>
                  </a:lnTo>
                  <a:close/>
                </a:path>
              </a:pathLst>
            </a:custGeom>
            <a:blipFill>
              <a:blip r:embed="rId3">
                <a:alphaModFix amt="0"/>
              </a:blip>
              <a:stretch>
                <a:fillRect l="0" t="-19321" r="0" b="-19321"/>
              </a:stretch>
            </a:blipFill>
          </p:spPr>
        </p:sp>
        <p:sp>
          <p:nvSpPr>
            <p:cNvPr name="TextBox 126" id="126"/>
            <p:cNvSpPr txBox="true"/>
            <p:nvPr/>
          </p:nvSpPr>
          <p:spPr>
            <a:xfrm>
              <a:off x="0" y="-47625"/>
              <a:ext cx="4511040" cy="1315593"/>
            </a:xfrm>
            <a:prstGeom prst="rect">
              <a:avLst/>
            </a:prstGeom>
          </p:spPr>
          <p:txBody>
            <a:bodyPr anchor="ctr" rtlCol="false" tIns="0" lIns="0" bIns="0" rIns="0"/>
            <a:lstStyle/>
            <a:p>
              <a:pPr algn="ctr">
                <a:lnSpc>
                  <a:spcPts val="2760"/>
                </a:lnSpc>
              </a:pPr>
              <a:r>
                <a:rPr lang="en-US" sz="2300" b="true">
                  <a:solidFill>
                    <a:srgbClr val="52B788"/>
                  </a:solidFill>
                  <a:latin typeface="Calibri (MS) Bold"/>
                  <a:ea typeface="Calibri (MS) Bold"/>
                  <a:cs typeface="Calibri (MS) Bold"/>
                  <a:sym typeface="Calibri (MS) Bold"/>
                </a:rPr>
                <a:t>Validation</a:t>
              </a:r>
            </a:p>
            <a:p>
              <a:pPr algn="ctr">
                <a:lnSpc>
                  <a:spcPts val="2760"/>
                </a:lnSpc>
              </a:pPr>
              <a:r>
                <a:rPr lang="en-US" sz="2300" b="true">
                  <a:solidFill>
                    <a:srgbClr val="52B788"/>
                  </a:solidFill>
                  <a:latin typeface="Calibri (MS) Bold"/>
                  <a:ea typeface="Calibri (MS) Bold"/>
                  <a:cs typeface="Calibri (MS) Bold"/>
                  <a:sym typeface="Calibri (MS) Bold"/>
                </a:rPr>
                <a:t>OOB</a:t>
              </a:r>
            </a:p>
          </p:txBody>
        </p:sp>
      </p:grpSp>
      <p:grpSp>
        <p:nvGrpSpPr>
          <p:cNvPr name="Group 127" id="127"/>
          <p:cNvGrpSpPr/>
          <p:nvPr/>
        </p:nvGrpSpPr>
        <p:grpSpPr>
          <a:xfrm rot="0">
            <a:off x="14471399" y="3948336"/>
            <a:ext cx="3042923" cy="1159259"/>
            <a:chOff x="0" y="0"/>
            <a:chExt cx="4057231" cy="1545679"/>
          </a:xfrm>
        </p:grpSpPr>
        <p:sp>
          <p:nvSpPr>
            <p:cNvPr name="Freeform 128" id="128"/>
            <p:cNvSpPr/>
            <p:nvPr/>
          </p:nvSpPr>
          <p:spPr>
            <a:xfrm flipH="false" flipV="false" rot="0">
              <a:off x="16891" y="16891"/>
              <a:ext cx="4023360" cy="1511808"/>
            </a:xfrm>
            <a:custGeom>
              <a:avLst/>
              <a:gdLst/>
              <a:ahLst/>
              <a:cxnLst/>
              <a:rect r="r" b="b" t="t" l="l"/>
              <a:pathLst>
                <a:path h="1511808" w="4023360">
                  <a:moveTo>
                    <a:pt x="0" y="0"/>
                  </a:moveTo>
                  <a:lnTo>
                    <a:pt x="4023360" y="0"/>
                  </a:lnTo>
                  <a:lnTo>
                    <a:pt x="4023360" y="1511808"/>
                  </a:lnTo>
                  <a:lnTo>
                    <a:pt x="0" y="1511808"/>
                  </a:lnTo>
                  <a:close/>
                </a:path>
              </a:pathLst>
            </a:custGeom>
            <a:solidFill>
              <a:srgbClr val="E63946">
                <a:alpha val="3922"/>
              </a:srgbClr>
            </a:solidFill>
          </p:spPr>
        </p:sp>
        <p:sp>
          <p:nvSpPr>
            <p:cNvPr name="Freeform 129" id="129"/>
            <p:cNvSpPr/>
            <p:nvPr/>
          </p:nvSpPr>
          <p:spPr>
            <a:xfrm flipH="false" flipV="false" rot="0">
              <a:off x="0" y="0"/>
              <a:ext cx="4057142" cy="1545590"/>
            </a:xfrm>
            <a:custGeom>
              <a:avLst/>
              <a:gdLst/>
              <a:ahLst/>
              <a:cxnLst/>
              <a:rect r="r" b="b" t="t" l="l"/>
              <a:pathLst>
                <a:path h="1545590" w="4057142">
                  <a:moveTo>
                    <a:pt x="16891" y="0"/>
                  </a:moveTo>
                  <a:lnTo>
                    <a:pt x="4040251" y="0"/>
                  </a:lnTo>
                  <a:cubicBezTo>
                    <a:pt x="4049649" y="0"/>
                    <a:pt x="4057142" y="7620"/>
                    <a:pt x="4057142" y="16891"/>
                  </a:cubicBezTo>
                  <a:lnTo>
                    <a:pt x="4057142" y="1528699"/>
                  </a:lnTo>
                  <a:cubicBezTo>
                    <a:pt x="4057142" y="1538097"/>
                    <a:pt x="4049522" y="1545590"/>
                    <a:pt x="40402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4040251" y="1511808"/>
                  </a:lnTo>
                  <a:lnTo>
                    <a:pt x="4040251" y="1528699"/>
                  </a:lnTo>
                  <a:lnTo>
                    <a:pt x="4023360" y="1528699"/>
                  </a:lnTo>
                  <a:lnTo>
                    <a:pt x="4023360" y="16891"/>
                  </a:lnTo>
                  <a:lnTo>
                    <a:pt x="4040251" y="16891"/>
                  </a:lnTo>
                  <a:lnTo>
                    <a:pt x="4040251" y="33909"/>
                  </a:lnTo>
                  <a:lnTo>
                    <a:pt x="16891" y="33909"/>
                  </a:lnTo>
                  <a:close/>
                </a:path>
              </a:pathLst>
            </a:custGeom>
            <a:solidFill>
              <a:srgbClr val="E63946"/>
            </a:solidFill>
          </p:spPr>
        </p:sp>
      </p:grpSp>
      <p:grpSp>
        <p:nvGrpSpPr>
          <p:cNvPr name="Group 130" id="130"/>
          <p:cNvGrpSpPr/>
          <p:nvPr/>
        </p:nvGrpSpPr>
        <p:grpSpPr>
          <a:xfrm rot="0">
            <a:off x="14484096" y="4034185"/>
            <a:ext cx="1005840" cy="987552"/>
            <a:chOff x="0" y="0"/>
            <a:chExt cx="1341120" cy="1316736"/>
          </a:xfrm>
        </p:grpSpPr>
        <p:sp>
          <p:nvSpPr>
            <p:cNvPr name="Freeform 131" id="131"/>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3">
                <a:alphaModFix amt="0"/>
              </a:blip>
              <a:stretch>
                <a:fillRect l="-75970" t="0" r="-75970" b="0"/>
              </a:stretch>
            </a:blipFill>
          </p:spPr>
        </p:sp>
        <p:sp>
          <p:nvSpPr>
            <p:cNvPr name="TextBox 132" id="132"/>
            <p:cNvSpPr txBox="true"/>
            <p:nvPr/>
          </p:nvSpPr>
          <p:spPr>
            <a:xfrm>
              <a:off x="0" y="-66675"/>
              <a:ext cx="1341120" cy="1383411"/>
            </a:xfrm>
            <a:prstGeom prst="rect">
              <a:avLst/>
            </a:prstGeom>
          </p:spPr>
          <p:txBody>
            <a:bodyPr anchor="ctr" rtlCol="false" tIns="0" lIns="0" bIns="0" rIns="0"/>
            <a:lstStyle/>
            <a:p>
              <a:pPr algn="ctr">
                <a:lnSpc>
                  <a:spcPts val="3960"/>
                </a:lnSpc>
              </a:pPr>
              <a:r>
                <a:rPr lang="en-US" sz="3300" b="true">
                  <a:solidFill>
                    <a:srgbClr val="E63946"/>
                  </a:solidFill>
                  <a:latin typeface="Calibri (MS) Bold"/>
                  <a:ea typeface="Calibri (MS) Bold"/>
                  <a:cs typeface="Calibri (MS) Bold"/>
                  <a:sym typeface="Calibri (MS) Bold"/>
                </a:rPr>
                <a:t>~37%</a:t>
              </a:r>
            </a:p>
          </p:txBody>
        </p:sp>
      </p:grpSp>
      <p:grpSp>
        <p:nvGrpSpPr>
          <p:cNvPr name="Group 133" id="133"/>
          <p:cNvGrpSpPr/>
          <p:nvPr/>
        </p:nvGrpSpPr>
        <p:grpSpPr>
          <a:xfrm rot="0">
            <a:off x="15544800" y="4107337"/>
            <a:ext cx="1865376" cy="877824"/>
            <a:chOff x="0" y="0"/>
            <a:chExt cx="2487168" cy="1170432"/>
          </a:xfrm>
        </p:grpSpPr>
        <p:sp>
          <p:nvSpPr>
            <p:cNvPr name="Freeform 134" id="134"/>
            <p:cNvSpPr/>
            <p:nvPr/>
          </p:nvSpPr>
          <p:spPr>
            <a:xfrm flipH="false" flipV="false" rot="0">
              <a:off x="0" y="0"/>
              <a:ext cx="2487168" cy="1170432"/>
            </a:xfrm>
            <a:custGeom>
              <a:avLst/>
              <a:gdLst/>
              <a:ahLst/>
              <a:cxnLst/>
              <a:rect r="r" b="b" t="t" l="l"/>
              <a:pathLst>
                <a:path h="1170432" w="2487168">
                  <a:moveTo>
                    <a:pt x="0" y="0"/>
                  </a:moveTo>
                  <a:lnTo>
                    <a:pt x="2487168" y="0"/>
                  </a:lnTo>
                  <a:lnTo>
                    <a:pt x="2487168" y="1170432"/>
                  </a:lnTo>
                  <a:lnTo>
                    <a:pt x="0" y="1170432"/>
                  </a:lnTo>
                  <a:close/>
                </a:path>
              </a:pathLst>
            </a:custGeom>
            <a:blipFill>
              <a:blip r:embed="rId3">
                <a:alphaModFix amt="0"/>
              </a:blip>
              <a:stretch>
                <a:fillRect l="-10378" t="0" r="-10378" b="0"/>
              </a:stretch>
            </a:blipFill>
          </p:spPr>
        </p:sp>
        <p:sp>
          <p:nvSpPr>
            <p:cNvPr name="TextBox 135" id="135"/>
            <p:cNvSpPr txBox="true"/>
            <p:nvPr/>
          </p:nvSpPr>
          <p:spPr>
            <a:xfrm>
              <a:off x="0" y="-47625"/>
              <a:ext cx="2487168" cy="1218057"/>
            </a:xfrm>
            <a:prstGeom prst="rect">
              <a:avLst/>
            </a:prstGeom>
          </p:spPr>
          <p:txBody>
            <a:bodyPr anchor="ctr" rtlCol="false" tIns="0" lIns="0" bIns="0" rIns="0"/>
            <a:lstStyle/>
            <a:p>
              <a:pPr algn="l">
                <a:lnSpc>
                  <a:spcPts val="2759"/>
                </a:lnSpc>
              </a:pPr>
              <a:r>
                <a:rPr lang="en-US" sz="2299">
                  <a:solidFill>
                    <a:srgbClr val="FFFFFF"/>
                  </a:solidFill>
                  <a:latin typeface="Calibri (MS)"/>
                  <a:ea typeface="Calibri (MS)"/>
                  <a:cs typeface="Calibri (MS)"/>
                  <a:sym typeface="Calibri (MS)"/>
                </a:rPr>
                <a:t>OOB</a:t>
              </a:r>
            </a:p>
            <a:p>
              <a:pPr algn="l">
                <a:lnSpc>
                  <a:spcPts val="2759"/>
                </a:lnSpc>
              </a:pPr>
              <a:r>
                <a:rPr lang="en-US" sz="2299">
                  <a:solidFill>
                    <a:srgbClr val="FFFFFF"/>
                  </a:solidFill>
                  <a:latin typeface="Calibri (MS)"/>
                  <a:ea typeface="Calibri (MS)"/>
                  <a:cs typeface="Calibri (MS)"/>
                  <a:sym typeface="Calibri (MS)"/>
                </a:rPr>
                <a:t>par arbre</a:t>
              </a:r>
            </a:p>
          </p:txBody>
        </p:sp>
      </p:grpSp>
      <p:grpSp>
        <p:nvGrpSpPr>
          <p:cNvPr name="Group 136" id="136"/>
          <p:cNvGrpSpPr/>
          <p:nvPr/>
        </p:nvGrpSpPr>
        <p:grpSpPr>
          <a:xfrm rot="0">
            <a:off x="14471399" y="5265072"/>
            <a:ext cx="3042923" cy="1159259"/>
            <a:chOff x="0" y="0"/>
            <a:chExt cx="4057231" cy="1545679"/>
          </a:xfrm>
        </p:grpSpPr>
        <p:sp>
          <p:nvSpPr>
            <p:cNvPr name="Freeform 137" id="137"/>
            <p:cNvSpPr/>
            <p:nvPr/>
          </p:nvSpPr>
          <p:spPr>
            <a:xfrm flipH="false" flipV="false" rot="0">
              <a:off x="16891" y="16891"/>
              <a:ext cx="4023360" cy="1511808"/>
            </a:xfrm>
            <a:custGeom>
              <a:avLst/>
              <a:gdLst/>
              <a:ahLst/>
              <a:cxnLst/>
              <a:rect r="r" b="b" t="t" l="l"/>
              <a:pathLst>
                <a:path h="1511808" w="4023360">
                  <a:moveTo>
                    <a:pt x="0" y="0"/>
                  </a:moveTo>
                  <a:lnTo>
                    <a:pt x="4023360" y="0"/>
                  </a:lnTo>
                  <a:lnTo>
                    <a:pt x="4023360" y="1511808"/>
                  </a:lnTo>
                  <a:lnTo>
                    <a:pt x="0" y="1511808"/>
                  </a:lnTo>
                  <a:close/>
                </a:path>
              </a:pathLst>
            </a:custGeom>
            <a:solidFill>
              <a:srgbClr val="52B788">
                <a:alpha val="3922"/>
              </a:srgbClr>
            </a:solidFill>
          </p:spPr>
        </p:sp>
        <p:sp>
          <p:nvSpPr>
            <p:cNvPr name="Freeform 138" id="138"/>
            <p:cNvSpPr/>
            <p:nvPr/>
          </p:nvSpPr>
          <p:spPr>
            <a:xfrm flipH="false" flipV="false" rot="0">
              <a:off x="0" y="0"/>
              <a:ext cx="4057142" cy="1545590"/>
            </a:xfrm>
            <a:custGeom>
              <a:avLst/>
              <a:gdLst/>
              <a:ahLst/>
              <a:cxnLst/>
              <a:rect r="r" b="b" t="t" l="l"/>
              <a:pathLst>
                <a:path h="1545590" w="4057142">
                  <a:moveTo>
                    <a:pt x="16891" y="0"/>
                  </a:moveTo>
                  <a:lnTo>
                    <a:pt x="4040251" y="0"/>
                  </a:lnTo>
                  <a:cubicBezTo>
                    <a:pt x="4049649" y="0"/>
                    <a:pt x="4057142" y="7620"/>
                    <a:pt x="4057142" y="16891"/>
                  </a:cubicBezTo>
                  <a:lnTo>
                    <a:pt x="4057142" y="1528699"/>
                  </a:lnTo>
                  <a:cubicBezTo>
                    <a:pt x="4057142" y="1538097"/>
                    <a:pt x="4049522" y="1545590"/>
                    <a:pt x="40402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4040251" y="1511808"/>
                  </a:lnTo>
                  <a:lnTo>
                    <a:pt x="4040251" y="1528699"/>
                  </a:lnTo>
                  <a:lnTo>
                    <a:pt x="4023360" y="1528699"/>
                  </a:lnTo>
                  <a:lnTo>
                    <a:pt x="4023360" y="16891"/>
                  </a:lnTo>
                  <a:lnTo>
                    <a:pt x="4040251" y="16891"/>
                  </a:lnTo>
                  <a:lnTo>
                    <a:pt x="4040251" y="33909"/>
                  </a:lnTo>
                  <a:lnTo>
                    <a:pt x="16891" y="33909"/>
                  </a:lnTo>
                  <a:close/>
                </a:path>
              </a:pathLst>
            </a:custGeom>
            <a:solidFill>
              <a:srgbClr val="52B788"/>
            </a:solidFill>
          </p:spPr>
        </p:sp>
      </p:grpSp>
      <p:grpSp>
        <p:nvGrpSpPr>
          <p:cNvPr name="Group 139" id="139"/>
          <p:cNvGrpSpPr/>
          <p:nvPr/>
        </p:nvGrpSpPr>
        <p:grpSpPr>
          <a:xfrm rot="0">
            <a:off x="14484096" y="5350921"/>
            <a:ext cx="850981" cy="987552"/>
            <a:chOff x="0" y="0"/>
            <a:chExt cx="1134642" cy="1316736"/>
          </a:xfrm>
        </p:grpSpPr>
        <p:sp>
          <p:nvSpPr>
            <p:cNvPr name="Freeform 140" id="140"/>
            <p:cNvSpPr/>
            <p:nvPr/>
          </p:nvSpPr>
          <p:spPr>
            <a:xfrm flipH="false" flipV="false" rot="0">
              <a:off x="0" y="0"/>
              <a:ext cx="1134641" cy="1316736"/>
            </a:xfrm>
            <a:custGeom>
              <a:avLst/>
              <a:gdLst/>
              <a:ahLst/>
              <a:cxnLst/>
              <a:rect r="r" b="b" t="t" l="l"/>
              <a:pathLst>
                <a:path h="1316736" w="1134641">
                  <a:moveTo>
                    <a:pt x="0" y="0"/>
                  </a:moveTo>
                  <a:lnTo>
                    <a:pt x="1134641" y="0"/>
                  </a:lnTo>
                  <a:lnTo>
                    <a:pt x="1134641" y="1316736"/>
                  </a:lnTo>
                  <a:lnTo>
                    <a:pt x="0" y="1316736"/>
                  </a:lnTo>
                  <a:close/>
                </a:path>
              </a:pathLst>
            </a:custGeom>
            <a:blipFill>
              <a:blip r:embed="rId3">
                <a:alphaModFix amt="0"/>
              </a:blip>
              <a:stretch>
                <a:fillRect l="-89795" t="0" r="-107993" b="0"/>
              </a:stretch>
            </a:blipFill>
          </p:spPr>
        </p:sp>
        <p:sp>
          <p:nvSpPr>
            <p:cNvPr name="TextBox 141" id="141"/>
            <p:cNvSpPr txBox="true"/>
            <p:nvPr/>
          </p:nvSpPr>
          <p:spPr>
            <a:xfrm>
              <a:off x="0" y="-66675"/>
              <a:ext cx="1134642" cy="1383411"/>
            </a:xfrm>
            <a:prstGeom prst="rect">
              <a:avLst/>
            </a:prstGeom>
          </p:spPr>
          <p:txBody>
            <a:bodyPr anchor="ctr" rtlCol="false" tIns="0" lIns="0" bIns="0" rIns="0"/>
            <a:lstStyle/>
            <a:p>
              <a:pPr algn="ctr">
                <a:lnSpc>
                  <a:spcPts val="3960"/>
                </a:lnSpc>
              </a:pPr>
              <a:r>
                <a:rPr lang="en-US" sz="3300" b="true">
                  <a:solidFill>
                    <a:srgbClr val="52B788"/>
                  </a:solidFill>
                  <a:latin typeface="Calibri (MS) Bold"/>
                  <a:ea typeface="Calibri (MS) Bold"/>
                  <a:cs typeface="Calibri (MS) Bold"/>
                  <a:sym typeface="Calibri (MS) Bold"/>
                </a:rPr>
                <a:t>∑</a:t>
              </a:r>
            </a:p>
          </p:txBody>
        </p:sp>
      </p:grpSp>
      <p:grpSp>
        <p:nvGrpSpPr>
          <p:cNvPr name="Group 142" id="142"/>
          <p:cNvGrpSpPr/>
          <p:nvPr/>
        </p:nvGrpSpPr>
        <p:grpSpPr>
          <a:xfrm rot="0">
            <a:off x="15497002" y="5476404"/>
            <a:ext cx="1865376" cy="877824"/>
            <a:chOff x="0" y="0"/>
            <a:chExt cx="2487168" cy="1170432"/>
          </a:xfrm>
        </p:grpSpPr>
        <p:sp>
          <p:nvSpPr>
            <p:cNvPr name="Freeform 143" id="143"/>
            <p:cNvSpPr/>
            <p:nvPr/>
          </p:nvSpPr>
          <p:spPr>
            <a:xfrm flipH="false" flipV="false" rot="0">
              <a:off x="0" y="0"/>
              <a:ext cx="2487168" cy="1170432"/>
            </a:xfrm>
            <a:custGeom>
              <a:avLst/>
              <a:gdLst/>
              <a:ahLst/>
              <a:cxnLst/>
              <a:rect r="r" b="b" t="t" l="l"/>
              <a:pathLst>
                <a:path h="1170432" w="2487168">
                  <a:moveTo>
                    <a:pt x="0" y="0"/>
                  </a:moveTo>
                  <a:lnTo>
                    <a:pt x="2487168" y="0"/>
                  </a:lnTo>
                  <a:lnTo>
                    <a:pt x="2487168" y="1170432"/>
                  </a:lnTo>
                  <a:lnTo>
                    <a:pt x="0" y="1170432"/>
                  </a:lnTo>
                  <a:close/>
                </a:path>
              </a:pathLst>
            </a:custGeom>
            <a:blipFill>
              <a:blip r:embed="rId3">
                <a:alphaModFix amt="0"/>
              </a:blip>
              <a:stretch>
                <a:fillRect l="-10378" t="0" r="-10378" b="0"/>
              </a:stretch>
            </a:blipFill>
          </p:spPr>
        </p:sp>
        <p:sp>
          <p:nvSpPr>
            <p:cNvPr name="TextBox 144" id="144"/>
            <p:cNvSpPr txBox="true"/>
            <p:nvPr/>
          </p:nvSpPr>
          <p:spPr>
            <a:xfrm>
              <a:off x="0" y="-47625"/>
              <a:ext cx="2487168" cy="1218057"/>
            </a:xfrm>
            <a:prstGeom prst="rect">
              <a:avLst/>
            </a:prstGeom>
          </p:spPr>
          <p:txBody>
            <a:bodyPr anchor="ctr" rtlCol="false" tIns="0" lIns="0" bIns="0" rIns="0"/>
            <a:lstStyle/>
            <a:p>
              <a:pPr algn="l">
                <a:lnSpc>
                  <a:spcPts val="2759"/>
                </a:lnSpc>
              </a:pPr>
              <a:r>
                <a:rPr lang="en-US" sz="2299">
                  <a:solidFill>
                    <a:srgbClr val="FFFFFF"/>
                  </a:solidFill>
                  <a:latin typeface="Calibri (MS)"/>
                  <a:ea typeface="Calibri (MS)"/>
                  <a:cs typeface="Calibri (MS)"/>
                  <a:sym typeface="Calibri (MS)"/>
                </a:rPr>
                <a:t>agrégation</a:t>
              </a:r>
            </a:p>
            <a:p>
              <a:pPr algn="l">
                <a:lnSpc>
                  <a:spcPts val="2759"/>
                </a:lnSpc>
              </a:pPr>
              <a:r>
                <a:rPr lang="en-US" sz="2299">
                  <a:solidFill>
                    <a:srgbClr val="FFFFFF"/>
                  </a:solidFill>
                  <a:latin typeface="Calibri (MS)"/>
                  <a:ea typeface="Calibri (MS)"/>
                  <a:cs typeface="Calibri (MS)"/>
                  <a:sym typeface="Calibri (MS)"/>
                </a:rPr>
                <a:t>des prédictions</a:t>
              </a:r>
            </a:p>
          </p:txBody>
        </p:sp>
      </p:grpSp>
      <p:grpSp>
        <p:nvGrpSpPr>
          <p:cNvPr name="Group 145" id="145"/>
          <p:cNvGrpSpPr/>
          <p:nvPr/>
        </p:nvGrpSpPr>
        <p:grpSpPr>
          <a:xfrm rot="0">
            <a:off x="14471399" y="6581808"/>
            <a:ext cx="3042923" cy="1159259"/>
            <a:chOff x="0" y="0"/>
            <a:chExt cx="4057231" cy="1545679"/>
          </a:xfrm>
        </p:grpSpPr>
        <p:sp>
          <p:nvSpPr>
            <p:cNvPr name="Freeform 146" id="146"/>
            <p:cNvSpPr/>
            <p:nvPr/>
          </p:nvSpPr>
          <p:spPr>
            <a:xfrm flipH="false" flipV="false" rot="0">
              <a:off x="16891" y="16891"/>
              <a:ext cx="4023360" cy="1511808"/>
            </a:xfrm>
            <a:custGeom>
              <a:avLst/>
              <a:gdLst/>
              <a:ahLst/>
              <a:cxnLst/>
              <a:rect r="r" b="b" t="t" l="l"/>
              <a:pathLst>
                <a:path h="1511808" w="4023360">
                  <a:moveTo>
                    <a:pt x="0" y="0"/>
                  </a:moveTo>
                  <a:lnTo>
                    <a:pt x="4023360" y="0"/>
                  </a:lnTo>
                  <a:lnTo>
                    <a:pt x="4023360" y="1511808"/>
                  </a:lnTo>
                  <a:lnTo>
                    <a:pt x="0" y="1511808"/>
                  </a:lnTo>
                  <a:close/>
                </a:path>
              </a:pathLst>
            </a:custGeom>
            <a:solidFill>
              <a:srgbClr val="F4A261">
                <a:alpha val="3922"/>
              </a:srgbClr>
            </a:solidFill>
          </p:spPr>
        </p:sp>
        <p:sp>
          <p:nvSpPr>
            <p:cNvPr name="Freeform 147" id="147"/>
            <p:cNvSpPr/>
            <p:nvPr/>
          </p:nvSpPr>
          <p:spPr>
            <a:xfrm flipH="false" flipV="false" rot="0">
              <a:off x="0" y="0"/>
              <a:ext cx="4057142" cy="1545590"/>
            </a:xfrm>
            <a:custGeom>
              <a:avLst/>
              <a:gdLst/>
              <a:ahLst/>
              <a:cxnLst/>
              <a:rect r="r" b="b" t="t" l="l"/>
              <a:pathLst>
                <a:path h="1545590" w="4057142">
                  <a:moveTo>
                    <a:pt x="16891" y="0"/>
                  </a:moveTo>
                  <a:lnTo>
                    <a:pt x="4040251" y="0"/>
                  </a:lnTo>
                  <a:cubicBezTo>
                    <a:pt x="4049649" y="0"/>
                    <a:pt x="4057142" y="7620"/>
                    <a:pt x="4057142" y="16891"/>
                  </a:cubicBezTo>
                  <a:lnTo>
                    <a:pt x="4057142" y="1528699"/>
                  </a:lnTo>
                  <a:cubicBezTo>
                    <a:pt x="4057142" y="1538097"/>
                    <a:pt x="4049522" y="1545590"/>
                    <a:pt x="404025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4040251" y="1511808"/>
                  </a:lnTo>
                  <a:lnTo>
                    <a:pt x="4040251" y="1528699"/>
                  </a:lnTo>
                  <a:lnTo>
                    <a:pt x="4023360" y="1528699"/>
                  </a:lnTo>
                  <a:lnTo>
                    <a:pt x="4023360" y="16891"/>
                  </a:lnTo>
                  <a:lnTo>
                    <a:pt x="4040251" y="16891"/>
                  </a:lnTo>
                  <a:lnTo>
                    <a:pt x="4040251" y="33909"/>
                  </a:lnTo>
                  <a:lnTo>
                    <a:pt x="16891" y="33909"/>
                  </a:lnTo>
                  <a:close/>
                </a:path>
              </a:pathLst>
            </a:custGeom>
            <a:solidFill>
              <a:srgbClr val="F4A261"/>
            </a:solidFill>
          </p:spPr>
        </p:sp>
      </p:grpSp>
      <p:grpSp>
        <p:nvGrpSpPr>
          <p:cNvPr name="Group 148" id="148"/>
          <p:cNvGrpSpPr/>
          <p:nvPr/>
        </p:nvGrpSpPr>
        <p:grpSpPr>
          <a:xfrm rot="0">
            <a:off x="14484096" y="6667657"/>
            <a:ext cx="1005840" cy="987552"/>
            <a:chOff x="0" y="0"/>
            <a:chExt cx="1341120" cy="1316736"/>
          </a:xfrm>
        </p:grpSpPr>
        <p:sp>
          <p:nvSpPr>
            <p:cNvPr name="Freeform 149" id="149"/>
            <p:cNvSpPr/>
            <p:nvPr/>
          </p:nvSpPr>
          <p:spPr>
            <a:xfrm flipH="false" flipV="false" rot="0">
              <a:off x="0" y="0"/>
              <a:ext cx="1341120" cy="1316736"/>
            </a:xfrm>
            <a:custGeom>
              <a:avLst/>
              <a:gdLst/>
              <a:ahLst/>
              <a:cxnLst/>
              <a:rect r="r" b="b" t="t" l="l"/>
              <a:pathLst>
                <a:path h="1316736" w="1341120">
                  <a:moveTo>
                    <a:pt x="0" y="0"/>
                  </a:moveTo>
                  <a:lnTo>
                    <a:pt x="1341120" y="0"/>
                  </a:lnTo>
                  <a:lnTo>
                    <a:pt x="1341120" y="1316736"/>
                  </a:lnTo>
                  <a:lnTo>
                    <a:pt x="0" y="1316736"/>
                  </a:lnTo>
                  <a:close/>
                </a:path>
              </a:pathLst>
            </a:custGeom>
            <a:blipFill>
              <a:blip r:embed="rId3">
                <a:alphaModFix amt="0"/>
              </a:blip>
              <a:stretch>
                <a:fillRect l="-75970" t="0" r="-75970" b="0"/>
              </a:stretch>
            </a:blipFill>
          </p:spPr>
        </p:sp>
        <p:sp>
          <p:nvSpPr>
            <p:cNvPr name="TextBox 150" id="150"/>
            <p:cNvSpPr txBox="true"/>
            <p:nvPr/>
          </p:nvSpPr>
          <p:spPr>
            <a:xfrm>
              <a:off x="0" y="-66675"/>
              <a:ext cx="1341120" cy="1383411"/>
            </a:xfrm>
            <a:prstGeom prst="rect">
              <a:avLst/>
            </a:prstGeom>
          </p:spPr>
          <p:txBody>
            <a:bodyPr anchor="ctr" rtlCol="false" tIns="0" lIns="0" bIns="0" rIns="0"/>
            <a:lstStyle/>
            <a:p>
              <a:pPr algn="ctr">
                <a:lnSpc>
                  <a:spcPts val="3960"/>
                </a:lnSpc>
              </a:pPr>
              <a:r>
                <a:rPr lang="en-US" sz="3300" b="true">
                  <a:solidFill>
                    <a:srgbClr val="F4A261"/>
                  </a:solidFill>
                  <a:latin typeface="Calibri (MS) Bold"/>
                  <a:ea typeface="Calibri (MS) Bold"/>
                  <a:cs typeface="Calibri (MS) Bold"/>
                  <a:sym typeface="Calibri (MS) Bold"/>
                </a:rPr>
                <a:t>0.748</a:t>
              </a:r>
            </a:p>
          </p:txBody>
        </p:sp>
      </p:grpSp>
      <p:grpSp>
        <p:nvGrpSpPr>
          <p:cNvPr name="Group 151" id="151"/>
          <p:cNvGrpSpPr/>
          <p:nvPr/>
        </p:nvGrpSpPr>
        <p:grpSpPr>
          <a:xfrm rot="0">
            <a:off x="15648946" y="6844956"/>
            <a:ext cx="1865376" cy="877824"/>
            <a:chOff x="0" y="0"/>
            <a:chExt cx="2487168" cy="1170432"/>
          </a:xfrm>
        </p:grpSpPr>
        <p:sp>
          <p:nvSpPr>
            <p:cNvPr name="Freeform 152" id="152"/>
            <p:cNvSpPr/>
            <p:nvPr/>
          </p:nvSpPr>
          <p:spPr>
            <a:xfrm flipH="false" flipV="false" rot="0">
              <a:off x="0" y="0"/>
              <a:ext cx="2487168" cy="1170432"/>
            </a:xfrm>
            <a:custGeom>
              <a:avLst/>
              <a:gdLst/>
              <a:ahLst/>
              <a:cxnLst/>
              <a:rect r="r" b="b" t="t" l="l"/>
              <a:pathLst>
                <a:path h="1170432" w="2487168">
                  <a:moveTo>
                    <a:pt x="0" y="0"/>
                  </a:moveTo>
                  <a:lnTo>
                    <a:pt x="2487168" y="0"/>
                  </a:lnTo>
                  <a:lnTo>
                    <a:pt x="2487168" y="1170432"/>
                  </a:lnTo>
                  <a:lnTo>
                    <a:pt x="0" y="1170432"/>
                  </a:lnTo>
                  <a:close/>
                </a:path>
              </a:pathLst>
            </a:custGeom>
            <a:blipFill>
              <a:blip r:embed="rId3">
                <a:alphaModFix amt="0"/>
              </a:blip>
              <a:stretch>
                <a:fillRect l="-10378" t="0" r="-10378" b="0"/>
              </a:stretch>
            </a:blipFill>
          </p:spPr>
        </p:sp>
        <p:sp>
          <p:nvSpPr>
            <p:cNvPr name="TextBox 153" id="153"/>
            <p:cNvSpPr txBox="true"/>
            <p:nvPr/>
          </p:nvSpPr>
          <p:spPr>
            <a:xfrm>
              <a:off x="0" y="-47625"/>
              <a:ext cx="2487168" cy="1218057"/>
            </a:xfrm>
            <a:prstGeom prst="rect">
              <a:avLst/>
            </a:prstGeom>
          </p:spPr>
          <p:txBody>
            <a:bodyPr anchor="ctr" rtlCol="false" tIns="0" lIns="0" bIns="0" rIns="0"/>
            <a:lstStyle/>
            <a:p>
              <a:pPr algn="l">
                <a:lnSpc>
                  <a:spcPts val="2759"/>
                </a:lnSpc>
              </a:pPr>
              <a:r>
                <a:rPr lang="en-US" sz="2299">
                  <a:solidFill>
                    <a:srgbClr val="FFFFFF"/>
                  </a:solidFill>
                  <a:latin typeface="Calibri (MS)"/>
                  <a:ea typeface="Calibri (MS)"/>
                  <a:cs typeface="Calibri (MS)"/>
                  <a:sym typeface="Calibri (MS)"/>
                </a:rPr>
                <a:t>OOB Score</a:t>
              </a:r>
            </a:p>
            <a:p>
              <a:pPr algn="l">
                <a:lnSpc>
                  <a:spcPts val="2759"/>
                </a:lnSpc>
              </a:pPr>
            </a:p>
          </p:txBody>
        </p:sp>
      </p:grpSp>
      <p:grpSp>
        <p:nvGrpSpPr>
          <p:cNvPr name="Group 154" id="154"/>
          <p:cNvGrpSpPr/>
          <p:nvPr/>
        </p:nvGrpSpPr>
        <p:grpSpPr>
          <a:xfrm rot="0">
            <a:off x="538477" y="9102550"/>
            <a:ext cx="17203417" cy="784733"/>
            <a:chOff x="0" y="0"/>
            <a:chExt cx="22937889" cy="1046311"/>
          </a:xfrm>
        </p:grpSpPr>
        <p:sp>
          <p:nvSpPr>
            <p:cNvPr name="Freeform 155" id="155"/>
            <p:cNvSpPr/>
            <p:nvPr/>
          </p:nvSpPr>
          <p:spPr>
            <a:xfrm flipH="false" flipV="false" rot="0">
              <a:off x="8509" y="9436"/>
              <a:ext cx="22920961" cy="1027538"/>
            </a:xfrm>
            <a:custGeom>
              <a:avLst/>
              <a:gdLst/>
              <a:ahLst/>
              <a:cxnLst/>
              <a:rect r="r" b="b" t="t" l="l"/>
              <a:pathLst>
                <a:path h="1027538" w="22920961">
                  <a:moveTo>
                    <a:pt x="0" y="0"/>
                  </a:moveTo>
                  <a:lnTo>
                    <a:pt x="22920961" y="0"/>
                  </a:lnTo>
                  <a:lnTo>
                    <a:pt x="22920961" y="1027538"/>
                  </a:lnTo>
                  <a:lnTo>
                    <a:pt x="0" y="1027538"/>
                  </a:lnTo>
                  <a:close/>
                </a:path>
              </a:pathLst>
            </a:custGeom>
            <a:solidFill>
              <a:srgbClr val="1A2E1A">
                <a:alpha val="63922"/>
              </a:srgbClr>
            </a:solidFill>
          </p:spPr>
        </p:sp>
        <p:sp>
          <p:nvSpPr>
            <p:cNvPr name="Freeform 156" id="156"/>
            <p:cNvSpPr/>
            <p:nvPr/>
          </p:nvSpPr>
          <p:spPr>
            <a:xfrm flipH="false" flipV="false" rot="0">
              <a:off x="0" y="0"/>
              <a:ext cx="22937978" cy="1046400"/>
            </a:xfrm>
            <a:custGeom>
              <a:avLst/>
              <a:gdLst/>
              <a:ahLst/>
              <a:cxnLst/>
              <a:rect r="r" b="b" t="t" l="l"/>
              <a:pathLst>
                <a:path h="1046400" w="22937978">
                  <a:moveTo>
                    <a:pt x="8509" y="0"/>
                  </a:moveTo>
                  <a:lnTo>
                    <a:pt x="22929470" y="0"/>
                  </a:lnTo>
                  <a:cubicBezTo>
                    <a:pt x="22934169" y="0"/>
                    <a:pt x="22937978" y="4225"/>
                    <a:pt x="22937978" y="9436"/>
                  </a:cubicBezTo>
                  <a:lnTo>
                    <a:pt x="22937978" y="1036974"/>
                  </a:lnTo>
                  <a:cubicBezTo>
                    <a:pt x="22937978" y="1042185"/>
                    <a:pt x="22934169" y="1046400"/>
                    <a:pt x="22929470" y="1046400"/>
                  </a:cubicBezTo>
                  <a:lnTo>
                    <a:pt x="8509" y="1046400"/>
                  </a:lnTo>
                  <a:cubicBezTo>
                    <a:pt x="3810" y="1046400"/>
                    <a:pt x="0" y="1042185"/>
                    <a:pt x="0" y="1036974"/>
                  </a:cubicBezTo>
                  <a:lnTo>
                    <a:pt x="0" y="9436"/>
                  </a:lnTo>
                  <a:cubicBezTo>
                    <a:pt x="0" y="4225"/>
                    <a:pt x="3810" y="0"/>
                    <a:pt x="8509" y="0"/>
                  </a:cubicBezTo>
                  <a:moveTo>
                    <a:pt x="8509" y="18731"/>
                  </a:moveTo>
                  <a:lnTo>
                    <a:pt x="8509" y="9436"/>
                  </a:lnTo>
                  <a:lnTo>
                    <a:pt x="17018" y="9436"/>
                  </a:lnTo>
                  <a:lnTo>
                    <a:pt x="17018" y="1036974"/>
                  </a:lnTo>
                  <a:lnTo>
                    <a:pt x="8509" y="1036974"/>
                  </a:lnTo>
                  <a:lnTo>
                    <a:pt x="8509" y="1027538"/>
                  </a:lnTo>
                  <a:lnTo>
                    <a:pt x="22929470" y="1027538"/>
                  </a:lnTo>
                  <a:lnTo>
                    <a:pt x="22929470" y="1036974"/>
                  </a:lnTo>
                  <a:lnTo>
                    <a:pt x="22920961" y="1036974"/>
                  </a:lnTo>
                  <a:lnTo>
                    <a:pt x="22920961" y="9436"/>
                  </a:lnTo>
                  <a:lnTo>
                    <a:pt x="22929470" y="9436"/>
                  </a:lnTo>
                  <a:lnTo>
                    <a:pt x="22929470" y="18872"/>
                  </a:lnTo>
                  <a:lnTo>
                    <a:pt x="8509" y="18872"/>
                  </a:lnTo>
                  <a:close/>
                </a:path>
              </a:pathLst>
            </a:custGeom>
            <a:solidFill>
              <a:srgbClr val="1E3A1E"/>
            </a:solidFill>
          </p:spPr>
        </p:sp>
      </p:grpSp>
      <p:grpSp>
        <p:nvGrpSpPr>
          <p:cNvPr name="Group 157" id="157"/>
          <p:cNvGrpSpPr/>
          <p:nvPr/>
        </p:nvGrpSpPr>
        <p:grpSpPr>
          <a:xfrm rot="0">
            <a:off x="1365794" y="9121600"/>
            <a:ext cx="15996584" cy="775208"/>
            <a:chOff x="0" y="0"/>
            <a:chExt cx="21328778" cy="1033611"/>
          </a:xfrm>
        </p:grpSpPr>
        <p:sp>
          <p:nvSpPr>
            <p:cNvPr name="Freeform 158" id="158"/>
            <p:cNvSpPr/>
            <p:nvPr/>
          </p:nvSpPr>
          <p:spPr>
            <a:xfrm flipH="false" flipV="false" rot="0">
              <a:off x="0" y="0"/>
              <a:ext cx="21328779" cy="1033611"/>
            </a:xfrm>
            <a:custGeom>
              <a:avLst/>
              <a:gdLst/>
              <a:ahLst/>
              <a:cxnLst/>
              <a:rect r="r" b="b" t="t" l="l"/>
              <a:pathLst>
                <a:path h="1033611" w="21328779">
                  <a:moveTo>
                    <a:pt x="0" y="0"/>
                  </a:moveTo>
                  <a:lnTo>
                    <a:pt x="21328779" y="0"/>
                  </a:lnTo>
                  <a:lnTo>
                    <a:pt x="21328779" y="1033611"/>
                  </a:lnTo>
                  <a:lnTo>
                    <a:pt x="0" y="1033611"/>
                  </a:lnTo>
                  <a:close/>
                </a:path>
              </a:pathLst>
            </a:custGeom>
            <a:blipFill>
              <a:blip r:embed="rId3">
                <a:alphaModFix amt="0"/>
              </a:blip>
              <a:stretch>
                <a:fillRect l="0" t="-378076" r="-5178" b="-367722"/>
              </a:stretch>
            </a:blipFill>
          </p:spPr>
        </p:sp>
        <p:sp>
          <p:nvSpPr>
            <p:cNvPr name="TextBox 159" id="159"/>
            <p:cNvSpPr txBox="true"/>
            <p:nvPr/>
          </p:nvSpPr>
          <p:spPr>
            <a:xfrm>
              <a:off x="0" y="-47625"/>
              <a:ext cx="21328778" cy="1081236"/>
            </a:xfrm>
            <a:prstGeom prst="rect">
              <a:avLst/>
            </a:prstGeom>
          </p:spPr>
          <p:txBody>
            <a:bodyPr anchor="ctr" rtlCol="false" tIns="0" lIns="0" bIns="0" rIns="0"/>
            <a:lstStyle/>
            <a:p>
              <a:pPr algn="l">
                <a:lnSpc>
                  <a:spcPts val="2639"/>
                </a:lnSpc>
              </a:pPr>
              <a:r>
                <a:rPr lang="en-US" b="true" sz="2199" i="true">
                  <a:solidFill>
                    <a:srgbClr val="FFFFFF"/>
                  </a:solidFill>
                  <a:latin typeface="Calibri (MS) Bold Italics"/>
                  <a:ea typeface="Calibri (MS) Bold Italics"/>
                  <a:cs typeface="Calibri (MS) Bold Italics"/>
                  <a:sym typeface="Calibri (MS) Bold Italics"/>
                </a:rPr>
                <a:t>    Idée clé</a:t>
              </a:r>
              <a:r>
                <a:rPr lang="en-US" sz="2199">
                  <a:solidFill>
                    <a:srgbClr val="FFFFFF"/>
                  </a:solidFill>
                  <a:latin typeface="Calibri (MS)"/>
                  <a:ea typeface="Calibri (MS)"/>
                  <a:cs typeface="Calibri (MS)"/>
                  <a:sym typeface="Calibri (MS)"/>
                </a:rPr>
                <a:t>   : </a:t>
              </a:r>
              <a:r>
                <a:rPr lang="en-US" sz="2199">
                  <a:solidFill>
                    <a:srgbClr val="FFFFFF"/>
                  </a:solidFill>
                  <a:latin typeface="Calibri (MS)"/>
                  <a:ea typeface="Calibri (MS)"/>
                  <a:cs typeface="Calibri (MS)"/>
                  <a:sym typeface="Calibri (MS)"/>
                </a:rPr>
                <a:t>Chaque observation est évaluée uniquement par les arbres qui ne l’ont jamais vue</a:t>
              </a:r>
            </a:p>
            <a:p>
              <a:pPr algn="l">
                <a:lnSpc>
                  <a:spcPts val="2639"/>
                </a:lnSpc>
              </a:pPr>
              <a:r>
                <a:rPr lang="en-US" sz="2199">
                  <a:solidFill>
                    <a:srgbClr val="FFFFFF"/>
                  </a:solidFill>
                  <a:latin typeface="Calibri (MS)"/>
                  <a:ea typeface="Calibri (MS)"/>
                  <a:cs typeface="Calibri (MS)"/>
                  <a:sym typeface="Calibri (MS)"/>
                </a:rPr>
                <a:t> → cela donne une validation interne non biaisée, proche d’une cross-validation.</a:t>
              </a:r>
            </a:p>
          </p:txBody>
        </p:sp>
      </p:grpSp>
      <p:sp>
        <p:nvSpPr>
          <p:cNvPr name="TextBox 160" id="160"/>
          <p:cNvSpPr txBox="true"/>
          <p:nvPr/>
        </p:nvSpPr>
        <p:spPr>
          <a:xfrm rot="0">
            <a:off x="11847046" y="1384745"/>
            <a:ext cx="1264146" cy="304800"/>
          </a:xfrm>
          <a:prstGeom prst="rect">
            <a:avLst/>
          </a:prstGeom>
        </p:spPr>
        <p:txBody>
          <a:bodyPr anchor="t" rtlCol="false" tIns="0" lIns="0" bIns="0" rIns="0">
            <a:spAutoFit/>
          </a:bodyPr>
          <a:lstStyle/>
          <a:p>
            <a:pPr algn="ctr">
              <a:lnSpc>
                <a:spcPts val="2160"/>
              </a:lnSpc>
              <a:spcBef>
                <a:spcPct val="0"/>
              </a:spcBef>
            </a:pPr>
            <a:r>
              <a:rPr lang="en-US" b="true" sz="1800">
                <a:solidFill>
                  <a:srgbClr val="FFFFFF"/>
                </a:solidFill>
                <a:latin typeface="Calibri (MS) Bold"/>
                <a:ea typeface="Calibri (MS) Bold"/>
                <a:cs typeface="Calibri (MS) Bold"/>
                <a:sym typeface="Calibri (MS) Bold"/>
              </a:rPr>
              <a:t>OOB samples</a:t>
            </a:r>
          </a:p>
        </p:txBody>
      </p:sp>
      <p:grpSp>
        <p:nvGrpSpPr>
          <p:cNvPr name="Group 161" id="161"/>
          <p:cNvGrpSpPr/>
          <p:nvPr/>
        </p:nvGrpSpPr>
        <p:grpSpPr>
          <a:xfrm rot="0">
            <a:off x="-12697" y="-12697"/>
            <a:ext cx="18313403" cy="1671323"/>
            <a:chOff x="0" y="0"/>
            <a:chExt cx="24417871" cy="2228431"/>
          </a:xfrm>
        </p:grpSpPr>
        <p:sp>
          <p:nvSpPr>
            <p:cNvPr name="Freeform 162" id="162"/>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163" id="163"/>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164" id="164"/>
          <p:cNvGrpSpPr/>
          <p:nvPr/>
        </p:nvGrpSpPr>
        <p:grpSpPr>
          <a:xfrm rot="0">
            <a:off x="548640" y="0"/>
            <a:ext cx="17190720" cy="1645920"/>
            <a:chOff x="0" y="0"/>
            <a:chExt cx="22920960" cy="2194560"/>
          </a:xfrm>
        </p:grpSpPr>
        <p:sp>
          <p:nvSpPr>
            <p:cNvPr name="Freeform 165" id="165"/>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166" id="166"/>
            <p:cNvSpPr txBox="true"/>
            <p:nvPr/>
          </p:nvSpPr>
          <p:spPr>
            <a:xfrm>
              <a:off x="0" y="-85725"/>
              <a:ext cx="22920960" cy="2280285"/>
            </a:xfrm>
            <a:prstGeom prst="rect">
              <a:avLst/>
            </a:prstGeom>
          </p:spPr>
          <p:txBody>
            <a:bodyPr anchor="ctr" rtlCol="false" tIns="0" lIns="0" bIns="0" rIns="0"/>
            <a:lstStyle/>
            <a:p>
              <a:pPr algn="l">
                <a:lnSpc>
                  <a:spcPts val="5159"/>
                </a:lnSpc>
              </a:pPr>
              <a:r>
                <a:rPr lang="en-US" sz="4299" b="true">
                  <a:solidFill>
                    <a:srgbClr val="FFFFFF"/>
                  </a:solidFill>
                  <a:latin typeface="Calibri (MS) Bold"/>
                  <a:ea typeface="Calibri (MS) Bold"/>
                  <a:cs typeface="Calibri (MS) Bold"/>
                  <a:sym typeface="Calibri (MS) Bold"/>
                </a:rPr>
                <a:t>A3 —Schéma — Bootstrap &amp; OOB : mécanisme complet</a:t>
              </a:r>
            </a:p>
          </p:txBody>
        </p:sp>
      </p:grpSp>
      <p:grpSp>
        <p:nvGrpSpPr>
          <p:cNvPr name="Group 167" id="167"/>
          <p:cNvGrpSpPr/>
          <p:nvPr/>
        </p:nvGrpSpPr>
        <p:grpSpPr>
          <a:xfrm rot="0">
            <a:off x="4698873" y="4204368"/>
            <a:ext cx="2667000" cy="1848488"/>
            <a:chOff x="0" y="0"/>
            <a:chExt cx="3556000" cy="2464651"/>
          </a:xfrm>
        </p:grpSpPr>
        <p:sp>
          <p:nvSpPr>
            <p:cNvPr name="Freeform 168" id="168"/>
            <p:cNvSpPr/>
            <p:nvPr/>
          </p:nvSpPr>
          <p:spPr>
            <a:xfrm flipH="false" flipV="false" rot="0">
              <a:off x="10160" y="8642"/>
              <a:ext cx="3535680" cy="2447367"/>
            </a:xfrm>
            <a:custGeom>
              <a:avLst/>
              <a:gdLst/>
              <a:ahLst/>
              <a:cxnLst/>
              <a:rect r="r" b="b" t="t" l="l"/>
              <a:pathLst>
                <a:path h="2447367" w="3535680">
                  <a:moveTo>
                    <a:pt x="0" y="0"/>
                  </a:moveTo>
                  <a:lnTo>
                    <a:pt x="3535680" y="0"/>
                  </a:lnTo>
                  <a:lnTo>
                    <a:pt x="3535680" y="2447367"/>
                  </a:lnTo>
                  <a:lnTo>
                    <a:pt x="0" y="2447367"/>
                  </a:lnTo>
                  <a:close/>
                </a:path>
              </a:pathLst>
            </a:custGeom>
            <a:solidFill>
              <a:srgbClr val="1E3A1E"/>
            </a:solidFill>
          </p:spPr>
        </p:sp>
        <p:sp>
          <p:nvSpPr>
            <p:cNvPr name="Freeform 169" id="169"/>
            <p:cNvSpPr/>
            <p:nvPr/>
          </p:nvSpPr>
          <p:spPr>
            <a:xfrm flipH="false" flipV="false" rot="0">
              <a:off x="0" y="0"/>
              <a:ext cx="3556000" cy="2464651"/>
            </a:xfrm>
            <a:custGeom>
              <a:avLst/>
              <a:gdLst/>
              <a:ahLst/>
              <a:cxnLst/>
              <a:rect r="r" b="b" t="t" l="l"/>
              <a:pathLst>
                <a:path h="2464651" w="3556000">
                  <a:moveTo>
                    <a:pt x="10160" y="0"/>
                  </a:moveTo>
                  <a:lnTo>
                    <a:pt x="3545840" y="0"/>
                  </a:lnTo>
                  <a:cubicBezTo>
                    <a:pt x="3551428" y="0"/>
                    <a:pt x="3556000" y="3889"/>
                    <a:pt x="3556000" y="8642"/>
                  </a:cubicBezTo>
                  <a:lnTo>
                    <a:pt x="3556000" y="2456009"/>
                  </a:lnTo>
                  <a:cubicBezTo>
                    <a:pt x="3556000" y="2460762"/>
                    <a:pt x="3551428" y="2464651"/>
                    <a:pt x="3545840" y="2464651"/>
                  </a:cubicBezTo>
                  <a:lnTo>
                    <a:pt x="10160" y="2464651"/>
                  </a:lnTo>
                  <a:cubicBezTo>
                    <a:pt x="4572" y="2464651"/>
                    <a:pt x="0" y="2460762"/>
                    <a:pt x="0" y="2456009"/>
                  </a:cubicBezTo>
                  <a:lnTo>
                    <a:pt x="0" y="8642"/>
                  </a:lnTo>
                  <a:cubicBezTo>
                    <a:pt x="0" y="3889"/>
                    <a:pt x="4572" y="0"/>
                    <a:pt x="10160" y="0"/>
                  </a:cubicBezTo>
                  <a:moveTo>
                    <a:pt x="10160" y="17284"/>
                  </a:moveTo>
                  <a:lnTo>
                    <a:pt x="10160" y="8642"/>
                  </a:lnTo>
                  <a:lnTo>
                    <a:pt x="20320" y="8642"/>
                  </a:lnTo>
                  <a:lnTo>
                    <a:pt x="20320" y="2456009"/>
                  </a:lnTo>
                  <a:lnTo>
                    <a:pt x="10160" y="2456009"/>
                  </a:lnTo>
                  <a:lnTo>
                    <a:pt x="10160" y="2447367"/>
                  </a:lnTo>
                  <a:lnTo>
                    <a:pt x="3545840" y="2447367"/>
                  </a:lnTo>
                  <a:lnTo>
                    <a:pt x="3545840" y="2456009"/>
                  </a:lnTo>
                  <a:lnTo>
                    <a:pt x="3535680" y="2456009"/>
                  </a:lnTo>
                  <a:lnTo>
                    <a:pt x="3535680" y="8642"/>
                  </a:lnTo>
                  <a:lnTo>
                    <a:pt x="3545840" y="8642"/>
                  </a:lnTo>
                  <a:lnTo>
                    <a:pt x="3545840" y="17284"/>
                  </a:lnTo>
                  <a:lnTo>
                    <a:pt x="10160" y="17284"/>
                  </a:lnTo>
                  <a:close/>
                </a:path>
              </a:pathLst>
            </a:custGeom>
            <a:solidFill>
              <a:srgbClr val="52B788"/>
            </a:solidFill>
          </p:spPr>
        </p:sp>
      </p:grpSp>
      <p:grpSp>
        <p:nvGrpSpPr>
          <p:cNvPr name="Group 170" id="170"/>
          <p:cNvGrpSpPr/>
          <p:nvPr/>
        </p:nvGrpSpPr>
        <p:grpSpPr>
          <a:xfrm rot="0">
            <a:off x="4663440" y="4627526"/>
            <a:ext cx="2651760" cy="441833"/>
            <a:chOff x="0" y="0"/>
            <a:chExt cx="3535680" cy="589111"/>
          </a:xfrm>
        </p:grpSpPr>
        <p:sp>
          <p:nvSpPr>
            <p:cNvPr name="Freeform 171" id="171"/>
            <p:cNvSpPr/>
            <p:nvPr/>
          </p:nvSpPr>
          <p:spPr>
            <a:xfrm flipH="false" flipV="false" rot="0">
              <a:off x="0" y="0"/>
              <a:ext cx="3535680" cy="589111"/>
            </a:xfrm>
            <a:custGeom>
              <a:avLst/>
              <a:gdLst/>
              <a:ahLst/>
              <a:cxnLst/>
              <a:rect r="r" b="b" t="t" l="l"/>
              <a:pathLst>
                <a:path h="589111" w="3535680">
                  <a:moveTo>
                    <a:pt x="0" y="0"/>
                  </a:moveTo>
                  <a:lnTo>
                    <a:pt x="3535680" y="0"/>
                  </a:lnTo>
                  <a:lnTo>
                    <a:pt x="3535680" y="589111"/>
                  </a:lnTo>
                  <a:lnTo>
                    <a:pt x="0" y="589111"/>
                  </a:lnTo>
                  <a:close/>
                </a:path>
              </a:pathLst>
            </a:custGeom>
            <a:blipFill>
              <a:blip r:embed="rId3">
                <a:alphaModFix amt="0"/>
              </a:blip>
              <a:stretch>
                <a:fillRect l="0" t="-67274" r="0" b="-66613"/>
              </a:stretch>
            </a:blipFill>
          </p:spPr>
        </p:sp>
        <p:sp>
          <p:nvSpPr>
            <p:cNvPr name="TextBox 172" id="172"/>
            <p:cNvSpPr txBox="true"/>
            <p:nvPr/>
          </p:nvSpPr>
          <p:spPr>
            <a:xfrm>
              <a:off x="0" y="-47625"/>
              <a:ext cx="3535680" cy="636736"/>
            </a:xfrm>
            <a:prstGeom prst="rect">
              <a:avLst/>
            </a:prstGeom>
          </p:spPr>
          <p:txBody>
            <a:bodyPr anchor="ctr" rtlCol="false" tIns="0" lIns="0" bIns="0" rIns="0"/>
            <a:lstStyle/>
            <a:p>
              <a:pPr algn="ctr">
                <a:lnSpc>
                  <a:spcPts val="2639"/>
                </a:lnSpc>
              </a:pPr>
              <a:r>
                <a:rPr lang="en-US" b="true" sz="2199">
                  <a:solidFill>
                    <a:srgbClr val="FFFFFF"/>
                  </a:solidFill>
                  <a:latin typeface="Calibri (MS) Bold"/>
                  <a:ea typeface="Calibri (MS) Bold"/>
                  <a:cs typeface="Calibri (MS) Bold"/>
                  <a:sym typeface="Calibri (MS) Bold"/>
                </a:rPr>
                <a:t>Bootstrap 2</a:t>
              </a:r>
            </a:p>
          </p:txBody>
        </p:sp>
      </p:grpSp>
      <p:grpSp>
        <p:nvGrpSpPr>
          <p:cNvPr name="Group 173" id="173"/>
          <p:cNvGrpSpPr/>
          <p:nvPr/>
        </p:nvGrpSpPr>
        <p:grpSpPr>
          <a:xfrm rot="0">
            <a:off x="4635627" y="5190694"/>
            <a:ext cx="2651760" cy="393873"/>
            <a:chOff x="0" y="0"/>
            <a:chExt cx="3535680" cy="525164"/>
          </a:xfrm>
        </p:grpSpPr>
        <p:sp>
          <p:nvSpPr>
            <p:cNvPr name="Freeform 174" id="174"/>
            <p:cNvSpPr/>
            <p:nvPr/>
          </p:nvSpPr>
          <p:spPr>
            <a:xfrm flipH="false" flipV="false" rot="0">
              <a:off x="0" y="0"/>
              <a:ext cx="3535680" cy="525164"/>
            </a:xfrm>
            <a:custGeom>
              <a:avLst/>
              <a:gdLst/>
              <a:ahLst/>
              <a:cxnLst/>
              <a:rect r="r" b="b" t="t" l="l"/>
              <a:pathLst>
                <a:path h="525164" w="3535680">
                  <a:moveTo>
                    <a:pt x="0" y="0"/>
                  </a:moveTo>
                  <a:lnTo>
                    <a:pt x="3535680" y="0"/>
                  </a:lnTo>
                  <a:lnTo>
                    <a:pt x="3535680" y="525164"/>
                  </a:lnTo>
                  <a:lnTo>
                    <a:pt x="0" y="525164"/>
                  </a:lnTo>
                  <a:close/>
                </a:path>
              </a:pathLst>
            </a:custGeom>
            <a:blipFill>
              <a:blip r:embed="rId3">
                <a:alphaModFix amt="0"/>
              </a:blip>
              <a:stretch>
                <a:fillRect l="0" t="-89395" r="0" b="-72971"/>
              </a:stretch>
            </a:blipFill>
          </p:spPr>
        </p:sp>
        <p:sp>
          <p:nvSpPr>
            <p:cNvPr name="TextBox 175" id="175"/>
            <p:cNvSpPr txBox="true"/>
            <p:nvPr/>
          </p:nvSpPr>
          <p:spPr>
            <a:xfrm>
              <a:off x="0" y="-47625"/>
              <a:ext cx="3535680" cy="572789"/>
            </a:xfrm>
            <a:prstGeom prst="rect">
              <a:avLst/>
            </a:prstGeom>
          </p:spPr>
          <p:txBody>
            <a:bodyPr anchor="ctr" rtlCol="false" tIns="0" lIns="0" bIns="0" rIns="0"/>
            <a:lstStyle/>
            <a:p>
              <a:pPr algn="ctr">
                <a:lnSpc>
                  <a:spcPts val="2399"/>
                </a:lnSpc>
              </a:pPr>
              <a:r>
                <a:rPr lang="en-US" sz="1999">
                  <a:solidFill>
                    <a:srgbClr val="FFFFFF"/>
                  </a:solidFill>
                  <a:latin typeface="Calibri (MS)"/>
                  <a:ea typeface="Calibri (MS)"/>
                  <a:cs typeface="Calibri (MS)"/>
                  <a:sym typeface="Calibri (MS)"/>
                </a:rPr>
                <a:t>~63% uniques</a:t>
              </a:r>
            </a:p>
          </p:txBody>
        </p:sp>
      </p:grpSp>
      <p:grpSp>
        <p:nvGrpSpPr>
          <p:cNvPr name="Group 176" id="176"/>
          <p:cNvGrpSpPr/>
          <p:nvPr/>
        </p:nvGrpSpPr>
        <p:grpSpPr>
          <a:xfrm rot="0">
            <a:off x="4698873" y="6645559"/>
            <a:ext cx="2667000" cy="1909572"/>
            <a:chOff x="0" y="0"/>
            <a:chExt cx="3556000" cy="2546096"/>
          </a:xfrm>
        </p:grpSpPr>
        <p:sp>
          <p:nvSpPr>
            <p:cNvPr name="Freeform 177" id="177"/>
            <p:cNvSpPr/>
            <p:nvPr/>
          </p:nvSpPr>
          <p:spPr>
            <a:xfrm flipH="false" flipV="false" rot="0">
              <a:off x="10160" y="8927"/>
              <a:ext cx="3535680" cy="2528241"/>
            </a:xfrm>
            <a:custGeom>
              <a:avLst/>
              <a:gdLst/>
              <a:ahLst/>
              <a:cxnLst/>
              <a:rect r="r" b="b" t="t" l="l"/>
              <a:pathLst>
                <a:path h="2528241" w="3535680">
                  <a:moveTo>
                    <a:pt x="0" y="0"/>
                  </a:moveTo>
                  <a:lnTo>
                    <a:pt x="3535680" y="0"/>
                  </a:lnTo>
                  <a:lnTo>
                    <a:pt x="3535680" y="2528242"/>
                  </a:lnTo>
                  <a:lnTo>
                    <a:pt x="0" y="2528242"/>
                  </a:lnTo>
                  <a:close/>
                </a:path>
              </a:pathLst>
            </a:custGeom>
            <a:solidFill>
              <a:srgbClr val="1E3A1E"/>
            </a:solidFill>
          </p:spPr>
        </p:sp>
        <p:sp>
          <p:nvSpPr>
            <p:cNvPr name="Freeform 178" id="178"/>
            <p:cNvSpPr/>
            <p:nvPr/>
          </p:nvSpPr>
          <p:spPr>
            <a:xfrm flipH="false" flipV="false" rot="0">
              <a:off x="0" y="0"/>
              <a:ext cx="3556000" cy="2546096"/>
            </a:xfrm>
            <a:custGeom>
              <a:avLst/>
              <a:gdLst/>
              <a:ahLst/>
              <a:cxnLst/>
              <a:rect r="r" b="b" t="t" l="l"/>
              <a:pathLst>
                <a:path h="2546096" w="3556000">
                  <a:moveTo>
                    <a:pt x="10160" y="0"/>
                  </a:moveTo>
                  <a:lnTo>
                    <a:pt x="3545840" y="0"/>
                  </a:lnTo>
                  <a:cubicBezTo>
                    <a:pt x="3551428" y="0"/>
                    <a:pt x="3556000" y="4017"/>
                    <a:pt x="3556000" y="8927"/>
                  </a:cubicBezTo>
                  <a:lnTo>
                    <a:pt x="3556000" y="2537169"/>
                  </a:lnTo>
                  <a:cubicBezTo>
                    <a:pt x="3556000" y="2542079"/>
                    <a:pt x="3551428" y="2546096"/>
                    <a:pt x="3545840" y="2546096"/>
                  </a:cubicBezTo>
                  <a:lnTo>
                    <a:pt x="10160" y="2546096"/>
                  </a:lnTo>
                  <a:cubicBezTo>
                    <a:pt x="4572" y="2546096"/>
                    <a:pt x="0" y="2542079"/>
                    <a:pt x="0" y="2537169"/>
                  </a:cubicBezTo>
                  <a:lnTo>
                    <a:pt x="0" y="8927"/>
                  </a:lnTo>
                  <a:cubicBezTo>
                    <a:pt x="0" y="4017"/>
                    <a:pt x="4572" y="0"/>
                    <a:pt x="10160" y="0"/>
                  </a:cubicBezTo>
                  <a:moveTo>
                    <a:pt x="10160" y="17855"/>
                  </a:moveTo>
                  <a:lnTo>
                    <a:pt x="10160" y="8927"/>
                  </a:lnTo>
                  <a:lnTo>
                    <a:pt x="20320" y="8927"/>
                  </a:lnTo>
                  <a:lnTo>
                    <a:pt x="20320" y="2537169"/>
                  </a:lnTo>
                  <a:lnTo>
                    <a:pt x="10160" y="2537169"/>
                  </a:lnTo>
                  <a:lnTo>
                    <a:pt x="10160" y="2528241"/>
                  </a:lnTo>
                  <a:lnTo>
                    <a:pt x="3545840" y="2528241"/>
                  </a:lnTo>
                  <a:lnTo>
                    <a:pt x="3545840" y="2537169"/>
                  </a:lnTo>
                  <a:lnTo>
                    <a:pt x="3535680" y="2537169"/>
                  </a:lnTo>
                  <a:lnTo>
                    <a:pt x="3535680" y="8927"/>
                  </a:lnTo>
                  <a:lnTo>
                    <a:pt x="3545840" y="8927"/>
                  </a:lnTo>
                  <a:lnTo>
                    <a:pt x="3545840" y="17855"/>
                  </a:lnTo>
                  <a:lnTo>
                    <a:pt x="10160" y="17855"/>
                  </a:lnTo>
                  <a:close/>
                </a:path>
              </a:pathLst>
            </a:custGeom>
            <a:solidFill>
              <a:srgbClr val="52B788"/>
            </a:solidFill>
          </p:spPr>
        </p:sp>
      </p:grpSp>
      <p:grpSp>
        <p:nvGrpSpPr>
          <p:cNvPr name="Group 179" id="179"/>
          <p:cNvGrpSpPr/>
          <p:nvPr/>
        </p:nvGrpSpPr>
        <p:grpSpPr>
          <a:xfrm rot="0">
            <a:off x="4663440" y="7110700"/>
            <a:ext cx="2651760" cy="441833"/>
            <a:chOff x="0" y="0"/>
            <a:chExt cx="3535680" cy="589111"/>
          </a:xfrm>
        </p:grpSpPr>
        <p:sp>
          <p:nvSpPr>
            <p:cNvPr name="Freeform 180" id="180"/>
            <p:cNvSpPr/>
            <p:nvPr/>
          </p:nvSpPr>
          <p:spPr>
            <a:xfrm flipH="false" flipV="false" rot="0">
              <a:off x="0" y="0"/>
              <a:ext cx="3535680" cy="589111"/>
            </a:xfrm>
            <a:custGeom>
              <a:avLst/>
              <a:gdLst/>
              <a:ahLst/>
              <a:cxnLst/>
              <a:rect r="r" b="b" t="t" l="l"/>
              <a:pathLst>
                <a:path h="589111" w="3535680">
                  <a:moveTo>
                    <a:pt x="0" y="0"/>
                  </a:moveTo>
                  <a:lnTo>
                    <a:pt x="3535680" y="0"/>
                  </a:lnTo>
                  <a:lnTo>
                    <a:pt x="3535680" y="589111"/>
                  </a:lnTo>
                  <a:lnTo>
                    <a:pt x="0" y="589111"/>
                  </a:lnTo>
                  <a:close/>
                </a:path>
              </a:pathLst>
            </a:custGeom>
            <a:blipFill>
              <a:blip r:embed="rId3">
                <a:alphaModFix amt="0"/>
              </a:blip>
              <a:stretch>
                <a:fillRect l="0" t="-67274" r="0" b="-66613"/>
              </a:stretch>
            </a:blipFill>
          </p:spPr>
        </p:sp>
        <p:sp>
          <p:nvSpPr>
            <p:cNvPr name="TextBox 181" id="181"/>
            <p:cNvSpPr txBox="true"/>
            <p:nvPr/>
          </p:nvSpPr>
          <p:spPr>
            <a:xfrm>
              <a:off x="0" y="-47625"/>
              <a:ext cx="3535680" cy="636736"/>
            </a:xfrm>
            <a:prstGeom prst="rect">
              <a:avLst/>
            </a:prstGeom>
          </p:spPr>
          <p:txBody>
            <a:bodyPr anchor="ctr" rtlCol="false" tIns="0" lIns="0" bIns="0" rIns="0"/>
            <a:lstStyle/>
            <a:p>
              <a:pPr algn="ctr">
                <a:lnSpc>
                  <a:spcPts val="2639"/>
                </a:lnSpc>
              </a:pPr>
              <a:r>
                <a:rPr lang="en-US" b="true" sz="2199">
                  <a:solidFill>
                    <a:srgbClr val="FFFFFF"/>
                  </a:solidFill>
                  <a:latin typeface="Calibri (MS) Bold"/>
                  <a:ea typeface="Calibri (MS) Bold"/>
                  <a:cs typeface="Calibri (MS) Bold"/>
                  <a:sym typeface="Calibri (MS) Bold"/>
                </a:rPr>
                <a:t>Bootstrap k</a:t>
              </a:r>
            </a:p>
          </p:txBody>
        </p:sp>
      </p:grpSp>
      <p:grpSp>
        <p:nvGrpSpPr>
          <p:cNvPr name="Group 182" id="182"/>
          <p:cNvGrpSpPr/>
          <p:nvPr/>
        </p:nvGrpSpPr>
        <p:grpSpPr>
          <a:xfrm rot="0">
            <a:off x="4635627" y="7722780"/>
            <a:ext cx="2651760" cy="393873"/>
            <a:chOff x="0" y="0"/>
            <a:chExt cx="3535680" cy="525164"/>
          </a:xfrm>
        </p:grpSpPr>
        <p:sp>
          <p:nvSpPr>
            <p:cNvPr name="Freeform 183" id="183"/>
            <p:cNvSpPr/>
            <p:nvPr/>
          </p:nvSpPr>
          <p:spPr>
            <a:xfrm flipH="false" flipV="false" rot="0">
              <a:off x="0" y="0"/>
              <a:ext cx="3535680" cy="525164"/>
            </a:xfrm>
            <a:custGeom>
              <a:avLst/>
              <a:gdLst/>
              <a:ahLst/>
              <a:cxnLst/>
              <a:rect r="r" b="b" t="t" l="l"/>
              <a:pathLst>
                <a:path h="525164" w="3535680">
                  <a:moveTo>
                    <a:pt x="0" y="0"/>
                  </a:moveTo>
                  <a:lnTo>
                    <a:pt x="3535680" y="0"/>
                  </a:lnTo>
                  <a:lnTo>
                    <a:pt x="3535680" y="525164"/>
                  </a:lnTo>
                  <a:lnTo>
                    <a:pt x="0" y="525164"/>
                  </a:lnTo>
                  <a:close/>
                </a:path>
              </a:pathLst>
            </a:custGeom>
            <a:blipFill>
              <a:blip r:embed="rId3">
                <a:alphaModFix amt="0"/>
              </a:blip>
              <a:stretch>
                <a:fillRect l="0" t="-89395" r="0" b="-72971"/>
              </a:stretch>
            </a:blipFill>
          </p:spPr>
        </p:sp>
        <p:sp>
          <p:nvSpPr>
            <p:cNvPr name="TextBox 184" id="184"/>
            <p:cNvSpPr txBox="true"/>
            <p:nvPr/>
          </p:nvSpPr>
          <p:spPr>
            <a:xfrm>
              <a:off x="0" y="-47625"/>
              <a:ext cx="3535680" cy="572789"/>
            </a:xfrm>
            <a:prstGeom prst="rect">
              <a:avLst/>
            </a:prstGeom>
          </p:spPr>
          <p:txBody>
            <a:bodyPr anchor="ctr" rtlCol="false" tIns="0" lIns="0" bIns="0" rIns="0"/>
            <a:lstStyle/>
            <a:p>
              <a:pPr algn="ctr">
                <a:lnSpc>
                  <a:spcPts val="2399"/>
                </a:lnSpc>
              </a:pPr>
              <a:r>
                <a:rPr lang="en-US" sz="1999">
                  <a:solidFill>
                    <a:srgbClr val="FFFFFF"/>
                  </a:solidFill>
                  <a:latin typeface="Calibri (MS)"/>
                  <a:ea typeface="Calibri (MS)"/>
                  <a:cs typeface="Calibri (MS)"/>
                  <a:sym typeface="Calibri (MS)"/>
                </a:rPr>
                <a:t>~63% uniques</a:t>
              </a:r>
            </a:p>
          </p:txBody>
        </p:sp>
      </p:grpSp>
      <p:grpSp>
        <p:nvGrpSpPr>
          <p:cNvPr name="Group 185" id="185"/>
          <p:cNvGrpSpPr/>
          <p:nvPr/>
        </p:nvGrpSpPr>
        <p:grpSpPr>
          <a:xfrm rot="0">
            <a:off x="8119110" y="6673596"/>
            <a:ext cx="2031997" cy="1666237"/>
            <a:chOff x="0" y="0"/>
            <a:chExt cx="2709329" cy="2221649"/>
          </a:xfrm>
        </p:grpSpPr>
        <p:sp>
          <p:nvSpPr>
            <p:cNvPr name="Freeform 186" id="186"/>
            <p:cNvSpPr/>
            <p:nvPr/>
          </p:nvSpPr>
          <p:spPr>
            <a:xfrm flipH="false" flipV="false" rot="0">
              <a:off x="13589" y="13589"/>
              <a:ext cx="2682240" cy="2194560"/>
            </a:xfrm>
            <a:custGeom>
              <a:avLst/>
              <a:gdLst/>
              <a:ahLst/>
              <a:cxnLst/>
              <a:rect r="r" b="b" t="t" l="l"/>
              <a:pathLst>
                <a:path h="2194560" w="2682240">
                  <a:moveTo>
                    <a:pt x="0" y="0"/>
                  </a:moveTo>
                  <a:lnTo>
                    <a:pt x="2682240" y="0"/>
                  </a:lnTo>
                  <a:lnTo>
                    <a:pt x="2682240" y="2194560"/>
                  </a:lnTo>
                  <a:lnTo>
                    <a:pt x="0" y="2194560"/>
                  </a:lnTo>
                  <a:close/>
                </a:path>
              </a:pathLst>
            </a:custGeom>
            <a:solidFill>
              <a:srgbClr val="52B788">
                <a:alpha val="5882"/>
              </a:srgbClr>
            </a:solidFill>
          </p:spPr>
        </p:sp>
        <p:sp>
          <p:nvSpPr>
            <p:cNvPr name="Freeform 187" id="187"/>
            <p:cNvSpPr/>
            <p:nvPr/>
          </p:nvSpPr>
          <p:spPr>
            <a:xfrm flipH="false" flipV="false" rot="0">
              <a:off x="0" y="0"/>
              <a:ext cx="2709418" cy="2221738"/>
            </a:xfrm>
            <a:custGeom>
              <a:avLst/>
              <a:gdLst/>
              <a:ahLst/>
              <a:cxnLst/>
              <a:rect r="r" b="b" t="t" l="l"/>
              <a:pathLst>
                <a:path h="2221738" w="2709418">
                  <a:moveTo>
                    <a:pt x="13589" y="0"/>
                  </a:moveTo>
                  <a:lnTo>
                    <a:pt x="2695829" y="0"/>
                  </a:lnTo>
                  <a:cubicBezTo>
                    <a:pt x="2703322" y="0"/>
                    <a:pt x="2709418" y="6096"/>
                    <a:pt x="2709418" y="13589"/>
                  </a:cubicBezTo>
                  <a:lnTo>
                    <a:pt x="2709418" y="2208149"/>
                  </a:lnTo>
                  <a:cubicBezTo>
                    <a:pt x="2709418" y="2215642"/>
                    <a:pt x="2703322" y="2221738"/>
                    <a:pt x="2695829" y="2221738"/>
                  </a:cubicBezTo>
                  <a:lnTo>
                    <a:pt x="13589" y="2221738"/>
                  </a:lnTo>
                  <a:cubicBezTo>
                    <a:pt x="6096" y="2221738"/>
                    <a:pt x="0" y="2215642"/>
                    <a:pt x="0" y="2208149"/>
                  </a:cubicBezTo>
                  <a:lnTo>
                    <a:pt x="0" y="13589"/>
                  </a:lnTo>
                  <a:cubicBezTo>
                    <a:pt x="0" y="6096"/>
                    <a:pt x="6096" y="0"/>
                    <a:pt x="13589" y="0"/>
                  </a:cubicBezTo>
                  <a:moveTo>
                    <a:pt x="13589" y="27051"/>
                  </a:moveTo>
                  <a:lnTo>
                    <a:pt x="13589" y="13589"/>
                  </a:lnTo>
                  <a:lnTo>
                    <a:pt x="27051" y="13589"/>
                  </a:lnTo>
                  <a:lnTo>
                    <a:pt x="27051" y="2208149"/>
                  </a:lnTo>
                  <a:lnTo>
                    <a:pt x="13589" y="2208149"/>
                  </a:lnTo>
                  <a:lnTo>
                    <a:pt x="13589" y="2194560"/>
                  </a:lnTo>
                  <a:lnTo>
                    <a:pt x="2695829" y="2194560"/>
                  </a:lnTo>
                  <a:lnTo>
                    <a:pt x="2695829" y="2208149"/>
                  </a:lnTo>
                  <a:lnTo>
                    <a:pt x="2682240" y="2208149"/>
                  </a:lnTo>
                  <a:lnTo>
                    <a:pt x="2682240" y="13589"/>
                  </a:lnTo>
                  <a:lnTo>
                    <a:pt x="2695829" y="13589"/>
                  </a:lnTo>
                  <a:lnTo>
                    <a:pt x="2695829" y="27051"/>
                  </a:lnTo>
                  <a:lnTo>
                    <a:pt x="13589" y="27051"/>
                  </a:lnTo>
                  <a:close/>
                </a:path>
              </a:pathLst>
            </a:custGeom>
            <a:solidFill>
              <a:srgbClr val="52B788"/>
            </a:solidFill>
          </p:spPr>
        </p:sp>
      </p:grpSp>
      <p:grpSp>
        <p:nvGrpSpPr>
          <p:cNvPr name="Group 188" id="188"/>
          <p:cNvGrpSpPr/>
          <p:nvPr/>
        </p:nvGrpSpPr>
        <p:grpSpPr>
          <a:xfrm rot="0">
            <a:off x="8119110" y="7753483"/>
            <a:ext cx="2011680" cy="480268"/>
            <a:chOff x="0" y="0"/>
            <a:chExt cx="2682240" cy="640357"/>
          </a:xfrm>
        </p:grpSpPr>
        <p:sp>
          <p:nvSpPr>
            <p:cNvPr name="Freeform 189" id="189"/>
            <p:cNvSpPr/>
            <p:nvPr/>
          </p:nvSpPr>
          <p:spPr>
            <a:xfrm flipH="false" flipV="false" rot="0">
              <a:off x="0" y="0"/>
              <a:ext cx="2682240" cy="640357"/>
            </a:xfrm>
            <a:custGeom>
              <a:avLst/>
              <a:gdLst/>
              <a:ahLst/>
              <a:cxnLst/>
              <a:rect r="r" b="b" t="t" l="l"/>
              <a:pathLst>
                <a:path h="640357" w="2682240">
                  <a:moveTo>
                    <a:pt x="0" y="0"/>
                  </a:moveTo>
                  <a:lnTo>
                    <a:pt x="2682240" y="0"/>
                  </a:lnTo>
                  <a:lnTo>
                    <a:pt x="2682240" y="640357"/>
                  </a:lnTo>
                  <a:lnTo>
                    <a:pt x="0" y="640357"/>
                  </a:lnTo>
                  <a:close/>
                </a:path>
              </a:pathLst>
            </a:custGeom>
            <a:blipFill>
              <a:blip r:embed="rId3">
                <a:alphaModFix amt="0"/>
              </a:blip>
              <a:stretch>
                <a:fillRect l="0" t="-32113" r="0" b="-31118"/>
              </a:stretch>
            </a:blipFill>
          </p:spPr>
        </p:sp>
        <p:sp>
          <p:nvSpPr>
            <p:cNvPr name="TextBox 190" id="190"/>
            <p:cNvSpPr txBox="true"/>
            <p:nvPr/>
          </p:nvSpPr>
          <p:spPr>
            <a:xfrm>
              <a:off x="0" y="-57150"/>
              <a:ext cx="2682240" cy="697507"/>
            </a:xfrm>
            <a:prstGeom prst="rect">
              <a:avLst/>
            </a:prstGeom>
          </p:spPr>
          <p:txBody>
            <a:bodyPr anchor="ctr" rtlCol="false" tIns="0" lIns="0" bIns="0" rIns="0"/>
            <a:lstStyle/>
            <a:p>
              <a:pPr algn="ctr">
                <a:lnSpc>
                  <a:spcPts val="2879"/>
                </a:lnSpc>
              </a:pPr>
              <a:r>
                <a:rPr lang="en-US" sz="2399" b="true">
                  <a:solidFill>
                    <a:srgbClr val="52B788"/>
                  </a:solidFill>
                  <a:latin typeface="Calibri (MS) Bold"/>
                  <a:ea typeface="Calibri (MS) Bold"/>
                  <a:cs typeface="Calibri (MS) Bold"/>
                  <a:sym typeface="Calibri (MS) Bold"/>
                </a:rPr>
                <a:t>Arbre k</a:t>
              </a:r>
            </a:p>
          </p:txBody>
        </p:sp>
      </p:grpSp>
      <p:sp>
        <p:nvSpPr>
          <p:cNvPr name="Freeform 191" id="191"/>
          <p:cNvSpPr/>
          <p:nvPr/>
        </p:nvSpPr>
        <p:spPr>
          <a:xfrm flipH="false" flipV="false" rot="0">
            <a:off x="3364300" y="2402969"/>
            <a:ext cx="1232465" cy="1232465"/>
          </a:xfrm>
          <a:custGeom>
            <a:avLst/>
            <a:gdLst/>
            <a:ahLst/>
            <a:cxnLst/>
            <a:rect r="r" b="b" t="t" l="l"/>
            <a:pathLst>
              <a:path h="1232465" w="1232465">
                <a:moveTo>
                  <a:pt x="0" y="0"/>
                </a:moveTo>
                <a:lnTo>
                  <a:pt x="1232465" y="0"/>
                </a:lnTo>
                <a:lnTo>
                  <a:pt x="1232465" y="1232465"/>
                </a:lnTo>
                <a:lnTo>
                  <a:pt x="0" y="1232465"/>
                </a:lnTo>
                <a:lnTo>
                  <a:pt x="0" y="0"/>
                </a:lnTo>
                <a:close/>
              </a:path>
            </a:pathLst>
          </a:custGeom>
          <a:blipFill>
            <a:blip r:embed="rId4"/>
            <a:stretch>
              <a:fillRect l="0" t="0" r="0" b="0"/>
            </a:stretch>
          </a:blipFill>
        </p:spPr>
      </p:sp>
      <p:sp>
        <p:nvSpPr>
          <p:cNvPr name="Freeform 192" id="192"/>
          <p:cNvSpPr/>
          <p:nvPr/>
        </p:nvSpPr>
        <p:spPr>
          <a:xfrm flipH="false" flipV="false" rot="0">
            <a:off x="3430975" y="4780413"/>
            <a:ext cx="1232465" cy="1232465"/>
          </a:xfrm>
          <a:custGeom>
            <a:avLst/>
            <a:gdLst/>
            <a:ahLst/>
            <a:cxnLst/>
            <a:rect r="r" b="b" t="t" l="l"/>
            <a:pathLst>
              <a:path h="1232465" w="1232465">
                <a:moveTo>
                  <a:pt x="0" y="0"/>
                </a:moveTo>
                <a:lnTo>
                  <a:pt x="1232465" y="0"/>
                </a:lnTo>
                <a:lnTo>
                  <a:pt x="1232465" y="1232465"/>
                </a:lnTo>
                <a:lnTo>
                  <a:pt x="0" y="1232465"/>
                </a:lnTo>
                <a:lnTo>
                  <a:pt x="0" y="0"/>
                </a:lnTo>
                <a:close/>
              </a:path>
            </a:pathLst>
          </a:custGeom>
          <a:blipFill>
            <a:blip r:embed="rId4"/>
            <a:stretch>
              <a:fillRect l="0" t="0" r="0" b="0"/>
            </a:stretch>
          </a:blipFill>
        </p:spPr>
      </p:sp>
      <p:sp>
        <p:nvSpPr>
          <p:cNvPr name="Freeform 193" id="193"/>
          <p:cNvSpPr/>
          <p:nvPr/>
        </p:nvSpPr>
        <p:spPr>
          <a:xfrm flipH="false" flipV="false" rot="0">
            <a:off x="3485839" y="7161433"/>
            <a:ext cx="1232465" cy="1232465"/>
          </a:xfrm>
          <a:custGeom>
            <a:avLst/>
            <a:gdLst/>
            <a:ahLst/>
            <a:cxnLst/>
            <a:rect r="r" b="b" t="t" l="l"/>
            <a:pathLst>
              <a:path h="1232465" w="1232465">
                <a:moveTo>
                  <a:pt x="0" y="0"/>
                </a:moveTo>
                <a:lnTo>
                  <a:pt x="1232465" y="0"/>
                </a:lnTo>
                <a:lnTo>
                  <a:pt x="1232465" y="1232465"/>
                </a:lnTo>
                <a:lnTo>
                  <a:pt x="0" y="1232465"/>
                </a:lnTo>
                <a:lnTo>
                  <a:pt x="0" y="0"/>
                </a:lnTo>
                <a:close/>
              </a:path>
            </a:pathLst>
          </a:custGeom>
          <a:blipFill>
            <a:blip r:embed="rId4"/>
            <a:stretch>
              <a:fillRect l="0" t="0" r="0" b="0"/>
            </a:stretch>
          </a:blipFill>
        </p:spPr>
      </p:sp>
      <p:sp>
        <p:nvSpPr>
          <p:cNvPr name="Freeform 194" id="194"/>
          <p:cNvSpPr/>
          <p:nvPr/>
        </p:nvSpPr>
        <p:spPr>
          <a:xfrm flipH="false" flipV="false" rot="0">
            <a:off x="7370646" y="2371521"/>
            <a:ext cx="753845" cy="753845"/>
          </a:xfrm>
          <a:custGeom>
            <a:avLst/>
            <a:gdLst/>
            <a:ahLst/>
            <a:cxnLst/>
            <a:rect r="r" b="b" t="t" l="l"/>
            <a:pathLst>
              <a:path h="753845" w="753845">
                <a:moveTo>
                  <a:pt x="0" y="0"/>
                </a:moveTo>
                <a:lnTo>
                  <a:pt x="753845" y="0"/>
                </a:lnTo>
                <a:lnTo>
                  <a:pt x="753845" y="753845"/>
                </a:lnTo>
                <a:lnTo>
                  <a:pt x="0" y="753845"/>
                </a:lnTo>
                <a:lnTo>
                  <a:pt x="0" y="0"/>
                </a:lnTo>
                <a:close/>
              </a:path>
            </a:pathLst>
          </a:custGeom>
          <a:blipFill>
            <a:blip r:embed="rId4"/>
            <a:stretch>
              <a:fillRect l="0" t="0" r="0" b="0"/>
            </a:stretch>
          </a:blipFill>
        </p:spPr>
      </p:sp>
      <p:sp>
        <p:nvSpPr>
          <p:cNvPr name="Freeform 195" id="195"/>
          <p:cNvSpPr/>
          <p:nvPr/>
        </p:nvSpPr>
        <p:spPr>
          <a:xfrm flipH="false" flipV="false" rot="0">
            <a:off x="7327794" y="4973999"/>
            <a:ext cx="753845" cy="753845"/>
          </a:xfrm>
          <a:custGeom>
            <a:avLst/>
            <a:gdLst/>
            <a:ahLst/>
            <a:cxnLst/>
            <a:rect r="r" b="b" t="t" l="l"/>
            <a:pathLst>
              <a:path h="753845" w="753845">
                <a:moveTo>
                  <a:pt x="0" y="0"/>
                </a:moveTo>
                <a:lnTo>
                  <a:pt x="753845" y="0"/>
                </a:lnTo>
                <a:lnTo>
                  <a:pt x="753845" y="753845"/>
                </a:lnTo>
                <a:lnTo>
                  <a:pt x="0" y="753845"/>
                </a:lnTo>
                <a:lnTo>
                  <a:pt x="0" y="0"/>
                </a:lnTo>
                <a:close/>
              </a:path>
            </a:pathLst>
          </a:custGeom>
          <a:blipFill>
            <a:blip r:embed="rId4"/>
            <a:stretch>
              <a:fillRect l="0" t="0" r="0" b="0"/>
            </a:stretch>
          </a:blipFill>
        </p:spPr>
      </p:sp>
      <p:sp>
        <p:nvSpPr>
          <p:cNvPr name="Freeform 196" id="196"/>
          <p:cNvSpPr/>
          <p:nvPr/>
        </p:nvSpPr>
        <p:spPr>
          <a:xfrm flipH="false" flipV="false" rot="0">
            <a:off x="7375428" y="7047607"/>
            <a:ext cx="753845" cy="753845"/>
          </a:xfrm>
          <a:custGeom>
            <a:avLst/>
            <a:gdLst/>
            <a:ahLst/>
            <a:cxnLst/>
            <a:rect r="r" b="b" t="t" l="l"/>
            <a:pathLst>
              <a:path h="753845" w="753845">
                <a:moveTo>
                  <a:pt x="0" y="0"/>
                </a:moveTo>
                <a:lnTo>
                  <a:pt x="753845" y="0"/>
                </a:lnTo>
                <a:lnTo>
                  <a:pt x="753845" y="753845"/>
                </a:lnTo>
                <a:lnTo>
                  <a:pt x="0" y="753845"/>
                </a:lnTo>
                <a:lnTo>
                  <a:pt x="0" y="0"/>
                </a:lnTo>
                <a:close/>
              </a:path>
            </a:pathLst>
          </a:custGeom>
          <a:blipFill>
            <a:blip r:embed="rId4"/>
            <a:stretch>
              <a:fillRect l="0" t="0" r="0" b="0"/>
            </a:stretch>
          </a:blipFill>
        </p:spPr>
      </p:sp>
      <p:grpSp>
        <p:nvGrpSpPr>
          <p:cNvPr name="Group 197" id="197"/>
          <p:cNvGrpSpPr/>
          <p:nvPr/>
        </p:nvGrpSpPr>
        <p:grpSpPr>
          <a:xfrm rot="0">
            <a:off x="8081639" y="6817840"/>
            <a:ext cx="2011680" cy="877824"/>
            <a:chOff x="0" y="0"/>
            <a:chExt cx="2682240" cy="1170432"/>
          </a:xfrm>
        </p:grpSpPr>
        <p:sp>
          <p:nvSpPr>
            <p:cNvPr name="Freeform 198" id="198"/>
            <p:cNvSpPr/>
            <p:nvPr/>
          </p:nvSpPr>
          <p:spPr>
            <a:xfrm flipH="false" flipV="false" rot="0">
              <a:off x="0" y="0"/>
              <a:ext cx="2682240" cy="1170432"/>
            </a:xfrm>
            <a:custGeom>
              <a:avLst/>
              <a:gdLst/>
              <a:ahLst/>
              <a:cxnLst/>
              <a:rect r="r" b="b" t="t" l="l"/>
              <a:pathLst>
                <a:path h="1170432" w="2682240">
                  <a:moveTo>
                    <a:pt x="0" y="0"/>
                  </a:moveTo>
                  <a:lnTo>
                    <a:pt x="2682240" y="0"/>
                  </a:lnTo>
                  <a:lnTo>
                    <a:pt x="2682240" y="1170432"/>
                  </a:lnTo>
                  <a:lnTo>
                    <a:pt x="0" y="1170432"/>
                  </a:lnTo>
                  <a:close/>
                </a:path>
              </a:pathLst>
            </a:custGeom>
            <a:blipFill>
              <a:blip r:embed="rId3">
                <a:alphaModFix amt="0"/>
              </a:blip>
              <a:stretch>
                <a:fillRect l="-5987" t="0" r="-5987" b="0"/>
              </a:stretch>
            </a:blipFill>
          </p:spPr>
        </p:sp>
        <p:sp>
          <p:nvSpPr>
            <p:cNvPr name="TextBox 199" id="199"/>
            <p:cNvSpPr txBox="true"/>
            <p:nvPr/>
          </p:nvSpPr>
          <p:spPr>
            <a:xfrm>
              <a:off x="0" y="-85725"/>
              <a:ext cx="2682240" cy="1256157"/>
            </a:xfrm>
            <a:prstGeom prst="rect">
              <a:avLst/>
            </a:prstGeom>
          </p:spPr>
          <p:txBody>
            <a:bodyPr anchor="ctr" rtlCol="false" tIns="0" lIns="0" bIns="0" rIns="0"/>
            <a:lstStyle/>
            <a:p>
              <a:pPr algn="ctr">
                <a:lnSpc>
                  <a:spcPts val="4920"/>
                </a:lnSpc>
              </a:pPr>
              <a:r>
                <a:rPr lang="en-US" sz="4100">
                  <a:solidFill>
                    <a:srgbClr val="000000"/>
                  </a:solidFill>
                  <a:latin typeface="Calibri (MS)"/>
                  <a:ea typeface="Calibri (MS)"/>
                  <a:cs typeface="Calibri (MS)"/>
                  <a:sym typeface="Calibri (MS)"/>
                </a:rPr>
                <a:t>🌲</a:t>
              </a:r>
            </a:p>
          </p:txBody>
        </p:sp>
      </p:grpSp>
      <p:sp>
        <p:nvSpPr>
          <p:cNvPr name="Freeform 200" id="200"/>
          <p:cNvSpPr/>
          <p:nvPr/>
        </p:nvSpPr>
        <p:spPr>
          <a:xfrm flipH="false" flipV="false" rot="0">
            <a:off x="13410502" y="4864266"/>
            <a:ext cx="753845" cy="753845"/>
          </a:xfrm>
          <a:custGeom>
            <a:avLst/>
            <a:gdLst/>
            <a:ahLst/>
            <a:cxnLst/>
            <a:rect r="r" b="b" t="t" l="l"/>
            <a:pathLst>
              <a:path h="753845" w="753845">
                <a:moveTo>
                  <a:pt x="0" y="0"/>
                </a:moveTo>
                <a:lnTo>
                  <a:pt x="753845" y="0"/>
                </a:lnTo>
                <a:lnTo>
                  <a:pt x="753845" y="753845"/>
                </a:lnTo>
                <a:lnTo>
                  <a:pt x="0" y="753845"/>
                </a:lnTo>
                <a:lnTo>
                  <a:pt x="0" y="0"/>
                </a:lnTo>
                <a:close/>
              </a:path>
            </a:pathLst>
          </a:custGeom>
          <a:blipFill>
            <a:blip r:embed="rId4"/>
            <a:stretch>
              <a:fillRect l="0" t="0" r="0" b="0"/>
            </a:stretch>
          </a:blipFill>
        </p:spPr>
      </p:sp>
      <p:sp>
        <p:nvSpPr>
          <p:cNvPr name="Freeform 201" id="201"/>
          <p:cNvSpPr/>
          <p:nvPr/>
        </p:nvSpPr>
        <p:spPr>
          <a:xfrm flipH="false" flipV="false" rot="0">
            <a:off x="736349" y="9189733"/>
            <a:ext cx="514224" cy="514224"/>
          </a:xfrm>
          <a:custGeom>
            <a:avLst/>
            <a:gdLst/>
            <a:ahLst/>
            <a:cxnLst/>
            <a:rect r="r" b="b" t="t" l="l"/>
            <a:pathLst>
              <a:path h="514224" w="514224">
                <a:moveTo>
                  <a:pt x="0" y="0"/>
                </a:moveTo>
                <a:lnTo>
                  <a:pt x="514225" y="0"/>
                </a:lnTo>
                <a:lnTo>
                  <a:pt x="514225" y="514224"/>
                </a:lnTo>
                <a:lnTo>
                  <a:pt x="0" y="514224"/>
                </a:lnTo>
                <a:lnTo>
                  <a:pt x="0" y="0"/>
                </a:lnTo>
                <a:close/>
              </a:path>
            </a:pathLst>
          </a:custGeom>
          <a:blipFill>
            <a:blip r:embed="rId5"/>
            <a:stretch>
              <a:fillRect l="0" t="0" r="0" b="0"/>
            </a:stretch>
          </a:blipFill>
        </p:spPr>
      </p:sp>
      <p:sp>
        <p:nvSpPr>
          <p:cNvPr name="TextBox 202" id="202"/>
          <p:cNvSpPr txBox="true"/>
          <p:nvPr/>
        </p:nvSpPr>
        <p:spPr>
          <a:xfrm rot="0">
            <a:off x="17739360" y="9777890"/>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3386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85725"/>
              <a:ext cx="22920960" cy="2280285"/>
            </a:xfrm>
            <a:prstGeom prst="rect">
              <a:avLst/>
            </a:prstGeom>
          </p:spPr>
          <p:txBody>
            <a:bodyPr anchor="ctr" rtlCol="false" tIns="0" lIns="0" bIns="0" rIns="0"/>
            <a:lstStyle/>
            <a:p>
              <a:pPr algn="l">
                <a:lnSpc>
                  <a:spcPts val="5159"/>
                </a:lnSpc>
              </a:pPr>
              <a:r>
                <a:rPr lang="en-US" sz="4299" b="true">
                  <a:solidFill>
                    <a:srgbClr val="FFFFFF"/>
                  </a:solidFill>
                  <a:latin typeface="Calibri (MS) Bold"/>
                  <a:ea typeface="Calibri (MS) Bold"/>
                  <a:cs typeface="Calibri (MS) Bold"/>
                  <a:sym typeface="Calibri (MS) Bold"/>
                </a:rPr>
                <a:t>A3 — Feature Importances </a:t>
              </a:r>
            </a:p>
          </p:txBody>
        </p:sp>
      </p:grpSp>
      <p:grpSp>
        <p:nvGrpSpPr>
          <p:cNvPr name="Group 8" id="8"/>
          <p:cNvGrpSpPr/>
          <p:nvPr/>
        </p:nvGrpSpPr>
        <p:grpSpPr>
          <a:xfrm rot="0">
            <a:off x="567683" y="2234034"/>
            <a:ext cx="16944332" cy="2448891"/>
            <a:chOff x="0" y="0"/>
            <a:chExt cx="22592443" cy="3265189"/>
          </a:xfrm>
        </p:grpSpPr>
        <p:sp>
          <p:nvSpPr>
            <p:cNvPr name="Freeform 9" id="9"/>
            <p:cNvSpPr/>
            <p:nvPr/>
          </p:nvSpPr>
          <p:spPr>
            <a:xfrm flipH="false" flipV="false" rot="0">
              <a:off x="17493" y="6754"/>
              <a:ext cx="22557640" cy="3251751"/>
            </a:xfrm>
            <a:custGeom>
              <a:avLst/>
              <a:gdLst/>
              <a:ahLst/>
              <a:cxnLst/>
              <a:rect r="r" b="b" t="t" l="l"/>
              <a:pathLst>
                <a:path h="3251751" w="22557640">
                  <a:moveTo>
                    <a:pt x="0" y="0"/>
                  </a:moveTo>
                  <a:lnTo>
                    <a:pt x="22557639" y="0"/>
                  </a:lnTo>
                  <a:lnTo>
                    <a:pt x="22557639" y="3251751"/>
                  </a:lnTo>
                  <a:lnTo>
                    <a:pt x="0" y="3251751"/>
                  </a:lnTo>
                  <a:close/>
                </a:path>
              </a:pathLst>
            </a:custGeom>
            <a:solidFill>
              <a:srgbClr val="FFFFFF"/>
            </a:solidFill>
          </p:spPr>
        </p:sp>
        <p:sp>
          <p:nvSpPr>
            <p:cNvPr name="Freeform 10" id="10"/>
            <p:cNvSpPr/>
            <p:nvPr/>
          </p:nvSpPr>
          <p:spPr>
            <a:xfrm flipH="false" flipV="false" rot="0">
              <a:off x="0" y="0"/>
              <a:ext cx="22592533" cy="3265278"/>
            </a:xfrm>
            <a:custGeom>
              <a:avLst/>
              <a:gdLst/>
              <a:ahLst/>
              <a:cxnLst/>
              <a:rect r="r" b="b" t="t" l="l"/>
              <a:pathLst>
                <a:path h="3265278" w="22592533">
                  <a:moveTo>
                    <a:pt x="17493" y="0"/>
                  </a:moveTo>
                  <a:lnTo>
                    <a:pt x="22575132" y="0"/>
                  </a:lnTo>
                  <a:cubicBezTo>
                    <a:pt x="22584792" y="0"/>
                    <a:pt x="22592533" y="3024"/>
                    <a:pt x="22592533" y="6754"/>
                  </a:cubicBezTo>
                  <a:lnTo>
                    <a:pt x="22592533" y="3258505"/>
                  </a:lnTo>
                  <a:cubicBezTo>
                    <a:pt x="22592533" y="3262235"/>
                    <a:pt x="22584792" y="3265278"/>
                    <a:pt x="22575132" y="3265278"/>
                  </a:cubicBezTo>
                  <a:lnTo>
                    <a:pt x="17493" y="3265278"/>
                  </a:lnTo>
                  <a:cubicBezTo>
                    <a:pt x="7833" y="3265278"/>
                    <a:pt x="0" y="3262235"/>
                    <a:pt x="0" y="3258505"/>
                  </a:cubicBezTo>
                  <a:lnTo>
                    <a:pt x="0" y="6754"/>
                  </a:lnTo>
                  <a:cubicBezTo>
                    <a:pt x="0" y="3024"/>
                    <a:pt x="7833" y="0"/>
                    <a:pt x="17493" y="0"/>
                  </a:cubicBezTo>
                  <a:moveTo>
                    <a:pt x="17493" y="13408"/>
                  </a:moveTo>
                  <a:lnTo>
                    <a:pt x="17493" y="6754"/>
                  </a:lnTo>
                  <a:lnTo>
                    <a:pt x="34985" y="6754"/>
                  </a:lnTo>
                  <a:lnTo>
                    <a:pt x="34985" y="3258505"/>
                  </a:lnTo>
                  <a:lnTo>
                    <a:pt x="17493" y="3258505"/>
                  </a:lnTo>
                  <a:lnTo>
                    <a:pt x="17493" y="3251750"/>
                  </a:lnTo>
                  <a:lnTo>
                    <a:pt x="22575132" y="3251750"/>
                  </a:lnTo>
                  <a:lnTo>
                    <a:pt x="22575132" y="3258505"/>
                  </a:lnTo>
                  <a:lnTo>
                    <a:pt x="22557640" y="3258505"/>
                  </a:lnTo>
                  <a:lnTo>
                    <a:pt x="22557640" y="6754"/>
                  </a:lnTo>
                  <a:lnTo>
                    <a:pt x="22575132" y="6754"/>
                  </a:lnTo>
                  <a:lnTo>
                    <a:pt x="22575132" y="13509"/>
                  </a:lnTo>
                  <a:lnTo>
                    <a:pt x="17493" y="13509"/>
                  </a:lnTo>
                  <a:close/>
                </a:path>
              </a:pathLst>
            </a:custGeom>
            <a:solidFill>
              <a:srgbClr val="E0E0E0"/>
            </a:solidFill>
          </p:spPr>
        </p:sp>
      </p:grpSp>
      <p:grpSp>
        <p:nvGrpSpPr>
          <p:cNvPr name="Group 11" id="11"/>
          <p:cNvGrpSpPr/>
          <p:nvPr/>
        </p:nvGrpSpPr>
        <p:grpSpPr>
          <a:xfrm rot="0">
            <a:off x="505134" y="2193598"/>
            <a:ext cx="173869" cy="2489327"/>
            <a:chOff x="0" y="0"/>
            <a:chExt cx="303221" cy="4341276"/>
          </a:xfrm>
        </p:grpSpPr>
        <p:sp>
          <p:nvSpPr>
            <p:cNvPr name="Freeform 12" id="12"/>
            <p:cNvSpPr/>
            <p:nvPr/>
          </p:nvSpPr>
          <p:spPr>
            <a:xfrm flipH="false" flipV="false" rot="0">
              <a:off x="28426" y="17753"/>
              <a:ext cx="246218" cy="4305676"/>
            </a:xfrm>
            <a:custGeom>
              <a:avLst/>
              <a:gdLst/>
              <a:ahLst/>
              <a:cxnLst/>
              <a:rect r="r" b="b" t="t" l="l"/>
              <a:pathLst>
                <a:path h="4305676" w="246218">
                  <a:moveTo>
                    <a:pt x="0" y="0"/>
                  </a:moveTo>
                  <a:lnTo>
                    <a:pt x="246219" y="0"/>
                  </a:lnTo>
                  <a:lnTo>
                    <a:pt x="246219" y="4305677"/>
                  </a:lnTo>
                  <a:lnTo>
                    <a:pt x="0" y="4305677"/>
                  </a:lnTo>
                  <a:close/>
                </a:path>
              </a:pathLst>
            </a:custGeom>
            <a:solidFill>
              <a:srgbClr val="52B788"/>
            </a:solidFill>
          </p:spPr>
        </p:sp>
        <p:sp>
          <p:nvSpPr>
            <p:cNvPr name="Freeform 13" id="13"/>
            <p:cNvSpPr/>
            <p:nvPr/>
          </p:nvSpPr>
          <p:spPr>
            <a:xfrm flipH="false" flipV="false" rot="0">
              <a:off x="0" y="0"/>
              <a:ext cx="303071" cy="4341183"/>
            </a:xfrm>
            <a:custGeom>
              <a:avLst/>
              <a:gdLst/>
              <a:ahLst/>
              <a:cxnLst/>
              <a:rect r="r" b="b" t="t" l="l"/>
              <a:pathLst>
                <a:path h="4341183" w="303071">
                  <a:moveTo>
                    <a:pt x="28426" y="0"/>
                  </a:moveTo>
                  <a:lnTo>
                    <a:pt x="274645" y="0"/>
                  </a:lnTo>
                  <a:cubicBezTo>
                    <a:pt x="290461" y="0"/>
                    <a:pt x="303071" y="8009"/>
                    <a:pt x="303071" y="17753"/>
                  </a:cubicBezTo>
                  <a:lnTo>
                    <a:pt x="303071" y="4323430"/>
                  </a:lnTo>
                  <a:cubicBezTo>
                    <a:pt x="303071" y="4333307"/>
                    <a:pt x="290247" y="4341183"/>
                    <a:pt x="274645" y="4341183"/>
                  </a:cubicBezTo>
                  <a:lnTo>
                    <a:pt x="28426" y="4341183"/>
                  </a:lnTo>
                  <a:cubicBezTo>
                    <a:pt x="12610" y="4341183"/>
                    <a:pt x="0" y="4333174"/>
                    <a:pt x="0" y="4323430"/>
                  </a:cubicBezTo>
                  <a:lnTo>
                    <a:pt x="0" y="17753"/>
                  </a:lnTo>
                  <a:cubicBezTo>
                    <a:pt x="0" y="8009"/>
                    <a:pt x="12824" y="0"/>
                    <a:pt x="28426" y="0"/>
                  </a:cubicBezTo>
                  <a:moveTo>
                    <a:pt x="28426" y="35640"/>
                  </a:moveTo>
                  <a:lnTo>
                    <a:pt x="28426" y="17753"/>
                  </a:lnTo>
                  <a:lnTo>
                    <a:pt x="57066" y="17753"/>
                  </a:lnTo>
                  <a:lnTo>
                    <a:pt x="57066" y="4323430"/>
                  </a:lnTo>
                  <a:lnTo>
                    <a:pt x="28426" y="4323430"/>
                  </a:lnTo>
                  <a:lnTo>
                    <a:pt x="28426" y="4305676"/>
                  </a:lnTo>
                  <a:lnTo>
                    <a:pt x="274645" y="4305676"/>
                  </a:lnTo>
                  <a:lnTo>
                    <a:pt x="274645" y="4323430"/>
                  </a:lnTo>
                  <a:lnTo>
                    <a:pt x="246218" y="4323430"/>
                  </a:lnTo>
                  <a:lnTo>
                    <a:pt x="246218" y="17753"/>
                  </a:lnTo>
                  <a:lnTo>
                    <a:pt x="274645" y="17753"/>
                  </a:lnTo>
                  <a:lnTo>
                    <a:pt x="274645" y="35640"/>
                  </a:lnTo>
                  <a:lnTo>
                    <a:pt x="28426" y="35640"/>
                  </a:lnTo>
                  <a:close/>
                </a:path>
              </a:pathLst>
            </a:custGeom>
            <a:solidFill>
              <a:srgbClr val="52B788"/>
            </a:solidFill>
          </p:spPr>
        </p:sp>
      </p:grpSp>
      <p:grpSp>
        <p:nvGrpSpPr>
          <p:cNvPr name="Group 14" id="14"/>
          <p:cNvGrpSpPr/>
          <p:nvPr/>
        </p:nvGrpSpPr>
        <p:grpSpPr>
          <a:xfrm rot="0">
            <a:off x="773987" y="2193598"/>
            <a:ext cx="17235386" cy="2696165"/>
            <a:chOff x="0" y="0"/>
            <a:chExt cx="22980514" cy="3594886"/>
          </a:xfrm>
        </p:grpSpPr>
        <p:sp>
          <p:nvSpPr>
            <p:cNvPr name="Freeform 15" id="15"/>
            <p:cNvSpPr/>
            <p:nvPr/>
          </p:nvSpPr>
          <p:spPr>
            <a:xfrm flipH="false" flipV="false" rot="0">
              <a:off x="0" y="0"/>
              <a:ext cx="22980515" cy="3594886"/>
            </a:xfrm>
            <a:custGeom>
              <a:avLst/>
              <a:gdLst/>
              <a:ahLst/>
              <a:cxnLst/>
              <a:rect r="r" b="b" t="t" l="l"/>
              <a:pathLst>
                <a:path h="3594886" w="22980515">
                  <a:moveTo>
                    <a:pt x="0" y="0"/>
                  </a:moveTo>
                  <a:lnTo>
                    <a:pt x="22980515" y="0"/>
                  </a:lnTo>
                  <a:lnTo>
                    <a:pt x="22980515" y="3594886"/>
                  </a:lnTo>
                  <a:lnTo>
                    <a:pt x="0" y="3594886"/>
                  </a:lnTo>
                  <a:close/>
                </a:path>
              </a:pathLst>
            </a:custGeom>
            <a:blipFill>
              <a:blip r:embed="rId3">
                <a:alphaModFix amt="0"/>
              </a:blip>
              <a:stretch>
                <a:fillRect l="0" t="-15472" r="54904" b="3131"/>
              </a:stretch>
            </a:blipFill>
          </p:spPr>
        </p:sp>
        <p:sp>
          <p:nvSpPr>
            <p:cNvPr name="TextBox 16" id="16"/>
            <p:cNvSpPr txBox="true"/>
            <p:nvPr/>
          </p:nvSpPr>
          <p:spPr>
            <a:xfrm>
              <a:off x="0" y="-190500"/>
              <a:ext cx="22980514" cy="3785386"/>
            </a:xfrm>
            <a:prstGeom prst="rect">
              <a:avLst/>
            </a:prstGeom>
          </p:spPr>
          <p:txBody>
            <a:bodyPr anchor="ctr" rtlCol="false" tIns="0" lIns="0" bIns="0" rIns="0"/>
            <a:lstStyle/>
            <a:p>
              <a:pPr algn="l">
                <a:lnSpc>
                  <a:spcPts val="4871"/>
                </a:lnSpc>
              </a:pPr>
              <a:r>
                <a:rPr lang="en-US" sz="2899" b="true">
                  <a:solidFill>
                    <a:srgbClr val="5B9E3D"/>
                  </a:solidFill>
                  <a:latin typeface="Calibri (MS) Bold"/>
                  <a:ea typeface="Calibri (MS) Bold"/>
                  <a:cs typeface="Calibri (MS) Bold"/>
                  <a:sym typeface="Calibri (MS) Bold"/>
                </a:rPr>
                <a:t>Principe</a:t>
              </a:r>
            </a:p>
            <a:p>
              <a:pPr algn="l">
                <a:lnSpc>
                  <a:spcPts val="4535"/>
                </a:lnSpc>
              </a:pPr>
              <a:r>
                <a:rPr lang="en-US" sz="2699">
                  <a:solidFill>
                    <a:srgbClr val="6B8F6B"/>
                  </a:solidFill>
                  <a:latin typeface="Calibri (MS)"/>
                  <a:ea typeface="Calibri (MS)"/>
                  <a:cs typeface="Calibri (MS)"/>
                  <a:sym typeface="Calibri (MS)"/>
                </a:rPr>
                <a:t>Le</a:t>
              </a:r>
              <a:r>
                <a:rPr lang="en-US" sz="2699" b="true">
                  <a:solidFill>
                    <a:srgbClr val="6B8F6B"/>
                  </a:solidFill>
                  <a:latin typeface="Calibri (MS) Bold"/>
                  <a:ea typeface="Calibri (MS) Bold"/>
                  <a:cs typeface="Calibri (MS) Bold"/>
                  <a:sym typeface="Calibri (MS) Bold"/>
                </a:rPr>
                <a:t> </a:t>
              </a:r>
              <a:r>
                <a:rPr lang="en-US" sz="2699">
                  <a:solidFill>
                    <a:srgbClr val="6B8F6B"/>
                  </a:solidFill>
                  <a:latin typeface="Calibri (MS)"/>
                  <a:ea typeface="Calibri (MS)"/>
                  <a:cs typeface="Calibri (MS)"/>
                  <a:sym typeface="Calibri (MS)"/>
                </a:rPr>
                <a:t>modèle Random Forest regarde, dans chaque arbre, quelles variables permettent de mieux séparer les données</a:t>
              </a:r>
            </a:p>
            <a:p>
              <a:pPr algn="l" marL="582925" indent="-291463" lvl="1">
                <a:lnSpc>
                  <a:spcPts val="4535"/>
                </a:lnSpc>
                <a:buFont typeface="Arial"/>
                <a:buChar char="•"/>
              </a:pPr>
              <a:r>
                <a:rPr lang="en-US" sz="2699">
                  <a:solidFill>
                    <a:srgbClr val="6B8F6B"/>
                  </a:solidFill>
                  <a:latin typeface="Calibri (MS)"/>
                  <a:ea typeface="Calibri (MS)"/>
                  <a:cs typeface="Calibri (MS)"/>
                  <a:sym typeface="Calibri (MS)"/>
                </a:rPr>
                <a:t>si une variable fait une bonne séparation, elle est “récompensée”</a:t>
              </a:r>
            </a:p>
            <a:p>
              <a:pPr algn="l" marL="582925" indent="-291463" lvl="1">
                <a:lnSpc>
                  <a:spcPts val="4535"/>
                </a:lnSpc>
                <a:buFont typeface="Arial"/>
                <a:buChar char="•"/>
              </a:pPr>
              <a:r>
                <a:rPr lang="en-US" sz="2699">
                  <a:solidFill>
                    <a:srgbClr val="6B8F6B"/>
                  </a:solidFill>
                  <a:latin typeface="Calibri (MS)"/>
                  <a:ea typeface="Calibri (MS)"/>
                  <a:cs typeface="Calibri (MS)"/>
                  <a:sym typeface="Calibri (MS)"/>
                </a:rPr>
                <a:t>si elle est peu utilisée ou peu utile, elle a peu d’importance</a:t>
              </a:r>
            </a:p>
            <a:p>
              <a:pPr algn="l">
                <a:lnSpc>
                  <a:spcPts val="3191"/>
                </a:lnSpc>
              </a:pPr>
            </a:p>
          </p:txBody>
        </p:sp>
      </p:grpSp>
      <p:sp>
        <p:nvSpPr>
          <p:cNvPr name="Freeform 17" id="17"/>
          <p:cNvSpPr/>
          <p:nvPr/>
        </p:nvSpPr>
        <p:spPr>
          <a:xfrm flipH="false" flipV="false" rot="0">
            <a:off x="3500891" y="8598289"/>
            <a:ext cx="9944901" cy="1240896"/>
          </a:xfrm>
          <a:custGeom>
            <a:avLst/>
            <a:gdLst/>
            <a:ahLst/>
            <a:cxnLst/>
            <a:rect r="r" b="b" t="t" l="l"/>
            <a:pathLst>
              <a:path h="1240896" w="9944901">
                <a:moveTo>
                  <a:pt x="0" y="0"/>
                </a:moveTo>
                <a:lnTo>
                  <a:pt x="9944901" y="0"/>
                </a:lnTo>
                <a:lnTo>
                  <a:pt x="9944901" y="1240897"/>
                </a:lnTo>
                <a:lnTo>
                  <a:pt x="0" y="1240897"/>
                </a:lnTo>
                <a:lnTo>
                  <a:pt x="0" y="0"/>
                </a:lnTo>
                <a:close/>
              </a:path>
            </a:pathLst>
          </a:custGeom>
          <a:blipFill>
            <a:blip r:embed="rId4"/>
            <a:stretch>
              <a:fillRect l="0" t="-6527" r="0" b="-6527"/>
            </a:stretch>
          </a:blipFill>
        </p:spPr>
      </p:sp>
      <p:grpSp>
        <p:nvGrpSpPr>
          <p:cNvPr name="Group 18" id="18"/>
          <p:cNvGrpSpPr/>
          <p:nvPr/>
        </p:nvGrpSpPr>
        <p:grpSpPr>
          <a:xfrm rot="0">
            <a:off x="836535" y="5178185"/>
            <a:ext cx="7772400" cy="595572"/>
            <a:chOff x="0" y="0"/>
            <a:chExt cx="10363200" cy="794096"/>
          </a:xfrm>
        </p:grpSpPr>
        <p:sp>
          <p:nvSpPr>
            <p:cNvPr name="Freeform 19" id="19"/>
            <p:cNvSpPr/>
            <p:nvPr/>
          </p:nvSpPr>
          <p:spPr>
            <a:xfrm flipH="false" flipV="false" rot="0">
              <a:off x="0" y="0"/>
              <a:ext cx="10363200" cy="794096"/>
            </a:xfrm>
            <a:custGeom>
              <a:avLst/>
              <a:gdLst/>
              <a:ahLst/>
              <a:cxnLst/>
              <a:rect r="r" b="b" t="t" l="l"/>
              <a:pathLst>
                <a:path h="794096" w="10363200">
                  <a:moveTo>
                    <a:pt x="0" y="0"/>
                  </a:moveTo>
                  <a:lnTo>
                    <a:pt x="10363200" y="0"/>
                  </a:lnTo>
                  <a:lnTo>
                    <a:pt x="10363200" y="794096"/>
                  </a:lnTo>
                  <a:lnTo>
                    <a:pt x="0" y="794096"/>
                  </a:lnTo>
                  <a:close/>
                </a:path>
              </a:pathLst>
            </a:custGeom>
            <a:blipFill>
              <a:blip r:embed="rId3">
                <a:alphaModFix amt="0"/>
              </a:blip>
              <a:stretch>
                <a:fillRect l="0" t="-211296" r="0" b="-197274"/>
              </a:stretch>
            </a:blipFill>
          </p:spPr>
        </p:sp>
        <p:sp>
          <p:nvSpPr>
            <p:cNvPr name="TextBox 20" id="20"/>
            <p:cNvSpPr txBox="true"/>
            <p:nvPr/>
          </p:nvSpPr>
          <p:spPr>
            <a:xfrm>
              <a:off x="0" y="-57150"/>
              <a:ext cx="10363200" cy="851246"/>
            </a:xfrm>
            <a:prstGeom prst="rect">
              <a:avLst/>
            </a:prstGeom>
          </p:spPr>
          <p:txBody>
            <a:bodyPr anchor="ctr" rtlCol="false" tIns="0" lIns="0" bIns="0" rIns="0"/>
            <a:lstStyle/>
            <a:p>
              <a:pPr algn="l">
                <a:lnSpc>
                  <a:spcPts val="3599"/>
                </a:lnSpc>
              </a:pPr>
            </a:p>
          </p:txBody>
        </p:sp>
      </p:grpSp>
      <p:grpSp>
        <p:nvGrpSpPr>
          <p:cNvPr name="Group 21" id="21"/>
          <p:cNvGrpSpPr/>
          <p:nvPr/>
        </p:nvGrpSpPr>
        <p:grpSpPr>
          <a:xfrm rot="0">
            <a:off x="505134" y="4966347"/>
            <a:ext cx="5506717" cy="3378821"/>
            <a:chOff x="0" y="0"/>
            <a:chExt cx="7342289" cy="4505094"/>
          </a:xfrm>
        </p:grpSpPr>
        <p:sp>
          <p:nvSpPr>
            <p:cNvPr name="Freeform 22" id="22"/>
            <p:cNvSpPr/>
            <p:nvPr/>
          </p:nvSpPr>
          <p:spPr>
            <a:xfrm flipH="false" flipV="false" rot="0">
              <a:off x="13589" y="16082"/>
              <a:ext cx="7315200" cy="4473035"/>
            </a:xfrm>
            <a:custGeom>
              <a:avLst/>
              <a:gdLst/>
              <a:ahLst/>
              <a:cxnLst/>
              <a:rect r="r" b="b" t="t" l="l"/>
              <a:pathLst>
                <a:path h="4473035" w="7315200">
                  <a:moveTo>
                    <a:pt x="0" y="0"/>
                  </a:moveTo>
                  <a:lnTo>
                    <a:pt x="7315200" y="0"/>
                  </a:lnTo>
                  <a:lnTo>
                    <a:pt x="7315200" y="4473035"/>
                  </a:lnTo>
                  <a:lnTo>
                    <a:pt x="0" y="4473035"/>
                  </a:lnTo>
                  <a:close/>
                </a:path>
              </a:pathLst>
            </a:custGeom>
            <a:solidFill>
              <a:srgbClr val="FFFFFF"/>
            </a:solidFill>
          </p:spPr>
        </p:sp>
        <p:sp>
          <p:nvSpPr>
            <p:cNvPr name="Freeform 23" id="23"/>
            <p:cNvSpPr/>
            <p:nvPr/>
          </p:nvSpPr>
          <p:spPr>
            <a:xfrm flipH="false" flipV="false" rot="0">
              <a:off x="0" y="0"/>
              <a:ext cx="7342378" cy="4505183"/>
            </a:xfrm>
            <a:custGeom>
              <a:avLst/>
              <a:gdLst/>
              <a:ahLst/>
              <a:cxnLst/>
              <a:rect r="r" b="b" t="t" l="l"/>
              <a:pathLst>
                <a:path h="4505183" w="7342378">
                  <a:moveTo>
                    <a:pt x="13589" y="0"/>
                  </a:moveTo>
                  <a:lnTo>
                    <a:pt x="7328789" y="0"/>
                  </a:lnTo>
                  <a:cubicBezTo>
                    <a:pt x="7336282" y="0"/>
                    <a:pt x="7342378" y="7215"/>
                    <a:pt x="7342378" y="16082"/>
                  </a:cubicBezTo>
                  <a:lnTo>
                    <a:pt x="7342378" y="4489117"/>
                  </a:lnTo>
                  <a:cubicBezTo>
                    <a:pt x="7342378" y="4497985"/>
                    <a:pt x="7336282" y="4505183"/>
                    <a:pt x="7328789" y="4505183"/>
                  </a:cubicBezTo>
                  <a:lnTo>
                    <a:pt x="13589" y="4505183"/>
                  </a:lnTo>
                  <a:cubicBezTo>
                    <a:pt x="6096" y="4505183"/>
                    <a:pt x="0" y="4497985"/>
                    <a:pt x="0" y="4489117"/>
                  </a:cubicBezTo>
                  <a:lnTo>
                    <a:pt x="0" y="16082"/>
                  </a:lnTo>
                  <a:cubicBezTo>
                    <a:pt x="0" y="7215"/>
                    <a:pt x="6096" y="0"/>
                    <a:pt x="13589" y="0"/>
                  </a:cubicBezTo>
                  <a:moveTo>
                    <a:pt x="13589" y="32015"/>
                  </a:moveTo>
                  <a:lnTo>
                    <a:pt x="13589" y="16082"/>
                  </a:lnTo>
                  <a:lnTo>
                    <a:pt x="27051" y="16082"/>
                  </a:lnTo>
                  <a:lnTo>
                    <a:pt x="27051" y="4489117"/>
                  </a:lnTo>
                  <a:lnTo>
                    <a:pt x="13589" y="4489117"/>
                  </a:lnTo>
                  <a:lnTo>
                    <a:pt x="13589" y="4473034"/>
                  </a:lnTo>
                  <a:lnTo>
                    <a:pt x="7328789" y="4473034"/>
                  </a:lnTo>
                  <a:lnTo>
                    <a:pt x="7328789" y="4489117"/>
                  </a:lnTo>
                  <a:lnTo>
                    <a:pt x="7315200" y="4489117"/>
                  </a:lnTo>
                  <a:lnTo>
                    <a:pt x="7315200" y="16082"/>
                  </a:lnTo>
                  <a:lnTo>
                    <a:pt x="7328789" y="16082"/>
                  </a:lnTo>
                  <a:lnTo>
                    <a:pt x="7328789" y="32015"/>
                  </a:lnTo>
                  <a:lnTo>
                    <a:pt x="13589" y="32015"/>
                  </a:lnTo>
                  <a:close/>
                </a:path>
              </a:pathLst>
            </a:custGeom>
            <a:solidFill>
              <a:srgbClr val="52B788"/>
            </a:solidFill>
          </p:spPr>
        </p:sp>
      </p:grpSp>
      <p:grpSp>
        <p:nvGrpSpPr>
          <p:cNvPr name="Group 24" id="24"/>
          <p:cNvGrpSpPr/>
          <p:nvPr/>
        </p:nvGrpSpPr>
        <p:grpSpPr>
          <a:xfrm rot="0">
            <a:off x="535614" y="4979885"/>
            <a:ext cx="143389" cy="3382045"/>
            <a:chOff x="0" y="0"/>
            <a:chExt cx="205725" cy="4852326"/>
          </a:xfrm>
        </p:grpSpPr>
        <p:sp>
          <p:nvSpPr>
            <p:cNvPr name="Freeform 25" id="25"/>
            <p:cNvSpPr/>
            <p:nvPr/>
          </p:nvSpPr>
          <p:spPr>
            <a:xfrm flipH="false" flipV="false" rot="0">
              <a:off x="19286" y="21493"/>
              <a:ext cx="167051" cy="4809227"/>
            </a:xfrm>
            <a:custGeom>
              <a:avLst/>
              <a:gdLst/>
              <a:ahLst/>
              <a:cxnLst/>
              <a:rect r="r" b="b" t="t" l="l"/>
              <a:pathLst>
                <a:path h="4809227" w="167051">
                  <a:moveTo>
                    <a:pt x="0" y="0"/>
                  </a:moveTo>
                  <a:lnTo>
                    <a:pt x="167051" y="0"/>
                  </a:lnTo>
                  <a:lnTo>
                    <a:pt x="167051" y="4809227"/>
                  </a:lnTo>
                  <a:lnTo>
                    <a:pt x="0" y="4809227"/>
                  </a:lnTo>
                  <a:close/>
                </a:path>
              </a:pathLst>
            </a:custGeom>
            <a:solidFill>
              <a:srgbClr val="52B788"/>
            </a:solidFill>
          </p:spPr>
        </p:sp>
        <p:sp>
          <p:nvSpPr>
            <p:cNvPr name="Freeform 26" id="26"/>
            <p:cNvSpPr/>
            <p:nvPr/>
          </p:nvSpPr>
          <p:spPr>
            <a:xfrm flipH="false" flipV="false" rot="0">
              <a:off x="0" y="0"/>
              <a:ext cx="205624" cy="4852214"/>
            </a:xfrm>
            <a:custGeom>
              <a:avLst/>
              <a:gdLst/>
              <a:ahLst/>
              <a:cxnLst/>
              <a:rect r="r" b="b" t="t" l="l"/>
              <a:pathLst>
                <a:path h="4852214" w="205624">
                  <a:moveTo>
                    <a:pt x="19286" y="0"/>
                  </a:moveTo>
                  <a:lnTo>
                    <a:pt x="186337" y="0"/>
                  </a:lnTo>
                  <a:cubicBezTo>
                    <a:pt x="197068" y="0"/>
                    <a:pt x="205624" y="9696"/>
                    <a:pt x="205624" y="21493"/>
                  </a:cubicBezTo>
                  <a:lnTo>
                    <a:pt x="205624" y="4830720"/>
                  </a:lnTo>
                  <a:cubicBezTo>
                    <a:pt x="205624" y="4842679"/>
                    <a:pt x="196923" y="4852214"/>
                    <a:pt x="186337" y="4852214"/>
                  </a:cubicBezTo>
                  <a:lnTo>
                    <a:pt x="19286" y="4852214"/>
                  </a:lnTo>
                  <a:cubicBezTo>
                    <a:pt x="8556" y="4852214"/>
                    <a:pt x="0" y="4842517"/>
                    <a:pt x="0" y="4830720"/>
                  </a:cubicBezTo>
                  <a:lnTo>
                    <a:pt x="0" y="21493"/>
                  </a:lnTo>
                  <a:cubicBezTo>
                    <a:pt x="0" y="9696"/>
                    <a:pt x="8701" y="0"/>
                    <a:pt x="19286" y="0"/>
                  </a:cubicBezTo>
                  <a:moveTo>
                    <a:pt x="19286" y="43147"/>
                  </a:moveTo>
                  <a:lnTo>
                    <a:pt x="19286" y="21493"/>
                  </a:lnTo>
                  <a:lnTo>
                    <a:pt x="38718" y="21493"/>
                  </a:lnTo>
                  <a:lnTo>
                    <a:pt x="38718" y="4830720"/>
                  </a:lnTo>
                  <a:lnTo>
                    <a:pt x="19286" y="4830720"/>
                  </a:lnTo>
                  <a:lnTo>
                    <a:pt x="19286" y="4809228"/>
                  </a:lnTo>
                  <a:lnTo>
                    <a:pt x="186337" y="4809228"/>
                  </a:lnTo>
                  <a:lnTo>
                    <a:pt x="186337" y="4830720"/>
                  </a:lnTo>
                  <a:lnTo>
                    <a:pt x="167051" y="4830720"/>
                  </a:lnTo>
                  <a:lnTo>
                    <a:pt x="167051" y="21493"/>
                  </a:lnTo>
                  <a:lnTo>
                    <a:pt x="186337" y="21493"/>
                  </a:lnTo>
                  <a:lnTo>
                    <a:pt x="186337" y="43147"/>
                  </a:lnTo>
                  <a:lnTo>
                    <a:pt x="19286" y="43147"/>
                  </a:lnTo>
                  <a:close/>
                </a:path>
              </a:pathLst>
            </a:custGeom>
            <a:solidFill>
              <a:srgbClr val="52B788"/>
            </a:solidFill>
          </p:spPr>
        </p:sp>
      </p:grpSp>
      <p:grpSp>
        <p:nvGrpSpPr>
          <p:cNvPr name="Group 27" id="27"/>
          <p:cNvGrpSpPr/>
          <p:nvPr/>
        </p:nvGrpSpPr>
        <p:grpSpPr>
          <a:xfrm rot="0">
            <a:off x="830889" y="5486322"/>
            <a:ext cx="5074539" cy="3016717"/>
            <a:chOff x="0" y="0"/>
            <a:chExt cx="6766052" cy="4022290"/>
          </a:xfrm>
        </p:grpSpPr>
        <p:sp>
          <p:nvSpPr>
            <p:cNvPr name="Freeform 28" id="28"/>
            <p:cNvSpPr/>
            <p:nvPr/>
          </p:nvSpPr>
          <p:spPr>
            <a:xfrm flipH="false" flipV="false" rot="0">
              <a:off x="0" y="0"/>
              <a:ext cx="6766052" cy="4022289"/>
            </a:xfrm>
            <a:custGeom>
              <a:avLst/>
              <a:gdLst/>
              <a:ahLst/>
              <a:cxnLst/>
              <a:rect r="r" b="b" t="t" l="l"/>
              <a:pathLst>
                <a:path h="4022289" w="6766052">
                  <a:moveTo>
                    <a:pt x="0" y="0"/>
                  </a:moveTo>
                  <a:lnTo>
                    <a:pt x="6766052" y="0"/>
                  </a:lnTo>
                  <a:lnTo>
                    <a:pt x="6766052" y="4022289"/>
                  </a:lnTo>
                  <a:lnTo>
                    <a:pt x="0" y="4022289"/>
                  </a:lnTo>
                  <a:close/>
                </a:path>
              </a:pathLst>
            </a:custGeom>
            <a:blipFill>
              <a:blip r:embed="rId3">
                <a:alphaModFix amt="0"/>
              </a:blip>
              <a:stretch>
                <a:fillRect l="0" t="-2526" r="-187" b="36850"/>
              </a:stretch>
            </a:blipFill>
          </p:spPr>
        </p:sp>
        <p:sp>
          <p:nvSpPr>
            <p:cNvPr name="TextBox 29" id="29"/>
            <p:cNvSpPr txBox="true"/>
            <p:nvPr/>
          </p:nvSpPr>
          <p:spPr>
            <a:xfrm>
              <a:off x="0" y="-66675"/>
              <a:ext cx="6766052" cy="4088965"/>
            </a:xfrm>
            <a:prstGeom prst="rect">
              <a:avLst/>
            </a:prstGeom>
          </p:spPr>
          <p:txBody>
            <a:bodyPr anchor="ctr" rtlCol="false" tIns="0" lIns="0" bIns="0" rIns="0"/>
            <a:lstStyle/>
            <a:p>
              <a:pPr algn="l">
                <a:lnSpc>
                  <a:spcPts val="3359"/>
                </a:lnSpc>
              </a:pPr>
              <a:r>
                <a:rPr lang="en-US" sz="2799">
                  <a:solidFill>
                    <a:srgbClr val="6B8F6B"/>
                  </a:solidFill>
                  <a:latin typeface="Calibri (MS)"/>
                  <a:ea typeface="Calibri (MS)"/>
                  <a:cs typeface="Calibri (MS)"/>
                  <a:sym typeface="Calibri (MS)"/>
                </a:rPr>
                <a:t>D</a:t>
              </a:r>
              <a:r>
                <a:rPr lang="en-US" sz="2799">
                  <a:solidFill>
                    <a:srgbClr val="6B8F6B"/>
                  </a:solidFill>
                  <a:latin typeface="Calibri (MS)"/>
                  <a:ea typeface="Calibri (MS)"/>
                  <a:cs typeface="Calibri (MS)"/>
                  <a:sym typeface="Calibri (MS)"/>
                </a:rPr>
                <a:t>ans chaque arbre :</a:t>
              </a:r>
            </a:p>
            <a:p>
              <a:pPr algn="l" marL="604515" indent="-302257" lvl="1">
                <a:lnSpc>
                  <a:spcPts val="3359"/>
                </a:lnSpc>
                <a:buFont typeface="Arial"/>
                <a:buChar char="•"/>
              </a:pPr>
              <a:r>
                <a:rPr lang="en-US" sz="2799">
                  <a:solidFill>
                    <a:srgbClr val="6B8F6B"/>
                  </a:solidFill>
                  <a:latin typeface="Calibri (MS)"/>
                  <a:ea typeface="Calibri (MS)"/>
                  <a:cs typeface="Calibri (MS)"/>
                  <a:sym typeface="Calibri (MS)"/>
                </a:rPr>
                <a:t>on mesure combien une variable réduit le “désordre” (impureté Gini)</a:t>
              </a:r>
            </a:p>
            <a:p>
              <a:pPr algn="l" marL="604515" indent="-302257" lvl="1">
                <a:lnSpc>
                  <a:spcPts val="3359"/>
                </a:lnSpc>
                <a:buFont typeface="Arial"/>
                <a:buChar char="•"/>
              </a:pPr>
              <a:r>
                <a:rPr lang="en-US" sz="2799">
                  <a:solidFill>
                    <a:srgbClr val="6B8F6B"/>
                  </a:solidFill>
                  <a:latin typeface="Calibri (MS)"/>
                  <a:ea typeface="Calibri (MS)"/>
                  <a:cs typeface="Calibri (MS)"/>
                  <a:sym typeface="Calibri (MS)"/>
                </a:rPr>
                <a:t>plus la réduction est grande → plus la variable est importante</a:t>
              </a:r>
            </a:p>
            <a:p>
              <a:pPr algn="l">
                <a:lnSpc>
                  <a:spcPts val="2999"/>
                </a:lnSpc>
              </a:pPr>
            </a:p>
          </p:txBody>
        </p:sp>
      </p:grpSp>
      <p:grpSp>
        <p:nvGrpSpPr>
          <p:cNvPr name="Group 30" id="30"/>
          <p:cNvGrpSpPr/>
          <p:nvPr/>
        </p:nvGrpSpPr>
        <p:grpSpPr>
          <a:xfrm rot="0">
            <a:off x="6307126" y="4983109"/>
            <a:ext cx="5506717" cy="3378821"/>
            <a:chOff x="0" y="0"/>
            <a:chExt cx="7342289" cy="4505094"/>
          </a:xfrm>
        </p:grpSpPr>
        <p:sp>
          <p:nvSpPr>
            <p:cNvPr name="Freeform 31" id="31"/>
            <p:cNvSpPr/>
            <p:nvPr/>
          </p:nvSpPr>
          <p:spPr>
            <a:xfrm flipH="false" flipV="false" rot="0">
              <a:off x="13589" y="16082"/>
              <a:ext cx="7315200" cy="4473035"/>
            </a:xfrm>
            <a:custGeom>
              <a:avLst/>
              <a:gdLst/>
              <a:ahLst/>
              <a:cxnLst/>
              <a:rect r="r" b="b" t="t" l="l"/>
              <a:pathLst>
                <a:path h="4473035" w="7315200">
                  <a:moveTo>
                    <a:pt x="0" y="0"/>
                  </a:moveTo>
                  <a:lnTo>
                    <a:pt x="7315200" y="0"/>
                  </a:lnTo>
                  <a:lnTo>
                    <a:pt x="7315200" y="4473035"/>
                  </a:lnTo>
                  <a:lnTo>
                    <a:pt x="0" y="4473035"/>
                  </a:lnTo>
                  <a:close/>
                </a:path>
              </a:pathLst>
            </a:custGeom>
            <a:solidFill>
              <a:srgbClr val="FFFFFF"/>
            </a:solidFill>
          </p:spPr>
        </p:sp>
        <p:sp>
          <p:nvSpPr>
            <p:cNvPr name="Freeform 32" id="32"/>
            <p:cNvSpPr/>
            <p:nvPr/>
          </p:nvSpPr>
          <p:spPr>
            <a:xfrm flipH="false" flipV="false" rot="0">
              <a:off x="0" y="0"/>
              <a:ext cx="7342378" cy="4505183"/>
            </a:xfrm>
            <a:custGeom>
              <a:avLst/>
              <a:gdLst/>
              <a:ahLst/>
              <a:cxnLst/>
              <a:rect r="r" b="b" t="t" l="l"/>
              <a:pathLst>
                <a:path h="4505183" w="7342378">
                  <a:moveTo>
                    <a:pt x="13589" y="0"/>
                  </a:moveTo>
                  <a:lnTo>
                    <a:pt x="7328789" y="0"/>
                  </a:lnTo>
                  <a:cubicBezTo>
                    <a:pt x="7336282" y="0"/>
                    <a:pt x="7342378" y="7215"/>
                    <a:pt x="7342378" y="16082"/>
                  </a:cubicBezTo>
                  <a:lnTo>
                    <a:pt x="7342378" y="4489117"/>
                  </a:lnTo>
                  <a:cubicBezTo>
                    <a:pt x="7342378" y="4497985"/>
                    <a:pt x="7336282" y="4505183"/>
                    <a:pt x="7328789" y="4505183"/>
                  </a:cubicBezTo>
                  <a:lnTo>
                    <a:pt x="13589" y="4505183"/>
                  </a:lnTo>
                  <a:cubicBezTo>
                    <a:pt x="6096" y="4505183"/>
                    <a:pt x="0" y="4497985"/>
                    <a:pt x="0" y="4489117"/>
                  </a:cubicBezTo>
                  <a:lnTo>
                    <a:pt x="0" y="16082"/>
                  </a:lnTo>
                  <a:cubicBezTo>
                    <a:pt x="0" y="7215"/>
                    <a:pt x="6096" y="0"/>
                    <a:pt x="13589" y="0"/>
                  </a:cubicBezTo>
                  <a:moveTo>
                    <a:pt x="13589" y="32015"/>
                  </a:moveTo>
                  <a:lnTo>
                    <a:pt x="13589" y="16082"/>
                  </a:lnTo>
                  <a:lnTo>
                    <a:pt x="27051" y="16082"/>
                  </a:lnTo>
                  <a:lnTo>
                    <a:pt x="27051" y="4489117"/>
                  </a:lnTo>
                  <a:lnTo>
                    <a:pt x="13589" y="4489117"/>
                  </a:lnTo>
                  <a:lnTo>
                    <a:pt x="13589" y="4473034"/>
                  </a:lnTo>
                  <a:lnTo>
                    <a:pt x="7328789" y="4473034"/>
                  </a:lnTo>
                  <a:lnTo>
                    <a:pt x="7328789" y="4489117"/>
                  </a:lnTo>
                  <a:lnTo>
                    <a:pt x="7315200" y="4489117"/>
                  </a:lnTo>
                  <a:lnTo>
                    <a:pt x="7315200" y="16082"/>
                  </a:lnTo>
                  <a:lnTo>
                    <a:pt x="7328789" y="16082"/>
                  </a:lnTo>
                  <a:lnTo>
                    <a:pt x="7328789" y="32015"/>
                  </a:lnTo>
                  <a:lnTo>
                    <a:pt x="13589" y="32015"/>
                  </a:lnTo>
                  <a:close/>
                </a:path>
              </a:pathLst>
            </a:custGeom>
            <a:solidFill>
              <a:srgbClr val="F4A261"/>
            </a:solidFill>
          </p:spPr>
        </p:sp>
      </p:grpSp>
      <p:grpSp>
        <p:nvGrpSpPr>
          <p:cNvPr name="Group 33" id="33"/>
          <p:cNvGrpSpPr/>
          <p:nvPr/>
        </p:nvGrpSpPr>
        <p:grpSpPr>
          <a:xfrm rot="0">
            <a:off x="6307126" y="4979885"/>
            <a:ext cx="132598" cy="3382045"/>
            <a:chOff x="0" y="0"/>
            <a:chExt cx="190242" cy="4852326"/>
          </a:xfrm>
        </p:grpSpPr>
        <p:sp>
          <p:nvSpPr>
            <p:cNvPr name="Freeform 34" id="34"/>
            <p:cNvSpPr/>
            <p:nvPr/>
          </p:nvSpPr>
          <p:spPr>
            <a:xfrm flipH="false" flipV="false" rot="0">
              <a:off x="17835" y="21493"/>
              <a:ext cx="154478" cy="4809227"/>
            </a:xfrm>
            <a:custGeom>
              <a:avLst/>
              <a:gdLst/>
              <a:ahLst/>
              <a:cxnLst/>
              <a:rect r="r" b="b" t="t" l="l"/>
              <a:pathLst>
                <a:path h="4809227" w="154478">
                  <a:moveTo>
                    <a:pt x="0" y="0"/>
                  </a:moveTo>
                  <a:lnTo>
                    <a:pt x="154478" y="0"/>
                  </a:lnTo>
                  <a:lnTo>
                    <a:pt x="154478" y="4809227"/>
                  </a:lnTo>
                  <a:lnTo>
                    <a:pt x="0" y="4809227"/>
                  </a:lnTo>
                  <a:close/>
                </a:path>
              </a:pathLst>
            </a:custGeom>
            <a:solidFill>
              <a:srgbClr val="F4A261"/>
            </a:solidFill>
          </p:spPr>
        </p:sp>
        <p:sp>
          <p:nvSpPr>
            <p:cNvPr name="Freeform 35" id="35"/>
            <p:cNvSpPr/>
            <p:nvPr/>
          </p:nvSpPr>
          <p:spPr>
            <a:xfrm flipH="false" flipV="false" rot="0">
              <a:off x="0" y="0"/>
              <a:ext cx="190148" cy="4852214"/>
            </a:xfrm>
            <a:custGeom>
              <a:avLst/>
              <a:gdLst/>
              <a:ahLst/>
              <a:cxnLst/>
              <a:rect r="r" b="b" t="t" l="l"/>
              <a:pathLst>
                <a:path h="4852214" w="190148">
                  <a:moveTo>
                    <a:pt x="17835" y="0"/>
                  </a:moveTo>
                  <a:lnTo>
                    <a:pt x="172313" y="0"/>
                  </a:lnTo>
                  <a:cubicBezTo>
                    <a:pt x="182236" y="0"/>
                    <a:pt x="190148" y="9696"/>
                    <a:pt x="190148" y="21493"/>
                  </a:cubicBezTo>
                  <a:lnTo>
                    <a:pt x="190148" y="4830720"/>
                  </a:lnTo>
                  <a:cubicBezTo>
                    <a:pt x="190148" y="4842679"/>
                    <a:pt x="182102" y="4852214"/>
                    <a:pt x="172313" y="4852214"/>
                  </a:cubicBezTo>
                  <a:lnTo>
                    <a:pt x="17835" y="4852214"/>
                  </a:lnTo>
                  <a:cubicBezTo>
                    <a:pt x="7912" y="4852214"/>
                    <a:pt x="0" y="4842517"/>
                    <a:pt x="0" y="4830720"/>
                  </a:cubicBezTo>
                  <a:lnTo>
                    <a:pt x="0" y="21493"/>
                  </a:lnTo>
                  <a:cubicBezTo>
                    <a:pt x="0" y="9696"/>
                    <a:pt x="8046" y="0"/>
                    <a:pt x="17835" y="0"/>
                  </a:cubicBezTo>
                  <a:moveTo>
                    <a:pt x="17835" y="43147"/>
                  </a:moveTo>
                  <a:lnTo>
                    <a:pt x="17835" y="21493"/>
                  </a:lnTo>
                  <a:lnTo>
                    <a:pt x="35804" y="21493"/>
                  </a:lnTo>
                  <a:lnTo>
                    <a:pt x="35804" y="4830720"/>
                  </a:lnTo>
                  <a:lnTo>
                    <a:pt x="17835" y="4830720"/>
                  </a:lnTo>
                  <a:lnTo>
                    <a:pt x="17835" y="4809228"/>
                  </a:lnTo>
                  <a:lnTo>
                    <a:pt x="172313" y="4809228"/>
                  </a:lnTo>
                  <a:lnTo>
                    <a:pt x="172313" y="4830720"/>
                  </a:lnTo>
                  <a:lnTo>
                    <a:pt x="154478" y="4830720"/>
                  </a:lnTo>
                  <a:lnTo>
                    <a:pt x="154478" y="21493"/>
                  </a:lnTo>
                  <a:lnTo>
                    <a:pt x="172313" y="21493"/>
                  </a:lnTo>
                  <a:lnTo>
                    <a:pt x="172313" y="43147"/>
                  </a:lnTo>
                  <a:lnTo>
                    <a:pt x="17835" y="43147"/>
                  </a:lnTo>
                  <a:close/>
                </a:path>
              </a:pathLst>
            </a:custGeom>
            <a:solidFill>
              <a:srgbClr val="F4A261"/>
            </a:solidFill>
          </p:spPr>
        </p:sp>
      </p:grpSp>
      <p:grpSp>
        <p:nvGrpSpPr>
          <p:cNvPr name="Group 36" id="36"/>
          <p:cNvGrpSpPr/>
          <p:nvPr/>
        </p:nvGrpSpPr>
        <p:grpSpPr>
          <a:xfrm rot="0">
            <a:off x="6732332" y="5187247"/>
            <a:ext cx="5084064" cy="2327046"/>
            <a:chOff x="0" y="0"/>
            <a:chExt cx="6778752" cy="3102727"/>
          </a:xfrm>
        </p:grpSpPr>
        <p:sp>
          <p:nvSpPr>
            <p:cNvPr name="Freeform 37" id="37"/>
            <p:cNvSpPr/>
            <p:nvPr/>
          </p:nvSpPr>
          <p:spPr>
            <a:xfrm flipH="false" flipV="false" rot="0">
              <a:off x="0" y="0"/>
              <a:ext cx="6778752" cy="3102727"/>
            </a:xfrm>
            <a:custGeom>
              <a:avLst/>
              <a:gdLst/>
              <a:ahLst/>
              <a:cxnLst/>
              <a:rect r="r" b="b" t="t" l="l"/>
              <a:pathLst>
                <a:path h="3102727" w="6778752">
                  <a:moveTo>
                    <a:pt x="0" y="0"/>
                  </a:moveTo>
                  <a:lnTo>
                    <a:pt x="6778752" y="0"/>
                  </a:lnTo>
                  <a:lnTo>
                    <a:pt x="6778752" y="3102727"/>
                  </a:lnTo>
                  <a:lnTo>
                    <a:pt x="0" y="3102727"/>
                  </a:lnTo>
                  <a:close/>
                </a:path>
              </a:pathLst>
            </a:custGeom>
            <a:blipFill>
              <a:blip r:embed="rId3">
                <a:alphaModFix amt="0"/>
              </a:blip>
              <a:stretch>
                <a:fillRect l="0" t="-3275" r="0" b="18135"/>
              </a:stretch>
            </a:blipFill>
          </p:spPr>
        </p:sp>
        <p:sp>
          <p:nvSpPr>
            <p:cNvPr name="TextBox 38" id="38"/>
            <p:cNvSpPr txBox="true"/>
            <p:nvPr/>
          </p:nvSpPr>
          <p:spPr>
            <a:xfrm>
              <a:off x="0" y="-66675"/>
              <a:ext cx="6778752" cy="3169402"/>
            </a:xfrm>
            <a:prstGeom prst="rect">
              <a:avLst/>
            </a:prstGeom>
          </p:spPr>
          <p:txBody>
            <a:bodyPr anchor="ctr" rtlCol="false" tIns="0" lIns="0" bIns="0" rIns="0"/>
            <a:lstStyle/>
            <a:p>
              <a:pPr algn="l">
                <a:lnSpc>
                  <a:spcPts val="3359"/>
                </a:lnSpc>
              </a:pPr>
              <a:r>
                <a:rPr lang="en-US" sz="2799">
                  <a:solidFill>
                    <a:srgbClr val="6B8F6B"/>
                  </a:solidFill>
                  <a:latin typeface="Calibri (MS)"/>
                  <a:ea typeface="Calibri (MS)"/>
                  <a:cs typeface="Calibri (MS)"/>
                  <a:sym typeface="Calibri (MS)"/>
                </a:rPr>
                <a:t>On répète ça :</a:t>
              </a:r>
            </a:p>
            <a:p>
              <a:pPr algn="l" marL="604515" indent="-302257" lvl="1">
                <a:lnSpc>
                  <a:spcPts val="3359"/>
                </a:lnSpc>
                <a:buFont typeface="Arial"/>
                <a:buChar char="•"/>
              </a:pPr>
              <a:r>
                <a:rPr lang="en-US" sz="2799">
                  <a:solidFill>
                    <a:srgbClr val="6B8F6B"/>
                  </a:solidFill>
                  <a:latin typeface="Calibri (MS)"/>
                  <a:ea typeface="Calibri (MS)"/>
                  <a:cs typeface="Calibri (MS)"/>
                  <a:sym typeface="Calibri (MS)"/>
                </a:rPr>
                <a:t>pour tous les arbres</a:t>
              </a:r>
            </a:p>
            <a:p>
              <a:pPr algn="l">
                <a:lnSpc>
                  <a:spcPts val="3359"/>
                </a:lnSpc>
              </a:pPr>
            </a:p>
          </p:txBody>
        </p:sp>
      </p:grpSp>
      <p:grpSp>
        <p:nvGrpSpPr>
          <p:cNvPr name="Group 39" id="39"/>
          <p:cNvGrpSpPr/>
          <p:nvPr/>
        </p:nvGrpSpPr>
        <p:grpSpPr>
          <a:xfrm rot="0">
            <a:off x="12067846" y="4983109"/>
            <a:ext cx="5506717" cy="3378821"/>
            <a:chOff x="0" y="0"/>
            <a:chExt cx="7342289" cy="4505094"/>
          </a:xfrm>
        </p:grpSpPr>
        <p:sp>
          <p:nvSpPr>
            <p:cNvPr name="Freeform 40" id="40"/>
            <p:cNvSpPr/>
            <p:nvPr/>
          </p:nvSpPr>
          <p:spPr>
            <a:xfrm flipH="false" flipV="false" rot="0">
              <a:off x="13589" y="16082"/>
              <a:ext cx="7315200" cy="4473035"/>
            </a:xfrm>
            <a:custGeom>
              <a:avLst/>
              <a:gdLst/>
              <a:ahLst/>
              <a:cxnLst/>
              <a:rect r="r" b="b" t="t" l="l"/>
              <a:pathLst>
                <a:path h="4473035" w="7315200">
                  <a:moveTo>
                    <a:pt x="0" y="0"/>
                  </a:moveTo>
                  <a:lnTo>
                    <a:pt x="7315200" y="0"/>
                  </a:lnTo>
                  <a:lnTo>
                    <a:pt x="7315200" y="4473035"/>
                  </a:lnTo>
                  <a:lnTo>
                    <a:pt x="0" y="4473035"/>
                  </a:lnTo>
                  <a:close/>
                </a:path>
              </a:pathLst>
            </a:custGeom>
            <a:solidFill>
              <a:srgbClr val="FFFFFF"/>
            </a:solidFill>
          </p:spPr>
        </p:sp>
        <p:sp>
          <p:nvSpPr>
            <p:cNvPr name="Freeform 41" id="41"/>
            <p:cNvSpPr/>
            <p:nvPr/>
          </p:nvSpPr>
          <p:spPr>
            <a:xfrm flipH="false" flipV="false" rot="0">
              <a:off x="0" y="0"/>
              <a:ext cx="7342378" cy="4505183"/>
            </a:xfrm>
            <a:custGeom>
              <a:avLst/>
              <a:gdLst/>
              <a:ahLst/>
              <a:cxnLst/>
              <a:rect r="r" b="b" t="t" l="l"/>
              <a:pathLst>
                <a:path h="4505183" w="7342378">
                  <a:moveTo>
                    <a:pt x="13589" y="0"/>
                  </a:moveTo>
                  <a:lnTo>
                    <a:pt x="7328789" y="0"/>
                  </a:lnTo>
                  <a:cubicBezTo>
                    <a:pt x="7336282" y="0"/>
                    <a:pt x="7342378" y="7215"/>
                    <a:pt x="7342378" y="16082"/>
                  </a:cubicBezTo>
                  <a:lnTo>
                    <a:pt x="7342378" y="4489117"/>
                  </a:lnTo>
                  <a:cubicBezTo>
                    <a:pt x="7342378" y="4497985"/>
                    <a:pt x="7336282" y="4505183"/>
                    <a:pt x="7328789" y="4505183"/>
                  </a:cubicBezTo>
                  <a:lnTo>
                    <a:pt x="13589" y="4505183"/>
                  </a:lnTo>
                  <a:cubicBezTo>
                    <a:pt x="6096" y="4505183"/>
                    <a:pt x="0" y="4497985"/>
                    <a:pt x="0" y="4489117"/>
                  </a:cubicBezTo>
                  <a:lnTo>
                    <a:pt x="0" y="16082"/>
                  </a:lnTo>
                  <a:cubicBezTo>
                    <a:pt x="0" y="7215"/>
                    <a:pt x="6096" y="0"/>
                    <a:pt x="13589" y="0"/>
                  </a:cubicBezTo>
                  <a:moveTo>
                    <a:pt x="13589" y="32015"/>
                  </a:moveTo>
                  <a:lnTo>
                    <a:pt x="13589" y="16082"/>
                  </a:lnTo>
                  <a:lnTo>
                    <a:pt x="27051" y="16082"/>
                  </a:lnTo>
                  <a:lnTo>
                    <a:pt x="27051" y="4489117"/>
                  </a:lnTo>
                  <a:lnTo>
                    <a:pt x="13589" y="4489117"/>
                  </a:lnTo>
                  <a:lnTo>
                    <a:pt x="13589" y="4473034"/>
                  </a:lnTo>
                  <a:lnTo>
                    <a:pt x="7328789" y="4473034"/>
                  </a:lnTo>
                  <a:lnTo>
                    <a:pt x="7328789" y="4489117"/>
                  </a:lnTo>
                  <a:lnTo>
                    <a:pt x="7315200" y="4489117"/>
                  </a:lnTo>
                  <a:lnTo>
                    <a:pt x="7315200" y="16082"/>
                  </a:lnTo>
                  <a:lnTo>
                    <a:pt x="7328789" y="16082"/>
                  </a:lnTo>
                  <a:lnTo>
                    <a:pt x="7328789" y="32015"/>
                  </a:lnTo>
                  <a:lnTo>
                    <a:pt x="13589" y="32015"/>
                  </a:lnTo>
                  <a:close/>
                </a:path>
              </a:pathLst>
            </a:custGeom>
            <a:solidFill>
              <a:srgbClr val="2D6A2D"/>
            </a:solidFill>
          </p:spPr>
        </p:sp>
      </p:grpSp>
      <p:grpSp>
        <p:nvGrpSpPr>
          <p:cNvPr name="Group 42" id="42"/>
          <p:cNvGrpSpPr/>
          <p:nvPr/>
        </p:nvGrpSpPr>
        <p:grpSpPr>
          <a:xfrm rot="0">
            <a:off x="12067846" y="4979885"/>
            <a:ext cx="132598" cy="3382045"/>
            <a:chOff x="0" y="0"/>
            <a:chExt cx="190242" cy="4852326"/>
          </a:xfrm>
        </p:grpSpPr>
        <p:sp>
          <p:nvSpPr>
            <p:cNvPr name="Freeform 43" id="43"/>
            <p:cNvSpPr/>
            <p:nvPr/>
          </p:nvSpPr>
          <p:spPr>
            <a:xfrm flipH="false" flipV="false" rot="0">
              <a:off x="17835" y="21493"/>
              <a:ext cx="154478" cy="4809227"/>
            </a:xfrm>
            <a:custGeom>
              <a:avLst/>
              <a:gdLst/>
              <a:ahLst/>
              <a:cxnLst/>
              <a:rect r="r" b="b" t="t" l="l"/>
              <a:pathLst>
                <a:path h="4809227" w="154478">
                  <a:moveTo>
                    <a:pt x="0" y="0"/>
                  </a:moveTo>
                  <a:lnTo>
                    <a:pt x="154478" y="0"/>
                  </a:lnTo>
                  <a:lnTo>
                    <a:pt x="154478" y="4809227"/>
                  </a:lnTo>
                  <a:lnTo>
                    <a:pt x="0" y="4809227"/>
                  </a:lnTo>
                  <a:close/>
                </a:path>
              </a:pathLst>
            </a:custGeom>
            <a:solidFill>
              <a:srgbClr val="2D6A2D"/>
            </a:solidFill>
          </p:spPr>
        </p:sp>
        <p:sp>
          <p:nvSpPr>
            <p:cNvPr name="Freeform 44" id="44"/>
            <p:cNvSpPr/>
            <p:nvPr/>
          </p:nvSpPr>
          <p:spPr>
            <a:xfrm flipH="false" flipV="false" rot="0">
              <a:off x="0" y="0"/>
              <a:ext cx="190148" cy="4852214"/>
            </a:xfrm>
            <a:custGeom>
              <a:avLst/>
              <a:gdLst/>
              <a:ahLst/>
              <a:cxnLst/>
              <a:rect r="r" b="b" t="t" l="l"/>
              <a:pathLst>
                <a:path h="4852214" w="190148">
                  <a:moveTo>
                    <a:pt x="17835" y="0"/>
                  </a:moveTo>
                  <a:lnTo>
                    <a:pt x="172313" y="0"/>
                  </a:lnTo>
                  <a:cubicBezTo>
                    <a:pt x="182236" y="0"/>
                    <a:pt x="190148" y="9696"/>
                    <a:pt x="190148" y="21493"/>
                  </a:cubicBezTo>
                  <a:lnTo>
                    <a:pt x="190148" y="4830720"/>
                  </a:lnTo>
                  <a:cubicBezTo>
                    <a:pt x="190148" y="4842679"/>
                    <a:pt x="182102" y="4852214"/>
                    <a:pt x="172313" y="4852214"/>
                  </a:cubicBezTo>
                  <a:lnTo>
                    <a:pt x="17835" y="4852214"/>
                  </a:lnTo>
                  <a:cubicBezTo>
                    <a:pt x="7912" y="4852214"/>
                    <a:pt x="0" y="4842517"/>
                    <a:pt x="0" y="4830720"/>
                  </a:cubicBezTo>
                  <a:lnTo>
                    <a:pt x="0" y="21493"/>
                  </a:lnTo>
                  <a:cubicBezTo>
                    <a:pt x="0" y="9696"/>
                    <a:pt x="8046" y="0"/>
                    <a:pt x="17835" y="0"/>
                  </a:cubicBezTo>
                  <a:moveTo>
                    <a:pt x="17835" y="43147"/>
                  </a:moveTo>
                  <a:lnTo>
                    <a:pt x="17835" y="21493"/>
                  </a:lnTo>
                  <a:lnTo>
                    <a:pt x="35804" y="21493"/>
                  </a:lnTo>
                  <a:lnTo>
                    <a:pt x="35804" y="4830720"/>
                  </a:lnTo>
                  <a:lnTo>
                    <a:pt x="17835" y="4830720"/>
                  </a:lnTo>
                  <a:lnTo>
                    <a:pt x="17835" y="4809228"/>
                  </a:lnTo>
                  <a:lnTo>
                    <a:pt x="172313" y="4809228"/>
                  </a:lnTo>
                  <a:lnTo>
                    <a:pt x="172313" y="4830720"/>
                  </a:lnTo>
                  <a:lnTo>
                    <a:pt x="154478" y="4830720"/>
                  </a:lnTo>
                  <a:lnTo>
                    <a:pt x="154478" y="21493"/>
                  </a:lnTo>
                  <a:lnTo>
                    <a:pt x="172313" y="21493"/>
                  </a:lnTo>
                  <a:lnTo>
                    <a:pt x="172313" y="43147"/>
                  </a:lnTo>
                  <a:lnTo>
                    <a:pt x="17835" y="43147"/>
                  </a:lnTo>
                  <a:close/>
                </a:path>
              </a:pathLst>
            </a:custGeom>
            <a:solidFill>
              <a:srgbClr val="2D6A2D"/>
            </a:solidFill>
          </p:spPr>
        </p:sp>
      </p:grpSp>
      <p:grpSp>
        <p:nvGrpSpPr>
          <p:cNvPr name="Group 45" id="45"/>
          <p:cNvGrpSpPr/>
          <p:nvPr/>
        </p:nvGrpSpPr>
        <p:grpSpPr>
          <a:xfrm rot="0">
            <a:off x="12297465" y="5764312"/>
            <a:ext cx="5084064" cy="2597617"/>
            <a:chOff x="0" y="0"/>
            <a:chExt cx="6778752" cy="3463490"/>
          </a:xfrm>
        </p:grpSpPr>
        <p:sp>
          <p:nvSpPr>
            <p:cNvPr name="Freeform 46" id="46"/>
            <p:cNvSpPr/>
            <p:nvPr/>
          </p:nvSpPr>
          <p:spPr>
            <a:xfrm flipH="false" flipV="false" rot="0">
              <a:off x="0" y="0"/>
              <a:ext cx="6778752" cy="3463489"/>
            </a:xfrm>
            <a:custGeom>
              <a:avLst/>
              <a:gdLst/>
              <a:ahLst/>
              <a:cxnLst/>
              <a:rect r="r" b="b" t="t" l="l"/>
              <a:pathLst>
                <a:path h="3463489" w="6778752">
                  <a:moveTo>
                    <a:pt x="0" y="0"/>
                  </a:moveTo>
                  <a:lnTo>
                    <a:pt x="6778752" y="0"/>
                  </a:lnTo>
                  <a:lnTo>
                    <a:pt x="6778752" y="3463489"/>
                  </a:lnTo>
                  <a:lnTo>
                    <a:pt x="0" y="3463489"/>
                  </a:lnTo>
                  <a:close/>
                </a:path>
              </a:pathLst>
            </a:custGeom>
            <a:blipFill>
              <a:blip r:embed="rId3">
                <a:alphaModFix amt="0"/>
              </a:blip>
              <a:stretch>
                <a:fillRect l="0" t="-2934" r="0" b="26662"/>
              </a:stretch>
            </a:blipFill>
          </p:spPr>
        </p:sp>
        <p:sp>
          <p:nvSpPr>
            <p:cNvPr name="TextBox 47" id="47"/>
            <p:cNvSpPr txBox="true"/>
            <p:nvPr/>
          </p:nvSpPr>
          <p:spPr>
            <a:xfrm>
              <a:off x="0" y="-66675"/>
              <a:ext cx="6778752" cy="3530165"/>
            </a:xfrm>
            <a:prstGeom prst="rect">
              <a:avLst/>
            </a:prstGeom>
          </p:spPr>
          <p:txBody>
            <a:bodyPr anchor="ctr" rtlCol="false" tIns="0" lIns="0" bIns="0" rIns="0"/>
            <a:lstStyle/>
            <a:p>
              <a:pPr algn="l">
                <a:lnSpc>
                  <a:spcPts val="3359"/>
                </a:lnSpc>
              </a:pPr>
              <a:r>
                <a:rPr lang="en-US" sz="2799">
                  <a:solidFill>
                    <a:srgbClr val="6B8F6B"/>
                  </a:solidFill>
                  <a:latin typeface="Calibri (MS)"/>
                  <a:ea typeface="Calibri (MS)"/>
                  <a:cs typeface="Calibri (MS)"/>
                  <a:sym typeface="Calibri (MS)"/>
                </a:rPr>
                <a:t>On</a:t>
              </a:r>
              <a:r>
                <a:rPr lang="en-US" sz="2799">
                  <a:solidFill>
                    <a:srgbClr val="6B8F6B"/>
                  </a:solidFill>
                  <a:latin typeface="Calibri (MS)"/>
                  <a:ea typeface="Calibri (MS)"/>
                  <a:cs typeface="Calibri (MS)"/>
                  <a:sym typeface="Calibri (MS)"/>
                </a:rPr>
                <a:t> additionne tout :</a:t>
              </a:r>
            </a:p>
            <a:p>
              <a:pPr algn="l" marL="604515" indent="-302257" lvl="1">
                <a:lnSpc>
                  <a:spcPts val="3359"/>
                </a:lnSpc>
                <a:buFont typeface="Arial"/>
                <a:buChar char="•"/>
              </a:pPr>
              <a:r>
                <a:rPr lang="en-US" sz="2799">
                  <a:solidFill>
                    <a:srgbClr val="6B8F6B"/>
                  </a:solidFill>
                  <a:latin typeface="Calibri (MS)"/>
                  <a:ea typeface="Calibri (MS)"/>
                  <a:cs typeface="Calibri (MS)"/>
                  <a:sym typeface="Calibri (MS)"/>
                </a:rPr>
                <a:t>puis on normalise pour avoir des valeurs entre 0 et 1</a:t>
              </a:r>
            </a:p>
            <a:p>
              <a:pPr algn="l">
                <a:lnSpc>
                  <a:spcPts val="3359"/>
                </a:lnSpc>
              </a:pPr>
              <a:r>
                <a:rPr lang="en-US" sz="2799">
                  <a:solidFill>
                    <a:srgbClr val="6B8F6B"/>
                  </a:solidFill>
                  <a:latin typeface="Calibri (MS)"/>
                  <a:ea typeface="Calibri (MS)"/>
                  <a:cs typeface="Calibri (MS)"/>
                  <a:sym typeface="Calibri (MS)"/>
                </a:rPr>
                <a:t>→  au final :</a:t>
              </a:r>
            </a:p>
            <a:p>
              <a:pPr algn="l">
                <a:lnSpc>
                  <a:spcPts val="3359"/>
                </a:lnSpc>
              </a:pPr>
              <a:r>
                <a:rPr lang="en-US" sz="2799">
                  <a:solidFill>
                    <a:srgbClr val="6B8F6B"/>
                  </a:solidFill>
                  <a:latin typeface="Calibri (MS)"/>
                  <a:ea typeface="Calibri (MS)"/>
                  <a:cs typeface="Calibri (MS)"/>
                  <a:sym typeface="Calibri (MS)"/>
                </a:rPr>
                <a:t>la somme des importances = 1</a:t>
              </a:r>
            </a:p>
            <a:p>
              <a:pPr algn="l">
                <a:lnSpc>
                  <a:spcPts val="2999"/>
                </a:lnSpc>
              </a:pPr>
            </a:p>
          </p:txBody>
        </p:sp>
      </p:grpSp>
      <p:grpSp>
        <p:nvGrpSpPr>
          <p:cNvPr name="Group 48" id="48"/>
          <p:cNvGrpSpPr/>
          <p:nvPr/>
        </p:nvGrpSpPr>
        <p:grpSpPr>
          <a:xfrm rot="0">
            <a:off x="2913778" y="4966347"/>
            <a:ext cx="771974" cy="696421"/>
            <a:chOff x="0" y="0"/>
            <a:chExt cx="731520" cy="659926"/>
          </a:xfrm>
        </p:grpSpPr>
        <p:sp>
          <p:nvSpPr>
            <p:cNvPr name="Freeform 49" id="49"/>
            <p:cNvSpPr/>
            <p:nvPr/>
          </p:nvSpPr>
          <p:spPr>
            <a:xfrm flipH="false" flipV="false" rot="0">
              <a:off x="0" y="0"/>
              <a:ext cx="731520" cy="659926"/>
            </a:xfrm>
            <a:custGeom>
              <a:avLst/>
              <a:gdLst/>
              <a:ahLst/>
              <a:cxnLst/>
              <a:rect r="r" b="b" t="t" l="l"/>
              <a:pathLst>
                <a:path h="659926" w="731520">
                  <a:moveTo>
                    <a:pt x="0" y="0"/>
                  </a:moveTo>
                  <a:lnTo>
                    <a:pt x="731520" y="0"/>
                  </a:lnTo>
                  <a:lnTo>
                    <a:pt x="731520" y="659926"/>
                  </a:lnTo>
                  <a:lnTo>
                    <a:pt x="0" y="659926"/>
                  </a:lnTo>
                  <a:close/>
                </a:path>
              </a:pathLst>
            </a:custGeom>
            <a:blipFill>
              <a:blip r:embed="rId3">
                <a:alphaModFix amt="0"/>
              </a:blip>
              <a:stretch>
                <a:fillRect l="-61196" t="0" r="-61196" b="3931"/>
              </a:stretch>
            </a:blipFill>
          </p:spPr>
        </p:sp>
        <p:sp>
          <p:nvSpPr>
            <p:cNvPr name="TextBox 50" id="50"/>
            <p:cNvSpPr txBox="true"/>
            <p:nvPr/>
          </p:nvSpPr>
          <p:spPr>
            <a:xfrm>
              <a:off x="0" y="-66675"/>
              <a:ext cx="731520" cy="726601"/>
            </a:xfrm>
            <a:prstGeom prst="rect">
              <a:avLst/>
            </a:prstGeom>
          </p:spPr>
          <p:txBody>
            <a:bodyPr anchor="ctr" rtlCol="false" tIns="0" lIns="0" bIns="0" rIns="0"/>
            <a:lstStyle/>
            <a:p>
              <a:pPr algn="ctr">
                <a:lnSpc>
                  <a:spcPts val="4199"/>
                </a:lnSpc>
              </a:pPr>
              <a:r>
                <a:rPr lang="en-US" b="true" sz="3499">
                  <a:solidFill>
                    <a:srgbClr val="E67E22"/>
                  </a:solidFill>
                  <a:latin typeface="Calibri (MS) Bold"/>
                  <a:ea typeface="Calibri (MS) Bold"/>
                  <a:cs typeface="Calibri (MS) Bold"/>
                  <a:sym typeface="Calibri (MS) Bold"/>
                </a:rPr>
                <a:t>①</a:t>
              </a:r>
            </a:p>
          </p:txBody>
        </p:sp>
      </p:grpSp>
      <p:grpSp>
        <p:nvGrpSpPr>
          <p:cNvPr name="Group 51" id="51"/>
          <p:cNvGrpSpPr/>
          <p:nvPr/>
        </p:nvGrpSpPr>
        <p:grpSpPr>
          <a:xfrm rot="0">
            <a:off x="8603289" y="5107457"/>
            <a:ext cx="771974" cy="705948"/>
            <a:chOff x="0" y="0"/>
            <a:chExt cx="731520" cy="668954"/>
          </a:xfrm>
        </p:grpSpPr>
        <p:sp>
          <p:nvSpPr>
            <p:cNvPr name="Freeform 52" id="52"/>
            <p:cNvSpPr/>
            <p:nvPr/>
          </p:nvSpPr>
          <p:spPr>
            <a:xfrm flipH="false" flipV="false" rot="0">
              <a:off x="0" y="0"/>
              <a:ext cx="731520" cy="668954"/>
            </a:xfrm>
            <a:custGeom>
              <a:avLst/>
              <a:gdLst/>
              <a:ahLst/>
              <a:cxnLst/>
              <a:rect r="r" b="b" t="t" l="l"/>
              <a:pathLst>
                <a:path h="668954" w="731520">
                  <a:moveTo>
                    <a:pt x="0" y="0"/>
                  </a:moveTo>
                  <a:lnTo>
                    <a:pt x="731520" y="0"/>
                  </a:lnTo>
                  <a:lnTo>
                    <a:pt x="731520" y="668954"/>
                  </a:lnTo>
                  <a:lnTo>
                    <a:pt x="0" y="668954"/>
                  </a:lnTo>
                  <a:close/>
                </a:path>
              </a:pathLst>
            </a:custGeom>
            <a:blipFill>
              <a:blip r:embed="rId3">
                <a:alphaModFix amt="0"/>
              </a:blip>
              <a:stretch>
                <a:fillRect l="-61196" t="0" r="-61196" b="5227"/>
              </a:stretch>
            </a:blipFill>
          </p:spPr>
        </p:sp>
        <p:sp>
          <p:nvSpPr>
            <p:cNvPr name="TextBox 53" id="53"/>
            <p:cNvSpPr txBox="true"/>
            <p:nvPr/>
          </p:nvSpPr>
          <p:spPr>
            <a:xfrm>
              <a:off x="0" y="-76200"/>
              <a:ext cx="731520" cy="745154"/>
            </a:xfrm>
            <a:prstGeom prst="rect">
              <a:avLst/>
            </a:prstGeom>
          </p:spPr>
          <p:txBody>
            <a:bodyPr anchor="ctr" rtlCol="false" tIns="0" lIns="0" bIns="0" rIns="0"/>
            <a:lstStyle/>
            <a:p>
              <a:pPr algn="ctr">
                <a:lnSpc>
                  <a:spcPts val="4200"/>
                </a:lnSpc>
              </a:pPr>
              <a:r>
                <a:rPr lang="en-US" b="true" sz="3500">
                  <a:solidFill>
                    <a:srgbClr val="E67E22"/>
                  </a:solidFill>
                  <a:latin typeface="Calibri (MS) Bold"/>
                  <a:ea typeface="Calibri (MS) Bold"/>
                  <a:cs typeface="Calibri (MS) Bold"/>
                  <a:sym typeface="Calibri (MS) Bold"/>
                </a:rPr>
                <a:t>②</a:t>
              </a:r>
            </a:p>
          </p:txBody>
        </p:sp>
      </p:grpSp>
      <p:grpSp>
        <p:nvGrpSpPr>
          <p:cNvPr name="Group 54" id="54"/>
          <p:cNvGrpSpPr/>
          <p:nvPr/>
        </p:nvGrpSpPr>
        <p:grpSpPr>
          <a:xfrm rot="0">
            <a:off x="14067524" y="5107457"/>
            <a:ext cx="771974" cy="705948"/>
            <a:chOff x="0" y="0"/>
            <a:chExt cx="731520" cy="668954"/>
          </a:xfrm>
        </p:grpSpPr>
        <p:sp>
          <p:nvSpPr>
            <p:cNvPr name="Freeform 55" id="55"/>
            <p:cNvSpPr/>
            <p:nvPr/>
          </p:nvSpPr>
          <p:spPr>
            <a:xfrm flipH="false" flipV="false" rot="0">
              <a:off x="0" y="0"/>
              <a:ext cx="731520" cy="668954"/>
            </a:xfrm>
            <a:custGeom>
              <a:avLst/>
              <a:gdLst/>
              <a:ahLst/>
              <a:cxnLst/>
              <a:rect r="r" b="b" t="t" l="l"/>
              <a:pathLst>
                <a:path h="668954" w="731520">
                  <a:moveTo>
                    <a:pt x="0" y="0"/>
                  </a:moveTo>
                  <a:lnTo>
                    <a:pt x="731520" y="0"/>
                  </a:lnTo>
                  <a:lnTo>
                    <a:pt x="731520" y="668954"/>
                  </a:lnTo>
                  <a:lnTo>
                    <a:pt x="0" y="668954"/>
                  </a:lnTo>
                  <a:close/>
                </a:path>
              </a:pathLst>
            </a:custGeom>
            <a:blipFill>
              <a:blip r:embed="rId3">
                <a:alphaModFix amt="0"/>
              </a:blip>
              <a:stretch>
                <a:fillRect l="-61196" t="0" r="-61196" b="5227"/>
              </a:stretch>
            </a:blipFill>
          </p:spPr>
        </p:sp>
        <p:sp>
          <p:nvSpPr>
            <p:cNvPr name="TextBox 56" id="56"/>
            <p:cNvSpPr txBox="true"/>
            <p:nvPr/>
          </p:nvSpPr>
          <p:spPr>
            <a:xfrm>
              <a:off x="0" y="-76200"/>
              <a:ext cx="731520" cy="745154"/>
            </a:xfrm>
            <a:prstGeom prst="rect">
              <a:avLst/>
            </a:prstGeom>
          </p:spPr>
          <p:txBody>
            <a:bodyPr anchor="ctr" rtlCol="false" tIns="0" lIns="0" bIns="0" rIns="0"/>
            <a:lstStyle/>
            <a:p>
              <a:pPr algn="ctr">
                <a:lnSpc>
                  <a:spcPts val="4200"/>
                </a:lnSpc>
              </a:pPr>
              <a:r>
                <a:rPr lang="en-US" b="true" sz="3500">
                  <a:solidFill>
                    <a:srgbClr val="E67E22"/>
                  </a:solidFill>
                  <a:latin typeface="Calibri (MS) Bold"/>
                  <a:ea typeface="Calibri (MS) Bold"/>
                  <a:cs typeface="Calibri (MS) Bold"/>
                  <a:sym typeface="Calibri (MS) Bold"/>
                </a:rPr>
                <a:t>③</a:t>
              </a:r>
            </a:p>
          </p:txBody>
        </p:sp>
      </p:grpSp>
      <p:sp>
        <p:nvSpPr>
          <p:cNvPr name="TextBox 57" id="57"/>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85725"/>
              <a:ext cx="22920960" cy="2280285"/>
            </a:xfrm>
            <a:prstGeom prst="rect">
              <a:avLst/>
            </a:prstGeom>
          </p:spPr>
          <p:txBody>
            <a:bodyPr anchor="ctr" rtlCol="false" tIns="0" lIns="0" bIns="0" rIns="0"/>
            <a:lstStyle/>
            <a:p>
              <a:pPr algn="l">
                <a:lnSpc>
                  <a:spcPts val="5159"/>
                </a:lnSpc>
              </a:pPr>
              <a:r>
                <a:rPr lang="en-US" sz="4299" b="true">
                  <a:solidFill>
                    <a:srgbClr val="FFFFFF"/>
                  </a:solidFill>
                  <a:latin typeface="Calibri (MS) Bold"/>
                  <a:ea typeface="Calibri (MS) Bold"/>
                  <a:cs typeface="Calibri (MS) Bold"/>
                  <a:sym typeface="Calibri (MS) Bold"/>
                </a:rPr>
                <a:t>A3 — Feature Importances (Résultats réels Pima Dataset)</a:t>
              </a:r>
            </a:p>
          </p:txBody>
        </p:sp>
      </p:grpSp>
      <p:sp>
        <p:nvSpPr>
          <p:cNvPr name="Freeform 8" id="8"/>
          <p:cNvSpPr/>
          <p:nvPr/>
        </p:nvSpPr>
        <p:spPr>
          <a:xfrm flipH="false" flipV="false" rot="0">
            <a:off x="3425545" y="2235273"/>
            <a:ext cx="11436920" cy="7562664"/>
          </a:xfrm>
          <a:custGeom>
            <a:avLst/>
            <a:gdLst/>
            <a:ahLst/>
            <a:cxnLst/>
            <a:rect r="r" b="b" t="t" l="l"/>
            <a:pathLst>
              <a:path h="7562664" w="11436920">
                <a:moveTo>
                  <a:pt x="0" y="0"/>
                </a:moveTo>
                <a:lnTo>
                  <a:pt x="11436920" y="0"/>
                </a:lnTo>
                <a:lnTo>
                  <a:pt x="11436920" y="7562664"/>
                </a:lnTo>
                <a:lnTo>
                  <a:pt x="0" y="7562664"/>
                </a:lnTo>
                <a:lnTo>
                  <a:pt x="0" y="0"/>
                </a:lnTo>
                <a:close/>
              </a:path>
            </a:pathLst>
          </a:custGeom>
          <a:blipFill>
            <a:blip r:embed="rId4"/>
            <a:stretch>
              <a:fillRect l="0" t="0" r="0" b="0"/>
            </a:stretch>
          </a:blipFill>
        </p:spPr>
      </p:sp>
      <p:sp>
        <p:nvSpPr>
          <p:cNvPr name="TextBox 9" id="9"/>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85725"/>
              <a:ext cx="22920960" cy="2280285"/>
            </a:xfrm>
            <a:prstGeom prst="rect">
              <a:avLst/>
            </a:prstGeom>
          </p:spPr>
          <p:txBody>
            <a:bodyPr anchor="ctr" rtlCol="false" tIns="0" lIns="0" bIns="0" rIns="0"/>
            <a:lstStyle/>
            <a:p>
              <a:pPr algn="l">
                <a:lnSpc>
                  <a:spcPts val="5159"/>
                </a:lnSpc>
              </a:pPr>
              <a:r>
                <a:rPr lang="en-US" sz="4299" b="true">
                  <a:solidFill>
                    <a:srgbClr val="FFFFFF"/>
                  </a:solidFill>
                  <a:latin typeface="Calibri (MS) Bold"/>
                  <a:ea typeface="Calibri (MS) Bold"/>
                  <a:cs typeface="Calibri (MS) Bold"/>
                  <a:sym typeface="Calibri (MS) Bold"/>
                </a:rPr>
                <a:t>A3 — Random Forest vs Arbre de Décision élagué</a:t>
              </a:r>
            </a:p>
          </p:txBody>
        </p:sp>
      </p:grpSp>
      <p:grpSp>
        <p:nvGrpSpPr>
          <p:cNvPr name="Group 8" id="8"/>
          <p:cNvGrpSpPr/>
          <p:nvPr/>
        </p:nvGrpSpPr>
        <p:grpSpPr>
          <a:xfrm rot="0">
            <a:off x="4157997" y="5637116"/>
            <a:ext cx="9699909" cy="612295"/>
            <a:chOff x="0" y="0"/>
            <a:chExt cx="12933213" cy="816393"/>
          </a:xfrm>
        </p:grpSpPr>
        <p:sp>
          <p:nvSpPr>
            <p:cNvPr name="Freeform 9" id="9"/>
            <p:cNvSpPr/>
            <p:nvPr/>
          </p:nvSpPr>
          <p:spPr>
            <a:xfrm flipH="false" flipV="false" rot="0">
              <a:off x="0" y="0"/>
              <a:ext cx="12933213" cy="816393"/>
            </a:xfrm>
            <a:custGeom>
              <a:avLst/>
              <a:gdLst/>
              <a:ahLst/>
              <a:cxnLst/>
              <a:rect r="r" b="b" t="t" l="l"/>
              <a:pathLst>
                <a:path h="816393" w="12933213">
                  <a:moveTo>
                    <a:pt x="0" y="0"/>
                  </a:moveTo>
                  <a:lnTo>
                    <a:pt x="12933213" y="0"/>
                  </a:lnTo>
                  <a:lnTo>
                    <a:pt x="12933213" y="816393"/>
                  </a:lnTo>
                  <a:lnTo>
                    <a:pt x="0" y="816393"/>
                  </a:lnTo>
                  <a:close/>
                </a:path>
              </a:pathLst>
            </a:custGeom>
            <a:blipFill>
              <a:blip r:embed="rId3">
                <a:alphaModFix amt="0"/>
              </a:blip>
              <a:stretch>
                <a:fillRect l="0" t="-187681" r="20814" b="-201180"/>
              </a:stretch>
            </a:blipFill>
          </p:spPr>
        </p:sp>
        <p:sp>
          <p:nvSpPr>
            <p:cNvPr name="TextBox 10" id="10"/>
            <p:cNvSpPr txBox="true"/>
            <p:nvPr/>
          </p:nvSpPr>
          <p:spPr>
            <a:xfrm>
              <a:off x="0" y="-57150"/>
              <a:ext cx="12933213" cy="873543"/>
            </a:xfrm>
            <a:prstGeom prst="rect">
              <a:avLst/>
            </a:prstGeom>
          </p:spPr>
          <p:txBody>
            <a:bodyPr anchor="ctr" rtlCol="false" tIns="0" lIns="0" bIns="0" rIns="0"/>
            <a:lstStyle/>
            <a:p>
              <a:pPr algn="l">
                <a:lnSpc>
                  <a:spcPts val="3479"/>
                </a:lnSpc>
              </a:pPr>
              <a:r>
                <a:rPr lang="en-US" sz="2899" b="true">
                  <a:solidFill>
                    <a:srgbClr val="1A2E1A"/>
                  </a:solidFill>
                  <a:latin typeface="Calibri (MS) Bold"/>
                  <a:ea typeface="Calibri (MS) Bold"/>
                  <a:cs typeface="Calibri (MS) Bold"/>
                  <a:sym typeface="Calibri (MS) Bold"/>
                </a:rPr>
                <a:t>Comparaison RF vs Arbre Unique :</a:t>
              </a:r>
            </a:p>
          </p:txBody>
        </p:sp>
      </p:grpSp>
      <p:grpSp>
        <p:nvGrpSpPr>
          <p:cNvPr name="Group 11" id="11"/>
          <p:cNvGrpSpPr/>
          <p:nvPr/>
        </p:nvGrpSpPr>
        <p:grpSpPr>
          <a:xfrm rot="0">
            <a:off x="4141963" y="6318789"/>
            <a:ext cx="9731990" cy="570225"/>
            <a:chOff x="0" y="0"/>
            <a:chExt cx="12975987" cy="760299"/>
          </a:xfrm>
        </p:grpSpPr>
        <p:sp>
          <p:nvSpPr>
            <p:cNvPr name="Freeform 12" id="12"/>
            <p:cNvSpPr/>
            <p:nvPr/>
          </p:nvSpPr>
          <p:spPr>
            <a:xfrm flipH="false" flipV="false" rot="0">
              <a:off x="21331" y="14882"/>
              <a:ext cx="12933213" cy="730457"/>
            </a:xfrm>
            <a:custGeom>
              <a:avLst/>
              <a:gdLst/>
              <a:ahLst/>
              <a:cxnLst/>
              <a:rect r="r" b="b" t="t" l="l"/>
              <a:pathLst>
                <a:path h="730457" w="12933213">
                  <a:moveTo>
                    <a:pt x="0" y="0"/>
                  </a:moveTo>
                  <a:lnTo>
                    <a:pt x="12933213" y="0"/>
                  </a:lnTo>
                  <a:lnTo>
                    <a:pt x="12933213" y="730457"/>
                  </a:lnTo>
                  <a:lnTo>
                    <a:pt x="0" y="730457"/>
                  </a:lnTo>
                  <a:close/>
                </a:path>
              </a:pathLst>
            </a:custGeom>
            <a:solidFill>
              <a:srgbClr val="F0FFF0"/>
            </a:solidFill>
          </p:spPr>
        </p:sp>
        <p:sp>
          <p:nvSpPr>
            <p:cNvPr name="Freeform 13" id="13"/>
            <p:cNvSpPr/>
            <p:nvPr/>
          </p:nvSpPr>
          <p:spPr>
            <a:xfrm flipH="false" flipV="false" rot="0">
              <a:off x="0" y="0"/>
              <a:ext cx="12975875" cy="760223"/>
            </a:xfrm>
            <a:custGeom>
              <a:avLst/>
              <a:gdLst/>
              <a:ahLst/>
              <a:cxnLst/>
              <a:rect r="r" b="b" t="t" l="l"/>
              <a:pathLst>
                <a:path h="760223" w="12975875">
                  <a:moveTo>
                    <a:pt x="21331" y="0"/>
                  </a:moveTo>
                  <a:lnTo>
                    <a:pt x="12954544" y="0"/>
                  </a:lnTo>
                  <a:cubicBezTo>
                    <a:pt x="12966412" y="0"/>
                    <a:pt x="12975875" y="6714"/>
                    <a:pt x="12975875" y="14882"/>
                  </a:cubicBezTo>
                  <a:lnTo>
                    <a:pt x="12975875" y="745339"/>
                  </a:lnTo>
                  <a:cubicBezTo>
                    <a:pt x="12975875" y="753619"/>
                    <a:pt x="12966252" y="760221"/>
                    <a:pt x="12954544" y="760221"/>
                  </a:cubicBezTo>
                  <a:lnTo>
                    <a:pt x="21331" y="760221"/>
                  </a:lnTo>
                  <a:cubicBezTo>
                    <a:pt x="9623" y="760337"/>
                    <a:pt x="0" y="753619"/>
                    <a:pt x="0" y="745339"/>
                  </a:cubicBezTo>
                  <a:lnTo>
                    <a:pt x="0" y="14882"/>
                  </a:lnTo>
                  <a:cubicBezTo>
                    <a:pt x="0" y="6714"/>
                    <a:pt x="9623" y="0"/>
                    <a:pt x="21331" y="0"/>
                  </a:cubicBezTo>
                  <a:moveTo>
                    <a:pt x="21331" y="29876"/>
                  </a:moveTo>
                  <a:lnTo>
                    <a:pt x="21331" y="14882"/>
                  </a:lnTo>
                  <a:lnTo>
                    <a:pt x="42822" y="14882"/>
                  </a:lnTo>
                  <a:lnTo>
                    <a:pt x="42822" y="745339"/>
                  </a:lnTo>
                  <a:lnTo>
                    <a:pt x="21331" y="745339"/>
                  </a:lnTo>
                  <a:lnTo>
                    <a:pt x="21331" y="730457"/>
                  </a:lnTo>
                  <a:lnTo>
                    <a:pt x="12954544" y="730457"/>
                  </a:lnTo>
                  <a:lnTo>
                    <a:pt x="12954544" y="745339"/>
                  </a:lnTo>
                  <a:lnTo>
                    <a:pt x="12933213" y="745339"/>
                  </a:lnTo>
                  <a:lnTo>
                    <a:pt x="12933213" y="14882"/>
                  </a:lnTo>
                  <a:lnTo>
                    <a:pt x="12954544" y="14882"/>
                  </a:lnTo>
                  <a:lnTo>
                    <a:pt x="12954544" y="29876"/>
                  </a:lnTo>
                  <a:lnTo>
                    <a:pt x="21331" y="29876"/>
                  </a:lnTo>
                  <a:close/>
                </a:path>
              </a:pathLst>
            </a:custGeom>
            <a:solidFill>
              <a:srgbClr val="D0E0D0"/>
            </a:solidFill>
          </p:spPr>
        </p:sp>
      </p:grpSp>
      <p:grpSp>
        <p:nvGrpSpPr>
          <p:cNvPr name="Group 14" id="14"/>
          <p:cNvGrpSpPr/>
          <p:nvPr/>
        </p:nvGrpSpPr>
        <p:grpSpPr>
          <a:xfrm rot="0">
            <a:off x="4388947" y="6318643"/>
            <a:ext cx="6466606" cy="494723"/>
            <a:chOff x="0" y="0"/>
            <a:chExt cx="8622142" cy="659630"/>
          </a:xfrm>
        </p:grpSpPr>
        <p:sp>
          <p:nvSpPr>
            <p:cNvPr name="Freeform 15" id="15"/>
            <p:cNvSpPr/>
            <p:nvPr/>
          </p:nvSpPr>
          <p:spPr>
            <a:xfrm flipH="false" flipV="false" rot="0">
              <a:off x="0" y="0"/>
              <a:ext cx="8622141" cy="659630"/>
            </a:xfrm>
            <a:custGeom>
              <a:avLst/>
              <a:gdLst/>
              <a:ahLst/>
              <a:cxnLst/>
              <a:rect r="r" b="b" t="t" l="l"/>
              <a:pathLst>
                <a:path h="659630" w="8622141">
                  <a:moveTo>
                    <a:pt x="0" y="0"/>
                  </a:moveTo>
                  <a:lnTo>
                    <a:pt x="8622141" y="0"/>
                  </a:lnTo>
                  <a:lnTo>
                    <a:pt x="8622141" y="659630"/>
                  </a:lnTo>
                  <a:lnTo>
                    <a:pt x="0" y="659630"/>
                  </a:lnTo>
                  <a:close/>
                </a:path>
              </a:pathLst>
            </a:custGeom>
            <a:blipFill>
              <a:blip r:embed="rId3">
                <a:alphaModFix amt="0"/>
              </a:blip>
              <a:stretch>
                <a:fillRect l="0" t="-149927" r="20814" b="-153432"/>
              </a:stretch>
            </a:blipFill>
          </p:spPr>
        </p:sp>
        <p:sp>
          <p:nvSpPr>
            <p:cNvPr name="TextBox 16" id="16"/>
            <p:cNvSpPr txBox="true"/>
            <p:nvPr/>
          </p:nvSpPr>
          <p:spPr>
            <a:xfrm>
              <a:off x="0" y="-47625"/>
              <a:ext cx="8622142" cy="707255"/>
            </a:xfrm>
            <a:prstGeom prst="rect">
              <a:avLst/>
            </a:prstGeom>
          </p:spPr>
          <p:txBody>
            <a:bodyPr anchor="ctr" rtlCol="false" tIns="0" lIns="0" bIns="0" rIns="0"/>
            <a:lstStyle/>
            <a:p>
              <a:pPr algn="l">
                <a:lnSpc>
                  <a:spcPts val="2999"/>
                </a:lnSpc>
              </a:pPr>
              <a:r>
                <a:rPr lang="en-US" sz="2499">
                  <a:solidFill>
                    <a:srgbClr val="1A2E1A"/>
                  </a:solidFill>
                  <a:latin typeface="Calibri (MS)"/>
                  <a:ea typeface="Calibri (MS)"/>
                  <a:cs typeface="Calibri (MS)"/>
                  <a:sym typeface="Calibri (MS)"/>
                </a:rPr>
                <a:t>Random Forest (n=100)</a:t>
              </a:r>
            </a:p>
          </p:txBody>
        </p:sp>
      </p:grpSp>
      <p:grpSp>
        <p:nvGrpSpPr>
          <p:cNvPr name="Group 17" id="17"/>
          <p:cNvGrpSpPr/>
          <p:nvPr/>
        </p:nvGrpSpPr>
        <p:grpSpPr>
          <a:xfrm rot="0">
            <a:off x="9102061" y="6370310"/>
            <a:ext cx="4520395" cy="518703"/>
            <a:chOff x="0" y="0"/>
            <a:chExt cx="6027193" cy="691603"/>
          </a:xfrm>
        </p:grpSpPr>
        <p:sp>
          <p:nvSpPr>
            <p:cNvPr name="Freeform 18" id="18"/>
            <p:cNvSpPr/>
            <p:nvPr/>
          </p:nvSpPr>
          <p:spPr>
            <a:xfrm flipH="false" flipV="false" rot="0">
              <a:off x="0" y="0"/>
              <a:ext cx="6027193" cy="691603"/>
            </a:xfrm>
            <a:custGeom>
              <a:avLst/>
              <a:gdLst/>
              <a:ahLst/>
              <a:cxnLst/>
              <a:rect r="r" b="b" t="t" l="l"/>
              <a:pathLst>
                <a:path h="691603" w="6027193">
                  <a:moveTo>
                    <a:pt x="0" y="0"/>
                  </a:moveTo>
                  <a:lnTo>
                    <a:pt x="6027193" y="0"/>
                  </a:lnTo>
                  <a:lnTo>
                    <a:pt x="6027193" y="691603"/>
                  </a:lnTo>
                  <a:lnTo>
                    <a:pt x="0" y="691603"/>
                  </a:lnTo>
                  <a:close/>
                </a:path>
              </a:pathLst>
            </a:custGeom>
            <a:blipFill>
              <a:blip r:embed="rId3">
                <a:alphaModFix amt="0"/>
              </a:blip>
              <a:stretch>
                <a:fillRect l="0" t="-29643" r="53474" b="-28363"/>
              </a:stretch>
            </a:blipFill>
          </p:spPr>
        </p:sp>
        <p:sp>
          <p:nvSpPr>
            <p:cNvPr name="TextBox 19" id="19"/>
            <p:cNvSpPr txBox="true"/>
            <p:nvPr/>
          </p:nvSpPr>
          <p:spPr>
            <a:xfrm>
              <a:off x="0" y="-57150"/>
              <a:ext cx="6027193" cy="748753"/>
            </a:xfrm>
            <a:prstGeom prst="rect">
              <a:avLst/>
            </a:prstGeom>
          </p:spPr>
          <p:txBody>
            <a:bodyPr anchor="ctr" rtlCol="false" tIns="0" lIns="0" bIns="0" rIns="0"/>
            <a:lstStyle/>
            <a:p>
              <a:pPr algn="r">
                <a:lnSpc>
                  <a:spcPts val="3119"/>
                </a:lnSpc>
              </a:pPr>
              <a:r>
                <a:rPr lang="en-US" sz="2599" b="true">
                  <a:solidFill>
                    <a:srgbClr val="2C5F2D"/>
                  </a:solidFill>
                  <a:latin typeface="Calibri (MS) Bold"/>
                  <a:ea typeface="Calibri (MS) Bold"/>
                  <a:cs typeface="Calibri (MS) Bold"/>
                  <a:sym typeface="Calibri (MS) Bold"/>
                </a:rPr>
                <a:t>Accuracy :  0.74</a:t>
              </a:r>
            </a:p>
          </p:txBody>
        </p:sp>
      </p:grpSp>
      <p:grpSp>
        <p:nvGrpSpPr>
          <p:cNvPr name="Group 20" id="20"/>
          <p:cNvGrpSpPr/>
          <p:nvPr/>
        </p:nvGrpSpPr>
        <p:grpSpPr>
          <a:xfrm rot="0">
            <a:off x="4141963" y="6931083"/>
            <a:ext cx="9731990" cy="570225"/>
            <a:chOff x="0" y="0"/>
            <a:chExt cx="12975987" cy="760299"/>
          </a:xfrm>
        </p:grpSpPr>
        <p:sp>
          <p:nvSpPr>
            <p:cNvPr name="Freeform 21" id="21"/>
            <p:cNvSpPr/>
            <p:nvPr/>
          </p:nvSpPr>
          <p:spPr>
            <a:xfrm flipH="false" flipV="false" rot="0">
              <a:off x="21331" y="14882"/>
              <a:ext cx="12933213" cy="730457"/>
            </a:xfrm>
            <a:custGeom>
              <a:avLst/>
              <a:gdLst/>
              <a:ahLst/>
              <a:cxnLst/>
              <a:rect r="r" b="b" t="t" l="l"/>
              <a:pathLst>
                <a:path h="730457" w="12933213">
                  <a:moveTo>
                    <a:pt x="0" y="0"/>
                  </a:moveTo>
                  <a:lnTo>
                    <a:pt x="12933213" y="0"/>
                  </a:lnTo>
                  <a:lnTo>
                    <a:pt x="12933213" y="730457"/>
                  </a:lnTo>
                  <a:lnTo>
                    <a:pt x="0" y="730457"/>
                  </a:lnTo>
                  <a:close/>
                </a:path>
              </a:pathLst>
            </a:custGeom>
            <a:solidFill>
              <a:srgbClr val="FFFFFF"/>
            </a:solidFill>
          </p:spPr>
        </p:sp>
        <p:sp>
          <p:nvSpPr>
            <p:cNvPr name="Freeform 22" id="22"/>
            <p:cNvSpPr/>
            <p:nvPr/>
          </p:nvSpPr>
          <p:spPr>
            <a:xfrm flipH="false" flipV="false" rot="0">
              <a:off x="0" y="0"/>
              <a:ext cx="12975875" cy="760223"/>
            </a:xfrm>
            <a:custGeom>
              <a:avLst/>
              <a:gdLst/>
              <a:ahLst/>
              <a:cxnLst/>
              <a:rect r="r" b="b" t="t" l="l"/>
              <a:pathLst>
                <a:path h="760223" w="12975875">
                  <a:moveTo>
                    <a:pt x="21331" y="0"/>
                  </a:moveTo>
                  <a:lnTo>
                    <a:pt x="12954544" y="0"/>
                  </a:lnTo>
                  <a:cubicBezTo>
                    <a:pt x="12966412" y="0"/>
                    <a:pt x="12975875" y="6714"/>
                    <a:pt x="12975875" y="14882"/>
                  </a:cubicBezTo>
                  <a:lnTo>
                    <a:pt x="12975875" y="745339"/>
                  </a:lnTo>
                  <a:cubicBezTo>
                    <a:pt x="12975875" y="753619"/>
                    <a:pt x="12966252" y="760221"/>
                    <a:pt x="12954544" y="760221"/>
                  </a:cubicBezTo>
                  <a:lnTo>
                    <a:pt x="21331" y="760221"/>
                  </a:lnTo>
                  <a:cubicBezTo>
                    <a:pt x="9623" y="760337"/>
                    <a:pt x="0" y="753619"/>
                    <a:pt x="0" y="745339"/>
                  </a:cubicBezTo>
                  <a:lnTo>
                    <a:pt x="0" y="14882"/>
                  </a:lnTo>
                  <a:cubicBezTo>
                    <a:pt x="0" y="6714"/>
                    <a:pt x="9623" y="0"/>
                    <a:pt x="21331" y="0"/>
                  </a:cubicBezTo>
                  <a:moveTo>
                    <a:pt x="21331" y="29876"/>
                  </a:moveTo>
                  <a:lnTo>
                    <a:pt x="21331" y="14882"/>
                  </a:lnTo>
                  <a:lnTo>
                    <a:pt x="42822" y="14882"/>
                  </a:lnTo>
                  <a:lnTo>
                    <a:pt x="42822" y="745339"/>
                  </a:lnTo>
                  <a:lnTo>
                    <a:pt x="21331" y="745339"/>
                  </a:lnTo>
                  <a:lnTo>
                    <a:pt x="21331" y="730457"/>
                  </a:lnTo>
                  <a:lnTo>
                    <a:pt x="12954544" y="730457"/>
                  </a:lnTo>
                  <a:lnTo>
                    <a:pt x="12954544" y="745339"/>
                  </a:lnTo>
                  <a:lnTo>
                    <a:pt x="12933213" y="745339"/>
                  </a:lnTo>
                  <a:lnTo>
                    <a:pt x="12933213" y="14882"/>
                  </a:lnTo>
                  <a:lnTo>
                    <a:pt x="12954544" y="14882"/>
                  </a:lnTo>
                  <a:lnTo>
                    <a:pt x="12954544" y="29876"/>
                  </a:lnTo>
                  <a:lnTo>
                    <a:pt x="21331" y="29876"/>
                  </a:lnTo>
                  <a:close/>
                </a:path>
              </a:pathLst>
            </a:custGeom>
            <a:solidFill>
              <a:srgbClr val="D0E0D0"/>
            </a:solidFill>
          </p:spPr>
        </p:sp>
      </p:grpSp>
      <p:grpSp>
        <p:nvGrpSpPr>
          <p:cNvPr name="Group 23" id="23"/>
          <p:cNvGrpSpPr/>
          <p:nvPr/>
        </p:nvGrpSpPr>
        <p:grpSpPr>
          <a:xfrm rot="0">
            <a:off x="4388947" y="6930938"/>
            <a:ext cx="6466606" cy="494723"/>
            <a:chOff x="0" y="0"/>
            <a:chExt cx="8622142" cy="659630"/>
          </a:xfrm>
        </p:grpSpPr>
        <p:sp>
          <p:nvSpPr>
            <p:cNvPr name="Freeform 24" id="24"/>
            <p:cNvSpPr/>
            <p:nvPr/>
          </p:nvSpPr>
          <p:spPr>
            <a:xfrm flipH="false" flipV="false" rot="0">
              <a:off x="0" y="0"/>
              <a:ext cx="8622141" cy="659630"/>
            </a:xfrm>
            <a:custGeom>
              <a:avLst/>
              <a:gdLst/>
              <a:ahLst/>
              <a:cxnLst/>
              <a:rect r="r" b="b" t="t" l="l"/>
              <a:pathLst>
                <a:path h="659630" w="8622141">
                  <a:moveTo>
                    <a:pt x="0" y="0"/>
                  </a:moveTo>
                  <a:lnTo>
                    <a:pt x="8622141" y="0"/>
                  </a:lnTo>
                  <a:lnTo>
                    <a:pt x="8622141" y="659630"/>
                  </a:lnTo>
                  <a:lnTo>
                    <a:pt x="0" y="659630"/>
                  </a:lnTo>
                  <a:close/>
                </a:path>
              </a:pathLst>
            </a:custGeom>
            <a:blipFill>
              <a:blip r:embed="rId3">
                <a:alphaModFix amt="0"/>
              </a:blip>
              <a:stretch>
                <a:fillRect l="0" t="-149927" r="20814" b="-153432"/>
              </a:stretch>
            </a:blipFill>
          </p:spPr>
        </p:sp>
        <p:sp>
          <p:nvSpPr>
            <p:cNvPr name="TextBox 25" id="25"/>
            <p:cNvSpPr txBox="true"/>
            <p:nvPr/>
          </p:nvSpPr>
          <p:spPr>
            <a:xfrm>
              <a:off x="0" y="-47625"/>
              <a:ext cx="8622142" cy="707255"/>
            </a:xfrm>
            <a:prstGeom prst="rect">
              <a:avLst/>
            </a:prstGeom>
          </p:spPr>
          <p:txBody>
            <a:bodyPr anchor="ctr" rtlCol="false" tIns="0" lIns="0" bIns="0" rIns="0"/>
            <a:lstStyle/>
            <a:p>
              <a:pPr algn="l">
                <a:lnSpc>
                  <a:spcPts val="2999"/>
                </a:lnSpc>
              </a:pPr>
              <a:r>
                <a:rPr lang="en-US" sz="2499">
                  <a:solidFill>
                    <a:srgbClr val="1A2E1A"/>
                  </a:solidFill>
                  <a:latin typeface="Calibri (MS)"/>
                  <a:ea typeface="Calibri (MS)"/>
                  <a:cs typeface="Calibri (MS)"/>
                  <a:sym typeface="Calibri (MS)"/>
                </a:rPr>
                <a:t>Decision Tree élagué</a:t>
              </a:r>
            </a:p>
          </p:txBody>
        </p:sp>
      </p:grpSp>
      <p:grpSp>
        <p:nvGrpSpPr>
          <p:cNvPr name="Group 26" id="26"/>
          <p:cNvGrpSpPr/>
          <p:nvPr/>
        </p:nvGrpSpPr>
        <p:grpSpPr>
          <a:xfrm rot="0">
            <a:off x="8787005" y="6982605"/>
            <a:ext cx="4835450" cy="518703"/>
            <a:chOff x="0" y="0"/>
            <a:chExt cx="6447267" cy="691603"/>
          </a:xfrm>
        </p:grpSpPr>
        <p:sp>
          <p:nvSpPr>
            <p:cNvPr name="Freeform 27" id="27"/>
            <p:cNvSpPr/>
            <p:nvPr/>
          </p:nvSpPr>
          <p:spPr>
            <a:xfrm flipH="false" flipV="false" rot="0">
              <a:off x="0" y="0"/>
              <a:ext cx="6447267" cy="691603"/>
            </a:xfrm>
            <a:custGeom>
              <a:avLst/>
              <a:gdLst/>
              <a:ahLst/>
              <a:cxnLst/>
              <a:rect r="r" b="b" t="t" l="l"/>
              <a:pathLst>
                <a:path h="691603" w="6447267">
                  <a:moveTo>
                    <a:pt x="0" y="0"/>
                  </a:moveTo>
                  <a:lnTo>
                    <a:pt x="6447267" y="0"/>
                  </a:lnTo>
                  <a:lnTo>
                    <a:pt x="6447267" y="691603"/>
                  </a:lnTo>
                  <a:lnTo>
                    <a:pt x="0" y="691603"/>
                  </a:lnTo>
                  <a:close/>
                </a:path>
              </a:pathLst>
            </a:custGeom>
            <a:blipFill>
              <a:blip r:embed="rId3">
                <a:alphaModFix amt="0"/>
              </a:blip>
              <a:stretch>
                <a:fillRect l="0" t="-29643" r="56506" b="-28363"/>
              </a:stretch>
            </a:blipFill>
          </p:spPr>
        </p:sp>
        <p:sp>
          <p:nvSpPr>
            <p:cNvPr name="TextBox 28" id="28"/>
            <p:cNvSpPr txBox="true"/>
            <p:nvPr/>
          </p:nvSpPr>
          <p:spPr>
            <a:xfrm>
              <a:off x="0" y="-57150"/>
              <a:ext cx="6447267" cy="748753"/>
            </a:xfrm>
            <a:prstGeom prst="rect">
              <a:avLst/>
            </a:prstGeom>
          </p:spPr>
          <p:txBody>
            <a:bodyPr anchor="ctr" rtlCol="false" tIns="0" lIns="0" bIns="0" rIns="0"/>
            <a:lstStyle/>
            <a:p>
              <a:pPr algn="r">
                <a:lnSpc>
                  <a:spcPts val="3119"/>
                </a:lnSpc>
              </a:pPr>
              <a:r>
                <a:rPr lang="en-US" sz="2599" b="true">
                  <a:solidFill>
                    <a:srgbClr val="C0392B"/>
                  </a:solidFill>
                  <a:latin typeface="Calibri (MS) Bold"/>
                  <a:ea typeface="Calibri (MS) Bold"/>
                  <a:cs typeface="Calibri (MS) Bold"/>
                  <a:sym typeface="Calibri (MS) Bold"/>
                </a:rPr>
                <a:t>Accuracy : 0.75</a:t>
              </a:r>
            </a:p>
          </p:txBody>
        </p:sp>
      </p:grpSp>
      <p:grpSp>
        <p:nvGrpSpPr>
          <p:cNvPr name="Group 29" id="29"/>
          <p:cNvGrpSpPr/>
          <p:nvPr/>
        </p:nvGrpSpPr>
        <p:grpSpPr>
          <a:xfrm rot="0">
            <a:off x="10056644" y="1941893"/>
            <a:ext cx="6870596" cy="3282075"/>
            <a:chOff x="0" y="0"/>
            <a:chExt cx="9160795" cy="4376100"/>
          </a:xfrm>
        </p:grpSpPr>
        <p:sp>
          <p:nvSpPr>
            <p:cNvPr name="Freeform 30" id="30"/>
            <p:cNvSpPr/>
            <p:nvPr/>
          </p:nvSpPr>
          <p:spPr>
            <a:xfrm flipH="false" flipV="false" rot="0">
              <a:off x="15059" y="58988"/>
              <a:ext cx="9130597" cy="4257813"/>
            </a:xfrm>
            <a:custGeom>
              <a:avLst/>
              <a:gdLst/>
              <a:ahLst/>
              <a:cxnLst/>
              <a:rect r="r" b="b" t="t" l="l"/>
              <a:pathLst>
                <a:path h="4257813" w="9130597">
                  <a:moveTo>
                    <a:pt x="0" y="0"/>
                  </a:moveTo>
                  <a:lnTo>
                    <a:pt x="9130597" y="0"/>
                  </a:lnTo>
                  <a:lnTo>
                    <a:pt x="9130597" y="4257813"/>
                  </a:lnTo>
                  <a:lnTo>
                    <a:pt x="0" y="4257813"/>
                  </a:lnTo>
                  <a:close/>
                </a:path>
              </a:pathLst>
            </a:custGeom>
            <a:solidFill>
              <a:srgbClr val="E8F5E8"/>
            </a:solidFill>
          </p:spPr>
        </p:sp>
        <p:sp>
          <p:nvSpPr>
            <p:cNvPr name="Freeform 31" id="31"/>
            <p:cNvSpPr/>
            <p:nvPr/>
          </p:nvSpPr>
          <p:spPr>
            <a:xfrm flipH="false" flipV="false" rot="0">
              <a:off x="0" y="0"/>
              <a:ext cx="9160715" cy="4375793"/>
            </a:xfrm>
            <a:custGeom>
              <a:avLst/>
              <a:gdLst/>
              <a:ahLst/>
              <a:cxnLst/>
              <a:rect r="r" b="b" t="t" l="l"/>
              <a:pathLst>
                <a:path h="4375793" w="9160715">
                  <a:moveTo>
                    <a:pt x="15059" y="0"/>
                  </a:moveTo>
                  <a:lnTo>
                    <a:pt x="9145656" y="0"/>
                  </a:lnTo>
                  <a:cubicBezTo>
                    <a:pt x="9154036" y="0"/>
                    <a:pt x="9160715" y="26611"/>
                    <a:pt x="9160715" y="58988"/>
                  </a:cubicBezTo>
                  <a:lnTo>
                    <a:pt x="9160715" y="4316801"/>
                  </a:lnTo>
                  <a:cubicBezTo>
                    <a:pt x="9160715" y="4349622"/>
                    <a:pt x="9153922" y="4375790"/>
                    <a:pt x="9145656" y="4375790"/>
                  </a:cubicBezTo>
                  <a:lnTo>
                    <a:pt x="15059" y="4375790"/>
                  </a:lnTo>
                  <a:cubicBezTo>
                    <a:pt x="6794" y="4376138"/>
                    <a:pt x="0" y="4349622"/>
                    <a:pt x="0" y="4316801"/>
                  </a:cubicBezTo>
                  <a:lnTo>
                    <a:pt x="0" y="58989"/>
                  </a:lnTo>
                  <a:cubicBezTo>
                    <a:pt x="0" y="26611"/>
                    <a:pt x="6794" y="0"/>
                    <a:pt x="15059" y="0"/>
                  </a:cubicBezTo>
                  <a:moveTo>
                    <a:pt x="15059" y="118420"/>
                  </a:moveTo>
                  <a:lnTo>
                    <a:pt x="15059" y="58988"/>
                  </a:lnTo>
                  <a:lnTo>
                    <a:pt x="30232" y="58988"/>
                  </a:lnTo>
                  <a:lnTo>
                    <a:pt x="30232" y="4316801"/>
                  </a:lnTo>
                  <a:lnTo>
                    <a:pt x="15059" y="4316801"/>
                  </a:lnTo>
                  <a:lnTo>
                    <a:pt x="15059" y="4257813"/>
                  </a:lnTo>
                  <a:lnTo>
                    <a:pt x="9145656" y="4257813"/>
                  </a:lnTo>
                  <a:lnTo>
                    <a:pt x="9145656" y="4316801"/>
                  </a:lnTo>
                  <a:lnTo>
                    <a:pt x="9130598" y="4316801"/>
                  </a:lnTo>
                  <a:lnTo>
                    <a:pt x="9130598" y="58988"/>
                  </a:lnTo>
                  <a:lnTo>
                    <a:pt x="9145656" y="58988"/>
                  </a:lnTo>
                  <a:lnTo>
                    <a:pt x="9145656" y="118420"/>
                  </a:lnTo>
                  <a:lnTo>
                    <a:pt x="15059" y="118420"/>
                  </a:lnTo>
                  <a:close/>
                </a:path>
              </a:pathLst>
            </a:custGeom>
            <a:solidFill>
              <a:srgbClr val="5B9E3D"/>
            </a:solidFill>
          </p:spPr>
        </p:sp>
      </p:grpSp>
      <p:sp>
        <p:nvSpPr>
          <p:cNvPr name="TextBox 32" id="32"/>
          <p:cNvSpPr txBox="true"/>
          <p:nvPr/>
        </p:nvSpPr>
        <p:spPr>
          <a:xfrm rot="0">
            <a:off x="10056644" y="1975943"/>
            <a:ext cx="6870596" cy="3419475"/>
          </a:xfrm>
          <a:prstGeom prst="rect">
            <a:avLst/>
          </a:prstGeom>
        </p:spPr>
        <p:txBody>
          <a:bodyPr anchor="t" rtlCol="false" tIns="0" lIns="0" bIns="0" rIns="0">
            <a:spAutoFit/>
          </a:bodyPr>
          <a:lstStyle/>
          <a:p>
            <a:pPr algn="ctr">
              <a:lnSpc>
                <a:spcPts val="3359"/>
              </a:lnSpc>
              <a:spcBef>
                <a:spcPct val="0"/>
              </a:spcBef>
            </a:pPr>
            <a:r>
              <a:rPr lang="en-US" b="true" sz="2799" i="true">
                <a:solidFill>
                  <a:srgbClr val="000000"/>
                </a:solidFill>
                <a:latin typeface="Calibri (MS) Bold Italics"/>
                <a:ea typeface="Calibri (MS) Bold Italics"/>
                <a:cs typeface="Calibri (MS) Bold Italics"/>
                <a:sym typeface="Calibri (MS) Bold Italics"/>
              </a:rPr>
              <a:t> </a:t>
            </a:r>
            <a:r>
              <a:rPr lang="en-US" b="true" sz="2799" i="true">
                <a:solidFill>
                  <a:srgbClr val="000000"/>
                </a:solidFill>
                <a:latin typeface="Calibri (MS) Bold Italics"/>
                <a:ea typeface="Calibri (MS) Bold Italics"/>
                <a:cs typeface="Calibri (MS) Bold Italics"/>
                <a:sym typeface="Calibri (MS) Bold Italics"/>
              </a:rPr>
              <a:t>Random Forest</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E</a:t>
            </a:r>
            <a:r>
              <a:rPr lang="en-US" sz="2799">
                <a:solidFill>
                  <a:srgbClr val="000000"/>
                </a:solidFill>
                <a:latin typeface="Calibri (MS)"/>
                <a:ea typeface="Calibri (MS)"/>
                <a:cs typeface="Calibri (MS)"/>
                <a:sym typeface="Calibri (MS)"/>
              </a:rPr>
              <a:t>nsemble de plusieurs arbres non élagués</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Combine bagging + feature randomness</a:t>
            </a:r>
          </a:p>
          <a:p>
            <a:pPr algn="l">
              <a:lnSpc>
                <a:spcPts val="3359"/>
              </a:lnSpc>
            </a:pPr>
            <a:r>
              <a:rPr lang="en-US" sz="2799">
                <a:solidFill>
                  <a:srgbClr val="000000"/>
                </a:solidFill>
                <a:latin typeface="Calibri (MS)"/>
                <a:ea typeface="Calibri (MS)"/>
                <a:cs typeface="Calibri (MS)"/>
                <a:sym typeface="Calibri (MS)"/>
              </a:rPr>
              <a:t>        Plus robuste et stable,Réduit le surapprentissage</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  Moins interprétable , et Plus coûteux en calcul</a:t>
            </a:r>
          </a:p>
          <a:p>
            <a:pPr algn="l">
              <a:lnSpc>
                <a:spcPts val="3359"/>
              </a:lnSpc>
            </a:pPr>
          </a:p>
        </p:txBody>
      </p:sp>
      <p:grpSp>
        <p:nvGrpSpPr>
          <p:cNvPr name="Group 33" id="33"/>
          <p:cNvGrpSpPr/>
          <p:nvPr/>
        </p:nvGrpSpPr>
        <p:grpSpPr>
          <a:xfrm rot="0">
            <a:off x="1754201" y="1941893"/>
            <a:ext cx="6870596" cy="3282075"/>
            <a:chOff x="0" y="0"/>
            <a:chExt cx="9160795" cy="4376100"/>
          </a:xfrm>
        </p:grpSpPr>
        <p:sp>
          <p:nvSpPr>
            <p:cNvPr name="Freeform 34" id="34"/>
            <p:cNvSpPr/>
            <p:nvPr/>
          </p:nvSpPr>
          <p:spPr>
            <a:xfrm flipH="false" flipV="false" rot="0">
              <a:off x="15059" y="58988"/>
              <a:ext cx="9130597" cy="4257813"/>
            </a:xfrm>
            <a:custGeom>
              <a:avLst/>
              <a:gdLst/>
              <a:ahLst/>
              <a:cxnLst/>
              <a:rect r="r" b="b" t="t" l="l"/>
              <a:pathLst>
                <a:path h="4257813" w="9130597">
                  <a:moveTo>
                    <a:pt x="0" y="0"/>
                  </a:moveTo>
                  <a:lnTo>
                    <a:pt x="9130597" y="0"/>
                  </a:lnTo>
                  <a:lnTo>
                    <a:pt x="9130597" y="4257813"/>
                  </a:lnTo>
                  <a:lnTo>
                    <a:pt x="0" y="4257813"/>
                  </a:lnTo>
                  <a:close/>
                </a:path>
              </a:pathLst>
            </a:custGeom>
            <a:solidFill>
              <a:srgbClr val="E8F5E8"/>
            </a:solidFill>
          </p:spPr>
        </p:sp>
        <p:sp>
          <p:nvSpPr>
            <p:cNvPr name="Freeform 35" id="35"/>
            <p:cNvSpPr/>
            <p:nvPr/>
          </p:nvSpPr>
          <p:spPr>
            <a:xfrm flipH="false" flipV="false" rot="0">
              <a:off x="0" y="0"/>
              <a:ext cx="9160715" cy="4375793"/>
            </a:xfrm>
            <a:custGeom>
              <a:avLst/>
              <a:gdLst/>
              <a:ahLst/>
              <a:cxnLst/>
              <a:rect r="r" b="b" t="t" l="l"/>
              <a:pathLst>
                <a:path h="4375793" w="9160715">
                  <a:moveTo>
                    <a:pt x="15059" y="0"/>
                  </a:moveTo>
                  <a:lnTo>
                    <a:pt x="9145656" y="0"/>
                  </a:lnTo>
                  <a:cubicBezTo>
                    <a:pt x="9154036" y="0"/>
                    <a:pt x="9160715" y="26611"/>
                    <a:pt x="9160715" y="58988"/>
                  </a:cubicBezTo>
                  <a:lnTo>
                    <a:pt x="9160715" y="4316801"/>
                  </a:lnTo>
                  <a:cubicBezTo>
                    <a:pt x="9160715" y="4349622"/>
                    <a:pt x="9153922" y="4375790"/>
                    <a:pt x="9145656" y="4375790"/>
                  </a:cubicBezTo>
                  <a:lnTo>
                    <a:pt x="15059" y="4375790"/>
                  </a:lnTo>
                  <a:cubicBezTo>
                    <a:pt x="6794" y="4376138"/>
                    <a:pt x="0" y="4349622"/>
                    <a:pt x="0" y="4316801"/>
                  </a:cubicBezTo>
                  <a:lnTo>
                    <a:pt x="0" y="58989"/>
                  </a:lnTo>
                  <a:cubicBezTo>
                    <a:pt x="0" y="26611"/>
                    <a:pt x="6794" y="0"/>
                    <a:pt x="15059" y="0"/>
                  </a:cubicBezTo>
                  <a:moveTo>
                    <a:pt x="15059" y="118420"/>
                  </a:moveTo>
                  <a:lnTo>
                    <a:pt x="15059" y="58988"/>
                  </a:lnTo>
                  <a:lnTo>
                    <a:pt x="30232" y="58988"/>
                  </a:lnTo>
                  <a:lnTo>
                    <a:pt x="30232" y="4316801"/>
                  </a:lnTo>
                  <a:lnTo>
                    <a:pt x="15059" y="4316801"/>
                  </a:lnTo>
                  <a:lnTo>
                    <a:pt x="15059" y="4257813"/>
                  </a:lnTo>
                  <a:lnTo>
                    <a:pt x="9145656" y="4257813"/>
                  </a:lnTo>
                  <a:lnTo>
                    <a:pt x="9145656" y="4316801"/>
                  </a:lnTo>
                  <a:lnTo>
                    <a:pt x="9130598" y="4316801"/>
                  </a:lnTo>
                  <a:lnTo>
                    <a:pt x="9130598" y="58988"/>
                  </a:lnTo>
                  <a:lnTo>
                    <a:pt x="9145656" y="58988"/>
                  </a:lnTo>
                  <a:lnTo>
                    <a:pt x="9145656" y="118420"/>
                  </a:lnTo>
                  <a:lnTo>
                    <a:pt x="15059" y="118420"/>
                  </a:lnTo>
                  <a:close/>
                </a:path>
              </a:pathLst>
            </a:custGeom>
            <a:solidFill>
              <a:srgbClr val="5B9E3D"/>
            </a:solidFill>
          </p:spPr>
        </p:sp>
      </p:grpSp>
      <p:sp>
        <p:nvSpPr>
          <p:cNvPr name="TextBox 36" id="36"/>
          <p:cNvSpPr txBox="true"/>
          <p:nvPr/>
        </p:nvSpPr>
        <p:spPr>
          <a:xfrm rot="0">
            <a:off x="1898140" y="1975943"/>
            <a:ext cx="6726658" cy="3419475"/>
          </a:xfrm>
          <a:prstGeom prst="rect">
            <a:avLst/>
          </a:prstGeom>
        </p:spPr>
        <p:txBody>
          <a:bodyPr anchor="t" rtlCol="false" tIns="0" lIns="0" bIns="0" rIns="0">
            <a:spAutoFit/>
          </a:bodyPr>
          <a:lstStyle/>
          <a:p>
            <a:pPr algn="l">
              <a:lnSpc>
                <a:spcPts val="3359"/>
              </a:lnSpc>
              <a:spcBef>
                <a:spcPct val="0"/>
              </a:spcBef>
            </a:pPr>
            <a:r>
              <a:rPr lang="en-US" b="true" sz="2799" i="true">
                <a:solidFill>
                  <a:srgbClr val="000000"/>
                </a:solidFill>
                <a:latin typeface="Calibri (MS) Bold Italics"/>
                <a:ea typeface="Calibri (MS) Bold Italics"/>
                <a:cs typeface="Calibri (MS) Bold Italics"/>
                <a:sym typeface="Calibri (MS) Bold Italics"/>
              </a:rPr>
              <a:t>               </a:t>
            </a:r>
            <a:r>
              <a:rPr lang="en-US" b="true" sz="2799" i="true">
                <a:solidFill>
                  <a:srgbClr val="000000"/>
                </a:solidFill>
                <a:latin typeface="Calibri (MS) Bold Italics"/>
                <a:ea typeface="Calibri (MS) Bold Italics"/>
                <a:cs typeface="Calibri (MS) Bold Italics"/>
                <a:sym typeface="Calibri (MS) Bold Italics"/>
              </a:rPr>
              <a:t>Arbre de décision élagué</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M</a:t>
            </a:r>
            <a:r>
              <a:rPr lang="en-US" sz="2799">
                <a:solidFill>
                  <a:srgbClr val="000000"/>
                </a:solidFill>
                <a:latin typeface="Calibri (MS)"/>
                <a:ea typeface="Calibri (MS)"/>
                <a:cs typeface="Calibri (MS)"/>
                <a:sym typeface="Calibri (MS)"/>
              </a:rPr>
              <a:t>odèle simple et interprétable</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Réduction du surapprentissage grâce à l’élagage (ccp_alpha)</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Bon compromis biais / variance</a:t>
            </a:r>
          </a:p>
          <a:p>
            <a:pPr algn="l" marL="604518" indent="-302259" lvl="1">
              <a:lnSpc>
                <a:spcPts val="3359"/>
              </a:lnSpc>
              <a:buFont typeface="Arial"/>
              <a:buChar char="•"/>
            </a:pPr>
            <a:r>
              <a:rPr lang="en-US" sz="2799">
                <a:solidFill>
                  <a:srgbClr val="000000"/>
                </a:solidFill>
                <a:latin typeface="Calibri (MS)"/>
                <a:ea typeface="Calibri (MS)"/>
                <a:cs typeface="Calibri (MS)"/>
                <a:sym typeface="Calibri (MS)"/>
              </a:rPr>
              <a:t>Plus performant dans ce cas précis que la Random Forest</a:t>
            </a:r>
          </a:p>
          <a:p>
            <a:pPr algn="l">
              <a:lnSpc>
                <a:spcPts val="3359"/>
              </a:lnSpc>
              <a:spcBef>
                <a:spcPct val="0"/>
              </a:spcBef>
            </a:pPr>
          </a:p>
        </p:txBody>
      </p:sp>
      <p:sp>
        <p:nvSpPr>
          <p:cNvPr name="Freeform 37" id="37"/>
          <p:cNvSpPr/>
          <p:nvPr/>
        </p:nvSpPr>
        <p:spPr>
          <a:xfrm flipH="false" flipV="false" rot="0">
            <a:off x="10176380" y="3267916"/>
            <a:ext cx="483104" cy="483104"/>
          </a:xfrm>
          <a:custGeom>
            <a:avLst/>
            <a:gdLst/>
            <a:ahLst/>
            <a:cxnLst/>
            <a:rect r="r" b="b" t="t" l="l"/>
            <a:pathLst>
              <a:path h="483104" w="483104">
                <a:moveTo>
                  <a:pt x="0" y="0"/>
                </a:moveTo>
                <a:lnTo>
                  <a:pt x="483104" y="0"/>
                </a:lnTo>
                <a:lnTo>
                  <a:pt x="483104" y="483104"/>
                </a:lnTo>
                <a:lnTo>
                  <a:pt x="0" y="483104"/>
                </a:lnTo>
                <a:lnTo>
                  <a:pt x="0" y="0"/>
                </a:lnTo>
                <a:close/>
              </a:path>
            </a:pathLst>
          </a:custGeom>
          <a:blipFill>
            <a:blip r:embed="rId4"/>
            <a:stretch>
              <a:fillRect l="0" t="0" r="0" b="0"/>
            </a:stretch>
          </a:blipFill>
        </p:spPr>
      </p:sp>
      <p:sp>
        <p:nvSpPr>
          <p:cNvPr name="Freeform 38" id="38"/>
          <p:cNvSpPr/>
          <p:nvPr/>
        </p:nvSpPr>
        <p:spPr>
          <a:xfrm flipH="false" flipV="false" rot="0">
            <a:off x="10176380" y="4157168"/>
            <a:ext cx="574793" cy="375737"/>
          </a:xfrm>
          <a:custGeom>
            <a:avLst/>
            <a:gdLst/>
            <a:ahLst/>
            <a:cxnLst/>
            <a:rect r="r" b="b" t="t" l="l"/>
            <a:pathLst>
              <a:path h="375737" w="574793">
                <a:moveTo>
                  <a:pt x="0" y="0"/>
                </a:moveTo>
                <a:lnTo>
                  <a:pt x="574793" y="0"/>
                </a:lnTo>
                <a:lnTo>
                  <a:pt x="574793" y="375737"/>
                </a:lnTo>
                <a:lnTo>
                  <a:pt x="0" y="375737"/>
                </a:lnTo>
                <a:lnTo>
                  <a:pt x="0" y="0"/>
                </a:lnTo>
                <a:close/>
              </a:path>
            </a:pathLst>
          </a:custGeom>
          <a:blipFill>
            <a:blip r:embed="rId5"/>
            <a:stretch>
              <a:fillRect l="-19401" t="0" r="-19401" b="0"/>
            </a:stretch>
          </a:blipFill>
        </p:spPr>
      </p:sp>
      <p:grpSp>
        <p:nvGrpSpPr>
          <p:cNvPr name="Group 39" id="39"/>
          <p:cNvGrpSpPr/>
          <p:nvPr/>
        </p:nvGrpSpPr>
        <p:grpSpPr>
          <a:xfrm rot="0">
            <a:off x="1122808" y="7739433"/>
            <a:ext cx="16042393" cy="2318697"/>
            <a:chOff x="0" y="0"/>
            <a:chExt cx="21389858" cy="3091596"/>
          </a:xfrm>
        </p:grpSpPr>
        <p:sp>
          <p:nvSpPr>
            <p:cNvPr name="Freeform 40" id="40"/>
            <p:cNvSpPr/>
            <p:nvPr/>
          </p:nvSpPr>
          <p:spPr>
            <a:xfrm flipH="false" flipV="false" rot="0">
              <a:off x="15739" y="29999"/>
              <a:ext cx="21358295" cy="3031440"/>
            </a:xfrm>
            <a:custGeom>
              <a:avLst/>
              <a:gdLst/>
              <a:ahLst/>
              <a:cxnLst/>
              <a:rect r="r" b="b" t="t" l="l"/>
              <a:pathLst>
                <a:path h="3031440" w="21358295">
                  <a:moveTo>
                    <a:pt x="0" y="0"/>
                  </a:moveTo>
                  <a:lnTo>
                    <a:pt x="21358296" y="0"/>
                  </a:lnTo>
                  <a:lnTo>
                    <a:pt x="21358296" y="3031440"/>
                  </a:lnTo>
                  <a:lnTo>
                    <a:pt x="0" y="3031440"/>
                  </a:lnTo>
                  <a:close/>
                </a:path>
              </a:pathLst>
            </a:custGeom>
            <a:solidFill>
              <a:srgbClr val="FFF0F0"/>
            </a:solidFill>
          </p:spPr>
        </p:sp>
        <p:sp>
          <p:nvSpPr>
            <p:cNvPr name="Freeform 41" id="41"/>
            <p:cNvSpPr/>
            <p:nvPr/>
          </p:nvSpPr>
          <p:spPr>
            <a:xfrm flipH="false" flipV="false" rot="0">
              <a:off x="0" y="0"/>
              <a:ext cx="21389777" cy="3091438"/>
            </a:xfrm>
            <a:custGeom>
              <a:avLst/>
              <a:gdLst/>
              <a:ahLst/>
              <a:cxnLst/>
              <a:rect r="r" b="b" t="t" l="l"/>
              <a:pathLst>
                <a:path h="3091438" w="21389777">
                  <a:moveTo>
                    <a:pt x="15739" y="0"/>
                  </a:moveTo>
                  <a:lnTo>
                    <a:pt x="21374035" y="0"/>
                  </a:lnTo>
                  <a:cubicBezTo>
                    <a:pt x="21382792" y="0"/>
                    <a:pt x="21389777" y="13533"/>
                    <a:pt x="21389777" y="29999"/>
                  </a:cubicBezTo>
                  <a:lnTo>
                    <a:pt x="21389777" y="3061439"/>
                  </a:lnTo>
                  <a:cubicBezTo>
                    <a:pt x="21389777" y="3078130"/>
                    <a:pt x="21382676" y="3091438"/>
                    <a:pt x="21374035" y="3091438"/>
                  </a:cubicBezTo>
                  <a:lnTo>
                    <a:pt x="15739" y="3091438"/>
                  </a:lnTo>
                  <a:cubicBezTo>
                    <a:pt x="6982" y="3091438"/>
                    <a:pt x="0" y="3077904"/>
                    <a:pt x="0" y="3061439"/>
                  </a:cubicBezTo>
                  <a:lnTo>
                    <a:pt x="0" y="29999"/>
                  </a:lnTo>
                  <a:cubicBezTo>
                    <a:pt x="0" y="13533"/>
                    <a:pt x="7100" y="0"/>
                    <a:pt x="15739" y="0"/>
                  </a:cubicBezTo>
                  <a:moveTo>
                    <a:pt x="15739" y="60223"/>
                  </a:moveTo>
                  <a:lnTo>
                    <a:pt x="15739" y="29999"/>
                  </a:lnTo>
                  <a:lnTo>
                    <a:pt x="31597" y="29999"/>
                  </a:lnTo>
                  <a:lnTo>
                    <a:pt x="31597" y="3061439"/>
                  </a:lnTo>
                  <a:lnTo>
                    <a:pt x="15739" y="3061439"/>
                  </a:lnTo>
                  <a:lnTo>
                    <a:pt x="15739" y="3031440"/>
                  </a:lnTo>
                  <a:lnTo>
                    <a:pt x="21374035" y="3031440"/>
                  </a:lnTo>
                  <a:lnTo>
                    <a:pt x="21374035" y="3061439"/>
                  </a:lnTo>
                  <a:lnTo>
                    <a:pt x="21358296" y="3061439"/>
                  </a:lnTo>
                  <a:lnTo>
                    <a:pt x="21358296" y="29999"/>
                  </a:lnTo>
                  <a:lnTo>
                    <a:pt x="21374035" y="29999"/>
                  </a:lnTo>
                  <a:lnTo>
                    <a:pt x="21374035" y="60223"/>
                  </a:lnTo>
                  <a:lnTo>
                    <a:pt x="15739" y="60223"/>
                  </a:lnTo>
                  <a:close/>
                </a:path>
              </a:pathLst>
            </a:custGeom>
            <a:solidFill>
              <a:srgbClr val="5B9E3D"/>
            </a:solidFill>
          </p:spPr>
        </p:sp>
      </p:grpSp>
      <p:sp>
        <p:nvSpPr>
          <p:cNvPr name="TextBox 42" id="4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32</a:t>
            </a:r>
          </a:p>
        </p:txBody>
      </p:sp>
      <p:sp>
        <p:nvSpPr>
          <p:cNvPr name="TextBox 43" id="43"/>
          <p:cNvSpPr txBox="true"/>
          <p:nvPr/>
        </p:nvSpPr>
        <p:spPr>
          <a:xfrm rot="0">
            <a:off x="1521456" y="7953104"/>
            <a:ext cx="14972992" cy="2105025"/>
          </a:xfrm>
          <a:prstGeom prst="rect">
            <a:avLst/>
          </a:prstGeom>
        </p:spPr>
        <p:txBody>
          <a:bodyPr anchor="t" rtlCol="false" tIns="0" lIns="0" bIns="0" rIns="0">
            <a:spAutoFit/>
          </a:bodyPr>
          <a:lstStyle/>
          <a:p>
            <a:pPr algn="ctr" marL="1165857" indent="-388619" lvl="2">
              <a:lnSpc>
                <a:spcPts val="3239"/>
              </a:lnSpc>
              <a:buFont typeface="Arial"/>
              <a:buChar char="⚬"/>
            </a:pPr>
            <a:r>
              <a:rPr lang="en-US" sz="2699">
                <a:solidFill>
                  <a:srgbClr val="000000"/>
                </a:solidFill>
                <a:latin typeface="Calibri (MS)"/>
                <a:ea typeface="Calibri (MS)"/>
                <a:cs typeface="Calibri (MS)"/>
                <a:sym typeface="Calibri (MS)"/>
              </a:rPr>
              <a:t>L’arbre de décision élagué est légèrement meilleur (0.7552 &gt; 0.7483)</a:t>
            </a:r>
          </a:p>
          <a:p>
            <a:pPr algn="ctr" marL="1165857" indent="-388619" lvl="2">
              <a:lnSpc>
                <a:spcPts val="3239"/>
              </a:lnSpc>
              <a:spcBef>
                <a:spcPct val="0"/>
              </a:spcBef>
              <a:buFont typeface="Arial"/>
              <a:buChar char="⚬"/>
            </a:pPr>
            <a:r>
              <a:rPr lang="en-US" sz="2699">
                <a:solidFill>
                  <a:srgbClr val="000000"/>
                </a:solidFill>
                <a:latin typeface="Calibri (MS)"/>
                <a:ea typeface="Calibri (MS)"/>
                <a:cs typeface="Calibri (MS)"/>
                <a:sym typeface="Calibri (MS)"/>
              </a:rPr>
              <a:t>La Random Forest reste plus robuste et stable, mais ne surpasse pas l’arbre optimisé sur ce dataset</a:t>
            </a:r>
          </a:p>
          <a:p>
            <a:pPr algn="ctr">
              <a:lnSpc>
                <a:spcPts val="3239"/>
              </a:lnSpc>
              <a:spcBef>
                <a:spcPct val="0"/>
              </a:spcBef>
            </a:pPr>
            <a:r>
              <a:rPr lang="en-US" sz="2699">
                <a:solidFill>
                  <a:srgbClr val="000000"/>
                </a:solidFill>
                <a:latin typeface="Calibri (MS)"/>
                <a:ea typeface="Calibri (MS)"/>
                <a:cs typeface="Calibri (MS)"/>
                <a:sym typeface="Calibri (MS)"/>
              </a:rPr>
              <a:t>👉 Cela montre que l’élagage bien optimisé peut rivaliser avec un ensemble complexe lorsque les données sont limitées ou peu bruitées.</a:t>
            </a:r>
          </a:p>
          <a:p>
            <a:pPr algn="ctr">
              <a:lnSpc>
                <a:spcPts val="3239"/>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671323"/>
            <a:chOff x="0" y="0"/>
            <a:chExt cx="24417871" cy="2228431"/>
          </a:xfrm>
        </p:grpSpPr>
        <p:sp>
          <p:nvSpPr>
            <p:cNvPr name="Freeform 3" id="3"/>
            <p:cNvSpPr/>
            <p:nvPr/>
          </p:nvSpPr>
          <p:spPr>
            <a:xfrm flipH="false" flipV="false" rot="0">
              <a:off x="16891" y="16891"/>
              <a:ext cx="24383999" cy="2194560"/>
            </a:xfrm>
            <a:custGeom>
              <a:avLst/>
              <a:gdLst/>
              <a:ahLst/>
              <a:cxnLst/>
              <a:rect r="r" b="b" t="t" l="l"/>
              <a:pathLst>
                <a:path h="2194560" w="24383999">
                  <a:moveTo>
                    <a:pt x="0" y="0"/>
                  </a:moveTo>
                  <a:lnTo>
                    <a:pt x="24383999" y="0"/>
                  </a:lnTo>
                  <a:lnTo>
                    <a:pt x="24383999" y="2194560"/>
                  </a:lnTo>
                  <a:lnTo>
                    <a:pt x="0" y="2194560"/>
                  </a:lnTo>
                  <a:close/>
                </a:path>
              </a:pathLst>
            </a:custGeom>
            <a:solidFill>
              <a:srgbClr val="1A2E1A"/>
            </a:solidFill>
          </p:spPr>
        </p:sp>
        <p:sp>
          <p:nvSpPr>
            <p:cNvPr name="Freeform 4" id="4"/>
            <p:cNvSpPr/>
            <p:nvPr/>
          </p:nvSpPr>
          <p:spPr>
            <a:xfrm flipH="false" flipV="false" rot="0">
              <a:off x="0" y="0"/>
              <a:ext cx="24417782" cy="2228342"/>
            </a:xfrm>
            <a:custGeom>
              <a:avLst/>
              <a:gdLst/>
              <a:ahLst/>
              <a:cxnLst/>
              <a:rect r="r" b="b" t="t" l="l"/>
              <a:pathLst>
                <a:path h="2228342" w="24417782">
                  <a:moveTo>
                    <a:pt x="16891" y="0"/>
                  </a:moveTo>
                  <a:lnTo>
                    <a:pt x="24400890" y="0"/>
                  </a:lnTo>
                  <a:cubicBezTo>
                    <a:pt x="24410290" y="0"/>
                    <a:pt x="24417782" y="7620"/>
                    <a:pt x="24417782" y="16891"/>
                  </a:cubicBezTo>
                  <a:lnTo>
                    <a:pt x="24417782" y="2211451"/>
                  </a:lnTo>
                  <a:cubicBezTo>
                    <a:pt x="24417782" y="2220849"/>
                    <a:pt x="24410163" y="2228342"/>
                    <a:pt x="24400890"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24400890" y="2194560"/>
                  </a:lnTo>
                  <a:lnTo>
                    <a:pt x="24400890" y="2211451"/>
                  </a:lnTo>
                  <a:lnTo>
                    <a:pt x="24384000" y="2211451"/>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54864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66675"/>
              <a:ext cx="22920960" cy="2261235"/>
            </a:xfrm>
            <a:prstGeom prst="rect">
              <a:avLst/>
            </a:prstGeom>
          </p:spPr>
          <p:txBody>
            <a:bodyPr anchor="ctr" rtlCol="false" tIns="0" lIns="0" bIns="0" rIns="0"/>
            <a:lstStyle/>
            <a:p>
              <a:pPr algn="l">
                <a:lnSpc>
                  <a:spcPts val="4320"/>
                </a:lnSpc>
              </a:pPr>
              <a:r>
                <a:rPr lang="en-US" sz="3600" b="true">
                  <a:solidFill>
                    <a:srgbClr val="FFFFFF"/>
                  </a:solidFill>
                  <a:latin typeface="Calibri (MS) Bold"/>
                  <a:ea typeface="Calibri (MS) Bold"/>
                  <a:cs typeface="Calibri (MS) Bold"/>
                  <a:sym typeface="Calibri (MS) Bold"/>
                </a:rPr>
                <a:t>A2 —Pourquoi privilégier le Recall en santé ?</a:t>
              </a:r>
            </a:p>
          </p:txBody>
        </p:sp>
      </p:grpSp>
      <p:grpSp>
        <p:nvGrpSpPr>
          <p:cNvPr name="Group 8" id="8"/>
          <p:cNvGrpSpPr/>
          <p:nvPr/>
        </p:nvGrpSpPr>
        <p:grpSpPr>
          <a:xfrm rot="0">
            <a:off x="768895" y="1979694"/>
            <a:ext cx="16710660" cy="7278606"/>
            <a:chOff x="0" y="0"/>
            <a:chExt cx="22280880" cy="9704809"/>
          </a:xfrm>
        </p:grpSpPr>
        <p:sp>
          <p:nvSpPr>
            <p:cNvPr name="Freeform 9" id="9"/>
            <p:cNvSpPr/>
            <p:nvPr/>
          </p:nvSpPr>
          <p:spPr>
            <a:xfrm flipH="false" flipV="false" rot="0">
              <a:off x="25879" y="15584"/>
              <a:ext cx="22228986" cy="9673559"/>
            </a:xfrm>
            <a:custGeom>
              <a:avLst/>
              <a:gdLst/>
              <a:ahLst/>
              <a:cxnLst/>
              <a:rect r="r" b="b" t="t" l="l"/>
              <a:pathLst>
                <a:path h="9673559" w="22228986">
                  <a:moveTo>
                    <a:pt x="0" y="0"/>
                  </a:moveTo>
                  <a:lnTo>
                    <a:pt x="22228986" y="0"/>
                  </a:lnTo>
                  <a:lnTo>
                    <a:pt x="22228986" y="9673559"/>
                  </a:lnTo>
                  <a:lnTo>
                    <a:pt x="0" y="9673559"/>
                  </a:lnTo>
                  <a:close/>
                </a:path>
              </a:pathLst>
            </a:custGeom>
            <a:solidFill>
              <a:srgbClr val="FFFFFF"/>
            </a:solidFill>
          </p:spPr>
        </p:sp>
        <p:sp>
          <p:nvSpPr>
            <p:cNvPr name="Freeform 10" id="10"/>
            <p:cNvSpPr/>
            <p:nvPr/>
          </p:nvSpPr>
          <p:spPr>
            <a:xfrm flipH="false" flipV="false" rot="0">
              <a:off x="0" y="0"/>
              <a:ext cx="22280745" cy="9704726"/>
            </a:xfrm>
            <a:custGeom>
              <a:avLst/>
              <a:gdLst/>
              <a:ahLst/>
              <a:cxnLst/>
              <a:rect r="r" b="b" t="t" l="l"/>
              <a:pathLst>
                <a:path h="9704726" w="22280745">
                  <a:moveTo>
                    <a:pt x="25879" y="0"/>
                  </a:moveTo>
                  <a:lnTo>
                    <a:pt x="22254865" y="0"/>
                  </a:lnTo>
                  <a:cubicBezTo>
                    <a:pt x="22269262" y="0"/>
                    <a:pt x="22280745" y="7030"/>
                    <a:pt x="22280745" y="15584"/>
                  </a:cubicBezTo>
                  <a:lnTo>
                    <a:pt x="22280745" y="9689143"/>
                  </a:lnTo>
                  <a:cubicBezTo>
                    <a:pt x="22280745" y="9697813"/>
                    <a:pt x="22269070" y="9704726"/>
                    <a:pt x="22254865" y="9704726"/>
                  </a:cubicBezTo>
                  <a:lnTo>
                    <a:pt x="25879" y="9704726"/>
                  </a:lnTo>
                  <a:cubicBezTo>
                    <a:pt x="11480" y="9704726"/>
                    <a:pt x="0" y="9697696"/>
                    <a:pt x="0" y="9689143"/>
                  </a:cubicBezTo>
                  <a:lnTo>
                    <a:pt x="0" y="15584"/>
                  </a:lnTo>
                  <a:cubicBezTo>
                    <a:pt x="0" y="7030"/>
                    <a:pt x="11675" y="0"/>
                    <a:pt x="25879" y="0"/>
                  </a:cubicBezTo>
                  <a:moveTo>
                    <a:pt x="25879" y="31284"/>
                  </a:moveTo>
                  <a:lnTo>
                    <a:pt x="25879" y="15584"/>
                  </a:lnTo>
                  <a:lnTo>
                    <a:pt x="51953" y="15584"/>
                  </a:lnTo>
                  <a:lnTo>
                    <a:pt x="51953" y="9689143"/>
                  </a:lnTo>
                  <a:lnTo>
                    <a:pt x="25879" y="9689143"/>
                  </a:lnTo>
                  <a:lnTo>
                    <a:pt x="25879" y="9673559"/>
                  </a:lnTo>
                  <a:lnTo>
                    <a:pt x="22254865" y="9673559"/>
                  </a:lnTo>
                  <a:lnTo>
                    <a:pt x="22254865" y="9689143"/>
                  </a:lnTo>
                  <a:lnTo>
                    <a:pt x="22228986" y="9689143"/>
                  </a:lnTo>
                  <a:lnTo>
                    <a:pt x="22228986" y="15584"/>
                  </a:lnTo>
                  <a:lnTo>
                    <a:pt x="22254865" y="15584"/>
                  </a:lnTo>
                  <a:lnTo>
                    <a:pt x="22254865" y="31284"/>
                  </a:lnTo>
                  <a:lnTo>
                    <a:pt x="25879" y="31284"/>
                  </a:lnTo>
                  <a:close/>
                </a:path>
              </a:pathLst>
            </a:custGeom>
            <a:solidFill>
              <a:srgbClr val="D0E0D0"/>
            </a:solidFill>
          </p:spPr>
        </p:sp>
      </p:grpSp>
      <p:grpSp>
        <p:nvGrpSpPr>
          <p:cNvPr name="Group 11" id="11"/>
          <p:cNvGrpSpPr/>
          <p:nvPr/>
        </p:nvGrpSpPr>
        <p:grpSpPr>
          <a:xfrm rot="0">
            <a:off x="12410580" y="3922458"/>
            <a:ext cx="4825354" cy="2442084"/>
            <a:chOff x="0" y="0"/>
            <a:chExt cx="6433806" cy="3256112"/>
          </a:xfrm>
        </p:grpSpPr>
        <p:sp>
          <p:nvSpPr>
            <p:cNvPr name="Freeform 12" id="12"/>
            <p:cNvSpPr/>
            <p:nvPr/>
          </p:nvSpPr>
          <p:spPr>
            <a:xfrm flipH="false" flipV="false" rot="0">
              <a:off x="0" y="0"/>
              <a:ext cx="6433806" cy="3256112"/>
            </a:xfrm>
            <a:custGeom>
              <a:avLst/>
              <a:gdLst/>
              <a:ahLst/>
              <a:cxnLst/>
              <a:rect r="r" b="b" t="t" l="l"/>
              <a:pathLst>
                <a:path h="3256112" w="6433806">
                  <a:moveTo>
                    <a:pt x="0" y="0"/>
                  </a:moveTo>
                  <a:lnTo>
                    <a:pt x="6433806" y="0"/>
                  </a:lnTo>
                  <a:lnTo>
                    <a:pt x="6433806" y="3256112"/>
                  </a:lnTo>
                  <a:lnTo>
                    <a:pt x="0" y="3256112"/>
                  </a:lnTo>
                  <a:close/>
                </a:path>
              </a:pathLst>
            </a:custGeom>
            <a:blipFill>
              <a:blip r:embed="rId3">
                <a:alphaModFix amt="0"/>
              </a:blip>
              <a:stretch>
                <a:fillRect l="0" t="-57375" r="-112238" b="-6051"/>
              </a:stretch>
            </a:blipFill>
          </p:spPr>
        </p:sp>
        <p:sp>
          <p:nvSpPr>
            <p:cNvPr name="TextBox 13" id="13"/>
            <p:cNvSpPr txBox="true"/>
            <p:nvPr/>
          </p:nvSpPr>
          <p:spPr>
            <a:xfrm>
              <a:off x="0" y="-47625"/>
              <a:ext cx="6433806" cy="3303737"/>
            </a:xfrm>
            <a:prstGeom prst="rect">
              <a:avLst/>
            </a:prstGeom>
          </p:spPr>
          <p:txBody>
            <a:bodyPr anchor="ctr" rtlCol="false" tIns="0" lIns="0" bIns="0" rIns="0"/>
            <a:lstStyle/>
            <a:p>
              <a:pPr algn="l" marL="474981" indent="-237491" lvl="1">
                <a:lnSpc>
                  <a:spcPts val="2640"/>
                </a:lnSpc>
                <a:buFont typeface="Arial"/>
                <a:buChar char="•"/>
              </a:pPr>
              <a:r>
                <a:rPr lang="en-US" sz="2200">
                  <a:solidFill>
                    <a:srgbClr val="1A2E1A"/>
                  </a:solidFill>
                  <a:latin typeface="Calibri (MS)"/>
                  <a:ea typeface="Calibri (MS)"/>
                  <a:cs typeface="Calibri (MS)"/>
                  <a:sym typeface="Calibri (MS)"/>
                </a:rPr>
                <a:t>TP : Vrais positifs (malades bien détectés)</a:t>
              </a:r>
            </a:p>
            <a:p>
              <a:pPr algn="l" marL="474981" indent="-237491" lvl="1">
                <a:lnSpc>
                  <a:spcPts val="2640"/>
                </a:lnSpc>
                <a:buFont typeface="Arial"/>
                <a:buChar char="•"/>
              </a:pPr>
              <a:r>
                <a:rPr lang="en-US" sz="2200">
                  <a:solidFill>
                    <a:srgbClr val="1A2E1A"/>
                  </a:solidFill>
                  <a:latin typeface="Calibri (MS)"/>
                  <a:ea typeface="Calibri (MS)"/>
                  <a:cs typeface="Calibri (MS)"/>
                  <a:sym typeface="Calibri (MS)"/>
                </a:rPr>
                <a:t>TN : Vrais négatifs (non malades bien détectés)</a:t>
              </a:r>
            </a:p>
            <a:p>
              <a:pPr algn="l" marL="474981" indent="-237491" lvl="1">
                <a:lnSpc>
                  <a:spcPts val="2640"/>
                </a:lnSpc>
                <a:buFont typeface="Arial"/>
                <a:buChar char="•"/>
              </a:pPr>
              <a:r>
                <a:rPr lang="en-US" sz="2200">
                  <a:solidFill>
                    <a:srgbClr val="1A2E1A"/>
                  </a:solidFill>
                  <a:latin typeface="Calibri (MS)"/>
                  <a:ea typeface="Calibri (MS)"/>
                  <a:cs typeface="Calibri (MS)"/>
                  <a:sym typeface="Calibri (MS)"/>
                </a:rPr>
                <a:t>FP : Faux positifs (fausse alerte)</a:t>
              </a:r>
            </a:p>
            <a:p>
              <a:pPr algn="l" marL="474981" indent="-237491" lvl="1">
                <a:lnSpc>
                  <a:spcPts val="2640"/>
                </a:lnSpc>
                <a:buFont typeface="Arial"/>
                <a:buChar char="•"/>
              </a:pPr>
              <a:r>
                <a:rPr lang="en-US" sz="2200">
                  <a:solidFill>
                    <a:srgbClr val="1A2E1A"/>
                  </a:solidFill>
                  <a:latin typeface="Calibri (MS)"/>
                  <a:ea typeface="Calibri (MS)"/>
                  <a:cs typeface="Calibri (MS)"/>
                  <a:sym typeface="Calibri (MS)"/>
                </a:rPr>
                <a:t>FN : Faux négatifs (malades ratés )</a:t>
              </a:r>
            </a:p>
            <a:p>
              <a:pPr algn="l">
                <a:lnSpc>
                  <a:spcPts val="2640"/>
                </a:lnSpc>
              </a:pPr>
            </a:p>
          </p:txBody>
        </p:sp>
      </p:grpSp>
      <p:grpSp>
        <p:nvGrpSpPr>
          <p:cNvPr name="Group 14" id="14"/>
          <p:cNvGrpSpPr/>
          <p:nvPr/>
        </p:nvGrpSpPr>
        <p:grpSpPr>
          <a:xfrm rot="0">
            <a:off x="1028695" y="7116377"/>
            <a:ext cx="15984139" cy="1730930"/>
            <a:chOff x="0" y="0"/>
            <a:chExt cx="21312186" cy="2307906"/>
          </a:xfrm>
        </p:grpSpPr>
        <p:sp>
          <p:nvSpPr>
            <p:cNvPr name="Freeform 15" id="15"/>
            <p:cNvSpPr/>
            <p:nvPr/>
          </p:nvSpPr>
          <p:spPr>
            <a:xfrm flipH="false" flipV="false" rot="0">
              <a:off x="26298" y="28351"/>
              <a:ext cx="21259451" cy="2251054"/>
            </a:xfrm>
            <a:custGeom>
              <a:avLst/>
              <a:gdLst/>
              <a:ahLst/>
              <a:cxnLst/>
              <a:rect r="r" b="b" t="t" l="l"/>
              <a:pathLst>
                <a:path h="2251054" w="21259451">
                  <a:moveTo>
                    <a:pt x="0" y="0"/>
                  </a:moveTo>
                  <a:lnTo>
                    <a:pt x="21259451" y="0"/>
                  </a:lnTo>
                  <a:lnTo>
                    <a:pt x="21259451" y="2251055"/>
                  </a:lnTo>
                  <a:lnTo>
                    <a:pt x="0" y="2251055"/>
                  </a:lnTo>
                  <a:close/>
                </a:path>
              </a:pathLst>
            </a:custGeom>
            <a:solidFill>
              <a:srgbClr val="E8F5E8"/>
            </a:solidFill>
          </p:spPr>
        </p:sp>
        <p:sp>
          <p:nvSpPr>
            <p:cNvPr name="Freeform 16" id="16"/>
            <p:cNvSpPr/>
            <p:nvPr/>
          </p:nvSpPr>
          <p:spPr>
            <a:xfrm flipH="false" flipV="false" rot="0">
              <a:off x="0" y="0"/>
              <a:ext cx="21312046" cy="2307757"/>
            </a:xfrm>
            <a:custGeom>
              <a:avLst/>
              <a:gdLst/>
              <a:ahLst/>
              <a:cxnLst/>
              <a:rect r="r" b="b" t="t" l="l"/>
              <a:pathLst>
                <a:path h="2307757" w="21312046">
                  <a:moveTo>
                    <a:pt x="26298" y="0"/>
                  </a:moveTo>
                  <a:lnTo>
                    <a:pt x="21285749" y="0"/>
                  </a:lnTo>
                  <a:cubicBezTo>
                    <a:pt x="21300382" y="0"/>
                    <a:pt x="21312046" y="12790"/>
                    <a:pt x="21312046" y="28351"/>
                  </a:cubicBezTo>
                  <a:lnTo>
                    <a:pt x="21312046" y="2279406"/>
                  </a:lnTo>
                  <a:cubicBezTo>
                    <a:pt x="21312046" y="2295180"/>
                    <a:pt x="21300184" y="2307757"/>
                    <a:pt x="21285749" y="2307757"/>
                  </a:cubicBezTo>
                  <a:lnTo>
                    <a:pt x="26298" y="2307757"/>
                  </a:lnTo>
                  <a:cubicBezTo>
                    <a:pt x="11666" y="2307757"/>
                    <a:pt x="0" y="2294967"/>
                    <a:pt x="0" y="2279406"/>
                  </a:cubicBezTo>
                  <a:lnTo>
                    <a:pt x="0" y="28351"/>
                  </a:lnTo>
                  <a:cubicBezTo>
                    <a:pt x="0" y="12790"/>
                    <a:pt x="11864" y="0"/>
                    <a:pt x="26298" y="0"/>
                  </a:cubicBezTo>
                  <a:moveTo>
                    <a:pt x="26298" y="56916"/>
                  </a:moveTo>
                  <a:lnTo>
                    <a:pt x="26298" y="28351"/>
                  </a:lnTo>
                  <a:lnTo>
                    <a:pt x="52793" y="28351"/>
                  </a:lnTo>
                  <a:lnTo>
                    <a:pt x="52793" y="2279406"/>
                  </a:lnTo>
                  <a:lnTo>
                    <a:pt x="26298" y="2279406"/>
                  </a:lnTo>
                  <a:lnTo>
                    <a:pt x="26298" y="2251054"/>
                  </a:lnTo>
                  <a:lnTo>
                    <a:pt x="21285749" y="2251054"/>
                  </a:lnTo>
                  <a:lnTo>
                    <a:pt x="21285749" y="2279406"/>
                  </a:lnTo>
                  <a:lnTo>
                    <a:pt x="21259451" y="2279406"/>
                  </a:lnTo>
                  <a:lnTo>
                    <a:pt x="21259451" y="28351"/>
                  </a:lnTo>
                  <a:lnTo>
                    <a:pt x="21285749" y="28351"/>
                  </a:lnTo>
                  <a:lnTo>
                    <a:pt x="21285749" y="56916"/>
                  </a:lnTo>
                  <a:lnTo>
                    <a:pt x="26298" y="56916"/>
                  </a:lnTo>
                  <a:close/>
                </a:path>
              </a:pathLst>
            </a:custGeom>
            <a:solidFill>
              <a:srgbClr val="5B9E3D"/>
            </a:solidFill>
          </p:spPr>
        </p:sp>
      </p:grpSp>
      <p:sp>
        <p:nvSpPr>
          <p:cNvPr name="TextBox 17" id="17"/>
          <p:cNvSpPr txBox="true"/>
          <p:nvPr/>
        </p:nvSpPr>
        <p:spPr>
          <a:xfrm rot="0">
            <a:off x="3205182" y="7180204"/>
            <a:ext cx="12163637" cy="1228725"/>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Calibri (MS) Bold"/>
                <a:ea typeface="Calibri (MS) Bold"/>
                <a:cs typeface="Calibri (MS) Bold"/>
                <a:sym typeface="Calibri (MS) Bold"/>
              </a:rPr>
              <a:t> </a:t>
            </a:r>
            <a:r>
              <a:rPr lang="en-US" b="true" sz="2599">
                <a:solidFill>
                  <a:srgbClr val="000000"/>
                </a:solidFill>
                <a:latin typeface="Calibri (MS) Bold"/>
                <a:ea typeface="Calibri (MS) Bold"/>
                <a:cs typeface="Calibri (MS) Bold"/>
                <a:sym typeface="Calibri (MS) Bold"/>
              </a:rPr>
              <a:t>Résultat</a:t>
            </a:r>
          </a:p>
          <a:p>
            <a:pPr algn="ctr">
              <a:lnSpc>
                <a:spcPts val="3119"/>
              </a:lnSpc>
              <a:spcBef>
                <a:spcPct val="0"/>
              </a:spcBef>
            </a:pPr>
            <a:r>
              <a:rPr lang="en-US" b="true" sz="2599">
                <a:solidFill>
                  <a:srgbClr val="000000"/>
                </a:solidFill>
                <a:latin typeface="Calibri (MS) Bold"/>
                <a:ea typeface="Calibri (MS) Bold"/>
                <a:cs typeface="Calibri (MS) Bold"/>
                <a:sym typeface="Calibri (MS) Bold"/>
              </a:rPr>
              <a:t>         Maximiser le recall → minimiser les FN donc détecter au maximum de vrais malades</a:t>
            </a:r>
          </a:p>
        </p:txBody>
      </p:sp>
      <p:sp>
        <p:nvSpPr>
          <p:cNvPr name="Freeform 18" id="18"/>
          <p:cNvSpPr/>
          <p:nvPr/>
        </p:nvSpPr>
        <p:spPr>
          <a:xfrm flipH="false" flipV="false" rot="0">
            <a:off x="8227953" y="7116377"/>
            <a:ext cx="514224" cy="514224"/>
          </a:xfrm>
          <a:custGeom>
            <a:avLst/>
            <a:gdLst/>
            <a:ahLst/>
            <a:cxnLst/>
            <a:rect r="r" b="b" t="t" l="l"/>
            <a:pathLst>
              <a:path h="514224" w="514224">
                <a:moveTo>
                  <a:pt x="0" y="0"/>
                </a:moveTo>
                <a:lnTo>
                  <a:pt x="514225" y="0"/>
                </a:lnTo>
                <a:lnTo>
                  <a:pt x="514225" y="514225"/>
                </a:lnTo>
                <a:lnTo>
                  <a:pt x="0" y="514225"/>
                </a:lnTo>
                <a:lnTo>
                  <a:pt x="0" y="0"/>
                </a:lnTo>
                <a:close/>
              </a:path>
            </a:pathLst>
          </a:custGeom>
          <a:blipFill>
            <a:blip r:embed="rId4"/>
            <a:stretch>
              <a:fillRect l="0" t="0" r="0" b="0"/>
            </a:stretch>
          </a:blipFill>
        </p:spPr>
      </p:sp>
      <p:sp>
        <p:nvSpPr>
          <p:cNvPr name="Freeform 19" id="19"/>
          <p:cNvSpPr/>
          <p:nvPr/>
        </p:nvSpPr>
        <p:spPr>
          <a:xfrm flipH="false" flipV="false" rot="0">
            <a:off x="3808381" y="7560770"/>
            <a:ext cx="457634" cy="457634"/>
          </a:xfrm>
          <a:custGeom>
            <a:avLst/>
            <a:gdLst/>
            <a:ahLst/>
            <a:cxnLst/>
            <a:rect r="r" b="b" t="t" l="l"/>
            <a:pathLst>
              <a:path h="457634" w="457634">
                <a:moveTo>
                  <a:pt x="0" y="0"/>
                </a:moveTo>
                <a:lnTo>
                  <a:pt x="457633" y="0"/>
                </a:lnTo>
                <a:lnTo>
                  <a:pt x="457633" y="457634"/>
                </a:lnTo>
                <a:lnTo>
                  <a:pt x="0" y="457634"/>
                </a:lnTo>
                <a:lnTo>
                  <a:pt x="0" y="0"/>
                </a:lnTo>
                <a:close/>
              </a:path>
            </a:pathLst>
          </a:custGeom>
          <a:blipFill>
            <a:blip r:embed="rId5"/>
            <a:stretch>
              <a:fillRect l="0" t="0" r="0" b="0"/>
            </a:stretch>
          </a:blipFill>
        </p:spPr>
      </p:sp>
      <p:sp>
        <p:nvSpPr>
          <p:cNvPr name="Freeform 20" id="20"/>
          <p:cNvSpPr/>
          <p:nvPr/>
        </p:nvSpPr>
        <p:spPr>
          <a:xfrm flipH="false" flipV="false" rot="0">
            <a:off x="1028700" y="2339406"/>
            <a:ext cx="6913247" cy="1254626"/>
          </a:xfrm>
          <a:custGeom>
            <a:avLst/>
            <a:gdLst/>
            <a:ahLst/>
            <a:cxnLst/>
            <a:rect r="r" b="b" t="t" l="l"/>
            <a:pathLst>
              <a:path h="1254626" w="6913247">
                <a:moveTo>
                  <a:pt x="0" y="0"/>
                </a:moveTo>
                <a:lnTo>
                  <a:pt x="6913247" y="0"/>
                </a:lnTo>
                <a:lnTo>
                  <a:pt x="6913247" y="1254626"/>
                </a:lnTo>
                <a:lnTo>
                  <a:pt x="0" y="1254626"/>
                </a:lnTo>
                <a:lnTo>
                  <a:pt x="0" y="0"/>
                </a:lnTo>
                <a:close/>
              </a:path>
            </a:pathLst>
          </a:custGeom>
          <a:blipFill>
            <a:blip r:embed="rId6"/>
            <a:stretch>
              <a:fillRect l="0" t="0" r="0" b="0"/>
            </a:stretch>
          </a:blipFill>
        </p:spPr>
      </p:sp>
      <p:sp>
        <p:nvSpPr>
          <p:cNvPr name="Freeform 21" id="21"/>
          <p:cNvSpPr/>
          <p:nvPr/>
        </p:nvSpPr>
        <p:spPr>
          <a:xfrm flipH="false" flipV="false" rot="0">
            <a:off x="9287001" y="2393045"/>
            <a:ext cx="5536257" cy="1200987"/>
          </a:xfrm>
          <a:custGeom>
            <a:avLst/>
            <a:gdLst/>
            <a:ahLst/>
            <a:cxnLst/>
            <a:rect r="r" b="b" t="t" l="l"/>
            <a:pathLst>
              <a:path h="1200987" w="5536257">
                <a:moveTo>
                  <a:pt x="0" y="0"/>
                </a:moveTo>
                <a:lnTo>
                  <a:pt x="5536256" y="0"/>
                </a:lnTo>
                <a:lnTo>
                  <a:pt x="5536256" y="1200987"/>
                </a:lnTo>
                <a:lnTo>
                  <a:pt x="0" y="1200987"/>
                </a:lnTo>
                <a:lnTo>
                  <a:pt x="0" y="0"/>
                </a:lnTo>
                <a:close/>
              </a:path>
            </a:pathLst>
          </a:custGeom>
          <a:blipFill>
            <a:blip r:embed="rId7"/>
            <a:stretch>
              <a:fillRect l="0" t="0" r="0" b="0"/>
            </a:stretch>
          </a:blipFill>
        </p:spPr>
      </p:sp>
      <p:sp>
        <p:nvSpPr>
          <p:cNvPr name="TextBox 22" id="22"/>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33</a:t>
            </a:r>
          </a:p>
        </p:txBody>
      </p:sp>
      <p:grpSp>
        <p:nvGrpSpPr>
          <p:cNvPr name="Group 23" id="23"/>
          <p:cNvGrpSpPr/>
          <p:nvPr/>
        </p:nvGrpSpPr>
        <p:grpSpPr>
          <a:xfrm rot="0">
            <a:off x="1028700" y="3922458"/>
            <a:ext cx="11381880" cy="1938597"/>
            <a:chOff x="0" y="0"/>
            <a:chExt cx="15175840" cy="2584796"/>
          </a:xfrm>
        </p:grpSpPr>
        <p:sp>
          <p:nvSpPr>
            <p:cNvPr name="Freeform 24" id="24"/>
            <p:cNvSpPr/>
            <p:nvPr/>
          </p:nvSpPr>
          <p:spPr>
            <a:xfrm flipH="false" flipV="false" rot="0">
              <a:off x="0" y="0"/>
              <a:ext cx="15175840" cy="2584796"/>
            </a:xfrm>
            <a:custGeom>
              <a:avLst/>
              <a:gdLst/>
              <a:ahLst/>
              <a:cxnLst/>
              <a:rect r="r" b="b" t="t" l="l"/>
              <a:pathLst>
                <a:path h="2584796" w="15175840">
                  <a:moveTo>
                    <a:pt x="0" y="0"/>
                  </a:moveTo>
                  <a:lnTo>
                    <a:pt x="15175840" y="0"/>
                  </a:lnTo>
                  <a:lnTo>
                    <a:pt x="15175840" y="2584796"/>
                  </a:lnTo>
                  <a:lnTo>
                    <a:pt x="0" y="2584796"/>
                  </a:lnTo>
                  <a:close/>
                </a:path>
              </a:pathLst>
            </a:custGeom>
            <a:blipFill>
              <a:blip r:embed="rId3">
                <a:alphaModFix amt="0"/>
              </a:blip>
              <a:stretch>
                <a:fillRect l="0" t="-72276" r="10021" b="-33595"/>
              </a:stretch>
            </a:blipFill>
          </p:spPr>
        </p:sp>
        <p:sp>
          <p:nvSpPr>
            <p:cNvPr name="TextBox 25" id="25"/>
            <p:cNvSpPr txBox="true"/>
            <p:nvPr/>
          </p:nvSpPr>
          <p:spPr>
            <a:xfrm>
              <a:off x="0" y="-57150"/>
              <a:ext cx="15175840" cy="2641946"/>
            </a:xfrm>
            <a:prstGeom prst="rect">
              <a:avLst/>
            </a:prstGeom>
          </p:spPr>
          <p:txBody>
            <a:bodyPr anchor="ctr" rtlCol="false" tIns="0" lIns="0" bIns="0" rIns="0"/>
            <a:lstStyle/>
            <a:p>
              <a:pPr algn="l" marL="647697" indent="-323848" lvl="1">
                <a:lnSpc>
                  <a:spcPts val="3599"/>
                </a:lnSpc>
                <a:buFont typeface="Arial"/>
                <a:buChar char="•"/>
              </a:pPr>
              <a:r>
                <a:rPr lang="en-US" sz="2999">
                  <a:solidFill>
                    <a:srgbClr val="1A2E1A"/>
                  </a:solidFill>
                  <a:latin typeface="Calibri (MS)"/>
                  <a:ea typeface="Calibri (MS)"/>
                  <a:cs typeface="Calibri (MS)"/>
                  <a:sym typeface="Calibri (MS)"/>
                </a:rPr>
                <a:t>Accuracy : Proportion de bonnes prédictions (malades + non malades)</a:t>
              </a:r>
            </a:p>
            <a:p>
              <a:pPr algn="l" marL="647697" indent="-323848" lvl="1">
                <a:lnSpc>
                  <a:spcPts val="3599"/>
                </a:lnSpc>
                <a:buFont typeface="Arial"/>
                <a:buChar char="•"/>
              </a:pPr>
              <a:r>
                <a:rPr lang="en-US" sz="2999">
                  <a:solidFill>
                    <a:srgbClr val="1A2E1A"/>
                  </a:solidFill>
                  <a:latin typeface="Calibri (MS)"/>
                  <a:ea typeface="Calibri (MS)"/>
                  <a:cs typeface="Calibri (MS)"/>
                  <a:sym typeface="Calibri (MS)"/>
                </a:rPr>
                <a:t>Rappel : Capacité à détecter les vrais malades</a:t>
              </a:r>
            </a:p>
            <a:p>
              <a:pPr algn="l">
                <a:lnSpc>
                  <a:spcPts val="3599"/>
                </a:lnSpc>
              </a:pP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1A2E1A"/>
        </a:solidFill>
      </p:bgPr>
    </p:bg>
    <p:spTree>
      <p:nvGrpSpPr>
        <p:cNvPr id="1" name=""/>
        <p:cNvGrpSpPr/>
        <p:nvPr/>
      </p:nvGrpSpPr>
      <p:grpSpPr>
        <a:xfrm>
          <a:off x="0" y="0"/>
          <a:ext cx="0" cy="0"/>
          <a:chOff x="0" y="0"/>
          <a:chExt cx="0" cy="0"/>
        </a:xfrm>
      </p:grpSpPr>
      <p:grpSp>
        <p:nvGrpSpPr>
          <p:cNvPr name="Group 2" id="2"/>
          <p:cNvGrpSpPr/>
          <p:nvPr/>
        </p:nvGrpSpPr>
        <p:grpSpPr>
          <a:xfrm rot="0">
            <a:off x="-12697" y="4193543"/>
            <a:ext cx="18313403" cy="135131"/>
            <a:chOff x="0" y="0"/>
            <a:chExt cx="24417871" cy="180175"/>
          </a:xfrm>
        </p:grpSpPr>
        <p:sp>
          <p:nvSpPr>
            <p:cNvPr name="Freeform 3" id="3"/>
            <p:cNvSpPr/>
            <p:nvPr/>
          </p:nvSpPr>
          <p:spPr>
            <a:xfrm flipH="false" flipV="false" rot="0">
              <a:off x="16891" y="16891"/>
              <a:ext cx="24383999" cy="146304"/>
            </a:xfrm>
            <a:custGeom>
              <a:avLst/>
              <a:gdLst/>
              <a:ahLst/>
              <a:cxnLst/>
              <a:rect r="r" b="b" t="t" l="l"/>
              <a:pathLst>
                <a:path h="146304" w="24383999">
                  <a:moveTo>
                    <a:pt x="0" y="0"/>
                  </a:moveTo>
                  <a:lnTo>
                    <a:pt x="24383999" y="0"/>
                  </a:lnTo>
                  <a:lnTo>
                    <a:pt x="24383999" y="146304"/>
                  </a:lnTo>
                  <a:lnTo>
                    <a:pt x="0" y="146304"/>
                  </a:lnTo>
                  <a:close/>
                </a:path>
              </a:pathLst>
            </a:custGeom>
            <a:solidFill>
              <a:srgbClr val="8E44AD"/>
            </a:solidFill>
          </p:spPr>
        </p:sp>
        <p:sp>
          <p:nvSpPr>
            <p:cNvPr name="Freeform 4" id="4"/>
            <p:cNvSpPr/>
            <p:nvPr/>
          </p:nvSpPr>
          <p:spPr>
            <a:xfrm flipH="false" flipV="false" rot="0">
              <a:off x="0" y="0"/>
              <a:ext cx="24417782" cy="180088"/>
            </a:xfrm>
            <a:custGeom>
              <a:avLst/>
              <a:gdLst/>
              <a:ahLst/>
              <a:cxnLst/>
              <a:rect r="r" b="b" t="t" l="l"/>
              <a:pathLst>
                <a:path h="180088" w="24417782">
                  <a:moveTo>
                    <a:pt x="16891" y="0"/>
                  </a:moveTo>
                  <a:lnTo>
                    <a:pt x="24400890" y="0"/>
                  </a:lnTo>
                  <a:cubicBezTo>
                    <a:pt x="24410290" y="0"/>
                    <a:pt x="24417782" y="7620"/>
                    <a:pt x="24417782" y="16891"/>
                  </a:cubicBezTo>
                  <a:lnTo>
                    <a:pt x="24417782" y="163195"/>
                  </a:lnTo>
                  <a:cubicBezTo>
                    <a:pt x="24417782" y="172593"/>
                    <a:pt x="24410163" y="180086"/>
                    <a:pt x="24400890" y="180086"/>
                  </a:cubicBezTo>
                  <a:lnTo>
                    <a:pt x="16891" y="180086"/>
                  </a:lnTo>
                  <a:cubicBezTo>
                    <a:pt x="7620" y="180213"/>
                    <a:pt x="0" y="172593"/>
                    <a:pt x="0" y="163195"/>
                  </a:cubicBezTo>
                  <a:lnTo>
                    <a:pt x="0" y="16891"/>
                  </a:lnTo>
                  <a:cubicBezTo>
                    <a:pt x="0" y="7620"/>
                    <a:pt x="7620" y="0"/>
                    <a:pt x="16891" y="0"/>
                  </a:cubicBezTo>
                  <a:moveTo>
                    <a:pt x="16891" y="33909"/>
                  </a:moveTo>
                  <a:lnTo>
                    <a:pt x="16891" y="16891"/>
                  </a:lnTo>
                  <a:lnTo>
                    <a:pt x="33909" y="16891"/>
                  </a:lnTo>
                  <a:lnTo>
                    <a:pt x="33909" y="163195"/>
                  </a:lnTo>
                  <a:lnTo>
                    <a:pt x="16891" y="163195"/>
                  </a:lnTo>
                  <a:lnTo>
                    <a:pt x="16891" y="146304"/>
                  </a:lnTo>
                  <a:lnTo>
                    <a:pt x="24400890" y="146304"/>
                  </a:lnTo>
                  <a:lnTo>
                    <a:pt x="24400890" y="163195"/>
                  </a:lnTo>
                  <a:lnTo>
                    <a:pt x="24384000" y="163195"/>
                  </a:lnTo>
                  <a:lnTo>
                    <a:pt x="24384000" y="16891"/>
                  </a:lnTo>
                  <a:lnTo>
                    <a:pt x="24400890" y="16891"/>
                  </a:lnTo>
                  <a:lnTo>
                    <a:pt x="24400890" y="33909"/>
                  </a:lnTo>
                  <a:lnTo>
                    <a:pt x="16891" y="33909"/>
                  </a:lnTo>
                  <a:close/>
                </a:path>
              </a:pathLst>
            </a:custGeom>
            <a:solidFill>
              <a:srgbClr val="8E44AD"/>
            </a:solidFill>
          </p:spPr>
        </p:sp>
      </p:grpSp>
      <p:grpSp>
        <p:nvGrpSpPr>
          <p:cNvPr name="Group 5" id="5"/>
          <p:cNvGrpSpPr/>
          <p:nvPr/>
        </p:nvGrpSpPr>
        <p:grpSpPr>
          <a:xfrm rot="0">
            <a:off x="445851" y="442479"/>
            <a:ext cx="3636219" cy="3217664"/>
            <a:chOff x="0" y="0"/>
            <a:chExt cx="4848293" cy="4290219"/>
          </a:xfrm>
        </p:grpSpPr>
        <p:sp>
          <p:nvSpPr>
            <p:cNvPr name="Freeform 6" id="6"/>
            <p:cNvSpPr/>
            <p:nvPr/>
          </p:nvSpPr>
          <p:spPr>
            <a:xfrm flipH="false" flipV="false" rot="0">
              <a:off x="0" y="0"/>
              <a:ext cx="4848292" cy="4290219"/>
            </a:xfrm>
            <a:custGeom>
              <a:avLst/>
              <a:gdLst/>
              <a:ahLst/>
              <a:cxnLst/>
              <a:rect r="r" b="b" t="t" l="l"/>
              <a:pathLst>
                <a:path h="4290219" w="4848292">
                  <a:moveTo>
                    <a:pt x="0" y="0"/>
                  </a:moveTo>
                  <a:lnTo>
                    <a:pt x="4848292" y="0"/>
                  </a:lnTo>
                  <a:lnTo>
                    <a:pt x="4848292" y="4290219"/>
                  </a:lnTo>
                  <a:lnTo>
                    <a:pt x="0" y="4290219"/>
                  </a:lnTo>
                  <a:close/>
                </a:path>
              </a:pathLst>
            </a:custGeom>
            <a:blipFill>
              <a:blip r:embed="rId3">
                <a:alphaModFix amt="0"/>
              </a:blip>
              <a:stretch>
                <a:fillRect l="-47258" t="0" r="-7611" b="31796"/>
              </a:stretch>
            </a:blipFill>
          </p:spPr>
        </p:sp>
        <p:sp>
          <p:nvSpPr>
            <p:cNvPr name="TextBox 7" id="7"/>
            <p:cNvSpPr txBox="true"/>
            <p:nvPr/>
          </p:nvSpPr>
          <p:spPr>
            <a:xfrm>
              <a:off x="0" y="-333375"/>
              <a:ext cx="4848293" cy="4623594"/>
            </a:xfrm>
            <a:prstGeom prst="rect">
              <a:avLst/>
            </a:prstGeom>
          </p:spPr>
          <p:txBody>
            <a:bodyPr anchor="ctr" rtlCol="false" tIns="0" lIns="0" bIns="0" rIns="0"/>
            <a:lstStyle/>
            <a:p>
              <a:pPr algn="l">
                <a:lnSpc>
                  <a:spcPts val="19200"/>
                </a:lnSpc>
              </a:pPr>
              <a:r>
                <a:rPr lang="en-US" sz="16000" b="true">
                  <a:solidFill>
                    <a:srgbClr val="8E44AD"/>
                  </a:solidFill>
                  <a:latin typeface="Calibri (MS) Bold"/>
                  <a:ea typeface="Calibri (MS) Bold"/>
                  <a:cs typeface="Calibri (MS) Bold"/>
                  <a:sym typeface="Calibri (MS) Bold"/>
                </a:rPr>
                <a:t>A4</a:t>
              </a:r>
            </a:p>
          </p:txBody>
        </p:sp>
      </p:grpSp>
      <p:grpSp>
        <p:nvGrpSpPr>
          <p:cNvPr name="Group 8" id="8"/>
          <p:cNvGrpSpPr/>
          <p:nvPr/>
        </p:nvGrpSpPr>
        <p:grpSpPr>
          <a:xfrm rot="0">
            <a:off x="3291840" y="1097280"/>
            <a:ext cx="13716000" cy="1645920"/>
            <a:chOff x="0" y="0"/>
            <a:chExt cx="18288000" cy="2194560"/>
          </a:xfrm>
        </p:grpSpPr>
        <p:sp>
          <p:nvSpPr>
            <p:cNvPr name="Freeform 9" id="9"/>
            <p:cNvSpPr/>
            <p:nvPr/>
          </p:nvSpPr>
          <p:spPr>
            <a:xfrm flipH="false" flipV="false" rot="0">
              <a:off x="0" y="0"/>
              <a:ext cx="18288000" cy="2194560"/>
            </a:xfrm>
            <a:custGeom>
              <a:avLst/>
              <a:gdLst/>
              <a:ahLst/>
              <a:cxnLst/>
              <a:rect r="r" b="b" t="t" l="l"/>
              <a:pathLst>
                <a:path h="2194560" w="18288000">
                  <a:moveTo>
                    <a:pt x="0" y="0"/>
                  </a:moveTo>
                  <a:lnTo>
                    <a:pt x="18288000" y="0"/>
                  </a:lnTo>
                  <a:lnTo>
                    <a:pt x="18288000" y="2194560"/>
                  </a:lnTo>
                  <a:lnTo>
                    <a:pt x="0" y="2194560"/>
                  </a:lnTo>
                  <a:close/>
                </a:path>
              </a:pathLst>
            </a:custGeom>
            <a:blipFill>
              <a:blip r:embed="rId3">
                <a:alphaModFix amt="0"/>
              </a:blip>
              <a:stretch>
                <a:fillRect l="0" t="-112375" r="0" b="-112375"/>
              </a:stretch>
            </a:blipFill>
          </p:spPr>
        </p:sp>
        <p:sp>
          <p:nvSpPr>
            <p:cNvPr name="TextBox 10" id="10"/>
            <p:cNvSpPr txBox="true"/>
            <p:nvPr/>
          </p:nvSpPr>
          <p:spPr>
            <a:xfrm>
              <a:off x="0" y="-171450"/>
              <a:ext cx="18288000" cy="2366010"/>
            </a:xfrm>
            <a:prstGeom prst="rect">
              <a:avLst/>
            </a:prstGeom>
          </p:spPr>
          <p:txBody>
            <a:bodyPr anchor="ctr" rtlCol="false" tIns="0" lIns="0" bIns="0" rIns="0"/>
            <a:lstStyle/>
            <a:p>
              <a:pPr algn="l">
                <a:lnSpc>
                  <a:spcPts val="10560"/>
                </a:lnSpc>
              </a:pPr>
              <a:r>
                <a:rPr lang="en-US" sz="8800" b="true">
                  <a:solidFill>
                    <a:srgbClr val="FFFFFF"/>
                  </a:solidFill>
                  <a:latin typeface="Calibri (MS) Bold"/>
                  <a:ea typeface="Calibri (MS) Bold"/>
                  <a:cs typeface="Calibri (MS) Bold"/>
                  <a:sym typeface="Calibri (MS) Bold"/>
                </a:rPr>
                <a:t>Optimisation</a:t>
              </a:r>
            </a:p>
          </p:txBody>
        </p:sp>
      </p:grpSp>
      <p:grpSp>
        <p:nvGrpSpPr>
          <p:cNvPr name="Group 11" id="11"/>
          <p:cNvGrpSpPr/>
          <p:nvPr/>
        </p:nvGrpSpPr>
        <p:grpSpPr>
          <a:xfrm rot="0">
            <a:off x="2867494" y="2743200"/>
            <a:ext cx="13716000" cy="914400"/>
            <a:chOff x="0" y="0"/>
            <a:chExt cx="18288000" cy="1219200"/>
          </a:xfrm>
        </p:grpSpPr>
        <p:sp>
          <p:nvSpPr>
            <p:cNvPr name="Freeform 12" id="12"/>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13" id="13"/>
            <p:cNvSpPr txBox="true"/>
            <p:nvPr/>
          </p:nvSpPr>
          <p:spPr>
            <a:xfrm>
              <a:off x="0" y="-76200"/>
              <a:ext cx="18288000" cy="1295400"/>
            </a:xfrm>
            <a:prstGeom prst="rect">
              <a:avLst/>
            </a:prstGeom>
          </p:spPr>
          <p:txBody>
            <a:bodyPr anchor="ctr" rtlCol="false" tIns="0" lIns="0" bIns="0" rIns="0"/>
            <a:lstStyle/>
            <a:p>
              <a:pPr algn="l">
                <a:lnSpc>
                  <a:spcPts val="4439"/>
                </a:lnSpc>
              </a:pPr>
              <a:r>
                <a:rPr lang="en-US" sz="3699" i="true">
                  <a:solidFill>
                    <a:srgbClr val="97BC62"/>
                  </a:solidFill>
                  <a:latin typeface="Calibri (MS) Italics"/>
                  <a:ea typeface="Calibri (MS) Italics"/>
                  <a:cs typeface="Calibri (MS) Italics"/>
                  <a:sym typeface="Calibri (MS) Italics"/>
                </a:rPr>
                <a:t>n_estimators ·  max_features ·  max_depth </a:t>
              </a:r>
            </a:p>
          </p:txBody>
        </p:sp>
      </p:grpSp>
      <p:grpSp>
        <p:nvGrpSpPr>
          <p:cNvPr name="Group 14" id="14"/>
          <p:cNvGrpSpPr/>
          <p:nvPr/>
        </p:nvGrpSpPr>
        <p:grpSpPr>
          <a:xfrm rot="0">
            <a:off x="788224" y="4862074"/>
            <a:ext cx="4780283" cy="3197868"/>
            <a:chOff x="0" y="0"/>
            <a:chExt cx="6373711" cy="4263824"/>
          </a:xfrm>
        </p:grpSpPr>
        <p:sp>
          <p:nvSpPr>
            <p:cNvPr name="Freeform 15" id="15"/>
            <p:cNvSpPr/>
            <p:nvPr/>
          </p:nvSpPr>
          <p:spPr>
            <a:xfrm flipH="false" flipV="false" rot="0">
              <a:off x="16891" y="13972"/>
              <a:ext cx="6339840" cy="4235806"/>
            </a:xfrm>
            <a:custGeom>
              <a:avLst/>
              <a:gdLst/>
              <a:ahLst/>
              <a:cxnLst/>
              <a:rect r="r" b="b" t="t" l="l"/>
              <a:pathLst>
                <a:path h="4235806" w="6339840">
                  <a:moveTo>
                    <a:pt x="0" y="0"/>
                  </a:moveTo>
                  <a:lnTo>
                    <a:pt x="6339840" y="0"/>
                  </a:lnTo>
                  <a:lnTo>
                    <a:pt x="6339840" y="4235806"/>
                  </a:lnTo>
                  <a:lnTo>
                    <a:pt x="0" y="4235806"/>
                  </a:lnTo>
                  <a:close/>
                </a:path>
              </a:pathLst>
            </a:custGeom>
            <a:solidFill>
              <a:srgbClr val="1E3A1E"/>
            </a:solidFill>
          </p:spPr>
        </p:sp>
        <p:sp>
          <p:nvSpPr>
            <p:cNvPr name="Freeform 16" id="16"/>
            <p:cNvSpPr/>
            <p:nvPr/>
          </p:nvSpPr>
          <p:spPr>
            <a:xfrm flipH="false" flipV="false" rot="0">
              <a:off x="0" y="0"/>
              <a:ext cx="6373622" cy="4263750"/>
            </a:xfrm>
            <a:custGeom>
              <a:avLst/>
              <a:gdLst/>
              <a:ahLst/>
              <a:cxnLst/>
              <a:rect r="r" b="b" t="t" l="l"/>
              <a:pathLst>
                <a:path h="4263750" w="6373622">
                  <a:moveTo>
                    <a:pt x="16891" y="0"/>
                  </a:moveTo>
                  <a:lnTo>
                    <a:pt x="6356731" y="0"/>
                  </a:lnTo>
                  <a:cubicBezTo>
                    <a:pt x="6366129" y="0"/>
                    <a:pt x="6373622" y="6303"/>
                    <a:pt x="6373622" y="13972"/>
                  </a:cubicBezTo>
                  <a:lnTo>
                    <a:pt x="6373622" y="4249778"/>
                  </a:lnTo>
                  <a:cubicBezTo>
                    <a:pt x="6373622" y="4257552"/>
                    <a:pt x="6366002" y="4263750"/>
                    <a:pt x="6356731" y="4263750"/>
                  </a:cubicBezTo>
                  <a:lnTo>
                    <a:pt x="16891" y="4263750"/>
                  </a:lnTo>
                  <a:cubicBezTo>
                    <a:pt x="7493" y="4263750"/>
                    <a:pt x="0" y="4257447"/>
                    <a:pt x="0" y="4249778"/>
                  </a:cubicBezTo>
                  <a:lnTo>
                    <a:pt x="0" y="13972"/>
                  </a:lnTo>
                  <a:cubicBezTo>
                    <a:pt x="0" y="6303"/>
                    <a:pt x="7620" y="0"/>
                    <a:pt x="16891" y="0"/>
                  </a:cubicBezTo>
                  <a:moveTo>
                    <a:pt x="16891" y="28050"/>
                  </a:moveTo>
                  <a:lnTo>
                    <a:pt x="16891" y="13972"/>
                  </a:lnTo>
                  <a:lnTo>
                    <a:pt x="33909" y="13972"/>
                  </a:lnTo>
                  <a:lnTo>
                    <a:pt x="33909" y="4249778"/>
                  </a:lnTo>
                  <a:lnTo>
                    <a:pt x="16891" y="4249778"/>
                  </a:lnTo>
                  <a:lnTo>
                    <a:pt x="16891" y="4235806"/>
                  </a:lnTo>
                  <a:lnTo>
                    <a:pt x="6356731" y="4235806"/>
                  </a:lnTo>
                  <a:lnTo>
                    <a:pt x="6356731" y="4249778"/>
                  </a:lnTo>
                  <a:lnTo>
                    <a:pt x="6339840" y="4249778"/>
                  </a:lnTo>
                  <a:lnTo>
                    <a:pt x="6339840" y="13972"/>
                  </a:lnTo>
                  <a:lnTo>
                    <a:pt x="6356731" y="13972"/>
                  </a:lnTo>
                  <a:lnTo>
                    <a:pt x="6356731" y="28050"/>
                  </a:lnTo>
                  <a:lnTo>
                    <a:pt x="16891" y="28050"/>
                  </a:lnTo>
                  <a:close/>
                </a:path>
              </a:pathLst>
            </a:custGeom>
            <a:solidFill>
              <a:srgbClr val="8E44AD"/>
            </a:solidFill>
          </p:spPr>
        </p:sp>
      </p:grpSp>
      <p:grpSp>
        <p:nvGrpSpPr>
          <p:cNvPr name="Group 17" id="17"/>
          <p:cNvGrpSpPr/>
          <p:nvPr/>
        </p:nvGrpSpPr>
        <p:grpSpPr>
          <a:xfrm rot="0">
            <a:off x="983801" y="4984499"/>
            <a:ext cx="1280160" cy="1005840"/>
            <a:chOff x="0" y="0"/>
            <a:chExt cx="1706880" cy="1341120"/>
          </a:xfrm>
        </p:grpSpPr>
        <p:sp>
          <p:nvSpPr>
            <p:cNvPr name="Freeform 18" id="18"/>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3">
                <a:alphaModFix amt="0"/>
              </a:blip>
              <a:stretch>
                <a:fillRect l="-50809" t="0" r="-50809" b="0"/>
              </a:stretch>
            </a:blipFill>
          </p:spPr>
        </p:sp>
        <p:sp>
          <p:nvSpPr>
            <p:cNvPr name="TextBox 19" id="19"/>
            <p:cNvSpPr txBox="true"/>
            <p:nvPr/>
          </p:nvSpPr>
          <p:spPr>
            <a:xfrm>
              <a:off x="0" y="-76200"/>
              <a:ext cx="1706880" cy="141732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0" id="20"/>
          <p:cNvGrpSpPr/>
          <p:nvPr/>
        </p:nvGrpSpPr>
        <p:grpSpPr>
          <a:xfrm rot="0">
            <a:off x="2155193" y="5057651"/>
            <a:ext cx="3017520" cy="822960"/>
            <a:chOff x="0" y="0"/>
            <a:chExt cx="4023360" cy="1097280"/>
          </a:xfrm>
        </p:grpSpPr>
        <p:sp>
          <p:nvSpPr>
            <p:cNvPr name="Freeform 21" id="21"/>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sp>
        <p:sp>
          <p:nvSpPr>
            <p:cNvPr name="TextBox 22" id="22"/>
            <p:cNvSpPr txBox="true"/>
            <p:nvPr/>
          </p:nvSpPr>
          <p:spPr>
            <a:xfrm>
              <a:off x="0" y="-66675"/>
              <a:ext cx="4023360" cy="1163955"/>
            </a:xfrm>
            <a:prstGeom prst="rect">
              <a:avLst/>
            </a:prstGeom>
          </p:spPr>
          <p:txBody>
            <a:bodyPr anchor="ctr" rtlCol="false" tIns="0" lIns="0" bIns="0" rIns="0"/>
            <a:lstStyle/>
            <a:p>
              <a:pPr algn="l">
                <a:lnSpc>
                  <a:spcPts val="3719"/>
                </a:lnSpc>
              </a:pPr>
              <a:r>
                <a:rPr lang="en-US" sz="3099" b="true">
                  <a:solidFill>
                    <a:srgbClr val="97BC62"/>
                  </a:solidFill>
                  <a:latin typeface="Calibri (MS) Bold"/>
                  <a:ea typeface="Calibri (MS) Bold"/>
                  <a:cs typeface="Calibri (MS) Bold"/>
                  <a:sym typeface="Calibri (MS) Bold"/>
                </a:rPr>
                <a:t>n_estimators </a:t>
              </a:r>
            </a:p>
          </p:txBody>
        </p:sp>
      </p:grpSp>
      <p:grpSp>
        <p:nvGrpSpPr>
          <p:cNvPr name="Group 23" id="23"/>
          <p:cNvGrpSpPr/>
          <p:nvPr/>
        </p:nvGrpSpPr>
        <p:grpSpPr>
          <a:xfrm rot="0">
            <a:off x="916943" y="6063491"/>
            <a:ext cx="4389120" cy="2377440"/>
            <a:chOff x="0" y="0"/>
            <a:chExt cx="5852160" cy="3169920"/>
          </a:xfrm>
        </p:grpSpPr>
        <p:sp>
          <p:nvSpPr>
            <p:cNvPr name="Freeform 24" id="24"/>
            <p:cNvSpPr/>
            <p:nvPr/>
          </p:nvSpPr>
          <p:spPr>
            <a:xfrm flipH="false" flipV="false" rot="0">
              <a:off x="0" y="0"/>
              <a:ext cx="5852160" cy="3169920"/>
            </a:xfrm>
            <a:custGeom>
              <a:avLst/>
              <a:gdLst/>
              <a:ahLst/>
              <a:cxnLst/>
              <a:rect r="r" b="b" t="t" l="l"/>
              <a:pathLst>
                <a:path h="3169920" w="5852160">
                  <a:moveTo>
                    <a:pt x="0" y="0"/>
                  </a:moveTo>
                  <a:lnTo>
                    <a:pt x="5852160" y="0"/>
                  </a:lnTo>
                  <a:lnTo>
                    <a:pt x="5852160" y="3169920"/>
                  </a:lnTo>
                  <a:lnTo>
                    <a:pt x="0" y="3169920"/>
                  </a:lnTo>
                  <a:close/>
                </a:path>
              </a:pathLst>
            </a:custGeom>
            <a:blipFill>
              <a:blip r:embed="rId3">
                <a:alphaModFix amt="0"/>
              </a:blip>
              <a:stretch>
                <a:fillRect l="-19497" t="0" r="-19497" b="0"/>
              </a:stretch>
            </a:blipFill>
          </p:spPr>
        </p:sp>
        <p:sp>
          <p:nvSpPr>
            <p:cNvPr name="TextBox 25" id="25"/>
            <p:cNvSpPr txBox="true"/>
            <p:nvPr/>
          </p:nvSpPr>
          <p:spPr>
            <a:xfrm>
              <a:off x="0" y="-57150"/>
              <a:ext cx="5852160" cy="3227070"/>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C’est le nombre d’arbres dans la forêt (Random Forest).</a:t>
              </a:r>
            </a:p>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[10→500]</a:t>
              </a:r>
            </a:p>
            <a:p>
              <a:pPr algn="l">
                <a:lnSpc>
                  <a:spcPts val="3239"/>
                </a:lnSpc>
              </a:pPr>
            </a:p>
          </p:txBody>
        </p:sp>
      </p:grpSp>
      <p:grpSp>
        <p:nvGrpSpPr>
          <p:cNvPr name="Group 26" id="26"/>
          <p:cNvGrpSpPr/>
          <p:nvPr/>
        </p:nvGrpSpPr>
        <p:grpSpPr>
          <a:xfrm rot="0">
            <a:off x="6753863" y="4862074"/>
            <a:ext cx="4780283" cy="3197868"/>
            <a:chOff x="0" y="0"/>
            <a:chExt cx="6373711" cy="4263824"/>
          </a:xfrm>
        </p:grpSpPr>
        <p:sp>
          <p:nvSpPr>
            <p:cNvPr name="Freeform 27" id="27"/>
            <p:cNvSpPr/>
            <p:nvPr/>
          </p:nvSpPr>
          <p:spPr>
            <a:xfrm flipH="false" flipV="false" rot="0">
              <a:off x="16891" y="13972"/>
              <a:ext cx="6339840" cy="4235806"/>
            </a:xfrm>
            <a:custGeom>
              <a:avLst/>
              <a:gdLst/>
              <a:ahLst/>
              <a:cxnLst/>
              <a:rect r="r" b="b" t="t" l="l"/>
              <a:pathLst>
                <a:path h="4235806" w="6339840">
                  <a:moveTo>
                    <a:pt x="0" y="0"/>
                  </a:moveTo>
                  <a:lnTo>
                    <a:pt x="6339840" y="0"/>
                  </a:lnTo>
                  <a:lnTo>
                    <a:pt x="6339840" y="4235806"/>
                  </a:lnTo>
                  <a:lnTo>
                    <a:pt x="0" y="4235806"/>
                  </a:lnTo>
                  <a:close/>
                </a:path>
              </a:pathLst>
            </a:custGeom>
            <a:solidFill>
              <a:srgbClr val="1E3A1E"/>
            </a:solidFill>
          </p:spPr>
        </p:sp>
        <p:sp>
          <p:nvSpPr>
            <p:cNvPr name="Freeform 28" id="28"/>
            <p:cNvSpPr/>
            <p:nvPr/>
          </p:nvSpPr>
          <p:spPr>
            <a:xfrm flipH="false" flipV="false" rot="0">
              <a:off x="0" y="0"/>
              <a:ext cx="6373622" cy="4263750"/>
            </a:xfrm>
            <a:custGeom>
              <a:avLst/>
              <a:gdLst/>
              <a:ahLst/>
              <a:cxnLst/>
              <a:rect r="r" b="b" t="t" l="l"/>
              <a:pathLst>
                <a:path h="4263750" w="6373622">
                  <a:moveTo>
                    <a:pt x="16891" y="0"/>
                  </a:moveTo>
                  <a:lnTo>
                    <a:pt x="6356731" y="0"/>
                  </a:lnTo>
                  <a:cubicBezTo>
                    <a:pt x="6366129" y="0"/>
                    <a:pt x="6373622" y="6303"/>
                    <a:pt x="6373622" y="13972"/>
                  </a:cubicBezTo>
                  <a:lnTo>
                    <a:pt x="6373622" y="4249778"/>
                  </a:lnTo>
                  <a:cubicBezTo>
                    <a:pt x="6373622" y="4257552"/>
                    <a:pt x="6366002" y="4263750"/>
                    <a:pt x="6356731" y="4263750"/>
                  </a:cubicBezTo>
                  <a:lnTo>
                    <a:pt x="16891" y="4263750"/>
                  </a:lnTo>
                  <a:cubicBezTo>
                    <a:pt x="7493" y="4263750"/>
                    <a:pt x="0" y="4257447"/>
                    <a:pt x="0" y="4249778"/>
                  </a:cubicBezTo>
                  <a:lnTo>
                    <a:pt x="0" y="13972"/>
                  </a:lnTo>
                  <a:cubicBezTo>
                    <a:pt x="0" y="6303"/>
                    <a:pt x="7620" y="0"/>
                    <a:pt x="16891" y="0"/>
                  </a:cubicBezTo>
                  <a:moveTo>
                    <a:pt x="16891" y="28050"/>
                  </a:moveTo>
                  <a:lnTo>
                    <a:pt x="16891" y="13972"/>
                  </a:lnTo>
                  <a:lnTo>
                    <a:pt x="33909" y="13972"/>
                  </a:lnTo>
                  <a:lnTo>
                    <a:pt x="33909" y="4249778"/>
                  </a:lnTo>
                  <a:lnTo>
                    <a:pt x="16891" y="4249778"/>
                  </a:lnTo>
                  <a:lnTo>
                    <a:pt x="16891" y="4235806"/>
                  </a:lnTo>
                  <a:lnTo>
                    <a:pt x="6356731" y="4235806"/>
                  </a:lnTo>
                  <a:lnTo>
                    <a:pt x="6356731" y="4249778"/>
                  </a:lnTo>
                  <a:lnTo>
                    <a:pt x="6339840" y="4249778"/>
                  </a:lnTo>
                  <a:lnTo>
                    <a:pt x="6339840" y="13972"/>
                  </a:lnTo>
                  <a:lnTo>
                    <a:pt x="6356731" y="13972"/>
                  </a:lnTo>
                  <a:lnTo>
                    <a:pt x="6356731" y="28050"/>
                  </a:lnTo>
                  <a:lnTo>
                    <a:pt x="16891" y="28050"/>
                  </a:lnTo>
                  <a:close/>
                </a:path>
              </a:pathLst>
            </a:custGeom>
            <a:solidFill>
              <a:srgbClr val="8E44AD"/>
            </a:solidFill>
          </p:spPr>
        </p:sp>
      </p:grpSp>
      <p:grpSp>
        <p:nvGrpSpPr>
          <p:cNvPr name="Group 29" id="29"/>
          <p:cNvGrpSpPr/>
          <p:nvPr/>
        </p:nvGrpSpPr>
        <p:grpSpPr>
          <a:xfrm rot="0">
            <a:off x="6949440" y="4984499"/>
            <a:ext cx="1280160" cy="1005840"/>
            <a:chOff x="0" y="0"/>
            <a:chExt cx="1706880" cy="1341120"/>
          </a:xfrm>
        </p:grpSpPr>
        <p:sp>
          <p:nvSpPr>
            <p:cNvPr name="Freeform 30" id="30"/>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3">
                <a:alphaModFix amt="0"/>
              </a:blip>
              <a:stretch>
                <a:fillRect l="-50809" t="0" r="-50809" b="0"/>
              </a:stretch>
            </a:blipFill>
          </p:spPr>
        </p:sp>
        <p:sp>
          <p:nvSpPr>
            <p:cNvPr name="TextBox 31" id="31"/>
            <p:cNvSpPr txBox="true"/>
            <p:nvPr/>
          </p:nvSpPr>
          <p:spPr>
            <a:xfrm>
              <a:off x="0" y="-76200"/>
              <a:ext cx="1706880" cy="141732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32" id="32"/>
          <p:cNvGrpSpPr/>
          <p:nvPr/>
        </p:nvGrpSpPr>
        <p:grpSpPr>
          <a:xfrm rot="0">
            <a:off x="7976258" y="5057651"/>
            <a:ext cx="3017520" cy="822960"/>
            <a:chOff x="0" y="0"/>
            <a:chExt cx="4023360" cy="1097280"/>
          </a:xfrm>
        </p:grpSpPr>
        <p:sp>
          <p:nvSpPr>
            <p:cNvPr name="Freeform 33" id="33"/>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sp>
        <p:sp>
          <p:nvSpPr>
            <p:cNvPr name="TextBox 34" id="34"/>
            <p:cNvSpPr txBox="true"/>
            <p:nvPr/>
          </p:nvSpPr>
          <p:spPr>
            <a:xfrm>
              <a:off x="0" y="-66675"/>
              <a:ext cx="4023360" cy="1163955"/>
            </a:xfrm>
            <a:prstGeom prst="rect">
              <a:avLst/>
            </a:prstGeom>
          </p:spPr>
          <p:txBody>
            <a:bodyPr anchor="ctr" rtlCol="false" tIns="0" lIns="0" bIns="0" rIns="0"/>
            <a:lstStyle/>
            <a:p>
              <a:pPr algn="l">
                <a:lnSpc>
                  <a:spcPts val="3719"/>
                </a:lnSpc>
              </a:pPr>
              <a:r>
                <a:rPr lang="en-US" sz="3099" b="true">
                  <a:solidFill>
                    <a:srgbClr val="97BC62"/>
                  </a:solidFill>
                  <a:latin typeface="Calibri (MS) Bold"/>
                  <a:ea typeface="Calibri (MS) Bold"/>
                  <a:cs typeface="Calibri (MS) Bold"/>
                  <a:sym typeface="Calibri (MS) Bold"/>
                </a:rPr>
                <a:t>max_depth </a:t>
              </a:r>
            </a:p>
          </p:txBody>
        </p:sp>
      </p:grpSp>
      <p:grpSp>
        <p:nvGrpSpPr>
          <p:cNvPr name="Group 35" id="35"/>
          <p:cNvGrpSpPr/>
          <p:nvPr/>
        </p:nvGrpSpPr>
        <p:grpSpPr>
          <a:xfrm rot="0">
            <a:off x="6949440" y="5646464"/>
            <a:ext cx="4324473" cy="2656332"/>
            <a:chOff x="0" y="0"/>
            <a:chExt cx="5765964" cy="3541776"/>
          </a:xfrm>
        </p:grpSpPr>
        <p:sp>
          <p:nvSpPr>
            <p:cNvPr name="Freeform 36" id="36"/>
            <p:cNvSpPr/>
            <p:nvPr/>
          </p:nvSpPr>
          <p:spPr>
            <a:xfrm flipH="false" flipV="false" rot="0">
              <a:off x="0" y="0"/>
              <a:ext cx="5765964" cy="3541776"/>
            </a:xfrm>
            <a:custGeom>
              <a:avLst/>
              <a:gdLst/>
              <a:ahLst/>
              <a:cxnLst/>
              <a:rect r="r" b="b" t="t" l="l"/>
              <a:pathLst>
                <a:path h="3541776" w="5765964">
                  <a:moveTo>
                    <a:pt x="0" y="0"/>
                  </a:moveTo>
                  <a:lnTo>
                    <a:pt x="5765964" y="0"/>
                  </a:lnTo>
                  <a:lnTo>
                    <a:pt x="5765964" y="3541776"/>
                  </a:lnTo>
                  <a:lnTo>
                    <a:pt x="0" y="3541776"/>
                  </a:lnTo>
                  <a:close/>
                </a:path>
              </a:pathLst>
            </a:custGeom>
            <a:blipFill>
              <a:blip r:embed="rId3">
                <a:alphaModFix amt="0"/>
              </a:blip>
              <a:stretch>
                <a:fillRect l="-19789" t="0" r="-21284" b="10499"/>
              </a:stretch>
            </a:blipFill>
          </p:spPr>
        </p:sp>
        <p:sp>
          <p:nvSpPr>
            <p:cNvPr name="TextBox 37" id="37"/>
            <p:cNvSpPr txBox="true"/>
            <p:nvPr/>
          </p:nvSpPr>
          <p:spPr>
            <a:xfrm>
              <a:off x="0" y="-57150"/>
              <a:ext cx="5765964" cy="3598926"/>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 C’est la profondeur maximale d’un arbre.</a:t>
              </a:r>
            </a:p>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 [sqrt/log2],</a:t>
              </a:r>
            </a:p>
          </p:txBody>
        </p:sp>
      </p:grpSp>
      <p:grpSp>
        <p:nvGrpSpPr>
          <p:cNvPr name="Group 38" id="38"/>
          <p:cNvGrpSpPr/>
          <p:nvPr/>
        </p:nvGrpSpPr>
        <p:grpSpPr>
          <a:xfrm rot="0">
            <a:off x="12719502" y="4862074"/>
            <a:ext cx="4780283" cy="3197868"/>
            <a:chOff x="0" y="0"/>
            <a:chExt cx="6373711" cy="4263824"/>
          </a:xfrm>
        </p:grpSpPr>
        <p:sp>
          <p:nvSpPr>
            <p:cNvPr name="Freeform 39" id="39"/>
            <p:cNvSpPr/>
            <p:nvPr/>
          </p:nvSpPr>
          <p:spPr>
            <a:xfrm flipH="false" flipV="false" rot="0">
              <a:off x="16891" y="13972"/>
              <a:ext cx="6339840" cy="4235806"/>
            </a:xfrm>
            <a:custGeom>
              <a:avLst/>
              <a:gdLst/>
              <a:ahLst/>
              <a:cxnLst/>
              <a:rect r="r" b="b" t="t" l="l"/>
              <a:pathLst>
                <a:path h="4235806" w="6339840">
                  <a:moveTo>
                    <a:pt x="0" y="0"/>
                  </a:moveTo>
                  <a:lnTo>
                    <a:pt x="6339840" y="0"/>
                  </a:lnTo>
                  <a:lnTo>
                    <a:pt x="6339840" y="4235806"/>
                  </a:lnTo>
                  <a:lnTo>
                    <a:pt x="0" y="4235806"/>
                  </a:lnTo>
                  <a:close/>
                </a:path>
              </a:pathLst>
            </a:custGeom>
            <a:solidFill>
              <a:srgbClr val="1E3A1E"/>
            </a:solidFill>
          </p:spPr>
        </p:sp>
        <p:sp>
          <p:nvSpPr>
            <p:cNvPr name="Freeform 40" id="40"/>
            <p:cNvSpPr/>
            <p:nvPr/>
          </p:nvSpPr>
          <p:spPr>
            <a:xfrm flipH="false" flipV="false" rot="0">
              <a:off x="0" y="0"/>
              <a:ext cx="6373622" cy="4263750"/>
            </a:xfrm>
            <a:custGeom>
              <a:avLst/>
              <a:gdLst/>
              <a:ahLst/>
              <a:cxnLst/>
              <a:rect r="r" b="b" t="t" l="l"/>
              <a:pathLst>
                <a:path h="4263750" w="6373622">
                  <a:moveTo>
                    <a:pt x="16891" y="0"/>
                  </a:moveTo>
                  <a:lnTo>
                    <a:pt x="6356731" y="0"/>
                  </a:lnTo>
                  <a:cubicBezTo>
                    <a:pt x="6366129" y="0"/>
                    <a:pt x="6373622" y="6303"/>
                    <a:pt x="6373622" y="13972"/>
                  </a:cubicBezTo>
                  <a:lnTo>
                    <a:pt x="6373622" y="4249778"/>
                  </a:lnTo>
                  <a:cubicBezTo>
                    <a:pt x="6373622" y="4257552"/>
                    <a:pt x="6366002" y="4263750"/>
                    <a:pt x="6356731" y="4263750"/>
                  </a:cubicBezTo>
                  <a:lnTo>
                    <a:pt x="16891" y="4263750"/>
                  </a:lnTo>
                  <a:cubicBezTo>
                    <a:pt x="7493" y="4263750"/>
                    <a:pt x="0" y="4257447"/>
                    <a:pt x="0" y="4249778"/>
                  </a:cubicBezTo>
                  <a:lnTo>
                    <a:pt x="0" y="13972"/>
                  </a:lnTo>
                  <a:cubicBezTo>
                    <a:pt x="0" y="6303"/>
                    <a:pt x="7620" y="0"/>
                    <a:pt x="16891" y="0"/>
                  </a:cubicBezTo>
                  <a:moveTo>
                    <a:pt x="16891" y="28050"/>
                  </a:moveTo>
                  <a:lnTo>
                    <a:pt x="16891" y="13972"/>
                  </a:lnTo>
                  <a:lnTo>
                    <a:pt x="33909" y="13972"/>
                  </a:lnTo>
                  <a:lnTo>
                    <a:pt x="33909" y="4249778"/>
                  </a:lnTo>
                  <a:lnTo>
                    <a:pt x="16891" y="4249778"/>
                  </a:lnTo>
                  <a:lnTo>
                    <a:pt x="16891" y="4235806"/>
                  </a:lnTo>
                  <a:lnTo>
                    <a:pt x="6356731" y="4235806"/>
                  </a:lnTo>
                  <a:lnTo>
                    <a:pt x="6356731" y="4249778"/>
                  </a:lnTo>
                  <a:lnTo>
                    <a:pt x="6339840" y="4249778"/>
                  </a:lnTo>
                  <a:lnTo>
                    <a:pt x="6339840" y="13972"/>
                  </a:lnTo>
                  <a:lnTo>
                    <a:pt x="6356731" y="13972"/>
                  </a:lnTo>
                  <a:lnTo>
                    <a:pt x="6356731" y="28050"/>
                  </a:lnTo>
                  <a:lnTo>
                    <a:pt x="16891" y="28050"/>
                  </a:lnTo>
                  <a:close/>
                </a:path>
              </a:pathLst>
            </a:custGeom>
            <a:solidFill>
              <a:srgbClr val="8E44AD"/>
            </a:solidFill>
          </p:spPr>
        </p:sp>
      </p:grpSp>
      <p:grpSp>
        <p:nvGrpSpPr>
          <p:cNvPr name="Group 41" id="41"/>
          <p:cNvGrpSpPr/>
          <p:nvPr/>
        </p:nvGrpSpPr>
        <p:grpSpPr>
          <a:xfrm rot="0">
            <a:off x="12915079" y="4984499"/>
            <a:ext cx="1280160" cy="1005840"/>
            <a:chOff x="0" y="0"/>
            <a:chExt cx="1706880" cy="1341120"/>
          </a:xfrm>
        </p:grpSpPr>
        <p:sp>
          <p:nvSpPr>
            <p:cNvPr name="Freeform 42" id="42"/>
            <p:cNvSpPr/>
            <p:nvPr/>
          </p:nvSpPr>
          <p:spPr>
            <a:xfrm flipH="false" flipV="false" rot="0">
              <a:off x="0" y="0"/>
              <a:ext cx="1706880" cy="1341120"/>
            </a:xfrm>
            <a:custGeom>
              <a:avLst/>
              <a:gdLst/>
              <a:ahLst/>
              <a:cxnLst/>
              <a:rect r="r" b="b" t="t" l="l"/>
              <a:pathLst>
                <a:path h="1341120" w="1706880">
                  <a:moveTo>
                    <a:pt x="0" y="0"/>
                  </a:moveTo>
                  <a:lnTo>
                    <a:pt x="1706880" y="0"/>
                  </a:lnTo>
                  <a:lnTo>
                    <a:pt x="1706880" y="1341120"/>
                  </a:lnTo>
                  <a:lnTo>
                    <a:pt x="0" y="1341120"/>
                  </a:lnTo>
                  <a:close/>
                </a:path>
              </a:pathLst>
            </a:custGeom>
            <a:blipFill>
              <a:blip r:embed="rId3">
                <a:alphaModFix amt="0"/>
              </a:blip>
              <a:stretch>
                <a:fillRect l="-50809" t="0" r="-50809" b="0"/>
              </a:stretch>
            </a:blipFill>
          </p:spPr>
        </p:sp>
        <p:sp>
          <p:nvSpPr>
            <p:cNvPr name="TextBox 43" id="43"/>
            <p:cNvSpPr txBox="true"/>
            <p:nvPr/>
          </p:nvSpPr>
          <p:spPr>
            <a:xfrm>
              <a:off x="0" y="-76200"/>
              <a:ext cx="1706880" cy="1417320"/>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44" id="44"/>
          <p:cNvGrpSpPr/>
          <p:nvPr/>
        </p:nvGrpSpPr>
        <p:grpSpPr>
          <a:xfrm rot="0">
            <a:off x="14001304" y="4984499"/>
            <a:ext cx="3017520" cy="822960"/>
            <a:chOff x="0" y="0"/>
            <a:chExt cx="4023360" cy="1097280"/>
          </a:xfrm>
        </p:grpSpPr>
        <p:sp>
          <p:nvSpPr>
            <p:cNvPr name="Freeform 45" id="45"/>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sp>
        <p:sp>
          <p:nvSpPr>
            <p:cNvPr name="TextBox 46" id="46"/>
            <p:cNvSpPr txBox="true"/>
            <p:nvPr/>
          </p:nvSpPr>
          <p:spPr>
            <a:xfrm>
              <a:off x="0" y="-66675"/>
              <a:ext cx="4023360" cy="1163955"/>
            </a:xfrm>
            <a:prstGeom prst="rect">
              <a:avLst/>
            </a:prstGeom>
          </p:spPr>
          <p:txBody>
            <a:bodyPr anchor="ctr" rtlCol="false" tIns="0" lIns="0" bIns="0" rIns="0"/>
            <a:lstStyle/>
            <a:p>
              <a:pPr algn="l">
                <a:lnSpc>
                  <a:spcPts val="3719"/>
                </a:lnSpc>
              </a:pPr>
              <a:r>
                <a:rPr lang="en-US" sz="3099" b="true">
                  <a:solidFill>
                    <a:srgbClr val="97BC62"/>
                  </a:solidFill>
                  <a:latin typeface="Calibri (MS) Bold"/>
                  <a:ea typeface="Calibri (MS) Bold"/>
                  <a:cs typeface="Calibri (MS) Bold"/>
                  <a:sym typeface="Calibri (MS) Bold"/>
                </a:rPr>
                <a:t>max_features</a:t>
              </a:r>
            </a:p>
          </p:txBody>
        </p:sp>
      </p:grpSp>
      <p:grpSp>
        <p:nvGrpSpPr>
          <p:cNvPr name="Group 47" id="47"/>
          <p:cNvGrpSpPr/>
          <p:nvPr/>
        </p:nvGrpSpPr>
        <p:grpSpPr>
          <a:xfrm rot="0">
            <a:off x="12870180" y="5738374"/>
            <a:ext cx="4389120" cy="2377440"/>
            <a:chOff x="0" y="0"/>
            <a:chExt cx="5852160" cy="3169920"/>
          </a:xfrm>
        </p:grpSpPr>
        <p:sp>
          <p:nvSpPr>
            <p:cNvPr name="Freeform 48" id="48"/>
            <p:cNvSpPr/>
            <p:nvPr/>
          </p:nvSpPr>
          <p:spPr>
            <a:xfrm flipH="false" flipV="false" rot="0">
              <a:off x="0" y="0"/>
              <a:ext cx="5852160" cy="3169920"/>
            </a:xfrm>
            <a:custGeom>
              <a:avLst/>
              <a:gdLst/>
              <a:ahLst/>
              <a:cxnLst/>
              <a:rect r="r" b="b" t="t" l="l"/>
              <a:pathLst>
                <a:path h="3169920" w="5852160">
                  <a:moveTo>
                    <a:pt x="0" y="0"/>
                  </a:moveTo>
                  <a:lnTo>
                    <a:pt x="5852160" y="0"/>
                  </a:lnTo>
                  <a:lnTo>
                    <a:pt x="5852160" y="3169920"/>
                  </a:lnTo>
                  <a:lnTo>
                    <a:pt x="0" y="3169920"/>
                  </a:lnTo>
                  <a:close/>
                </a:path>
              </a:pathLst>
            </a:custGeom>
            <a:blipFill>
              <a:blip r:embed="rId3">
                <a:alphaModFix amt="0"/>
              </a:blip>
              <a:stretch>
                <a:fillRect l="-19497" t="0" r="-19497" b="0"/>
              </a:stretch>
            </a:blipFill>
          </p:spPr>
        </p:sp>
        <p:sp>
          <p:nvSpPr>
            <p:cNvPr name="TextBox 49" id="49"/>
            <p:cNvSpPr txBox="true"/>
            <p:nvPr/>
          </p:nvSpPr>
          <p:spPr>
            <a:xfrm>
              <a:off x="0" y="-57150"/>
              <a:ext cx="5852160" cy="3227070"/>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 C’est le nombre de variables que le modèle regarde à chaque séparation dans un arbre.</a:t>
              </a:r>
            </a:p>
            <a:p>
              <a:pPr algn="l" marL="582928" indent="-291464" lvl="1">
                <a:lnSpc>
                  <a:spcPts val="3239"/>
                </a:lnSpc>
                <a:buFont typeface="Arial"/>
                <a:buChar char="•"/>
              </a:pPr>
              <a:r>
                <a:rPr lang="en-US" sz="2699">
                  <a:solidFill>
                    <a:srgbClr val="FFFFFF"/>
                  </a:solidFill>
                  <a:latin typeface="Calibri (MS)"/>
                  <a:ea typeface="Calibri (MS)"/>
                  <a:cs typeface="Calibri (MS)"/>
                  <a:sym typeface="Calibri (MS)"/>
                </a:rPr>
                <a:t> [None/3/5/10],</a:t>
              </a:r>
            </a:p>
          </p:txBody>
        </p:sp>
      </p:grpSp>
      <p:grpSp>
        <p:nvGrpSpPr>
          <p:cNvPr name="Group 50" id="50"/>
          <p:cNvGrpSpPr/>
          <p:nvPr/>
        </p:nvGrpSpPr>
        <p:grpSpPr>
          <a:xfrm rot="0">
            <a:off x="5890996" y="8694246"/>
            <a:ext cx="6506008" cy="1128108"/>
            <a:chOff x="0" y="0"/>
            <a:chExt cx="8674677" cy="1504143"/>
          </a:xfrm>
        </p:grpSpPr>
        <p:sp>
          <p:nvSpPr>
            <p:cNvPr name="Freeform 51" id="51"/>
            <p:cNvSpPr/>
            <p:nvPr/>
          </p:nvSpPr>
          <p:spPr>
            <a:xfrm flipH="false" flipV="false" rot="0">
              <a:off x="22989" y="4929"/>
              <a:ext cx="8628578" cy="1494260"/>
            </a:xfrm>
            <a:custGeom>
              <a:avLst/>
              <a:gdLst/>
              <a:ahLst/>
              <a:cxnLst/>
              <a:rect r="r" b="b" t="t" l="l"/>
              <a:pathLst>
                <a:path h="1494260" w="8628578">
                  <a:moveTo>
                    <a:pt x="0" y="0"/>
                  </a:moveTo>
                  <a:lnTo>
                    <a:pt x="8628578" y="0"/>
                  </a:lnTo>
                  <a:lnTo>
                    <a:pt x="8628578" y="1494260"/>
                  </a:lnTo>
                  <a:lnTo>
                    <a:pt x="0" y="1494260"/>
                  </a:lnTo>
                  <a:close/>
                </a:path>
              </a:pathLst>
            </a:custGeom>
            <a:solidFill>
              <a:srgbClr val="1E3A1E"/>
            </a:solidFill>
          </p:spPr>
        </p:sp>
        <p:sp>
          <p:nvSpPr>
            <p:cNvPr name="Freeform 52" id="52"/>
            <p:cNvSpPr/>
            <p:nvPr/>
          </p:nvSpPr>
          <p:spPr>
            <a:xfrm flipH="false" flipV="false" rot="0">
              <a:off x="0" y="0"/>
              <a:ext cx="8674557" cy="1504118"/>
            </a:xfrm>
            <a:custGeom>
              <a:avLst/>
              <a:gdLst/>
              <a:ahLst/>
              <a:cxnLst/>
              <a:rect r="r" b="b" t="t" l="l"/>
              <a:pathLst>
                <a:path h="1504118" w="8674557">
                  <a:moveTo>
                    <a:pt x="22989" y="0"/>
                  </a:moveTo>
                  <a:lnTo>
                    <a:pt x="8651567" y="0"/>
                  </a:lnTo>
                  <a:cubicBezTo>
                    <a:pt x="8664359" y="0"/>
                    <a:pt x="8674557" y="2224"/>
                    <a:pt x="8674557" y="4929"/>
                  </a:cubicBezTo>
                  <a:lnTo>
                    <a:pt x="8674557" y="1499189"/>
                  </a:lnTo>
                  <a:cubicBezTo>
                    <a:pt x="8674557" y="1501931"/>
                    <a:pt x="8664185" y="1504118"/>
                    <a:pt x="8651567" y="1504118"/>
                  </a:cubicBezTo>
                  <a:lnTo>
                    <a:pt x="22989" y="1504118"/>
                  </a:lnTo>
                  <a:cubicBezTo>
                    <a:pt x="10198" y="1504118"/>
                    <a:pt x="0" y="1501894"/>
                    <a:pt x="0" y="1499189"/>
                  </a:cubicBezTo>
                  <a:lnTo>
                    <a:pt x="0" y="4929"/>
                  </a:lnTo>
                  <a:cubicBezTo>
                    <a:pt x="0" y="2224"/>
                    <a:pt x="10371" y="0"/>
                    <a:pt x="22989" y="0"/>
                  </a:cubicBezTo>
                  <a:moveTo>
                    <a:pt x="22989" y="9895"/>
                  </a:moveTo>
                  <a:lnTo>
                    <a:pt x="22989" y="4929"/>
                  </a:lnTo>
                  <a:lnTo>
                    <a:pt x="46150" y="4929"/>
                  </a:lnTo>
                  <a:lnTo>
                    <a:pt x="46150" y="1499189"/>
                  </a:lnTo>
                  <a:lnTo>
                    <a:pt x="22989" y="1499189"/>
                  </a:lnTo>
                  <a:lnTo>
                    <a:pt x="22989" y="1494260"/>
                  </a:lnTo>
                  <a:lnTo>
                    <a:pt x="8651567" y="1494260"/>
                  </a:lnTo>
                  <a:lnTo>
                    <a:pt x="8651567" y="1499189"/>
                  </a:lnTo>
                  <a:lnTo>
                    <a:pt x="8628579" y="1499189"/>
                  </a:lnTo>
                  <a:lnTo>
                    <a:pt x="8628579" y="4929"/>
                  </a:lnTo>
                  <a:lnTo>
                    <a:pt x="8651567" y="4929"/>
                  </a:lnTo>
                  <a:lnTo>
                    <a:pt x="8651567" y="9895"/>
                  </a:lnTo>
                  <a:lnTo>
                    <a:pt x="22989" y="9895"/>
                  </a:lnTo>
                  <a:close/>
                </a:path>
              </a:pathLst>
            </a:custGeom>
            <a:solidFill>
              <a:srgbClr val="8E44AD"/>
            </a:solidFill>
          </p:spPr>
        </p:sp>
      </p:grpSp>
      <p:grpSp>
        <p:nvGrpSpPr>
          <p:cNvPr name="Group 53" id="53"/>
          <p:cNvGrpSpPr/>
          <p:nvPr/>
        </p:nvGrpSpPr>
        <p:grpSpPr>
          <a:xfrm rot="0">
            <a:off x="7806896" y="8836196"/>
            <a:ext cx="3017520" cy="822960"/>
            <a:chOff x="0" y="0"/>
            <a:chExt cx="4023360" cy="1097280"/>
          </a:xfrm>
        </p:grpSpPr>
        <p:sp>
          <p:nvSpPr>
            <p:cNvPr name="Freeform 54" id="54"/>
            <p:cNvSpPr/>
            <p:nvPr/>
          </p:nvSpPr>
          <p:spPr>
            <a:xfrm flipH="false" flipV="false" rot="0">
              <a:off x="0" y="0"/>
              <a:ext cx="4023360" cy="1097280"/>
            </a:xfrm>
            <a:custGeom>
              <a:avLst/>
              <a:gdLst/>
              <a:ahLst/>
              <a:cxnLst/>
              <a:rect r="r" b="b" t="t" l="l"/>
              <a:pathLst>
                <a:path h="1097280" w="4023360">
                  <a:moveTo>
                    <a:pt x="0" y="0"/>
                  </a:moveTo>
                  <a:lnTo>
                    <a:pt x="4023360" y="0"/>
                  </a:lnTo>
                  <a:lnTo>
                    <a:pt x="4023360" y="1097280"/>
                  </a:lnTo>
                  <a:lnTo>
                    <a:pt x="0" y="1097280"/>
                  </a:lnTo>
                  <a:close/>
                </a:path>
              </a:pathLst>
            </a:custGeom>
            <a:blipFill>
              <a:blip r:embed="rId3">
                <a:alphaModFix amt="0"/>
              </a:blip>
              <a:stretch>
                <a:fillRect l="0" t="-21445" r="0" b="-21445"/>
              </a:stretch>
            </a:blipFill>
          </p:spPr>
        </p:sp>
        <p:sp>
          <p:nvSpPr>
            <p:cNvPr name="TextBox 55" id="55"/>
            <p:cNvSpPr txBox="true"/>
            <p:nvPr/>
          </p:nvSpPr>
          <p:spPr>
            <a:xfrm>
              <a:off x="0" y="-66675"/>
              <a:ext cx="4023360" cy="1163955"/>
            </a:xfrm>
            <a:prstGeom prst="rect">
              <a:avLst/>
            </a:prstGeom>
          </p:spPr>
          <p:txBody>
            <a:bodyPr anchor="ctr" rtlCol="false" tIns="0" lIns="0" bIns="0" rIns="0"/>
            <a:lstStyle/>
            <a:p>
              <a:pPr algn="l">
                <a:lnSpc>
                  <a:spcPts val="3719"/>
                </a:lnSpc>
              </a:pPr>
              <a:r>
                <a:rPr lang="en-US" sz="3099" b="true">
                  <a:solidFill>
                    <a:srgbClr val="97BC62"/>
                  </a:solidFill>
                  <a:latin typeface="Calibri (MS) Bold"/>
                  <a:ea typeface="Calibri (MS) Bold"/>
                  <a:cs typeface="Calibri (MS) Bold"/>
                  <a:sym typeface="Calibri (MS) Bold"/>
                </a:rPr>
                <a:t>OOB_Score = true</a:t>
              </a:r>
            </a:p>
          </p:txBody>
        </p:sp>
      </p:grpSp>
      <p:sp>
        <p:nvSpPr>
          <p:cNvPr name="TextBox 56" id="56"/>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6891"/>
              <a:ext cx="24383999" cy="1999488"/>
            </a:xfrm>
            <a:custGeom>
              <a:avLst/>
              <a:gdLst/>
              <a:ahLst/>
              <a:cxnLst/>
              <a:rect r="r" b="b" t="t" l="l"/>
              <a:pathLst>
                <a:path h="1999488" w="24383999">
                  <a:moveTo>
                    <a:pt x="0" y="0"/>
                  </a:moveTo>
                  <a:lnTo>
                    <a:pt x="24383999" y="0"/>
                  </a:lnTo>
                  <a:lnTo>
                    <a:pt x="24383999" y="1999488"/>
                  </a:lnTo>
                  <a:lnTo>
                    <a:pt x="0" y="1999488"/>
                  </a:lnTo>
                  <a:close/>
                </a:path>
              </a:pathLst>
            </a:custGeom>
            <a:solidFill>
              <a:srgbClr val="1A2E1A"/>
            </a:solidFill>
          </p:spPr>
        </p:sp>
        <p:sp>
          <p:nvSpPr>
            <p:cNvPr name="Freeform 4" id="4"/>
            <p:cNvSpPr/>
            <p:nvPr/>
          </p:nvSpPr>
          <p:spPr>
            <a:xfrm flipH="false" flipV="false" rot="0">
              <a:off x="0" y="0"/>
              <a:ext cx="24417782" cy="2033270"/>
            </a:xfrm>
            <a:custGeom>
              <a:avLst/>
              <a:gdLst/>
              <a:ahLst/>
              <a:cxnLst/>
              <a:rect r="r" b="b" t="t" l="l"/>
              <a:pathLst>
                <a:path h="2033270" w="24417782">
                  <a:moveTo>
                    <a:pt x="16891" y="0"/>
                  </a:moveTo>
                  <a:lnTo>
                    <a:pt x="24400890" y="0"/>
                  </a:lnTo>
                  <a:cubicBezTo>
                    <a:pt x="24410290" y="0"/>
                    <a:pt x="24417782" y="7620"/>
                    <a:pt x="24417782" y="16891"/>
                  </a:cubicBezTo>
                  <a:lnTo>
                    <a:pt x="24417782" y="2016379"/>
                  </a:lnTo>
                  <a:cubicBezTo>
                    <a:pt x="24417782" y="2025777"/>
                    <a:pt x="24410163" y="2033270"/>
                    <a:pt x="24400890"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24400890" y="1999488"/>
                  </a:lnTo>
                  <a:lnTo>
                    <a:pt x="24400890" y="2016379"/>
                  </a:lnTo>
                  <a:lnTo>
                    <a:pt x="24384000" y="2016379"/>
                  </a:lnTo>
                  <a:lnTo>
                    <a:pt x="24384000" y="16891"/>
                  </a:lnTo>
                  <a:lnTo>
                    <a:pt x="24400890" y="16891"/>
                  </a:lnTo>
                  <a:lnTo>
                    <a:pt x="24400890" y="33909"/>
                  </a:lnTo>
                  <a:lnTo>
                    <a:pt x="16891" y="33909"/>
                  </a:lnTo>
                  <a:close/>
                </a:path>
              </a:pathLst>
            </a:custGeom>
            <a:solidFill>
              <a:srgbClr val="1A2E1A"/>
            </a:solidFill>
          </p:spPr>
        </p:sp>
      </p:grpSp>
      <p:grpSp>
        <p:nvGrpSpPr>
          <p:cNvPr name="Group 5" id="5"/>
          <p:cNvGrpSpPr/>
          <p:nvPr/>
        </p:nvGrpSpPr>
        <p:grpSpPr>
          <a:xfrm rot="0">
            <a:off x="-12697" y="-12697"/>
            <a:ext cx="354587" cy="1525019"/>
            <a:chOff x="0" y="0"/>
            <a:chExt cx="472783" cy="2033359"/>
          </a:xfrm>
        </p:grpSpPr>
        <p:sp>
          <p:nvSpPr>
            <p:cNvPr name="Freeform 6" id="6"/>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7" id="7"/>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grpSp>
        <p:nvGrpSpPr>
          <p:cNvPr name="Group 8" id="8"/>
          <p:cNvGrpSpPr/>
          <p:nvPr/>
        </p:nvGrpSpPr>
        <p:grpSpPr>
          <a:xfrm rot="0">
            <a:off x="842010" y="0"/>
            <a:ext cx="17190720" cy="1499616"/>
            <a:chOff x="0" y="0"/>
            <a:chExt cx="22920960" cy="1999488"/>
          </a:xfrm>
        </p:grpSpPr>
        <p:sp>
          <p:nvSpPr>
            <p:cNvPr name="Freeform 9" id="9"/>
            <p:cNvSpPr/>
            <p:nvPr/>
          </p:nvSpPr>
          <p:spPr>
            <a:xfrm flipH="false" flipV="false" rot="0">
              <a:off x="0" y="0"/>
              <a:ext cx="22920961" cy="1999488"/>
            </a:xfrm>
            <a:custGeom>
              <a:avLst/>
              <a:gdLst/>
              <a:ahLst/>
              <a:cxnLst/>
              <a:rect r="r" b="b" t="t" l="l"/>
              <a:pathLst>
                <a:path h="1999488" w="22920961">
                  <a:moveTo>
                    <a:pt x="0" y="0"/>
                  </a:moveTo>
                  <a:lnTo>
                    <a:pt x="22920961" y="0"/>
                  </a:lnTo>
                  <a:lnTo>
                    <a:pt x="22920961" y="1999488"/>
                  </a:lnTo>
                  <a:lnTo>
                    <a:pt x="0" y="1999488"/>
                  </a:lnTo>
                  <a:close/>
                </a:path>
              </a:pathLst>
            </a:custGeom>
            <a:blipFill>
              <a:blip r:embed="rId3">
                <a:alphaModFix amt="0"/>
              </a:blip>
              <a:stretch>
                <a:fillRect l="0" t="-173365" r="0" b="-173365"/>
              </a:stretch>
            </a:blipFill>
          </p:spPr>
        </p:sp>
        <p:sp>
          <p:nvSpPr>
            <p:cNvPr name="TextBox 10" id="10"/>
            <p:cNvSpPr txBox="true"/>
            <p:nvPr/>
          </p:nvSpPr>
          <p:spPr>
            <a:xfrm>
              <a:off x="0" y="-76200"/>
              <a:ext cx="22920960" cy="2075688"/>
            </a:xfrm>
            <a:prstGeom prst="rect">
              <a:avLst/>
            </a:prstGeom>
          </p:spPr>
          <p:txBody>
            <a:bodyPr anchor="ctr" rtlCol="false" tIns="0" lIns="0" bIns="0" rIns="0"/>
            <a:lstStyle/>
            <a:p>
              <a:pPr algn="l">
                <a:lnSpc>
                  <a:spcPts val="4560"/>
                </a:lnSpc>
              </a:pPr>
              <a:r>
                <a:rPr lang="en-US" sz="3800" b="true">
                  <a:solidFill>
                    <a:srgbClr val="FFFFFF"/>
                  </a:solidFill>
                  <a:latin typeface="Calibri (MS) Bold"/>
                  <a:ea typeface="Calibri (MS) Bold"/>
                  <a:cs typeface="Calibri (MS) Bold"/>
                  <a:sym typeface="Calibri (MS) Bold"/>
                </a:rPr>
                <a:t>A4 — Objectif de l'optimisation des hyperparamètres</a:t>
              </a:r>
            </a:p>
          </p:txBody>
        </p:sp>
      </p:grpSp>
      <p:grpSp>
        <p:nvGrpSpPr>
          <p:cNvPr name="Group 11" id="11"/>
          <p:cNvGrpSpPr/>
          <p:nvPr/>
        </p:nvGrpSpPr>
        <p:grpSpPr>
          <a:xfrm rot="0">
            <a:off x="535943" y="1706375"/>
            <a:ext cx="8346443" cy="5553332"/>
            <a:chOff x="0" y="0"/>
            <a:chExt cx="11128591" cy="7404443"/>
          </a:xfrm>
        </p:grpSpPr>
        <p:sp>
          <p:nvSpPr>
            <p:cNvPr name="Freeform 12" id="12"/>
            <p:cNvSpPr/>
            <p:nvPr/>
          </p:nvSpPr>
          <p:spPr>
            <a:xfrm flipH="false" flipV="false" rot="0">
              <a:off x="16891" y="35038"/>
              <a:ext cx="11094720" cy="7334183"/>
            </a:xfrm>
            <a:custGeom>
              <a:avLst/>
              <a:gdLst/>
              <a:ahLst/>
              <a:cxnLst/>
              <a:rect r="r" b="b" t="t" l="l"/>
              <a:pathLst>
                <a:path h="7334183" w="11094720">
                  <a:moveTo>
                    <a:pt x="0" y="0"/>
                  </a:moveTo>
                  <a:lnTo>
                    <a:pt x="11094720" y="0"/>
                  </a:lnTo>
                  <a:lnTo>
                    <a:pt x="11094720" y="7334183"/>
                  </a:lnTo>
                  <a:lnTo>
                    <a:pt x="0" y="7334183"/>
                  </a:lnTo>
                  <a:close/>
                </a:path>
              </a:pathLst>
            </a:custGeom>
            <a:solidFill>
              <a:srgbClr val="FFFFFF"/>
            </a:solidFill>
          </p:spPr>
        </p:sp>
        <p:sp>
          <p:nvSpPr>
            <p:cNvPr name="Freeform 13" id="13"/>
            <p:cNvSpPr/>
            <p:nvPr/>
          </p:nvSpPr>
          <p:spPr>
            <a:xfrm flipH="false" flipV="false" rot="0">
              <a:off x="0" y="0"/>
              <a:ext cx="11128501" cy="7404258"/>
            </a:xfrm>
            <a:custGeom>
              <a:avLst/>
              <a:gdLst/>
              <a:ahLst/>
              <a:cxnLst/>
              <a:rect r="r" b="b" t="t" l="l"/>
              <a:pathLst>
                <a:path h="7404258" w="11128501">
                  <a:moveTo>
                    <a:pt x="16891" y="0"/>
                  </a:moveTo>
                  <a:lnTo>
                    <a:pt x="11111611" y="0"/>
                  </a:lnTo>
                  <a:cubicBezTo>
                    <a:pt x="11121009" y="0"/>
                    <a:pt x="11128501" y="15806"/>
                    <a:pt x="11128501" y="35038"/>
                  </a:cubicBezTo>
                  <a:lnTo>
                    <a:pt x="11128501" y="7369221"/>
                  </a:lnTo>
                  <a:cubicBezTo>
                    <a:pt x="11128501" y="7388716"/>
                    <a:pt x="11120882" y="7404258"/>
                    <a:pt x="11111611" y="7404258"/>
                  </a:cubicBezTo>
                  <a:lnTo>
                    <a:pt x="16891" y="7404258"/>
                  </a:lnTo>
                  <a:cubicBezTo>
                    <a:pt x="7493" y="7404258"/>
                    <a:pt x="0" y="7388452"/>
                    <a:pt x="0" y="7369221"/>
                  </a:cubicBezTo>
                  <a:lnTo>
                    <a:pt x="0" y="35038"/>
                  </a:lnTo>
                  <a:cubicBezTo>
                    <a:pt x="0" y="15806"/>
                    <a:pt x="7620" y="0"/>
                    <a:pt x="16891" y="0"/>
                  </a:cubicBezTo>
                  <a:moveTo>
                    <a:pt x="16891" y="70339"/>
                  </a:moveTo>
                  <a:lnTo>
                    <a:pt x="16891" y="35038"/>
                  </a:lnTo>
                  <a:lnTo>
                    <a:pt x="33909" y="35038"/>
                  </a:lnTo>
                  <a:lnTo>
                    <a:pt x="33909" y="7369221"/>
                  </a:lnTo>
                  <a:lnTo>
                    <a:pt x="16891" y="7369221"/>
                  </a:lnTo>
                  <a:lnTo>
                    <a:pt x="16891" y="7334183"/>
                  </a:lnTo>
                  <a:lnTo>
                    <a:pt x="11111611" y="7334183"/>
                  </a:lnTo>
                  <a:lnTo>
                    <a:pt x="11111611" y="7369221"/>
                  </a:lnTo>
                  <a:lnTo>
                    <a:pt x="11094720" y="7369221"/>
                  </a:lnTo>
                  <a:lnTo>
                    <a:pt x="11094720" y="35038"/>
                  </a:lnTo>
                  <a:lnTo>
                    <a:pt x="11111611" y="35038"/>
                  </a:lnTo>
                  <a:lnTo>
                    <a:pt x="11111611" y="70339"/>
                  </a:lnTo>
                  <a:lnTo>
                    <a:pt x="16891" y="70339"/>
                  </a:lnTo>
                  <a:close/>
                </a:path>
              </a:pathLst>
            </a:custGeom>
            <a:solidFill>
              <a:srgbClr val="D0E0D0"/>
            </a:solidFill>
          </p:spPr>
        </p:sp>
      </p:grpSp>
      <p:grpSp>
        <p:nvGrpSpPr>
          <p:cNvPr name="Group 14" id="14"/>
          <p:cNvGrpSpPr/>
          <p:nvPr/>
        </p:nvGrpSpPr>
        <p:grpSpPr>
          <a:xfrm rot="0">
            <a:off x="822960" y="1810512"/>
            <a:ext cx="7772400" cy="694944"/>
            <a:chOff x="0" y="0"/>
            <a:chExt cx="10363200" cy="926592"/>
          </a:xfrm>
        </p:grpSpPr>
        <p:sp>
          <p:nvSpPr>
            <p:cNvPr name="Freeform 15" id="15"/>
            <p:cNvSpPr/>
            <p:nvPr/>
          </p:nvSpPr>
          <p:spPr>
            <a:xfrm flipH="false" flipV="false" rot="0">
              <a:off x="0" y="0"/>
              <a:ext cx="10363200" cy="926592"/>
            </a:xfrm>
            <a:custGeom>
              <a:avLst/>
              <a:gdLst/>
              <a:ahLst/>
              <a:cxnLst/>
              <a:rect r="r" b="b" t="t" l="l"/>
              <a:pathLst>
                <a:path h="926592" w="10363200">
                  <a:moveTo>
                    <a:pt x="0" y="0"/>
                  </a:moveTo>
                  <a:lnTo>
                    <a:pt x="10363200" y="0"/>
                  </a:lnTo>
                  <a:lnTo>
                    <a:pt x="10363200" y="926592"/>
                  </a:lnTo>
                  <a:lnTo>
                    <a:pt x="0" y="926592"/>
                  </a:lnTo>
                  <a:close/>
                </a:path>
              </a:pathLst>
            </a:custGeom>
            <a:blipFill>
              <a:blip r:embed="rId3">
                <a:alphaModFix amt="0"/>
              </a:blip>
              <a:stretch>
                <a:fillRect l="0" t="-167924" r="0" b="-167924"/>
              </a:stretch>
            </a:blipFill>
          </p:spPr>
        </p:sp>
        <p:sp>
          <p:nvSpPr>
            <p:cNvPr name="TextBox 16" id="16"/>
            <p:cNvSpPr txBox="true"/>
            <p:nvPr/>
          </p:nvSpPr>
          <p:spPr>
            <a:xfrm>
              <a:off x="0" y="-47625"/>
              <a:ext cx="10363200" cy="974217"/>
            </a:xfrm>
            <a:prstGeom prst="rect">
              <a:avLst/>
            </a:prstGeom>
          </p:spPr>
          <p:txBody>
            <a:bodyPr anchor="ctr" rtlCol="false" tIns="0" lIns="0" bIns="0" rIns="0"/>
            <a:lstStyle/>
            <a:p>
              <a:pPr algn="l">
                <a:lnSpc>
                  <a:spcPts val="2999"/>
                </a:lnSpc>
              </a:pPr>
              <a:r>
                <a:rPr lang="en-US" sz="2499" b="true">
                  <a:solidFill>
                    <a:srgbClr val="1A2E1A"/>
                  </a:solidFill>
                  <a:latin typeface="Calibri (MS) Bold"/>
                  <a:ea typeface="Calibri (MS) Bold"/>
                  <a:cs typeface="Calibri (MS) Bold"/>
                  <a:sym typeface="Calibri (MS) Bold"/>
                </a:rPr>
                <a:t>Pourquoi optimiser le modèle ?</a:t>
              </a:r>
            </a:p>
          </p:txBody>
        </p:sp>
      </p:grpSp>
      <p:grpSp>
        <p:nvGrpSpPr>
          <p:cNvPr name="Group 17" id="17"/>
          <p:cNvGrpSpPr/>
          <p:nvPr/>
        </p:nvGrpSpPr>
        <p:grpSpPr>
          <a:xfrm rot="0">
            <a:off x="822960" y="2614035"/>
            <a:ext cx="7772400" cy="1244733"/>
            <a:chOff x="0" y="0"/>
            <a:chExt cx="10363200" cy="1659644"/>
          </a:xfrm>
        </p:grpSpPr>
        <p:sp>
          <p:nvSpPr>
            <p:cNvPr name="Freeform 18" id="18"/>
            <p:cNvSpPr/>
            <p:nvPr/>
          </p:nvSpPr>
          <p:spPr>
            <a:xfrm flipH="false" flipV="false" rot="0">
              <a:off x="0" y="0"/>
              <a:ext cx="10363200" cy="1659644"/>
            </a:xfrm>
            <a:custGeom>
              <a:avLst/>
              <a:gdLst/>
              <a:ahLst/>
              <a:cxnLst/>
              <a:rect r="r" b="b" t="t" l="l"/>
              <a:pathLst>
                <a:path h="1659644" w="10363200">
                  <a:moveTo>
                    <a:pt x="0" y="0"/>
                  </a:moveTo>
                  <a:lnTo>
                    <a:pt x="10363200" y="0"/>
                  </a:lnTo>
                  <a:lnTo>
                    <a:pt x="10363200" y="1659644"/>
                  </a:lnTo>
                  <a:lnTo>
                    <a:pt x="0" y="1659644"/>
                  </a:lnTo>
                  <a:close/>
                </a:path>
              </a:pathLst>
            </a:custGeom>
            <a:blipFill>
              <a:blip r:embed="rId3">
                <a:alphaModFix amt="0"/>
              </a:blip>
              <a:stretch>
                <a:fillRect l="0" t="-101099" r="0" b="-42238"/>
              </a:stretch>
            </a:blipFill>
          </p:spPr>
        </p:sp>
        <p:sp>
          <p:nvSpPr>
            <p:cNvPr name="TextBox 19" id="19"/>
            <p:cNvSpPr txBox="true"/>
            <p:nvPr/>
          </p:nvSpPr>
          <p:spPr>
            <a:xfrm>
              <a:off x="0" y="-57150"/>
              <a:ext cx="10363200" cy="1716794"/>
            </a:xfrm>
            <a:prstGeom prst="rect">
              <a:avLst/>
            </a:prstGeom>
          </p:spPr>
          <p:txBody>
            <a:bodyPr anchor="ctr" rtlCol="false" tIns="0" lIns="0" bIns="0" rIns="0"/>
            <a:lstStyle/>
            <a:p>
              <a:pPr algn="l">
                <a:lnSpc>
                  <a:spcPts val="3119"/>
                </a:lnSpc>
              </a:pPr>
              <a:r>
                <a:rPr lang="en-US" sz="2599">
                  <a:solidFill>
                    <a:srgbClr val="000000"/>
                  </a:solidFill>
                  <a:latin typeface="Calibri (MS)"/>
                  <a:ea typeface="Calibri (MS)"/>
                  <a:cs typeface="Calibri (MS)"/>
                  <a:sym typeface="Calibri (MS)"/>
                </a:rPr>
                <a:t>▸Éviter le sous-apprentissage (modèle trop simple, biais élevé)</a:t>
              </a:r>
            </a:p>
            <a:p>
              <a:pPr algn="l">
                <a:lnSpc>
                  <a:spcPts val="2760"/>
                </a:lnSpc>
              </a:pPr>
            </a:p>
          </p:txBody>
        </p:sp>
      </p:grpSp>
      <p:grpSp>
        <p:nvGrpSpPr>
          <p:cNvPr name="Group 20" id="20"/>
          <p:cNvGrpSpPr/>
          <p:nvPr/>
        </p:nvGrpSpPr>
        <p:grpSpPr>
          <a:xfrm rot="0">
            <a:off x="842010" y="4126594"/>
            <a:ext cx="7772400" cy="1244733"/>
            <a:chOff x="0" y="0"/>
            <a:chExt cx="10363200" cy="1659644"/>
          </a:xfrm>
        </p:grpSpPr>
        <p:sp>
          <p:nvSpPr>
            <p:cNvPr name="Freeform 21" id="21"/>
            <p:cNvSpPr/>
            <p:nvPr/>
          </p:nvSpPr>
          <p:spPr>
            <a:xfrm flipH="false" flipV="false" rot="0">
              <a:off x="0" y="0"/>
              <a:ext cx="10363200" cy="1659644"/>
            </a:xfrm>
            <a:custGeom>
              <a:avLst/>
              <a:gdLst/>
              <a:ahLst/>
              <a:cxnLst/>
              <a:rect r="r" b="b" t="t" l="l"/>
              <a:pathLst>
                <a:path h="1659644" w="10363200">
                  <a:moveTo>
                    <a:pt x="0" y="0"/>
                  </a:moveTo>
                  <a:lnTo>
                    <a:pt x="10363200" y="0"/>
                  </a:lnTo>
                  <a:lnTo>
                    <a:pt x="10363200" y="1659644"/>
                  </a:lnTo>
                  <a:lnTo>
                    <a:pt x="0" y="1659644"/>
                  </a:lnTo>
                  <a:close/>
                </a:path>
              </a:pathLst>
            </a:custGeom>
            <a:blipFill>
              <a:blip r:embed="rId3">
                <a:alphaModFix amt="0"/>
              </a:blip>
              <a:stretch>
                <a:fillRect l="0" t="-101099" r="0" b="-42238"/>
              </a:stretch>
            </a:blipFill>
          </p:spPr>
        </p:sp>
        <p:sp>
          <p:nvSpPr>
            <p:cNvPr name="TextBox 22" id="22"/>
            <p:cNvSpPr txBox="true"/>
            <p:nvPr/>
          </p:nvSpPr>
          <p:spPr>
            <a:xfrm>
              <a:off x="0" y="-57150"/>
              <a:ext cx="10363200" cy="1716794"/>
            </a:xfrm>
            <a:prstGeom prst="rect">
              <a:avLst/>
            </a:prstGeom>
          </p:spPr>
          <p:txBody>
            <a:bodyPr anchor="ctr" rtlCol="false" tIns="0" lIns="0" bIns="0" rIns="0"/>
            <a:lstStyle/>
            <a:p>
              <a:pPr algn="l">
                <a:lnSpc>
                  <a:spcPts val="3119"/>
                </a:lnSpc>
              </a:pPr>
              <a:r>
                <a:rPr lang="en-US" sz="2599">
                  <a:solidFill>
                    <a:srgbClr val="000000"/>
                  </a:solidFill>
                  <a:latin typeface="Calibri (MS)"/>
                  <a:ea typeface="Calibri (MS)"/>
                  <a:cs typeface="Calibri (MS)"/>
                  <a:sym typeface="Calibri (MS)"/>
                </a:rPr>
                <a:t>▸Éviter le surapprentissage (modèle trop complexe, variance élevée)</a:t>
              </a:r>
            </a:p>
            <a:p>
              <a:pPr algn="r">
                <a:lnSpc>
                  <a:spcPts val="2760"/>
                </a:lnSpc>
              </a:pPr>
            </a:p>
          </p:txBody>
        </p:sp>
      </p:grpSp>
      <p:grpSp>
        <p:nvGrpSpPr>
          <p:cNvPr name="Group 23" id="23"/>
          <p:cNvGrpSpPr/>
          <p:nvPr/>
        </p:nvGrpSpPr>
        <p:grpSpPr>
          <a:xfrm rot="0">
            <a:off x="810254" y="5704702"/>
            <a:ext cx="7772400" cy="909228"/>
            <a:chOff x="0" y="0"/>
            <a:chExt cx="10363200" cy="1212304"/>
          </a:xfrm>
        </p:grpSpPr>
        <p:sp>
          <p:nvSpPr>
            <p:cNvPr name="Freeform 24" id="24"/>
            <p:cNvSpPr/>
            <p:nvPr/>
          </p:nvSpPr>
          <p:spPr>
            <a:xfrm flipH="false" flipV="false" rot="0">
              <a:off x="0" y="0"/>
              <a:ext cx="10363200" cy="1212304"/>
            </a:xfrm>
            <a:custGeom>
              <a:avLst/>
              <a:gdLst/>
              <a:ahLst/>
              <a:cxnLst/>
              <a:rect r="r" b="b" t="t" l="l"/>
              <a:pathLst>
                <a:path h="1212304" w="10363200">
                  <a:moveTo>
                    <a:pt x="0" y="0"/>
                  </a:moveTo>
                  <a:lnTo>
                    <a:pt x="10363200" y="0"/>
                  </a:lnTo>
                  <a:lnTo>
                    <a:pt x="10363200" y="1212304"/>
                  </a:lnTo>
                  <a:lnTo>
                    <a:pt x="0" y="1212304"/>
                  </a:lnTo>
                  <a:close/>
                </a:path>
              </a:pathLst>
            </a:custGeom>
            <a:blipFill>
              <a:blip r:embed="rId3">
                <a:alphaModFix amt="0"/>
              </a:blip>
              <a:stretch>
                <a:fillRect l="0" t="-138405" r="0" b="-94724"/>
              </a:stretch>
            </a:blipFill>
          </p:spPr>
        </p:sp>
        <p:sp>
          <p:nvSpPr>
            <p:cNvPr name="TextBox 25" id="25"/>
            <p:cNvSpPr txBox="true"/>
            <p:nvPr/>
          </p:nvSpPr>
          <p:spPr>
            <a:xfrm>
              <a:off x="0" y="-57150"/>
              <a:ext cx="10363200" cy="1269454"/>
            </a:xfrm>
            <a:prstGeom prst="rect">
              <a:avLst/>
            </a:prstGeom>
          </p:spPr>
          <p:txBody>
            <a:bodyPr anchor="ctr" rtlCol="false" tIns="0" lIns="0" bIns="0" rIns="0"/>
            <a:lstStyle/>
            <a:p>
              <a:pPr algn="l">
                <a:lnSpc>
                  <a:spcPts val="3119"/>
                </a:lnSpc>
              </a:pPr>
              <a:r>
                <a:rPr lang="en-US" sz="2599" b="true">
                  <a:solidFill>
                    <a:srgbClr val="000000"/>
                  </a:solidFill>
                  <a:latin typeface="Calibri (MS) Bold"/>
                  <a:ea typeface="Calibri (MS) Bold"/>
                  <a:cs typeface="Calibri (MS) Bold"/>
                  <a:sym typeface="Calibri (MS) Bold"/>
                </a:rPr>
                <a:t>▸ </a:t>
              </a:r>
              <a:r>
                <a:rPr lang="en-US" sz="2599">
                  <a:solidFill>
                    <a:srgbClr val="000000"/>
                  </a:solidFill>
                  <a:latin typeface="Calibri (MS)"/>
                  <a:ea typeface="Calibri (MS)"/>
                  <a:cs typeface="Calibri (MS)"/>
                  <a:sym typeface="Calibri (MS)"/>
                </a:rPr>
                <a:t>Maximiser la capacité de généralisation  (performance sur données non vues)</a:t>
              </a:r>
            </a:p>
          </p:txBody>
        </p:sp>
      </p:grpSp>
      <p:grpSp>
        <p:nvGrpSpPr>
          <p:cNvPr name="Group 26" id="26"/>
          <p:cNvGrpSpPr/>
          <p:nvPr/>
        </p:nvGrpSpPr>
        <p:grpSpPr>
          <a:xfrm rot="0">
            <a:off x="10204704" y="2706624"/>
            <a:ext cx="7315200" cy="512064"/>
            <a:chOff x="0" y="0"/>
            <a:chExt cx="9753600" cy="682752"/>
          </a:xfrm>
        </p:grpSpPr>
        <p:sp>
          <p:nvSpPr>
            <p:cNvPr name="Freeform 27" id="27"/>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357" r="0" b="-228357"/>
              </a:stretch>
            </a:blipFill>
          </p:spPr>
        </p:sp>
        <p:sp>
          <p:nvSpPr>
            <p:cNvPr name="TextBox 28" id="28"/>
            <p:cNvSpPr txBox="true"/>
            <p:nvPr/>
          </p:nvSpPr>
          <p:spPr>
            <a:xfrm>
              <a:off x="0" y="-47625"/>
              <a:ext cx="9753600" cy="730377"/>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Faible profondeur → underfitting (biais élevé)</a:t>
              </a:r>
            </a:p>
          </p:txBody>
        </p:sp>
      </p:grpSp>
      <p:grpSp>
        <p:nvGrpSpPr>
          <p:cNvPr name="Group 29" id="29"/>
          <p:cNvGrpSpPr/>
          <p:nvPr/>
        </p:nvGrpSpPr>
        <p:grpSpPr>
          <a:xfrm rot="0">
            <a:off x="10204704" y="3346704"/>
            <a:ext cx="7315200" cy="512064"/>
            <a:chOff x="0" y="0"/>
            <a:chExt cx="9753600" cy="682752"/>
          </a:xfrm>
        </p:grpSpPr>
        <p:sp>
          <p:nvSpPr>
            <p:cNvPr name="Freeform 30" id="30"/>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357" r="0" b="-228357"/>
              </a:stretch>
            </a:blipFill>
          </p:spPr>
        </p:sp>
        <p:sp>
          <p:nvSpPr>
            <p:cNvPr name="TextBox 31" id="31"/>
            <p:cNvSpPr txBox="true"/>
            <p:nvPr/>
          </p:nvSpPr>
          <p:spPr>
            <a:xfrm>
              <a:off x="0" y="-47625"/>
              <a:ext cx="9753600" cy="730377"/>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Grande profondeur → overfitting (variance élevée)</a:t>
              </a:r>
            </a:p>
          </p:txBody>
        </p:sp>
      </p:grpSp>
      <p:grpSp>
        <p:nvGrpSpPr>
          <p:cNvPr name="Group 32" id="32"/>
          <p:cNvGrpSpPr/>
          <p:nvPr/>
        </p:nvGrpSpPr>
        <p:grpSpPr>
          <a:xfrm rot="0">
            <a:off x="10204704" y="3986784"/>
            <a:ext cx="7315200" cy="512064"/>
            <a:chOff x="0" y="0"/>
            <a:chExt cx="9753600" cy="682752"/>
          </a:xfrm>
        </p:grpSpPr>
        <p:sp>
          <p:nvSpPr>
            <p:cNvPr name="Freeform 33" id="33"/>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357" r="0" b="-228357"/>
              </a:stretch>
            </a:blipFill>
          </p:spPr>
        </p:sp>
        <p:sp>
          <p:nvSpPr>
            <p:cNvPr name="TextBox 34" id="34"/>
            <p:cNvSpPr txBox="true"/>
            <p:nvPr/>
          </p:nvSpPr>
          <p:spPr>
            <a:xfrm>
              <a:off x="0" y="-47625"/>
              <a:ext cx="9753600" cy="730377"/>
            </a:xfrm>
            <a:prstGeom prst="rect">
              <a:avLst/>
            </a:prstGeom>
          </p:spPr>
          <p:txBody>
            <a:bodyPr anchor="ctr" rtlCol="false" tIns="0" lIns="0" bIns="0" rIns="0"/>
            <a:lstStyle/>
            <a:p>
              <a:pPr algn="l">
                <a:lnSpc>
                  <a:spcPts val="2520"/>
                </a:lnSpc>
              </a:pPr>
              <a:r>
                <a:rPr lang="en-US" sz="2100">
                  <a:solidFill>
                    <a:srgbClr val="FFFFFF"/>
                  </a:solidFill>
                  <a:latin typeface="Calibri (MS)"/>
                  <a:ea typeface="Calibri (MS)"/>
                  <a:cs typeface="Calibri (MS)"/>
                  <a:sym typeface="Calibri (MS)"/>
                </a:rPr>
                <a:t>Random Forest → réduit variance par agrégation</a:t>
              </a:r>
            </a:p>
          </p:txBody>
        </p:sp>
      </p:grpSp>
      <p:grpSp>
        <p:nvGrpSpPr>
          <p:cNvPr name="Group 35" id="35"/>
          <p:cNvGrpSpPr/>
          <p:nvPr/>
        </p:nvGrpSpPr>
        <p:grpSpPr>
          <a:xfrm rot="0">
            <a:off x="9131294" y="1730245"/>
            <a:ext cx="8437883" cy="5529463"/>
            <a:chOff x="0" y="0"/>
            <a:chExt cx="11250511" cy="7372617"/>
          </a:xfrm>
        </p:grpSpPr>
        <p:sp>
          <p:nvSpPr>
            <p:cNvPr name="Freeform 36" id="36"/>
            <p:cNvSpPr/>
            <p:nvPr/>
          </p:nvSpPr>
          <p:spPr>
            <a:xfrm flipH="false" flipV="false" rot="0">
              <a:off x="16891" y="43879"/>
              <a:ext cx="11216640" cy="7284628"/>
            </a:xfrm>
            <a:custGeom>
              <a:avLst/>
              <a:gdLst/>
              <a:ahLst/>
              <a:cxnLst/>
              <a:rect r="r" b="b" t="t" l="l"/>
              <a:pathLst>
                <a:path h="7284628" w="11216640">
                  <a:moveTo>
                    <a:pt x="0" y="0"/>
                  </a:moveTo>
                  <a:lnTo>
                    <a:pt x="11216640" y="0"/>
                  </a:lnTo>
                  <a:lnTo>
                    <a:pt x="11216640" y="7284628"/>
                  </a:lnTo>
                  <a:lnTo>
                    <a:pt x="0" y="7284628"/>
                  </a:lnTo>
                  <a:close/>
                </a:path>
              </a:pathLst>
            </a:custGeom>
            <a:solidFill>
              <a:srgbClr val="FFFFFF"/>
            </a:solidFill>
          </p:spPr>
        </p:sp>
        <p:sp>
          <p:nvSpPr>
            <p:cNvPr name="Freeform 37" id="37"/>
            <p:cNvSpPr/>
            <p:nvPr/>
          </p:nvSpPr>
          <p:spPr>
            <a:xfrm flipH="false" flipV="false" rot="0">
              <a:off x="0" y="0"/>
              <a:ext cx="11250422" cy="7372386"/>
            </a:xfrm>
            <a:custGeom>
              <a:avLst/>
              <a:gdLst/>
              <a:ahLst/>
              <a:cxnLst/>
              <a:rect r="r" b="b" t="t" l="l"/>
              <a:pathLst>
                <a:path h="7372386" w="11250422">
                  <a:moveTo>
                    <a:pt x="16891" y="0"/>
                  </a:moveTo>
                  <a:lnTo>
                    <a:pt x="11233531" y="0"/>
                  </a:lnTo>
                  <a:cubicBezTo>
                    <a:pt x="11242929" y="0"/>
                    <a:pt x="11250422" y="19795"/>
                    <a:pt x="11250422" y="43879"/>
                  </a:cubicBezTo>
                  <a:lnTo>
                    <a:pt x="11250422" y="7328507"/>
                  </a:lnTo>
                  <a:cubicBezTo>
                    <a:pt x="11250422" y="7352921"/>
                    <a:pt x="11242802" y="7372386"/>
                    <a:pt x="11233531" y="7372386"/>
                  </a:cubicBezTo>
                  <a:lnTo>
                    <a:pt x="16891" y="7372386"/>
                  </a:lnTo>
                  <a:cubicBezTo>
                    <a:pt x="7493" y="7372386"/>
                    <a:pt x="0" y="7352591"/>
                    <a:pt x="0" y="7328507"/>
                  </a:cubicBezTo>
                  <a:lnTo>
                    <a:pt x="0" y="43879"/>
                  </a:lnTo>
                  <a:cubicBezTo>
                    <a:pt x="0" y="19795"/>
                    <a:pt x="7620" y="0"/>
                    <a:pt x="16891" y="0"/>
                  </a:cubicBezTo>
                  <a:moveTo>
                    <a:pt x="16891" y="88089"/>
                  </a:moveTo>
                  <a:lnTo>
                    <a:pt x="16891" y="43879"/>
                  </a:lnTo>
                  <a:lnTo>
                    <a:pt x="33909" y="43879"/>
                  </a:lnTo>
                  <a:lnTo>
                    <a:pt x="33909" y="7328507"/>
                  </a:lnTo>
                  <a:lnTo>
                    <a:pt x="16891" y="7328507"/>
                  </a:lnTo>
                  <a:lnTo>
                    <a:pt x="16891" y="7284627"/>
                  </a:lnTo>
                  <a:lnTo>
                    <a:pt x="11233531" y="7284627"/>
                  </a:lnTo>
                  <a:lnTo>
                    <a:pt x="11233531" y="7328507"/>
                  </a:lnTo>
                  <a:lnTo>
                    <a:pt x="11216640" y="7328507"/>
                  </a:lnTo>
                  <a:lnTo>
                    <a:pt x="11216640" y="43879"/>
                  </a:lnTo>
                  <a:lnTo>
                    <a:pt x="11233531" y="43879"/>
                  </a:lnTo>
                  <a:lnTo>
                    <a:pt x="11233531" y="88089"/>
                  </a:lnTo>
                  <a:lnTo>
                    <a:pt x="16891" y="88089"/>
                  </a:lnTo>
                  <a:close/>
                </a:path>
              </a:pathLst>
            </a:custGeom>
            <a:solidFill>
              <a:srgbClr val="D0E0D0"/>
            </a:solidFill>
          </p:spPr>
        </p:sp>
      </p:grpSp>
      <p:grpSp>
        <p:nvGrpSpPr>
          <p:cNvPr name="Group 38" id="38"/>
          <p:cNvGrpSpPr/>
          <p:nvPr/>
        </p:nvGrpSpPr>
        <p:grpSpPr>
          <a:xfrm rot="0">
            <a:off x="9418310" y="1834382"/>
            <a:ext cx="7863840" cy="694944"/>
            <a:chOff x="0" y="0"/>
            <a:chExt cx="10485120" cy="926592"/>
          </a:xfrm>
        </p:grpSpPr>
        <p:sp>
          <p:nvSpPr>
            <p:cNvPr name="Freeform 39" id="39"/>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3">
                <a:alphaModFix amt="0"/>
              </a:blip>
              <a:stretch>
                <a:fillRect l="0" t="-170488" r="0" b="-170488"/>
              </a:stretch>
            </a:blipFill>
          </p:spPr>
        </p:sp>
        <p:sp>
          <p:nvSpPr>
            <p:cNvPr name="TextBox 40" id="40"/>
            <p:cNvSpPr txBox="true"/>
            <p:nvPr/>
          </p:nvSpPr>
          <p:spPr>
            <a:xfrm>
              <a:off x="0" y="-47625"/>
              <a:ext cx="10485120" cy="974217"/>
            </a:xfrm>
            <a:prstGeom prst="rect">
              <a:avLst/>
            </a:prstGeom>
          </p:spPr>
          <p:txBody>
            <a:bodyPr anchor="ctr" rtlCol="false" tIns="0" lIns="0" bIns="0" rIns="0"/>
            <a:lstStyle/>
            <a:p>
              <a:pPr algn="l">
                <a:lnSpc>
                  <a:spcPts val="2999"/>
                </a:lnSpc>
              </a:pPr>
              <a:r>
                <a:rPr lang="en-US" sz="2499" b="true">
                  <a:solidFill>
                    <a:srgbClr val="1A2E1A"/>
                  </a:solidFill>
                  <a:latin typeface="Calibri (MS) Bold"/>
                  <a:ea typeface="Calibri (MS) Bold"/>
                  <a:cs typeface="Calibri (MS) Bold"/>
                  <a:sym typeface="Calibri (MS) Bold"/>
                </a:rPr>
                <a:t>Méthodologie</a:t>
              </a:r>
            </a:p>
          </p:txBody>
        </p:sp>
      </p:grpSp>
      <p:grpSp>
        <p:nvGrpSpPr>
          <p:cNvPr name="Group 41" id="41"/>
          <p:cNvGrpSpPr/>
          <p:nvPr/>
        </p:nvGrpSpPr>
        <p:grpSpPr>
          <a:xfrm rot="0">
            <a:off x="9418310" y="2505456"/>
            <a:ext cx="7863840" cy="4814478"/>
            <a:chOff x="0" y="0"/>
            <a:chExt cx="10485120" cy="6419303"/>
          </a:xfrm>
        </p:grpSpPr>
        <p:sp>
          <p:nvSpPr>
            <p:cNvPr name="Freeform 42" id="42"/>
            <p:cNvSpPr/>
            <p:nvPr/>
          </p:nvSpPr>
          <p:spPr>
            <a:xfrm flipH="false" flipV="false" rot="0">
              <a:off x="0" y="0"/>
              <a:ext cx="10485120" cy="6419304"/>
            </a:xfrm>
            <a:custGeom>
              <a:avLst/>
              <a:gdLst/>
              <a:ahLst/>
              <a:cxnLst/>
              <a:rect r="r" b="b" t="t" l="l"/>
              <a:pathLst>
                <a:path h="6419304" w="10485120">
                  <a:moveTo>
                    <a:pt x="0" y="0"/>
                  </a:moveTo>
                  <a:lnTo>
                    <a:pt x="10485120" y="0"/>
                  </a:lnTo>
                  <a:lnTo>
                    <a:pt x="10485120" y="6419304"/>
                  </a:lnTo>
                  <a:lnTo>
                    <a:pt x="0" y="6419304"/>
                  </a:lnTo>
                  <a:close/>
                </a:path>
              </a:pathLst>
            </a:custGeom>
            <a:blipFill>
              <a:blip r:embed="rId3">
                <a:alphaModFix amt="0"/>
              </a:blip>
              <a:stretch>
                <a:fillRect l="0" t="-28027" r="0" b="64375"/>
              </a:stretch>
            </a:blipFill>
          </p:spPr>
        </p:sp>
        <p:sp>
          <p:nvSpPr>
            <p:cNvPr name="TextBox 43" id="43"/>
            <p:cNvSpPr txBox="true"/>
            <p:nvPr/>
          </p:nvSpPr>
          <p:spPr>
            <a:xfrm>
              <a:off x="0" y="-57150"/>
              <a:ext cx="10485120" cy="6476453"/>
            </a:xfrm>
            <a:prstGeom prst="rect">
              <a:avLst/>
            </a:prstGeom>
          </p:spPr>
          <p:txBody>
            <a:bodyPr anchor="ctr" rtlCol="false" tIns="0" lIns="0" bIns="0" rIns="0"/>
            <a:lstStyle/>
            <a:p>
              <a:pPr algn="l" marL="561337" indent="-280669" lvl="1">
                <a:lnSpc>
                  <a:spcPts val="3119"/>
                </a:lnSpc>
                <a:buAutoNum type="arabicPeriod" startAt="1"/>
              </a:pPr>
              <a:r>
                <a:rPr lang="en-US" sz="2599">
                  <a:solidFill>
                    <a:srgbClr val="000000"/>
                  </a:solidFill>
                  <a:latin typeface="Calibri (MS)"/>
                  <a:ea typeface="Calibri (MS)"/>
                  <a:cs typeface="Calibri (MS)"/>
                  <a:sym typeface="Calibri (MS)"/>
                </a:rPr>
                <a:t>Fixer oob_score=True pour</a:t>
              </a:r>
              <a:r>
                <a:rPr lang="en-US" sz="2599">
                  <a:solidFill>
                    <a:srgbClr val="000000"/>
                  </a:solidFill>
                  <a:latin typeface="Calibri (MS)"/>
                  <a:ea typeface="Calibri (MS)"/>
                  <a:cs typeface="Calibri (MS)"/>
                  <a:sym typeface="Calibri (MS)"/>
                </a:rPr>
                <a:t> une validation interne gratuite.</a:t>
              </a:r>
            </a:p>
            <a:p>
              <a:pPr algn="l" marL="561337" indent="-280669" lvl="1">
                <a:lnSpc>
                  <a:spcPts val="3119"/>
                </a:lnSpc>
                <a:buAutoNum type="arabicPeriod" startAt="1"/>
              </a:pPr>
              <a:r>
                <a:rPr lang="en-US" sz="2599">
                  <a:solidFill>
                    <a:srgbClr val="000000"/>
                  </a:solidFill>
                  <a:latin typeface="Calibri (MS)"/>
                  <a:ea typeface="Calibri (MS)"/>
                  <a:cs typeface="Calibri (MS)"/>
                  <a:sym typeface="Calibri (MS)"/>
                </a:rPr>
                <a:t>Faire varier chaque hyperparamètre un par un, les autres fixes.</a:t>
              </a:r>
            </a:p>
            <a:p>
              <a:pPr algn="l" marL="561337" indent="-280669" lvl="1">
                <a:lnSpc>
                  <a:spcPts val="3119"/>
                </a:lnSpc>
                <a:buAutoNum type="arabicPeriod" startAt="1"/>
              </a:pPr>
              <a:r>
                <a:rPr lang="en-US" sz="2599">
                  <a:solidFill>
                    <a:srgbClr val="000000"/>
                  </a:solidFill>
                  <a:latin typeface="Calibri (MS)"/>
                  <a:ea typeface="Calibri (MS)"/>
                  <a:cs typeface="Calibri (MS)"/>
                  <a:sym typeface="Calibri (MS)"/>
                </a:rPr>
                <a:t>Tracer les courbes :</a:t>
              </a:r>
            </a:p>
            <a:p>
              <a:pPr algn="l" marL="1122675" indent="-374225" lvl="2">
                <a:lnSpc>
                  <a:spcPts val="3119"/>
                </a:lnSpc>
                <a:buFont typeface="Arial"/>
                <a:buChar char="⚬"/>
              </a:pPr>
              <a:r>
                <a:rPr lang="en-US" sz="2599">
                  <a:solidFill>
                    <a:srgbClr val="000000"/>
                  </a:solidFill>
                  <a:latin typeface="Calibri (MS)"/>
                  <a:ea typeface="Calibri (MS)"/>
                  <a:cs typeface="Calibri (MS)"/>
                  <a:sym typeface="Calibri (MS)"/>
                </a:rPr>
                <a:t>n_estimators → OOB error en fonction du nombre d’arbres (convergence)</a:t>
              </a:r>
            </a:p>
            <a:p>
              <a:pPr algn="l" marL="1122675" indent="-374225" lvl="2">
                <a:lnSpc>
                  <a:spcPts val="3119"/>
                </a:lnSpc>
                <a:buFont typeface="Arial"/>
                <a:buChar char="⚬"/>
              </a:pPr>
              <a:r>
                <a:rPr lang="en-US" sz="2599">
                  <a:solidFill>
                    <a:srgbClr val="000000"/>
                  </a:solidFill>
                  <a:latin typeface="Calibri (MS)"/>
                  <a:ea typeface="Calibri (MS)"/>
                  <a:cs typeface="Calibri (MS)"/>
                  <a:sym typeface="Calibri (MS)"/>
                </a:rPr>
                <a:t>max_depth → recall train vs test (détection surapprentissage)</a:t>
              </a:r>
            </a:p>
            <a:p>
              <a:pPr algn="l" marL="561337" indent="-280669" lvl="1">
                <a:lnSpc>
                  <a:spcPts val="3119"/>
                </a:lnSpc>
                <a:buAutoNum type="arabicPeriod" startAt="1"/>
              </a:pPr>
              <a:r>
                <a:rPr lang="en-US" sz="2599">
                  <a:solidFill>
                    <a:srgbClr val="000000"/>
                  </a:solidFill>
                  <a:latin typeface="Calibri (MS)"/>
                  <a:ea typeface="Calibri (MS)"/>
                  <a:cs typeface="Calibri (MS)"/>
                  <a:sym typeface="Calibri (MS)"/>
                </a:rPr>
                <a:t>Choisir la valeur qui maximise l’OOB score (ou test accuracy) sans surapprentissage.</a:t>
              </a:r>
            </a:p>
            <a:p>
              <a:pPr algn="l">
                <a:lnSpc>
                  <a:spcPts val="3119"/>
                </a:lnSpc>
              </a:pPr>
            </a:p>
          </p:txBody>
        </p:sp>
      </p:grpSp>
      <p:grpSp>
        <p:nvGrpSpPr>
          <p:cNvPr name="Group 44" id="44"/>
          <p:cNvGrpSpPr/>
          <p:nvPr/>
        </p:nvGrpSpPr>
        <p:grpSpPr>
          <a:xfrm rot="0">
            <a:off x="523237" y="7745482"/>
            <a:ext cx="17216123" cy="1305563"/>
            <a:chOff x="0" y="0"/>
            <a:chExt cx="22954831" cy="1740751"/>
          </a:xfrm>
        </p:grpSpPr>
        <p:sp>
          <p:nvSpPr>
            <p:cNvPr name="Freeform 45" id="45"/>
            <p:cNvSpPr/>
            <p:nvPr/>
          </p:nvSpPr>
          <p:spPr>
            <a:xfrm flipH="false" flipV="false" rot="0">
              <a:off x="16891" y="16891"/>
              <a:ext cx="22920960" cy="1706880"/>
            </a:xfrm>
            <a:custGeom>
              <a:avLst/>
              <a:gdLst/>
              <a:ahLst/>
              <a:cxnLst/>
              <a:rect r="r" b="b" t="t" l="l"/>
              <a:pathLst>
                <a:path h="1706880" w="22920960">
                  <a:moveTo>
                    <a:pt x="0" y="0"/>
                  </a:moveTo>
                  <a:lnTo>
                    <a:pt x="22920960" y="0"/>
                  </a:lnTo>
                  <a:lnTo>
                    <a:pt x="22920960" y="1706880"/>
                  </a:lnTo>
                  <a:lnTo>
                    <a:pt x="0" y="1706880"/>
                  </a:lnTo>
                  <a:close/>
                </a:path>
              </a:pathLst>
            </a:custGeom>
            <a:solidFill>
              <a:srgbClr val="E8F5E8"/>
            </a:solidFill>
          </p:spPr>
        </p:sp>
        <p:sp>
          <p:nvSpPr>
            <p:cNvPr name="Freeform 46" id="46"/>
            <p:cNvSpPr/>
            <p:nvPr/>
          </p:nvSpPr>
          <p:spPr>
            <a:xfrm flipH="false" flipV="false" rot="0">
              <a:off x="0" y="0"/>
              <a:ext cx="22954743" cy="1740662"/>
            </a:xfrm>
            <a:custGeom>
              <a:avLst/>
              <a:gdLst/>
              <a:ahLst/>
              <a:cxnLst/>
              <a:rect r="r" b="b" t="t" l="l"/>
              <a:pathLst>
                <a:path h="1740662" w="22954743">
                  <a:moveTo>
                    <a:pt x="16891" y="0"/>
                  </a:moveTo>
                  <a:lnTo>
                    <a:pt x="22937851" y="0"/>
                  </a:lnTo>
                  <a:cubicBezTo>
                    <a:pt x="22947249" y="0"/>
                    <a:pt x="22954743" y="7620"/>
                    <a:pt x="22954743" y="16891"/>
                  </a:cubicBezTo>
                  <a:lnTo>
                    <a:pt x="22954743" y="1723771"/>
                  </a:lnTo>
                  <a:cubicBezTo>
                    <a:pt x="22954743" y="1733169"/>
                    <a:pt x="22947123" y="1740662"/>
                    <a:pt x="22937851"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22937851" y="1706880"/>
                  </a:lnTo>
                  <a:lnTo>
                    <a:pt x="22937851" y="1723771"/>
                  </a:lnTo>
                  <a:lnTo>
                    <a:pt x="22920961" y="1723771"/>
                  </a:lnTo>
                  <a:lnTo>
                    <a:pt x="22920961" y="16891"/>
                  </a:lnTo>
                  <a:lnTo>
                    <a:pt x="22937851" y="16891"/>
                  </a:lnTo>
                  <a:lnTo>
                    <a:pt x="22937851" y="33909"/>
                  </a:lnTo>
                  <a:lnTo>
                    <a:pt x="16891" y="33909"/>
                  </a:lnTo>
                  <a:close/>
                </a:path>
              </a:pathLst>
            </a:custGeom>
            <a:solidFill>
              <a:srgbClr val="5B9E3D"/>
            </a:solidFill>
          </p:spPr>
        </p:sp>
      </p:grpSp>
      <p:grpSp>
        <p:nvGrpSpPr>
          <p:cNvPr name="Group 47" id="47"/>
          <p:cNvGrpSpPr/>
          <p:nvPr/>
        </p:nvGrpSpPr>
        <p:grpSpPr>
          <a:xfrm rot="0">
            <a:off x="1028700" y="7926457"/>
            <a:ext cx="16423634" cy="1060704"/>
            <a:chOff x="0" y="0"/>
            <a:chExt cx="21898178" cy="1414272"/>
          </a:xfrm>
        </p:grpSpPr>
        <p:sp>
          <p:nvSpPr>
            <p:cNvPr name="Freeform 48" id="48"/>
            <p:cNvSpPr/>
            <p:nvPr/>
          </p:nvSpPr>
          <p:spPr>
            <a:xfrm flipH="false" flipV="false" rot="0">
              <a:off x="0" y="0"/>
              <a:ext cx="21898178" cy="1414272"/>
            </a:xfrm>
            <a:custGeom>
              <a:avLst/>
              <a:gdLst/>
              <a:ahLst/>
              <a:cxnLst/>
              <a:rect r="r" b="b" t="t" l="l"/>
              <a:pathLst>
                <a:path h="1414272" w="21898178">
                  <a:moveTo>
                    <a:pt x="0" y="0"/>
                  </a:moveTo>
                  <a:lnTo>
                    <a:pt x="21898178" y="0"/>
                  </a:lnTo>
                  <a:lnTo>
                    <a:pt x="21898178" y="1414272"/>
                  </a:lnTo>
                  <a:lnTo>
                    <a:pt x="0" y="1414272"/>
                  </a:lnTo>
                  <a:close/>
                </a:path>
              </a:pathLst>
            </a:custGeom>
            <a:blipFill>
              <a:blip r:embed="rId3">
                <a:alphaModFix amt="0"/>
              </a:blip>
              <a:stretch>
                <a:fillRect l="0" t="-255713" r="-1330" b="-255713"/>
              </a:stretch>
            </a:blipFill>
          </p:spPr>
        </p:sp>
        <p:sp>
          <p:nvSpPr>
            <p:cNvPr name="TextBox 49" id="49"/>
            <p:cNvSpPr txBox="true"/>
            <p:nvPr/>
          </p:nvSpPr>
          <p:spPr>
            <a:xfrm>
              <a:off x="0" y="-57150"/>
              <a:ext cx="21898178" cy="1471422"/>
            </a:xfrm>
            <a:prstGeom prst="rect">
              <a:avLst/>
            </a:prstGeom>
          </p:spPr>
          <p:txBody>
            <a:bodyPr anchor="ctr" rtlCol="false" tIns="0" lIns="0" bIns="0" rIns="0"/>
            <a:lstStyle/>
            <a:p>
              <a:pPr algn="ctr">
                <a:lnSpc>
                  <a:spcPts val="3119"/>
                </a:lnSpc>
              </a:pPr>
              <a:r>
                <a:rPr lang="en-US" sz="2599" b="true">
                  <a:solidFill>
                    <a:srgbClr val="2C5F2D"/>
                  </a:solidFill>
                  <a:latin typeface="Calibri (MS) Bold"/>
                  <a:ea typeface="Calibri (MS) Bold"/>
                  <a:cs typeface="Calibri (MS) Bold"/>
                  <a:sym typeface="Calibri (MS) Bold"/>
                </a:rPr>
                <a:t>Idée clé : Plus de complexité ne signifie pas meilleur modèle.</a:t>
              </a:r>
            </a:p>
            <a:p>
              <a:pPr algn="ctr">
                <a:lnSpc>
                  <a:spcPts val="3119"/>
                </a:lnSpc>
              </a:pPr>
              <a:r>
                <a:rPr lang="en-US" sz="2599" b="true">
                  <a:solidFill>
                    <a:srgbClr val="2C5F2D"/>
                  </a:solidFill>
                  <a:latin typeface="Calibri (MS) Bold"/>
                  <a:ea typeface="Calibri (MS) Bold"/>
                  <a:cs typeface="Calibri (MS) Bold"/>
                  <a:sym typeface="Calibri (MS) Bold"/>
                </a:rPr>
                <a:t> L’optimisation consiste à trouver le compromis où le modèle généralise bien, ni trop simple, ni trop complexe.</a:t>
              </a:r>
            </a:p>
          </p:txBody>
        </p:sp>
      </p:grpSp>
      <p:grpSp>
        <p:nvGrpSpPr>
          <p:cNvPr name="Group 50" id="50"/>
          <p:cNvGrpSpPr/>
          <p:nvPr/>
        </p:nvGrpSpPr>
        <p:grpSpPr>
          <a:xfrm rot="0">
            <a:off x="-12697" y="9369047"/>
            <a:ext cx="18313403" cy="711203"/>
            <a:chOff x="0" y="0"/>
            <a:chExt cx="24417871" cy="948271"/>
          </a:xfrm>
        </p:grpSpPr>
        <p:sp>
          <p:nvSpPr>
            <p:cNvPr name="Freeform 51" id="51"/>
            <p:cNvSpPr/>
            <p:nvPr/>
          </p:nvSpPr>
          <p:spPr>
            <a:xfrm flipH="false" flipV="false" rot="0">
              <a:off x="16891" y="16891"/>
              <a:ext cx="24383999" cy="914400"/>
            </a:xfrm>
            <a:custGeom>
              <a:avLst/>
              <a:gdLst/>
              <a:ahLst/>
              <a:cxnLst/>
              <a:rect r="r" b="b" t="t" l="l"/>
              <a:pathLst>
                <a:path h="914400" w="24383999">
                  <a:moveTo>
                    <a:pt x="0" y="0"/>
                  </a:moveTo>
                  <a:lnTo>
                    <a:pt x="24383999" y="0"/>
                  </a:lnTo>
                  <a:lnTo>
                    <a:pt x="24383999" y="914400"/>
                  </a:lnTo>
                  <a:lnTo>
                    <a:pt x="0" y="914400"/>
                  </a:lnTo>
                  <a:close/>
                </a:path>
              </a:pathLst>
            </a:custGeom>
            <a:solidFill>
              <a:srgbClr val="1A2E1A"/>
            </a:solidFill>
          </p:spPr>
        </p:sp>
        <p:sp>
          <p:nvSpPr>
            <p:cNvPr name="Freeform 52" id="52"/>
            <p:cNvSpPr/>
            <p:nvPr/>
          </p:nvSpPr>
          <p:spPr>
            <a:xfrm flipH="false" flipV="false" rot="0">
              <a:off x="0" y="0"/>
              <a:ext cx="24417782" cy="948184"/>
            </a:xfrm>
            <a:custGeom>
              <a:avLst/>
              <a:gdLst/>
              <a:ahLst/>
              <a:cxnLst/>
              <a:rect r="r" b="b" t="t" l="l"/>
              <a:pathLst>
                <a:path h="948184" w="24417782">
                  <a:moveTo>
                    <a:pt x="16891" y="0"/>
                  </a:moveTo>
                  <a:lnTo>
                    <a:pt x="24400890" y="0"/>
                  </a:lnTo>
                  <a:cubicBezTo>
                    <a:pt x="24410290" y="0"/>
                    <a:pt x="24417782" y="7620"/>
                    <a:pt x="24417782" y="16891"/>
                  </a:cubicBezTo>
                  <a:lnTo>
                    <a:pt x="24417782" y="931291"/>
                  </a:lnTo>
                  <a:cubicBezTo>
                    <a:pt x="24417782" y="940689"/>
                    <a:pt x="24410163" y="948182"/>
                    <a:pt x="24400890" y="948182"/>
                  </a:cubicBezTo>
                  <a:lnTo>
                    <a:pt x="16891" y="948182"/>
                  </a:lnTo>
                  <a:cubicBezTo>
                    <a:pt x="7620" y="948309"/>
                    <a:pt x="0" y="940689"/>
                    <a:pt x="0" y="931291"/>
                  </a:cubicBezTo>
                  <a:lnTo>
                    <a:pt x="0" y="16891"/>
                  </a:lnTo>
                  <a:cubicBezTo>
                    <a:pt x="0" y="7620"/>
                    <a:pt x="7620" y="0"/>
                    <a:pt x="16891" y="0"/>
                  </a:cubicBezTo>
                  <a:moveTo>
                    <a:pt x="16891" y="33909"/>
                  </a:moveTo>
                  <a:lnTo>
                    <a:pt x="16891" y="16891"/>
                  </a:lnTo>
                  <a:lnTo>
                    <a:pt x="33909" y="16891"/>
                  </a:lnTo>
                  <a:lnTo>
                    <a:pt x="33909" y="931291"/>
                  </a:lnTo>
                  <a:lnTo>
                    <a:pt x="16891" y="931291"/>
                  </a:lnTo>
                  <a:lnTo>
                    <a:pt x="16891" y="914400"/>
                  </a:lnTo>
                  <a:lnTo>
                    <a:pt x="24400890" y="914400"/>
                  </a:lnTo>
                  <a:lnTo>
                    <a:pt x="24400890" y="931291"/>
                  </a:lnTo>
                  <a:lnTo>
                    <a:pt x="24384000" y="931291"/>
                  </a:lnTo>
                  <a:lnTo>
                    <a:pt x="24384000" y="16891"/>
                  </a:lnTo>
                  <a:lnTo>
                    <a:pt x="24400890" y="16891"/>
                  </a:lnTo>
                  <a:lnTo>
                    <a:pt x="24400890" y="33909"/>
                  </a:lnTo>
                  <a:lnTo>
                    <a:pt x="16891" y="33909"/>
                  </a:lnTo>
                  <a:close/>
                </a:path>
              </a:pathLst>
            </a:custGeom>
            <a:solidFill>
              <a:srgbClr val="1A2E1A"/>
            </a:solidFill>
          </p:spPr>
        </p:sp>
      </p:grpSp>
      <p:grpSp>
        <p:nvGrpSpPr>
          <p:cNvPr name="Group 53" id="53"/>
          <p:cNvGrpSpPr/>
          <p:nvPr/>
        </p:nvGrpSpPr>
        <p:grpSpPr>
          <a:xfrm rot="0">
            <a:off x="548640" y="9381744"/>
            <a:ext cx="17190720" cy="685800"/>
            <a:chOff x="0" y="0"/>
            <a:chExt cx="22920960" cy="914400"/>
          </a:xfrm>
        </p:grpSpPr>
        <p:sp>
          <p:nvSpPr>
            <p:cNvPr name="Freeform 54" id="54"/>
            <p:cNvSpPr/>
            <p:nvPr/>
          </p:nvSpPr>
          <p:spPr>
            <a:xfrm flipH="false" flipV="false" rot="0">
              <a:off x="0" y="0"/>
              <a:ext cx="22920961" cy="914400"/>
            </a:xfrm>
            <a:custGeom>
              <a:avLst/>
              <a:gdLst/>
              <a:ahLst/>
              <a:cxnLst/>
              <a:rect r="r" b="b" t="t" l="l"/>
              <a:pathLst>
                <a:path h="914400" w="22920961">
                  <a:moveTo>
                    <a:pt x="0" y="0"/>
                  </a:moveTo>
                  <a:lnTo>
                    <a:pt x="22920961" y="0"/>
                  </a:lnTo>
                  <a:lnTo>
                    <a:pt x="22920961" y="914400"/>
                  </a:lnTo>
                  <a:lnTo>
                    <a:pt x="0" y="914400"/>
                  </a:lnTo>
                  <a:close/>
                </a:path>
              </a:pathLst>
            </a:custGeom>
            <a:blipFill>
              <a:blip r:embed="rId3">
                <a:alphaModFix amt="0"/>
              </a:blip>
              <a:stretch>
                <a:fillRect l="0" t="-438424" r="0" b="-438424"/>
              </a:stretch>
            </a:blipFill>
          </p:spPr>
        </p:sp>
        <p:sp>
          <p:nvSpPr>
            <p:cNvPr name="TextBox 55" id="55"/>
            <p:cNvSpPr txBox="true"/>
            <p:nvPr/>
          </p:nvSpPr>
          <p:spPr>
            <a:xfrm>
              <a:off x="0" y="-47625"/>
              <a:ext cx="22920960" cy="962025"/>
            </a:xfrm>
            <a:prstGeom prst="rect">
              <a:avLst/>
            </a:prstGeom>
          </p:spPr>
          <p:txBody>
            <a:bodyPr anchor="ctr" rtlCol="false" tIns="0" lIns="0" bIns="0" rIns="0"/>
            <a:lstStyle/>
            <a:p>
              <a:pPr algn="ctr">
                <a:lnSpc>
                  <a:spcPts val="2879"/>
                </a:lnSpc>
              </a:pPr>
              <a:r>
                <a:rPr lang="en-US" sz="2400">
                  <a:solidFill>
                    <a:srgbClr val="97BC62"/>
                  </a:solidFill>
                  <a:latin typeface="Consolas"/>
                  <a:ea typeface="Consolas"/>
                  <a:cs typeface="Consolas"/>
                  <a:sym typeface="Consolas"/>
                </a:rPr>
                <a:t>n_estimators · max_depth · max_features · oob_score  →  les 4 leviers de la Random Forest</a:t>
              </a:r>
            </a:p>
          </p:txBody>
        </p:sp>
      </p:grpSp>
      <p:sp>
        <p:nvSpPr>
          <p:cNvPr name="TextBox 56" id="56"/>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35</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836300"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A4 — Hyperparmètre : Nombre d’arbres (n_estimators)</a:t>
              </a:r>
            </a:p>
          </p:txBody>
        </p:sp>
      </p:grpSp>
      <p:grpSp>
        <p:nvGrpSpPr>
          <p:cNvPr name="Group 8" id="8"/>
          <p:cNvGrpSpPr/>
          <p:nvPr/>
        </p:nvGrpSpPr>
        <p:grpSpPr>
          <a:xfrm rot="0">
            <a:off x="788675" y="1979694"/>
            <a:ext cx="16710660" cy="7524509"/>
            <a:chOff x="0" y="0"/>
            <a:chExt cx="22280880" cy="10032678"/>
          </a:xfrm>
        </p:grpSpPr>
        <p:sp>
          <p:nvSpPr>
            <p:cNvPr name="Freeform 9" id="9"/>
            <p:cNvSpPr/>
            <p:nvPr/>
          </p:nvSpPr>
          <p:spPr>
            <a:xfrm flipH="false" flipV="false" rot="0">
              <a:off x="25879" y="16110"/>
              <a:ext cx="22228986" cy="10000373"/>
            </a:xfrm>
            <a:custGeom>
              <a:avLst/>
              <a:gdLst/>
              <a:ahLst/>
              <a:cxnLst/>
              <a:rect r="r" b="b" t="t" l="l"/>
              <a:pathLst>
                <a:path h="10000373" w="22228986">
                  <a:moveTo>
                    <a:pt x="0" y="0"/>
                  </a:moveTo>
                  <a:lnTo>
                    <a:pt x="22228986" y="0"/>
                  </a:lnTo>
                  <a:lnTo>
                    <a:pt x="22228986" y="10000373"/>
                  </a:lnTo>
                  <a:lnTo>
                    <a:pt x="0" y="10000373"/>
                  </a:lnTo>
                  <a:close/>
                </a:path>
              </a:pathLst>
            </a:custGeom>
            <a:solidFill>
              <a:srgbClr val="FFFFFF"/>
            </a:solidFill>
          </p:spPr>
        </p:sp>
        <p:sp>
          <p:nvSpPr>
            <p:cNvPr name="Freeform 10" id="10"/>
            <p:cNvSpPr/>
            <p:nvPr/>
          </p:nvSpPr>
          <p:spPr>
            <a:xfrm flipH="false" flipV="false" rot="0">
              <a:off x="0" y="0"/>
              <a:ext cx="22280745" cy="10032593"/>
            </a:xfrm>
            <a:custGeom>
              <a:avLst/>
              <a:gdLst/>
              <a:ahLst/>
              <a:cxnLst/>
              <a:rect r="r" b="b" t="t" l="l"/>
              <a:pathLst>
                <a:path h="10032593" w="22280745">
                  <a:moveTo>
                    <a:pt x="25879" y="0"/>
                  </a:moveTo>
                  <a:lnTo>
                    <a:pt x="22254865" y="0"/>
                  </a:lnTo>
                  <a:cubicBezTo>
                    <a:pt x="22269262" y="0"/>
                    <a:pt x="22280745" y="7268"/>
                    <a:pt x="22280745" y="16110"/>
                  </a:cubicBezTo>
                  <a:lnTo>
                    <a:pt x="22280745" y="10016483"/>
                  </a:lnTo>
                  <a:cubicBezTo>
                    <a:pt x="22280745" y="10025447"/>
                    <a:pt x="22269070" y="10032593"/>
                    <a:pt x="22254865" y="10032593"/>
                  </a:cubicBezTo>
                  <a:lnTo>
                    <a:pt x="25879" y="10032593"/>
                  </a:lnTo>
                  <a:cubicBezTo>
                    <a:pt x="11480" y="10032593"/>
                    <a:pt x="0" y="10025325"/>
                    <a:pt x="0" y="10016483"/>
                  </a:cubicBezTo>
                  <a:lnTo>
                    <a:pt x="0" y="16110"/>
                  </a:lnTo>
                  <a:cubicBezTo>
                    <a:pt x="0" y="7268"/>
                    <a:pt x="11675" y="0"/>
                    <a:pt x="25879" y="0"/>
                  </a:cubicBezTo>
                  <a:moveTo>
                    <a:pt x="25879" y="32341"/>
                  </a:moveTo>
                  <a:lnTo>
                    <a:pt x="25879" y="16110"/>
                  </a:lnTo>
                  <a:lnTo>
                    <a:pt x="51953" y="16110"/>
                  </a:lnTo>
                  <a:lnTo>
                    <a:pt x="51953" y="10016483"/>
                  </a:lnTo>
                  <a:lnTo>
                    <a:pt x="25879" y="10016483"/>
                  </a:lnTo>
                  <a:lnTo>
                    <a:pt x="25879" y="10000373"/>
                  </a:lnTo>
                  <a:lnTo>
                    <a:pt x="22254865" y="10000373"/>
                  </a:lnTo>
                  <a:lnTo>
                    <a:pt x="22254865" y="10016483"/>
                  </a:lnTo>
                  <a:lnTo>
                    <a:pt x="22228986" y="10016483"/>
                  </a:lnTo>
                  <a:lnTo>
                    <a:pt x="22228986" y="16110"/>
                  </a:lnTo>
                  <a:lnTo>
                    <a:pt x="22254865" y="16110"/>
                  </a:lnTo>
                  <a:lnTo>
                    <a:pt x="22254865" y="32341"/>
                  </a:lnTo>
                  <a:lnTo>
                    <a:pt x="25879" y="32341"/>
                  </a:lnTo>
                  <a:close/>
                </a:path>
              </a:pathLst>
            </a:custGeom>
            <a:solidFill>
              <a:srgbClr val="D0E0D0"/>
            </a:solidFill>
          </p:spPr>
        </p:sp>
      </p:grpSp>
      <p:grpSp>
        <p:nvGrpSpPr>
          <p:cNvPr name="Group 11" id="11"/>
          <p:cNvGrpSpPr/>
          <p:nvPr/>
        </p:nvGrpSpPr>
        <p:grpSpPr>
          <a:xfrm rot="0">
            <a:off x="1218245" y="2176294"/>
            <a:ext cx="7905985" cy="1158420"/>
            <a:chOff x="0" y="0"/>
            <a:chExt cx="13823111" cy="2025424"/>
          </a:xfrm>
        </p:grpSpPr>
        <p:sp>
          <p:nvSpPr>
            <p:cNvPr name="Freeform 12" id="12"/>
            <p:cNvSpPr/>
            <p:nvPr/>
          </p:nvSpPr>
          <p:spPr>
            <a:xfrm flipH="false" flipV="false" rot="0">
              <a:off x="0" y="0"/>
              <a:ext cx="13823110" cy="2025424"/>
            </a:xfrm>
            <a:custGeom>
              <a:avLst/>
              <a:gdLst/>
              <a:ahLst/>
              <a:cxnLst/>
              <a:rect r="r" b="b" t="t" l="l"/>
              <a:pathLst>
                <a:path h="2025424" w="13823110">
                  <a:moveTo>
                    <a:pt x="0" y="0"/>
                  </a:moveTo>
                  <a:lnTo>
                    <a:pt x="13823110" y="0"/>
                  </a:lnTo>
                  <a:lnTo>
                    <a:pt x="13823110" y="2025424"/>
                  </a:lnTo>
                  <a:lnTo>
                    <a:pt x="0" y="2025424"/>
                  </a:lnTo>
                  <a:close/>
                </a:path>
              </a:pathLst>
            </a:custGeom>
            <a:blipFill>
              <a:blip r:embed="rId3">
                <a:alphaModFix amt="0"/>
              </a:blip>
              <a:stretch>
                <a:fillRect l="0" t="-101267" r="1215" b="-61461"/>
              </a:stretch>
            </a:blipFill>
            <a:ln cap="sq">
              <a:noFill/>
              <a:prstDash val="solid"/>
              <a:miter/>
            </a:ln>
          </p:spPr>
        </p:sp>
        <p:sp>
          <p:nvSpPr>
            <p:cNvPr name="TextBox 13" id="13"/>
            <p:cNvSpPr txBox="true"/>
            <p:nvPr/>
          </p:nvSpPr>
          <p:spPr>
            <a:xfrm>
              <a:off x="0" y="-66675"/>
              <a:ext cx="13823111" cy="209209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Défi</a:t>
              </a:r>
              <a:r>
                <a:rPr lang="en-US" b="true" sz="3299" i="true">
                  <a:solidFill>
                    <a:srgbClr val="1A2E1A"/>
                  </a:solidFill>
                  <a:latin typeface="Calibri (MS) Bold Italics"/>
                  <a:ea typeface="Calibri (MS) Bold Italics"/>
                  <a:cs typeface="Calibri (MS) Bold Italics"/>
                  <a:sym typeface="Calibri (MS) Bold Italics"/>
                </a:rPr>
                <a:t>nition</a:t>
              </a:r>
            </a:p>
            <a:p>
              <a:pPr algn="l">
                <a:lnSpc>
                  <a:spcPts val="3959"/>
                </a:lnSpc>
              </a:pPr>
            </a:p>
          </p:txBody>
        </p:sp>
      </p:grpSp>
      <p:grpSp>
        <p:nvGrpSpPr>
          <p:cNvPr name="Group 14" id="14"/>
          <p:cNvGrpSpPr/>
          <p:nvPr/>
        </p:nvGrpSpPr>
        <p:grpSpPr>
          <a:xfrm rot="0">
            <a:off x="1028700" y="2755505"/>
            <a:ext cx="15380432" cy="1361833"/>
            <a:chOff x="0" y="0"/>
            <a:chExt cx="20507242" cy="1815777"/>
          </a:xfrm>
        </p:grpSpPr>
        <p:sp>
          <p:nvSpPr>
            <p:cNvPr name="Freeform 15" id="15"/>
            <p:cNvSpPr/>
            <p:nvPr/>
          </p:nvSpPr>
          <p:spPr>
            <a:xfrm flipH="false" flipV="false" rot="0">
              <a:off x="0" y="0"/>
              <a:ext cx="20507241" cy="1815777"/>
            </a:xfrm>
            <a:custGeom>
              <a:avLst/>
              <a:gdLst/>
              <a:ahLst/>
              <a:cxnLst/>
              <a:rect r="r" b="b" t="t" l="l"/>
              <a:pathLst>
                <a:path h="1815777" w="20507241">
                  <a:moveTo>
                    <a:pt x="0" y="0"/>
                  </a:moveTo>
                  <a:lnTo>
                    <a:pt x="20507241" y="0"/>
                  </a:lnTo>
                  <a:lnTo>
                    <a:pt x="20507241" y="1815777"/>
                  </a:lnTo>
                  <a:lnTo>
                    <a:pt x="0" y="1815777"/>
                  </a:lnTo>
                  <a:close/>
                </a:path>
              </a:pathLst>
            </a:custGeom>
            <a:blipFill>
              <a:blip r:embed="rId3">
                <a:alphaModFix amt="0"/>
              </a:blip>
              <a:stretch>
                <a:fillRect l="0" t="-102887" r="33413" b="-90175"/>
              </a:stretch>
            </a:blipFill>
          </p:spPr>
        </p:sp>
        <p:sp>
          <p:nvSpPr>
            <p:cNvPr name="TextBox 16" id="16"/>
            <p:cNvSpPr txBox="true"/>
            <p:nvPr/>
          </p:nvSpPr>
          <p:spPr>
            <a:xfrm>
              <a:off x="0" y="-57150"/>
              <a:ext cx="20507242" cy="1872927"/>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n_estimators = nombre d’arbres dans la forêt.</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Par défaut dans sklearn : 100.</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Chaque arbre est entraîné  indépendamment → prédiction finale = vote majoritaire.</a:t>
              </a:r>
            </a:p>
          </p:txBody>
        </p:sp>
      </p:grpSp>
      <p:grpSp>
        <p:nvGrpSpPr>
          <p:cNvPr name="Group 17" id="17"/>
          <p:cNvGrpSpPr/>
          <p:nvPr/>
        </p:nvGrpSpPr>
        <p:grpSpPr>
          <a:xfrm rot="0">
            <a:off x="1171710" y="4046919"/>
            <a:ext cx="15944589" cy="914400"/>
            <a:chOff x="0" y="0"/>
            <a:chExt cx="21259452" cy="1219200"/>
          </a:xfrm>
        </p:grpSpPr>
        <p:sp>
          <p:nvSpPr>
            <p:cNvPr name="Freeform 18" id="18"/>
            <p:cNvSpPr/>
            <p:nvPr/>
          </p:nvSpPr>
          <p:spPr>
            <a:xfrm flipH="false" flipV="false" rot="0">
              <a:off x="0" y="0"/>
              <a:ext cx="21259451" cy="1219200"/>
            </a:xfrm>
            <a:custGeom>
              <a:avLst/>
              <a:gdLst/>
              <a:ahLst/>
              <a:cxnLst/>
              <a:rect r="r" b="b" t="t" l="l"/>
              <a:pathLst>
                <a:path h="1219200" w="21259451">
                  <a:moveTo>
                    <a:pt x="0" y="0"/>
                  </a:moveTo>
                  <a:lnTo>
                    <a:pt x="21259451" y="0"/>
                  </a:lnTo>
                  <a:lnTo>
                    <a:pt x="21259451" y="1219200"/>
                  </a:lnTo>
                  <a:lnTo>
                    <a:pt x="0" y="1219200"/>
                  </a:lnTo>
                  <a:close/>
                </a:path>
              </a:pathLst>
            </a:custGeom>
            <a:blipFill>
              <a:blip r:embed="rId3">
                <a:alphaModFix amt="0"/>
              </a:blip>
              <a:stretch>
                <a:fillRect l="0" t="-168232" r="35769" b="-168232"/>
              </a:stretch>
            </a:blipFill>
          </p:spPr>
        </p:sp>
        <p:sp>
          <p:nvSpPr>
            <p:cNvPr name="TextBox 19" id="19"/>
            <p:cNvSpPr txBox="true"/>
            <p:nvPr/>
          </p:nvSpPr>
          <p:spPr>
            <a:xfrm>
              <a:off x="0" y="-66675"/>
              <a:ext cx="21259452" cy="1285875"/>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Effet sur la variance </a:t>
              </a:r>
            </a:p>
          </p:txBody>
        </p:sp>
      </p:grpSp>
      <p:grpSp>
        <p:nvGrpSpPr>
          <p:cNvPr name="Group 20" id="20"/>
          <p:cNvGrpSpPr/>
          <p:nvPr/>
        </p:nvGrpSpPr>
        <p:grpSpPr>
          <a:xfrm rot="0">
            <a:off x="1028700" y="4856244"/>
            <a:ext cx="15944589" cy="1771408"/>
            <a:chOff x="0" y="0"/>
            <a:chExt cx="21259452" cy="2361877"/>
          </a:xfrm>
        </p:grpSpPr>
        <p:sp>
          <p:nvSpPr>
            <p:cNvPr name="Freeform 21" id="21"/>
            <p:cNvSpPr/>
            <p:nvPr/>
          </p:nvSpPr>
          <p:spPr>
            <a:xfrm flipH="false" flipV="false" rot="0">
              <a:off x="0" y="0"/>
              <a:ext cx="21259451" cy="2361877"/>
            </a:xfrm>
            <a:custGeom>
              <a:avLst/>
              <a:gdLst/>
              <a:ahLst/>
              <a:cxnLst/>
              <a:rect r="r" b="b" t="t" l="l"/>
              <a:pathLst>
                <a:path h="2361877" w="21259451">
                  <a:moveTo>
                    <a:pt x="0" y="0"/>
                  </a:moveTo>
                  <a:lnTo>
                    <a:pt x="21259451" y="0"/>
                  </a:lnTo>
                  <a:lnTo>
                    <a:pt x="21259451" y="2361877"/>
                  </a:lnTo>
                  <a:lnTo>
                    <a:pt x="0" y="2361877"/>
                  </a:lnTo>
                  <a:close/>
                </a:path>
              </a:pathLst>
            </a:custGeom>
            <a:blipFill>
              <a:blip r:embed="rId3">
                <a:alphaModFix amt="0"/>
              </a:blip>
              <a:stretch>
                <a:fillRect l="0" t="-79098" r="35769" b="-46204"/>
              </a:stretch>
            </a:blipFill>
          </p:spPr>
        </p:sp>
        <p:sp>
          <p:nvSpPr>
            <p:cNvPr name="TextBox 22" id="22"/>
            <p:cNvSpPr txBox="true"/>
            <p:nvPr/>
          </p:nvSpPr>
          <p:spPr>
            <a:xfrm>
              <a:off x="0" y="-57150"/>
              <a:ext cx="21259452" cy="2419027"/>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Plus d’arbres → réduction de la variance (stabilité).</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Mais au-delà d’un seuil (ex: 200–300 arbres), le gain est marginal.</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Pas de surapprentissage lié à n_estimators (contrairement à max_depth).</a:t>
              </a:r>
            </a:p>
            <a:p>
              <a:pPr algn="l">
                <a:lnSpc>
                  <a:spcPts val="3239"/>
                </a:lnSpc>
              </a:pPr>
            </a:p>
          </p:txBody>
        </p:sp>
      </p:grpSp>
      <p:grpSp>
        <p:nvGrpSpPr>
          <p:cNvPr name="Group 23" id="23"/>
          <p:cNvGrpSpPr/>
          <p:nvPr/>
        </p:nvGrpSpPr>
        <p:grpSpPr>
          <a:xfrm rot="0">
            <a:off x="2586146" y="8168854"/>
            <a:ext cx="13115717" cy="1023004"/>
            <a:chOff x="0" y="0"/>
            <a:chExt cx="17487622" cy="1364005"/>
          </a:xfrm>
        </p:grpSpPr>
        <p:sp>
          <p:nvSpPr>
            <p:cNvPr name="Freeform 24" id="24"/>
            <p:cNvSpPr/>
            <p:nvPr/>
          </p:nvSpPr>
          <p:spPr>
            <a:xfrm flipH="false" flipV="false" rot="0">
              <a:off x="21578" y="16756"/>
              <a:ext cx="17444351" cy="1330404"/>
            </a:xfrm>
            <a:custGeom>
              <a:avLst/>
              <a:gdLst/>
              <a:ahLst/>
              <a:cxnLst/>
              <a:rect r="r" b="b" t="t" l="l"/>
              <a:pathLst>
                <a:path h="1330404" w="17444351">
                  <a:moveTo>
                    <a:pt x="0" y="0"/>
                  </a:moveTo>
                  <a:lnTo>
                    <a:pt x="17444351" y="0"/>
                  </a:lnTo>
                  <a:lnTo>
                    <a:pt x="17444351" y="1330405"/>
                  </a:lnTo>
                  <a:lnTo>
                    <a:pt x="0" y="1330405"/>
                  </a:lnTo>
                  <a:close/>
                </a:path>
              </a:pathLst>
            </a:custGeom>
            <a:solidFill>
              <a:srgbClr val="E8F5E8"/>
            </a:solidFill>
          </p:spPr>
        </p:sp>
        <p:sp>
          <p:nvSpPr>
            <p:cNvPr name="Freeform 25" id="25"/>
            <p:cNvSpPr/>
            <p:nvPr/>
          </p:nvSpPr>
          <p:spPr>
            <a:xfrm flipH="false" flipV="false" rot="0">
              <a:off x="0" y="0"/>
              <a:ext cx="17487509" cy="1363917"/>
            </a:xfrm>
            <a:custGeom>
              <a:avLst/>
              <a:gdLst/>
              <a:ahLst/>
              <a:cxnLst/>
              <a:rect r="r" b="b" t="t" l="l"/>
              <a:pathLst>
                <a:path h="1363917" w="17487509">
                  <a:moveTo>
                    <a:pt x="21578" y="0"/>
                  </a:moveTo>
                  <a:lnTo>
                    <a:pt x="17465929" y="0"/>
                  </a:lnTo>
                  <a:cubicBezTo>
                    <a:pt x="17477936" y="0"/>
                    <a:pt x="17487509" y="7559"/>
                    <a:pt x="17487509" y="16756"/>
                  </a:cubicBezTo>
                  <a:lnTo>
                    <a:pt x="17487509" y="1347161"/>
                  </a:lnTo>
                  <a:cubicBezTo>
                    <a:pt x="17487509" y="1356483"/>
                    <a:pt x="17477775" y="1363917"/>
                    <a:pt x="17465929" y="1363917"/>
                  </a:cubicBezTo>
                  <a:lnTo>
                    <a:pt x="21578" y="1363917"/>
                  </a:lnTo>
                  <a:cubicBezTo>
                    <a:pt x="9572" y="1363917"/>
                    <a:pt x="0" y="1356357"/>
                    <a:pt x="0" y="1347161"/>
                  </a:cubicBezTo>
                  <a:lnTo>
                    <a:pt x="0" y="16756"/>
                  </a:lnTo>
                  <a:cubicBezTo>
                    <a:pt x="0" y="7559"/>
                    <a:pt x="9735" y="0"/>
                    <a:pt x="21578" y="0"/>
                  </a:cubicBezTo>
                  <a:moveTo>
                    <a:pt x="21578" y="33638"/>
                  </a:moveTo>
                  <a:lnTo>
                    <a:pt x="21578" y="16756"/>
                  </a:lnTo>
                  <a:lnTo>
                    <a:pt x="43319" y="16756"/>
                  </a:lnTo>
                  <a:lnTo>
                    <a:pt x="43319" y="1347161"/>
                  </a:lnTo>
                  <a:lnTo>
                    <a:pt x="21578" y="1347161"/>
                  </a:lnTo>
                  <a:lnTo>
                    <a:pt x="21578" y="1330404"/>
                  </a:lnTo>
                  <a:lnTo>
                    <a:pt x="17465929" y="1330404"/>
                  </a:lnTo>
                  <a:lnTo>
                    <a:pt x="17465929" y="1347161"/>
                  </a:lnTo>
                  <a:lnTo>
                    <a:pt x="17444352" y="1347161"/>
                  </a:lnTo>
                  <a:lnTo>
                    <a:pt x="17444352" y="16756"/>
                  </a:lnTo>
                  <a:lnTo>
                    <a:pt x="17465929" y="16756"/>
                  </a:lnTo>
                  <a:lnTo>
                    <a:pt x="17465929" y="33638"/>
                  </a:lnTo>
                  <a:lnTo>
                    <a:pt x="21578" y="33638"/>
                  </a:lnTo>
                  <a:close/>
                </a:path>
              </a:pathLst>
            </a:custGeom>
            <a:solidFill>
              <a:srgbClr val="5B9E3D"/>
            </a:solidFill>
          </p:spPr>
        </p:sp>
      </p:grpSp>
      <p:sp>
        <p:nvSpPr>
          <p:cNvPr name="TextBox 26" id="26"/>
          <p:cNvSpPr txBox="true"/>
          <p:nvPr/>
        </p:nvSpPr>
        <p:spPr>
          <a:xfrm rot="0">
            <a:off x="2055181" y="8275477"/>
            <a:ext cx="12801199" cy="1228725"/>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Calibri (MS) Bold"/>
                <a:ea typeface="Calibri (MS) Bold"/>
                <a:cs typeface="Calibri (MS) Bold"/>
                <a:sym typeface="Calibri (MS) Bold"/>
              </a:rPr>
              <a:t>  Idée clé</a:t>
            </a:r>
          </a:p>
          <a:p>
            <a:pPr algn="ctr">
              <a:lnSpc>
                <a:spcPts val="3119"/>
              </a:lnSpc>
              <a:spcBef>
                <a:spcPct val="0"/>
              </a:spcBef>
            </a:pPr>
            <a:r>
              <a:rPr lang="en-US" b="true" sz="2599">
                <a:solidFill>
                  <a:srgbClr val="000000"/>
                </a:solidFill>
                <a:latin typeface="Calibri (MS) Bold"/>
                <a:ea typeface="Calibri (MS) Bold"/>
                <a:cs typeface="Calibri (MS) Bold"/>
                <a:sym typeface="Calibri (MS) Bold"/>
              </a:rPr>
              <a:t>                      Augmenter le nombre d’arbres ne fait pas surapprendre,mais diminue la variance</a:t>
            </a:r>
          </a:p>
          <a:p>
            <a:pPr algn="ctr">
              <a:lnSpc>
                <a:spcPts val="3119"/>
              </a:lnSpc>
              <a:spcBef>
                <a:spcPct val="0"/>
              </a:spcBef>
            </a:pPr>
          </a:p>
        </p:txBody>
      </p:sp>
      <p:grpSp>
        <p:nvGrpSpPr>
          <p:cNvPr name="Group 27" id="27"/>
          <p:cNvGrpSpPr/>
          <p:nvPr/>
        </p:nvGrpSpPr>
        <p:grpSpPr>
          <a:xfrm rot="0">
            <a:off x="1151935" y="6261482"/>
            <a:ext cx="15944589" cy="802473"/>
            <a:chOff x="0" y="0"/>
            <a:chExt cx="21259452" cy="1069964"/>
          </a:xfrm>
        </p:grpSpPr>
        <p:sp>
          <p:nvSpPr>
            <p:cNvPr name="Freeform 28" id="28"/>
            <p:cNvSpPr/>
            <p:nvPr/>
          </p:nvSpPr>
          <p:spPr>
            <a:xfrm flipH="false" flipV="false" rot="0">
              <a:off x="0" y="0"/>
              <a:ext cx="21259451" cy="1069964"/>
            </a:xfrm>
            <a:custGeom>
              <a:avLst/>
              <a:gdLst/>
              <a:ahLst/>
              <a:cxnLst/>
              <a:rect r="r" b="b" t="t" l="l"/>
              <a:pathLst>
                <a:path h="1069964" w="21259451">
                  <a:moveTo>
                    <a:pt x="0" y="0"/>
                  </a:moveTo>
                  <a:lnTo>
                    <a:pt x="21259451" y="0"/>
                  </a:lnTo>
                  <a:lnTo>
                    <a:pt x="21259451" y="1069964"/>
                  </a:lnTo>
                  <a:lnTo>
                    <a:pt x="0" y="1069964"/>
                  </a:lnTo>
                  <a:close/>
                </a:path>
              </a:pathLst>
            </a:custGeom>
            <a:blipFill>
              <a:blip r:embed="rId3">
                <a:alphaModFix amt="0"/>
              </a:blip>
              <a:stretch>
                <a:fillRect l="0" t="-191697" r="35769" b="-205644"/>
              </a:stretch>
            </a:blipFill>
          </p:spPr>
        </p:sp>
        <p:sp>
          <p:nvSpPr>
            <p:cNvPr name="TextBox 29" id="29"/>
            <p:cNvSpPr txBox="true"/>
            <p:nvPr/>
          </p:nvSpPr>
          <p:spPr>
            <a:xfrm>
              <a:off x="0" y="-66675"/>
              <a:ext cx="21259452" cy="113663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Compromis</a:t>
              </a:r>
              <a:r>
                <a:rPr lang="en-US" b="true" sz="3299" i="true">
                  <a:solidFill>
                    <a:srgbClr val="1A2E1A"/>
                  </a:solidFill>
                  <a:latin typeface="Calibri (MS) Bold Italics"/>
                  <a:ea typeface="Calibri (MS) Bold Italics"/>
                  <a:cs typeface="Calibri (MS) Bold Italics"/>
                  <a:sym typeface="Calibri (MS) Bold Italics"/>
                </a:rPr>
                <a:t> temps / performance</a:t>
              </a:r>
            </a:p>
          </p:txBody>
        </p:sp>
      </p:grpSp>
      <p:grpSp>
        <p:nvGrpSpPr>
          <p:cNvPr name="Group 30" id="30"/>
          <p:cNvGrpSpPr/>
          <p:nvPr/>
        </p:nvGrpSpPr>
        <p:grpSpPr>
          <a:xfrm rot="0">
            <a:off x="1028700" y="7063954"/>
            <a:ext cx="15944589" cy="1361833"/>
            <a:chOff x="0" y="0"/>
            <a:chExt cx="21259452" cy="1815777"/>
          </a:xfrm>
        </p:grpSpPr>
        <p:sp>
          <p:nvSpPr>
            <p:cNvPr name="Freeform 31" id="31"/>
            <p:cNvSpPr/>
            <p:nvPr/>
          </p:nvSpPr>
          <p:spPr>
            <a:xfrm flipH="false" flipV="false" rot="0">
              <a:off x="0" y="0"/>
              <a:ext cx="21259451" cy="1815777"/>
            </a:xfrm>
            <a:custGeom>
              <a:avLst/>
              <a:gdLst/>
              <a:ahLst/>
              <a:cxnLst/>
              <a:rect r="r" b="b" t="t" l="l"/>
              <a:pathLst>
                <a:path h="1815777" w="21259451">
                  <a:moveTo>
                    <a:pt x="0" y="0"/>
                  </a:moveTo>
                  <a:lnTo>
                    <a:pt x="21259451" y="0"/>
                  </a:lnTo>
                  <a:lnTo>
                    <a:pt x="21259451" y="1815777"/>
                  </a:lnTo>
                  <a:lnTo>
                    <a:pt x="0" y="1815777"/>
                  </a:lnTo>
                  <a:close/>
                </a:path>
              </a:pathLst>
            </a:custGeom>
            <a:blipFill>
              <a:blip r:embed="rId3">
                <a:alphaModFix amt="0"/>
              </a:blip>
              <a:stretch>
                <a:fillRect l="0" t="-102887" r="35769" b="-90175"/>
              </a:stretch>
            </a:blipFill>
          </p:spPr>
        </p:sp>
        <p:sp>
          <p:nvSpPr>
            <p:cNvPr name="TextBox 32" id="32"/>
            <p:cNvSpPr txBox="true"/>
            <p:nvPr/>
          </p:nvSpPr>
          <p:spPr>
            <a:xfrm>
              <a:off x="0" y="-57150"/>
              <a:ext cx="21259452" cy="1872927"/>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n_estimators élevé → meilleure stabilité mais temps d’entraînement et de prédiction plus long.</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En pratique : choisir la valeur où la courbe se stabilise.</a:t>
              </a:r>
            </a:p>
            <a:p>
              <a:pPr algn="l">
                <a:lnSpc>
                  <a:spcPts val="3239"/>
                </a:lnSpc>
              </a:pPr>
            </a:p>
          </p:txBody>
        </p:sp>
      </p:grpSp>
      <p:sp>
        <p:nvSpPr>
          <p:cNvPr name="TextBox 33" id="33"/>
          <p:cNvSpPr txBox="true"/>
          <p:nvPr/>
        </p:nvSpPr>
        <p:spPr>
          <a:xfrm rot="0">
            <a:off x="17658736" y="9769362"/>
            <a:ext cx="225583" cy="263268"/>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36</a:t>
            </a:r>
          </a:p>
        </p:txBody>
      </p:sp>
      <p:grpSp>
        <p:nvGrpSpPr>
          <p:cNvPr name="Group 34" id="34"/>
          <p:cNvGrpSpPr/>
          <p:nvPr/>
        </p:nvGrpSpPr>
        <p:grpSpPr>
          <a:xfrm rot="0">
            <a:off x="-12697" y="-12697"/>
            <a:ext cx="354587" cy="1525019"/>
            <a:chOff x="0" y="0"/>
            <a:chExt cx="472783" cy="2033359"/>
          </a:xfrm>
        </p:grpSpPr>
        <p:sp>
          <p:nvSpPr>
            <p:cNvPr name="Freeform 35" id="35"/>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36" id="36"/>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
        <p:nvSpPr>
          <p:cNvPr name="Freeform 37" id="37"/>
          <p:cNvSpPr/>
          <p:nvPr/>
        </p:nvSpPr>
        <p:spPr>
          <a:xfrm flipH="false" flipV="false" rot="0">
            <a:off x="7411898" y="8166132"/>
            <a:ext cx="514224" cy="514224"/>
          </a:xfrm>
          <a:custGeom>
            <a:avLst/>
            <a:gdLst/>
            <a:ahLst/>
            <a:cxnLst/>
            <a:rect r="r" b="b" t="t" l="l"/>
            <a:pathLst>
              <a:path h="514224" w="514224">
                <a:moveTo>
                  <a:pt x="0" y="0"/>
                </a:moveTo>
                <a:lnTo>
                  <a:pt x="514225" y="0"/>
                </a:lnTo>
                <a:lnTo>
                  <a:pt x="514225" y="514224"/>
                </a:lnTo>
                <a:lnTo>
                  <a:pt x="0" y="514224"/>
                </a:lnTo>
                <a:lnTo>
                  <a:pt x="0" y="0"/>
                </a:lnTo>
                <a:close/>
              </a:path>
            </a:pathLst>
          </a:custGeom>
          <a:blipFill>
            <a:blip r:embed="rId4"/>
            <a:stretch>
              <a:fillRect l="0" t="0" r="0" b="0"/>
            </a:stretch>
          </a:blipFill>
        </p:spPr>
      </p:sp>
      <p:sp>
        <p:nvSpPr>
          <p:cNvPr name="Freeform 38" id="38"/>
          <p:cNvSpPr/>
          <p:nvPr/>
        </p:nvSpPr>
        <p:spPr>
          <a:xfrm flipH="false" flipV="false" rot="0">
            <a:off x="3205582" y="8689598"/>
            <a:ext cx="457634" cy="457634"/>
          </a:xfrm>
          <a:custGeom>
            <a:avLst/>
            <a:gdLst/>
            <a:ahLst/>
            <a:cxnLst/>
            <a:rect r="r" b="b" t="t" l="l"/>
            <a:pathLst>
              <a:path h="457634" w="457634">
                <a:moveTo>
                  <a:pt x="0" y="0"/>
                </a:moveTo>
                <a:lnTo>
                  <a:pt x="457633" y="0"/>
                </a:lnTo>
                <a:lnTo>
                  <a:pt x="457633" y="457634"/>
                </a:lnTo>
                <a:lnTo>
                  <a:pt x="0" y="457634"/>
                </a:lnTo>
                <a:lnTo>
                  <a:pt x="0" y="0"/>
                </a:lnTo>
                <a:close/>
              </a:path>
            </a:pathLst>
          </a:custGeom>
          <a:blipFill>
            <a:blip r:embed="rId5"/>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664349"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60"/>
                </a:lnSpc>
              </a:pPr>
              <a:r>
                <a:rPr lang="en-US" sz="3800" b="true">
                  <a:solidFill>
                    <a:srgbClr val="FFFFFF"/>
                  </a:solidFill>
                  <a:latin typeface="Calibri (MS) Bold"/>
                  <a:ea typeface="Calibri (MS) Bold"/>
                  <a:cs typeface="Calibri (MS) Bold"/>
                  <a:sym typeface="Calibri (MS) Bold"/>
                </a:rPr>
                <a:t>A4 — Hyperparmètre : Nombre d’arbres (n_estimators)</a:t>
              </a:r>
            </a:p>
          </p:txBody>
        </p:sp>
      </p:grpSp>
      <p:grpSp>
        <p:nvGrpSpPr>
          <p:cNvPr name="Group 8" id="8"/>
          <p:cNvGrpSpPr/>
          <p:nvPr/>
        </p:nvGrpSpPr>
        <p:grpSpPr>
          <a:xfrm rot="0">
            <a:off x="433439" y="1645920"/>
            <a:ext cx="9344960" cy="3497580"/>
            <a:chOff x="0" y="0"/>
            <a:chExt cx="12555172" cy="4699080"/>
          </a:xfrm>
        </p:grpSpPr>
        <p:sp>
          <p:nvSpPr>
            <p:cNvPr name="Freeform 9" id="9"/>
            <p:cNvSpPr/>
            <p:nvPr/>
          </p:nvSpPr>
          <p:spPr>
            <a:xfrm flipH="false" flipV="false" rot="0">
              <a:off x="19267" y="7375"/>
              <a:ext cx="12516536" cy="4684292"/>
            </a:xfrm>
            <a:custGeom>
              <a:avLst/>
              <a:gdLst/>
              <a:ahLst/>
              <a:cxnLst/>
              <a:rect r="r" b="b" t="t" l="l"/>
              <a:pathLst>
                <a:path h="4684292" w="12516536">
                  <a:moveTo>
                    <a:pt x="0" y="0"/>
                  </a:moveTo>
                  <a:lnTo>
                    <a:pt x="12516537" y="0"/>
                  </a:lnTo>
                  <a:lnTo>
                    <a:pt x="12516537" y="4684292"/>
                  </a:lnTo>
                  <a:lnTo>
                    <a:pt x="0" y="4684292"/>
                  </a:lnTo>
                  <a:close/>
                </a:path>
              </a:pathLst>
            </a:custGeom>
            <a:solidFill>
              <a:srgbClr val="FFFFFF"/>
            </a:solidFill>
          </p:spPr>
        </p:sp>
        <p:sp>
          <p:nvSpPr>
            <p:cNvPr name="Freeform 10" id="10"/>
            <p:cNvSpPr/>
            <p:nvPr/>
          </p:nvSpPr>
          <p:spPr>
            <a:xfrm flipH="false" flipV="false" rot="0">
              <a:off x="0" y="0"/>
              <a:ext cx="12555071" cy="4699041"/>
            </a:xfrm>
            <a:custGeom>
              <a:avLst/>
              <a:gdLst/>
              <a:ahLst/>
              <a:cxnLst/>
              <a:rect r="r" b="b" t="t" l="l"/>
              <a:pathLst>
                <a:path h="4699041" w="12555071">
                  <a:moveTo>
                    <a:pt x="19267" y="0"/>
                  </a:moveTo>
                  <a:lnTo>
                    <a:pt x="12535804" y="0"/>
                  </a:lnTo>
                  <a:cubicBezTo>
                    <a:pt x="12546524" y="0"/>
                    <a:pt x="12555071" y="3327"/>
                    <a:pt x="12555071" y="7375"/>
                  </a:cubicBezTo>
                  <a:lnTo>
                    <a:pt x="12555071" y="4691667"/>
                  </a:lnTo>
                  <a:cubicBezTo>
                    <a:pt x="12555071" y="4695770"/>
                    <a:pt x="12546379" y="4699041"/>
                    <a:pt x="12535804" y="4699041"/>
                  </a:cubicBezTo>
                  <a:lnTo>
                    <a:pt x="19267" y="4699041"/>
                  </a:lnTo>
                  <a:cubicBezTo>
                    <a:pt x="8547" y="4699041"/>
                    <a:pt x="0" y="4695715"/>
                    <a:pt x="0" y="4691667"/>
                  </a:cubicBezTo>
                  <a:lnTo>
                    <a:pt x="0" y="7375"/>
                  </a:lnTo>
                  <a:cubicBezTo>
                    <a:pt x="0" y="3327"/>
                    <a:pt x="8692" y="0"/>
                    <a:pt x="19267" y="0"/>
                  </a:cubicBezTo>
                  <a:moveTo>
                    <a:pt x="19267" y="14805"/>
                  </a:moveTo>
                  <a:lnTo>
                    <a:pt x="19267" y="7375"/>
                  </a:lnTo>
                  <a:lnTo>
                    <a:pt x="38680" y="7375"/>
                  </a:lnTo>
                  <a:lnTo>
                    <a:pt x="38680" y="4691667"/>
                  </a:lnTo>
                  <a:lnTo>
                    <a:pt x="19267" y="4691667"/>
                  </a:lnTo>
                  <a:lnTo>
                    <a:pt x="19267" y="4684292"/>
                  </a:lnTo>
                  <a:lnTo>
                    <a:pt x="12535804" y="4684292"/>
                  </a:lnTo>
                  <a:lnTo>
                    <a:pt x="12535804" y="4691667"/>
                  </a:lnTo>
                  <a:lnTo>
                    <a:pt x="12516536" y="4691667"/>
                  </a:lnTo>
                  <a:lnTo>
                    <a:pt x="12516536" y="7375"/>
                  </a:lnTo>
                  <a:lnTo>
                    <a:pt x="12535804" y="7375"/>
                  </a:lnTo>
                  <a:lnTo>
                    <a:pt x="12535804" y="14805"/>
                  </a:lnTo>
                  <a:lnTo>
                    <a:pt x="19267" y="14805"/>
                  </a:lnTo>
                  <a:close/>
                </a:path>
              </a:pathLst>
            </a:custGeom>
            <a:solidFill>
              <a:srgbClr val="D0E0D0"/>
            </a:solidFill>
          </p:spPr>
        </p:sp>
      </p:grpSp>
      <p:grpSp>
        <p:nvGrpSpPr>
          <p:cNvPr name="Group 11" id="11"/>
          <p:cNvGrpSpPr/>
          <p:nvPr/>
        </p:nvGrpSpPr>
        <p:grpSpPr>
          <a:xfrm rot="0">
            <a:off x="519158" y="1954458"/>
            <a:ext cx="9173522" cy="907465"/>
            <a:chOff x="0" y="0"/>
            <a:chExt cx="12324841" cy="1219200"/>
          </a:xfrm>
        </p:grpSpPr>
        <p:sp>
          <p:nvSpPr>
            <p:cNvPr name="Freeform 12" id="12"/>
            <p:cNvSpPr/>
            <p:nvPr/>
          </p:nvSpPr>
          <p:spPr>
            <a:xfrm flipH="false" flipV="false" rot="0">
              <a:off x="0" y="0"/>
              <a:ext cx="12324842" cy="1219200"/>
            </a:xfrm>
            <a:custGeom>
              <a:avLst/>
              <a:gdLst/>
              <a:ahLst/>
              <a:cxnLst/>
              <a:rect r="r" b="b" t="t" l="l"/>
              <a:pathLst>
                <a:path h="1219200" w="12324842">
                  <a:moveTo>
                    <a:pt x="0" y="0"/>
                  </a:moveTo>
                  <a:lnTo>
                    <a:pt x="12324842" y="0"/>
                  </a:lnTo>
                  <a:lnTo>
                    <a:pt x="12324842" y="1219200"/>
                  </a:lnTo>
                  <a:lnTo>
                    <a:pt x="0" y="1219200"/>
                  </a:lnTo>
                  <a:close/>
                </a:path>
              </a:pathLst>
            </a:custGeom>
            <a:blipFill>
              <a:blip r:embed="rId3">
                <a:alphaModFix amt="0"/>
              </a:blip>
              <a:stretch>
                <a:fillRect l="0" t="-113674" r="16905" b="-113674"/>
              </a:stretch>
            </a:blipFill>
          </p:spPr>
        </p:sp>
        <p:sp>
          <p:nvSpPr>
            <p:cNvPr name="TextBox 13" id="13"/>
            <p:cNvSpPr txBox="true"/>
            <p:nvPr/>
          </p:nvSpPr>
          <p:spPr>
            <a:xfrm>
              <a:off x="0" y="-57150"/>
              <a:ext cx="12324841" cy="1276350"/>
            </a:xfrm>
            <a:prstGeom prst="rect">
              <a:avLst/>
            </a:prstGeom>
          </p:spPr>
          <p:txBody>
            <a:bodyPr anchor="ctr" rtlCol="false" tIns="0" lIns="0" bIns="0" rIns="0"/>
            <a:lstStyle/>
            <a:p>
              <a:pPr algn="l">
                <a:lnSpc>
                  <a:spcPts val="3239"/>
                </a:lnSpc>
              </a:pPr>
              <a:r>
                <a:rPr lang="en-US" sz="2699" b="true">
                  <a:solidFill>
                    <a:srgbClr val="1A2E1A"/>
                  </a:solidFill>
                  <a:latin typeface="Calibri (MS) Bold"/>
                  <a:ea typeface="Calibri (MS) Bold"/>
                  <a:cs typeface="Calibri (MS) Bold"/>
                  <a:sym typeface="Calibri (MS) Bold"/>
                </a:rPr>
                <a:t>📈  n_estimators [10→500] — Analyse de l’erreur OOB</a:t>
              </a:r>
            </a:p>
          </p:txBody>
        </p:sp>
      </p:grpSp>
      <p:grpSp>
        <p:nvGrpSpPr>
          <p:cNvPr name="Group 14" id="14"/>
          <p:cNvGrpSpPr/>
          <p:nvPr/>
        </p:nvGrpSpPr>
        <p:grpSpPr>
          <a:xfrm rot="0">
            <a:off x="-12697" y="-12697"/>
            <a:ext cx="354587" cy="1525019"/>
            <a:chOff x="0" y="0"/>
            <a:chExt cx="472783" cy="2033359"/>
          </a:xfrm>
        </p:grpSpPr>
        <p:sp>
          <p:nvSpPr>
            <p:cNvPr name="Freeform 15" id="15"/>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16" id="16"/>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
        <p:nvSpPr>
          <p:cNvPr name="Freeform 17" id="17"/>
          <p:cNvSpPr/>
          <p:nvPr/>
        </p:nvSpPr>
        <p:spPr>
          <a:xfrm flipH="false" flipV="false" rot="0">
            <a:off x="9930547" y="2511767"/>
            <a:ext cx="7855511" cy="6205309"/>
          </a:xfrm>
          <a:custGeom>
            <a:avLst/>
            <a:gdLst/>
            <a:ahLst/>
            <a:cxnLst/>
            <a:rect r="r" b="b" t="t" l="l"/>
            <a:pathLst>
              <a:path h="6205309" w="7855511">
                <a:moveTo>
                  <a:pt x="0" y="0"/>
                </a:moveTo>
                <a:lnTo>
                  <a:pt x="7855511" y="0"/>
                </a:lnTo>
                <a:lnTo>
                  <a:pt x="7855511" y="6205308"/>
                </a:lnTo>
                <a:lnTo>
                  <a:pt x="0" y="6205308"/>
                </a:lnTo>
                <a:lnTo>
                  <a:pt x="0" y="0"/>
                </a:lnTo>
                <a:close/>
              </a:path>
            </a:pathLst>
          </a:custGeom>
          <a:blipFill>
            <a:blip r:embed="rId4"/>
            <a:stretch>
              <a:fillRect l="0" t="0" r="0" b="0"/>
            </a:stretch>
          </a:blipFill>
        </p:spPr>
      </p:sp>
      <p:sp>
        <p:nvSpPr>
          <p:cNvPr name="TextBox 18" id="18"/>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37</a:t>
            </a:r>
          </a:p>
        </p:txBody>
      </p:sp>
      <p:sp>
        <p:nvSpPr>
          <p:cNvPr name="TextBox 19" id="19"/>
          <p:cNvSpPr txBox="true"/>
          <p:nvPr/>
        </p:nvSpPr>
        <p:spPr>
          <a:xfrm rot="0">
            <a:off x="840835" y="2814298"/>
            <a:ext cx="8530168" cy="2105025"/>
          </a:xfrm>
          <a:prstGeom prst="rect">
            <a:avLst/>
          </a:prstGeom>
        </p:spPr>
        <p:txBody>
          <a:bodyPr anchor="t" rtlCol="false" tIns="0" lIns="0" bIns="0" rIns="0">
            <a:spAutoFit/>
          </a:bodyPr>
          <a:lstStyle/>
          <a:p>
            <a:pPr algn="l" marL="492148" indent="-246074" lvl="1">
              <a:lnSpc>
                <a:spcPts val="2735"/>
              </a:lnSpc>
              <a:buFont typeface="Arial"/>
              <a:buChar char="•"/>
            </a:pPr>
            <a:r>
              <a:rPr lang="en-US" sz="2279">
                <a:solidFill>
                  <a:srgbClr val="000000"/>
                </a:solidFill>
                <a:latin typeface="Calibri (MS)"/>
                <a:ea typeface="Calibri (MS)"/>
                <a:cs typeface="Calibri (MS)"/>
                <a:sym typeface="Calibri (MS)"/>
              </a:rPr>
              <a:t>L’erreur OOB diminue fortement entre 10 et ~100 arbres</a:t>
            </a:r>
          </a:p>
          <a:p>
            <a:pPr algn="l" marL="492148" indent="-246074" lvl="1">
              <a:lnSpc>
                <a:spcPts val="2735"/>
              </a:lnSpc>
              <a:buFont typeface="Arial"/>
              <a:buChar char="•"/>
            </a:pPr>
            <a:r>
              <a:rPr lang="en-US" sz="2279">
                <a:solidFill>
                  <a:srgbClr val="000000"/>
                </a:solidFill>
                <a:latin typeface="Calibri (MS)"/>
                <a:ea typeface="Calibri (MS)"/>
                <a:cs typeface="Calibri (MS)"/>
                <a:sym typeface="Calibri (MS)"/>
              </a:rPr>
              <a:t>Cela indique une amélioration rapide de la généralisation du modèle</a:t>
            </a:r>
          </a:p>
          <a:p>
            <a:pPr algn="l" marL="492148" indent="-246074" lvl="1">
              <a:lnSpc>
                <a:spcPts val="2735"/>
              </a:lnSpc>
              <a:buFont typeface="Arial"/>
              <a:buChar char="•"/>
            </a:pPr>
            <a:r>
              <a:rPr lang="en-US" sz="2279">
                <a:solidFill>
                  <a:srgbClr val="000000"/>
                </a:solidFill>
                <a:latin typeface="Calibri (MS)"/>
                <a:ea typeface="Calibri (MS)"/>
                <a:cs typeface="Calibri (MS)"/>
                <a:sym typeface="Calibri (MS)"/>
              </a:rPr>
              <a:t>À partir de ~100 arbres, l’erreur atteint un minimum (~0.225)</a:t>
            </a:r>
          </a:p>
          <a:p>
            <a:pPr algn="l" marL="492148" indent="-246074" lvl="1">
              <a:lnSpc>
                <a:spcPts val="2735"/>
              </a:lnSpc>
              <a:buFont typeface="Arial"/>
              <a:buChar char="•"/>
            </a:pPr>
            <a:r>
              <a:rPr lang="en-US" sz="2279">
                <a:solidFill>
                  <a:srgbClr val="000000"/>
                </a:solidFill>
                <a:latin typeface="Calibri (MS)"/>
                <a:ea typeface="Calibri (MS)"/>
                <a:cs typeface="Calibri (MS)"/>
                <a:sym typeface="Calibri (MS)"/>
              </a:rPr>
              <a:t>Ensuite, la courbe devient stable avec de légères fluctuations (0.23–0.24)</a:t>
            </a:r>
          </a:p>
          <a:p>
            <a:pPr algn="l">
              <a:lnSpc>
                <a:spcPts val="2735"/>
              </a:lnSpc>
            </a:pPr>
            <a:r>
              <a:rPr lang="en-US" sz="2279">
                <a:solidFill>
                  <a:srgbClr val="000000"/>
                </a:solidFill>
                <a:latin typeface="Calibri (MS)"/>
                <a:ea typeface="Calibri (MS)"/>
                <a:cs typeface="Calibri (MS)"/>
                <a:sym typeface="Calibri (MS)"/>
              </a:rPr>
              <a:t>→ Ajout d’arbres supplémentaires n’apporte plus de gain significatif</a:t>
            </a:r>
          </a:p>
        </p:txBody>
      </p:sp>
      <p:grpSp>
        <p:nvGrpSpPr>
          <p:cNvPr name="Group 20" id="20"/>
          <p:cNvGrpSpPr/>
          <p:nvPr/>
        </p:nvGrpSpPr>
        <p:grpSpPr>
          <a:xfrm rot="0">
            <a:off x="840835" y="7778355"/>
            <a:ext cx="8231009" cy="1877439"/>
            <a:chOff x="0" y="0"/>
            <a:chExt cx="9505918" cy="2168238"/>
          </a:xfrm>
        </p:grpSpPr>
        <p:sp>
          <p:nvSpPr>
            <p:cNvPr name="Freeform 21" id="21"/>
            <p:cNvSpPr/>
            <p:nvPr/>
          </p:nvSpPr>
          <p:spPr>
            <a:xfrm flipH="false" flipV="false" rot="0">
              <a:off x="14428" y="18011"/>
              <a:ext cx="9476986" cy="2132120"/>
            </a:xfrm>
            <a:custGeom>
              <a:avLst/>
              <a:gdLst/>
              <a:ahLst/>
              <a:cxnLst/>
              <a:rect r="r" b="b" t="t" l="l"/>
              <a:pathLst>
                <a:path h="2132120" w="9476986">
                  <a:moveTo>
                    <a:pt x="0" y="0"/>
                  </a:moveTo>
                  <a:lnTo>
                    <a:pt x="9476986" y="0"/>
                  </a:lnTo>
                  <a:lnTo>
                    <a:pt x="9476986" y="2132121"/>
                  </a:lnTo>
                  <a:lnTo>
                    <a:pt x="0" y="2132121"/>
                  </a:lnTo>
                  <a:close/>
                </a:path>
              </a:pathLst>
            </a:custGeom>
            <a:solidFill>
              <a:srgbClr val="1A2E1A"/>
            </a:solidFill>
          </p:spPr>
        </p:sp>
        <p:sp>
          <p:nvSpPr>
            <p:cNvPr name="Freeform 22" id="22"/>
            <p:cNvSpPr/>
            <p:nvPr/>
          </p:nvSpPr>
          <p:spPr>
            <a:xfrm flipH="false" flipV="false" rot="0">
              <a:off x="0" y="0"/>
              <a:ext cx="9505841" cy="2168143"/>
            </a:xfrm>
            <a:custGeom>
              <a:avLst/>
              <a:gdLst/>
              <a:ahLst/>
              <a:cxnLst/>
              <a:rect r="r" b="b" t="t" l="l"/>
              <a:pathLst>
                <a:path h="2168143" w="9505841">
                  <a:moveTo>
                    <a:pt x="14428" y="0"/>
                  </a:moveTo>
                  <a:lnTo>
                    <a:pt x="9491414" y="0"/>
                  </a:lnTo>
                  <a:cubicBezTo>
                    <a:pt x="9499441" y="0"/>
                    <a:pt x="9505841" y="8125"/>
                    <a:pt x="9505841" y="18011"/>
                  </a:cubicBezTo>
                  <a:lnTo>
                    <a:pt x="9505841" y="2150132"/>
                  </a:lnTo>
                  <a:cubicBezTo>
                    <a:pt x="9505841" y="2160153"/>
                    <a:pt x="9499333" y="2168143"/>
                    <a:pt x="9491414" y="2168143"/>
                  </a:cubicBezTo>
                  <a:lnTo>
                    <a:pt x="14428" y="2168143"/>
                  </a:lnTo>
                  <a:cubicBezTo>
                    <a:pt x="6400" y="2168143"/>
                    <a:pt x="0" y="2160018"/>
                    <a:pt x="0" y="2150132"/>
                  </a:cubicBezTo>
                  <a:lnTo>
                    <a:pt x="0" y="18011"/>
                  </a:lnTo>
                  <a:cubicBezTo>
                    <a:pt x="0" y="8125"/>
                    <a:pt x="6509" y="0"/>
                    <a:pt x="14428" y="0"/>
                  </a:cubicBezTo>
                  <a:moveTo>
                    <a:pt x="14428" y="36158"/>
                  </a:moveTo>
                  <a:lnTo>
                    <a:pt x="14428" y="18011"/>
                  </a:lnTo>
                  <a:lnTo>
                    <a:pt x="28965" y="18011"/>
                  </a:lnTo>
                  <a:lnTo>
                    <a:pt x="28965" y="2150132"/>
                  </a:lnTo>
                  <a:lnTo>
                    <a:pt x="14428" y="2150132"/>
                  </a:lnTo>
                  <a:lnTo>
                    <a:pt x="14428" y="2132120"/>
                  </a:lnTo>
                  <a:lnTo>
                    <a:pt x="9491414" y="2132120"/>
                  </a:lnTo>
                  <a:lnTo>
                    <a:pt x="9491414" y="2150132"/>
                  </a:lnTo>
                  <a:lnTo>
                    <a:pt x="9476985" y="2150132"/>
                  </a:lnTo>
                  <a:lnTo>
                    <a:pt x="9476985" y="18011"/>
                  </a:lnTo>
                  <a:lnTo>
                    <a:pt x="9491414" y="18011"/>
                  </a:lnTo>
                  <a:lnTo>
                    <a:pt x="9491414" y="36158"/>
                  </a:lnTo>
                  <a:lnTo>
                    <a:pt x="14428" y="36158"/>
                  </a:lnTo>
                  <a:close/>
                </a:path>
              </a:pathLst>
            </a:custGeom>
            <a:solidFill>
              <a:srgbClr val="8E44AD"/>
            </a:solidFill>
          </p:spPr>
        </p:sp>
      </p:grpSp>
      <p:grpSp>
        <p:nvGrpSpPr>
          <p:cNvPr name="Group 23" id="23"/>
          <p:cNvGrpSpPr/>
          <p:nvPr/>
        </p:nvGrpSpPr>
        <p:grpSpPr>
          <a:xfrm rot="0">
            <a:off x="1288565" y="7917998"/>
            <a:ext cx="6827597" cy="1737797"/>
            <a:chOff x="0" y="0"/>
            <a:chExt cx="8854535" cy="2253704"/>
          </a:xfrm>
        </p:grpSpPr>
        <p:sp>
          <p:nvSpPr>
            <p:cNvPr name="Freeform 24" id="24"/>
            <p:cNvSpPr/>
            <p:nvPr/>
          </p:nvSpPr>
          <p:spPr>
            <a:xfrm flipH="false" flipV="false" rot="0">
              <a:off x="0" y="0"/>
              <a:ext cx="8854535" cy="2253704"/>
            </a:xfrm>
            <a:custGeom>
              <a:avLst/>
              <a:gdLst/>
              <a:ahLst/>
              <a:cxnLst/>
              <a:rect r="r" b="b" t="t" l="l"/>
              <a:pathLst>
                <a:path h="2253704" w="8854535">
                  <a:moveTo>
                    <a:pt x="0" y="0"/>
                  </a:moveTo>
                  <a:lnTo>
                    <a:pt x="8854535" y="0"/>
                  </a:lnTo>
                  <a:lnTo>
                    <a:pt x="8854535" y="2253704"/>
                  </a:lnTo>
                  <a:lnTo>
                    <a:pt x="0" y="2253704"/>
                  </a:lnTo>
                  <a:close/>
                </a:path>
              </a:pathLst>
            </a:custGeom>
            <a:blipFill>
              <a:blip r:embed="rId3">
                <a:alphaModFix amt="0"/>
              </a:blip>
              <a:stretch>
                <a:fillRect l="0" t="-51729" r="-17038" b="-27466"/>
              </a:stretch>
            </a:blipFill>
          </p:spPr>
        </p:sp>
        <p:sp>
          <p:nvSpPr>
            <p:cNvPr name="TextBox 25" id="25"/>
            <p:cNvSpPr txBox="true"/>
            <p:nvPr/>
          </p:nvSpPr>
          <p:spPr>
            <a:xfrm>
              <a:off x="0" y="-57150"/>
              <a:ext cx="8854535" cy="2310854"/>
            </a:xfrm>
            <a:prstGeom prst="rect">
              <a:avLst/>
            </a:prstGeom>
          </p:spPr>
          <p:txBody>
            <a:bodyPr anchor="ctr" rtlCol="false" tIns="0" lIns="0" bIns="0" rIns="0"/>
            <a:lstStyle/>
            <a:p>
              <a:pPr algn="ctr">
                <a:lnSpc>
                  <a:spcPts val="3119"/>
                </a:lnSpc>
              </a:pPr>
              <a:r>
                <a:rPr lang="en-US" sz="2599" b="true">
                  <a:solidFill>
                    <a:srgbClr val="D4A843"/>
                  </a:solidFill>
                  <a:latin typeface="Calibri (MS) Bold"/>
                  <a:ea typeface="Calibri (MS) Bold"/>
                  <a:cs typeface="Calibri (MS) Bold"/>
                  <a:sym typeface="Calibri (MS) Bold"/>
                </a:rPr>
                <a:t>Conclusion : </a:t>
              </a:r>
            </a:p>
            <a:p>
              <a:pPr algn="ctr">
                <a:lnSpc>
                  <a:spcPts val="3119"/>
                </a:lnSpc>
              </a:pPr>
              <a:r>
                <a:rPr lang="en-US" sz="2599" b="true">
                  <a:solidFill>
                    <a:srgbClr val="FFFFFF"/>
                  </a:solidFill>
                  <a:latin typeface="Calibri (MS) Bold"/>
                  <a:ea typeface="Calibri (MS) Bold"/>
                  <a:cs typeface="Calibri (MS) Bold"/>
                  <a:sym typeface="Calibri (MS) Bold"/>
                </a:rPr>
                <a:t>100 arbres = meilleur compromis performance / complexité</a:t>
              </a:r>
            </a:p>
            <a:p>
              <a:pPr algn="ctr">
                <a:lnSpc>
                  <a:spcPts val="3119"/>
                </a:lnSpc>
              </a:pPr>
            </a:p>
          </p:txBody>
        </p:sp>
      </p:grpSp>
      <p:grpSp>
        <p:nvGrpSpPr>
          <p:cNvPr name="Group 26" id="26"/>
          <p:cNvGrpSpPr/>
          <p:nvPr/>
        </p:nvGrpSpPr>
        <p:grpSpPr>
          <a:xfrm rot="0">
            <a:off x="433439" y="5448300"/>
            <a:ext cx="8937564" cy="1919218"/>
            <a:chOff x="0" y="0"/>
            <a:chExt cx="11916752" cy="2558957"/>
          </a:xfrm>
        </p:grpSpPr>
        <p:sp>
          <p:nvSpPr>
            <p:cNvPr name="Freeform 27" id="27"/>
            <p:cNvSpPr/>
            <p:nvPr/>
          </p:nvSpPr>
          <p:spPr>
            <a:xfrm flipH="false" flipV="false" rot="0">
              <a:off x="14704" y="31435"/>
              <a:ext cx="11887265" cy="2495921"/>
            </a:xfrm>
            <a:custGeom>
              <a:avLst/>
              <a:gdLst/>
              <a:ahLst/>
              <a:cxnLst/>
              <a:rect r="r" b="b" t="t" l="l"/>
              <a:pathLst>
                <a:path h="2495921" w="11887265">
                  <a:moveTo>
                    <a:pt x="0" y="0"/>
                  </a:moveTo>
                  <a:lnTo>
                    <a:pt x="11887266" y="0"/>
                  </a:lnTo>
                  <a:lnTo>
                    <a:pt x="11887266" y="2495921"/>
                  </a:lnTo>
                  <a:lnTo>
                    <a:pt x="0" y="2495921"/>
                  </a:lnTo>
                  <a:close/>
                </a:path>
              </a:pathLst>
            </a:custGeom>
            <a:solidFill>
              <a:srgbClr val="E8F5E8"/>
            </a:solidFill>
          </p:spPr>
        </p:sp>
        <p:sp>
          <p:nvSpPr>
            <p:cNvPr name="Freeform 28" id="28"/>
            <p:cNvSpPr/>
            <p:nvPr/>
          </p:nvSpPr>
          <p:spPr>
            <a:xfrm flipH="false" flipV="false" rot="0">
              <a:off x="0" y="0"/>
              <a:ext cx="11916675" cy="2558791"/>
            </a:xfrm>
            <a:custGeom>
              <a:avLst/>
              <a:gdLst/>
              <a:ahLst/>
              <a:cxnLst/>
              <a:rect r="r" b="b" t="t" l="l"/>
              <a:pathLst>
                <a:path h="2558791" w="11916675">
                  <a:moveTo>
                    <a:pt x="14704" y="0"/>
                  </a:moveTo>
                  <a:lnTo>
                    <a:pt x="11901970" y="0"/>
                  </a:lnTo>
                  <a:cubicBezTo>
                    <a:pt x="11910152" y="0"/>
                    <a:pt x="11916675" y="14181"/>
                    <a:pt x="11916675" y="31435"/>
                  </a:cubicBezTo>
                  <a:lnTo>
                    <a:pt x="11916675" y="2527356"/>
                  </a:lnTo>
                  <a:cubicBezTo>
                    <a:pt x="11916675" y="2544846"/>
                    <a:pt x="11910042" y="2558791"/>
                    <a:pt x="11901970" y="2558791"/>
                  </a:cubicBezTo>
                  <a:lnTo>
                    <a:pt x="14704" y="2558791"/>
                  </a:lnTo>
                  <a:cubicBezTo>
                    <a:pt x="6523" y="2558791"/>
                    <a:pt x="0" y="2544610"/>
                    <a:pt x="0" y="2527356"/>
                  </a:cubicBezTo>
                  <a:lnTo>
                    <a:pt x="0" y="31435"/>
                  </a:lnTo>
                  <a:cubicBezTo>
                    <a:pt x="0" y="14181"/>
                    <a:pt x="6634" y="0"/>
                    <a:pt x="14704" y="0"/>
                  </a:cubicBezTo>
                  <a:moveTo>
                    <a:pt x="14704" y="63107"/>
                  </a:moveTo>
                  <a:lnTo>
                    <a:pt x="14704" y="31435"/>
                  </a:lnTo>
                  <a:lnTo>
                    <a:pt x="29519" y="31435"/>
                  </a:lnTo>
                  <a:lnTo>
                    <a:pt x="29519" y="2527356"/>
                  </a:lnTo>
                  <a:lnTo>
                    <a:pt x="14704" y="2527356"/>
                  </a:lnTo>
                  <a:lnTo>
                    <a:pt x="14704" y="2495921"/>
                  </a:lnTo>
                  <a:lnTo>
                    <a:pt x="11901970" y="2495921"/>
                  </a:lnTo>
                  <a:lnTo>
                    <a:pt x="11901970" y="2527356"/>
                  </a:lnTo>
                  <a:lnTo>
                    <a:pt x="11887266" y="2527356"/>
                  </a:lnTo>
                  <a:lnTo>
                    <a:pt x="11887266" y="31435"/>
                  </a:lnTo>
                  <a:lnTo>
                    <a:pt x="11901970" y="31435"/>
                  </a:lnTo>
                  <a:lnTo>
                    <a:pt x="11901970" y="63107"/>
                  </a:lnTo>
                  <a:lnTo>
                    <a:pt x="14704" y="63107"/>
                  </a:lnTo>
                  <a:close/>
                </a:path>
              </a:pathLst>
            </a:custGeom>
            <a:solidFill>
              <a:srgbClr val="5B9E3D"/>
            </a:solidFill>
          </p:spPr>
        </p:sp>
      </p:grpSp>
      <p:sp>
        <p:nvSpPr>
          <p:cNvPr name="TextBox 29" id="29"/>
          <p:cNvSpPr txBox="true"/>
          <p:nvPr/>
        </p:nvSpPr>
        <p:spPr>
          <a:xfrm rot="0">
            <a:off x="647010" y="5557271"/>
            <a:ext cx="8917818" cy="1695450"/>
          </a:xfrm>
          <a:prstGeom prst="rect">
            <a:avLst/>
          </a:prstGeom>
        </p:spPr>
        <p:txBody>
          <a:bodyPr anchor="t" rtlCol="false" tIns="0" lIns="0" bIns="0" rIns="0">
            <a:spAutoFit/>
          </a:bodyPr>
          <a:lstStyle/>
          <a:p>
            <a:pPr algn="l">
              <a:lnSpc>
                <a:spcPts val="2717"/>
              </a:lnSpc>
            </a:pPr>
            <a:r>
              <a:rPr lang="en-US" b="true" sz="2264">
                <a:solidFill>
                  <a:srgbClr val="0D3320"/>
                </a:solidFill>
                <a:latin typeface="Calibri (MS) Bold"/>
                <a:ea typeface="Calibri (MS) Bold"/>
                <a:cs typeface="Calibri (MS) Bold"/>
                <a:sym typeface="Calibri (MS) Bold"/>
              </a:rPr>
              <a:t>Pourquoi la courbe ne converge pas parfaitement ?</a:t>
            </a:r>
          </a:p>
          <a:p>
            <a:pPr algn="l" marL="934592" indent="-311531" lvl="2">
              <a:lnSpc>
                <a:spcPts val="2597"/>
              </a:lnSpc>
              <a:buFont typeface="Arial"/>
              <a:buChar char="⚬"/>
            </a:pPr>
            <a:r>
              <a:rPr lang="en-US" b="true" sz="2164">
                <a:solidFill>
                  <a:srgbClr val="000000"/>
                </a:solidFill>
                <a:latin typeface="Calibri (MS) Bold"/>
                <a:ea typeface="Calibri (MS) Bold"/>
                <a:cs typeface="Calibri (MS) Bold"/>
                <a:sym typeface="Calibri (MS) Bold"/>
              </a:rPr>
              <a:t>Taille limitée du dataset</a:t>
            </a:r>
          </a:p>
          <a:p>
            <a:pPr algn="l" marL="934592" indent="-311531" lvl="2">
              <a:lnSpc>
                <a:spcPts val="2597"/>
              </a:lnSpc>
              <a:buFont typeface="Arial"/>
              <a:buChar char="⚬"/>
            </a:pPr>
            <a:r>
              <a:rPr lang="en-US" b="true" sz="2164">
                <a:solidFill>
                  <a:srgbClr val="000000"/>
                </a:solidFill>
                <a:latin typeface="Calibri (MS) Bold"/>
                <a:ea typeface="Calibri (MS) Bold"/>
                <a:cs typeface="Calibri (MS) Bold"/>
                <a:sym typeface="Calibri (MS) Bold"/>
              </a:rPr>
              <a:t>Présence de bruit dans les données</a:t>
            </a:r>
          </a:p>
          <a:p>
            <a:pPr algn="l" marL="934592" indent="-311531" lvl="2">
              <a:lnSpc>
                <a:spcPts val="2597"/>
              </a:lnSpc>
              <a:buFont typeface="Arial"/>
              <a:buChar char="⚬"/>
            </a:pPr>
            <a:r>
              <a:rPr lang="en-US" b="true" sz="2164">
                <a:solidFill>
                  <a:srgbClr val="000000"/>
                </a:solidFill>
                <a:latin typeface="Calibri (MS) Bold"/>
                <a:ea typeface="Calibri (MS) Bold"/>
                <a:cs typeface="Calibri (MS) Bold"/>
                <a:sym typeface="Calibri (MS) Bold"/>
              </a:rPr>
              <a:t>Variabilité naturelle du bootstrap dans Random Forest</a:t>
            </a:r>
          </a:p>
          <a:p>
            <a:pPr algn="l">
              <a:lnSpc>
                <a:spcPts val="2597"/>
              </a:lnSpc>
            </a:pPr>
            <a:r>
              <a:rPr lang="en-US" b="true" sz="2164">
                <a:solidFill>
                  <a:srgbClr val="000000"/>
                </a:solidFill>
                <a:latin typeface="Calibri (MS) Bold"/>
                <a:ea typeface="Calibri (MS) Bold"/>
                <a:cs typeface="Calibri (MS) Bold"/>
                <a:sym typeface="Calibri (MS) Bold"/>
              </a:rPr>
              <a:t>→ Résultat : courbe légèrement oscillante au lieu d’une convergence lisse</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722661"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A4 — Hyperparmètre : Profondeur de l’arbre (max_depth)</a:t>
              </a:r>
            </a:p>
          </p:txBody>
        </p:sp>
      </p:grpSp>
      <p:grpSp>
        <p:nvGrpSpPr>
          <p:cNvPr name="Group 8" id="8"/>
          <p:cNvGrpSpPr/>
          <p:nvPr/>
        </p:nvGrpSpPr>
        <p:grpSpPr>
          <a:xfrm rot="0">
            <a:off x="788675" y="1979694"/>
            <a:ext cx="16710660" cy="7524509"/>
            <a:chOff x="0" y="0"/>
            <a:chExt cx="22280880" cy="10032678"/>
          </a:xfrm>
        </p:grpSpPr>
        <p:sp>
          <p:nvSpPr>
            <p:cNvPr name="Freeform 9" id="9"/>
            <p:cNvSpPr/>
            <p:nvPr/>
          </p:nvSpPr>
          <p:spPr>
            <a:xfrm flipH="false" flipV="false" rot="0">
              <a:off x="25879" y="16110"/>
              <a:ext cx="22228986" cy="10000373"/>
            </a:xfrm>
            <a:custGeom>
              <a:avLst/>
              <a:gdLst/>
              <a:ahLst/>
              <a:cxnLst/>
              <a:rect r="r" b="b" t="t" l="l"/>
              <a:pathLst>
                <a:path h="10000373" w="22228986">
                  <a:moveTo>
                    <a:pt x="0" y="0"/>
                  </a:moveTo>
                  <a:lnTo>
                    <a:pt x="22228986" y="0"/>
                  </a:lnTo>
                  <a:lnTo>
                    <a:pt x="22228986" y="10000373"/>
                  </a:lnTo>
                  <a:lnTo>
                    <a:pt x="0" y="10000373"/>
                  </a:lnTo>
                  <a:close/>
                </a:path>
              </a:pathLst>
            </a:custGeom>
            <a:solidFill>
              <a:srgbClr val="FFFFFF"/>
            </a:solidFill>
          </p:spPr>
        </p:sp>
        <p:sp>
          <p:nvSpPr>
            <p:cNvPr name="Freeform 10" id="10"/>
            <p:cNvSpPr/>
            <p:nvPr/>
          </p:nvSpPr>
          <p:spPr>
            <a:xfrm flipH="false" flipV="false" rot="0">
              <a:off x="0" y="0"/>
              <a:ext cx="22280745" cy="10032593"/>
            </a:xfrm>
            <a:custGeom>
              <a:avLst/>
              <a:gdLst/>
              <a:ahLst/>
              <a:cxnLst/>
              <a:rect r="r" b="b" t="t" l="l"/>
              <a:pathLst>
                <a:path h="10032593" w="22280745">
                  <a:moveTo>
                    <a:pt x="25879" y="0"/>
                  </a:moveTo>
                  <a:lnTo>
                    <a:pt x="22254865" y="0"/>
                  </a:lnTo>
                  <a:cubicBezTo>
                    <a:pt x="22269262" y="0"/>
                    <a:pt x="22280745" y="7268"/>
                    <a:pt x="22280745" y="16110"/>
                  </a:cubicBezTo>
                  <a:lnTo>
                    <a:pt x="22280745" y="10016483"/>
                  </a:lnTo>
                  <a:cubicBezTo>
                    <a:pt x="22280745" y="10025447"/>
                    <a:pt x="22269070" y="10032593"/>
                    <a:pt x="22254865" y="10032593"/>
                  </a:cubicBezTo>
                  <a:lnTo>
                    <a:pt x="25879" y="10032593"/>
                  </a:lnTo>
                  <a:cubicBezTo>
                    <a:pt x="11480" y="10032593"/>
                    <a:pt x="0" y="10025325"/>
                    <a:pt x="0" y="10016483"/>
                  </a:cubicBezTo>
                  <a:lnTo>
                    <a:pt x="0" y="16110"/>
                  </a:lnTo>
                  <a:cubicBezTo>
                    <a:pt x="0" y="7268"/>
                    <a:pt x="11675" y="0"/>
                    <a:pt x="25879" y="0"/>
                  </a:cubicBezTo>
                  <a:moveTo>
                    <a:pt x="25879" y="32341"/>
                  </a:moveTo>
                  <a:lnTo>
                    <a:pt x="25879" y="16110"/>
                  </a:lnTo>
                  <a:lnTo>
                    <a:pt x="51953" y="16110"/>
                  </a:lnTo>
                  <a:lnTo>
                    <a:pt x="51953" y="10016483"/>
                  </a:lnTo>
                  <a:lnTo>
                    <a:pt x="25879" y="10016483"/>
                  </a:lnTo>
                  <a:lnTo>
                    <a:pt x="25879" y="10000373"/>
                  </a:lnTo>
                  <a:lnTo>
                    <a:pt x="22254865" y="10000373"/>
                  </a:lnTo>
                  <a:lnTo>
                    <a:pt x="22254865" y="10016483"/>
                  </a:lnTo>
                  <a:lnTo>
                    <a:pt x="22228986" y="10016483"/>
                  </a:lnTo>
                  <a:lnTo>
                    <a:pt x="22228986" y="16110"/>
                  </a:lnTo>
                  <a:lnTo>
                    <a:pt x="22254865" y="16110"/>
                  </a:lnTo>
                  <a:lnTo>
                    <a:pt x="22254865" y="32341"/>
                  </a:lnTo>
                  <a:lnTo>
                    <a:pt x="25879" y="32341"/>
                  </a:lnTo>
                  <a:close/>
                </a:path>
              </a:pathLst>
            </a:custGeom>
            <a:solidFill>
              <a:srgbClr val="D0E0D0"/>
            </a:solidFill>
          </p:spPr>
        </p:sp>
      </p:grpSp>
      <p:grpSp>
        <p:nvGrpSpPr>
          <p:cNvPr name="Group 11" id="11"/>
          <p:cNvGrpSpPr/>
          <p:nvPr/>
        </p:nvGrpSpPr>
        <p:grpSpPr>
          <a:xfrm rot="0">
            <a:off x="1218245" y="2176294"/>
            <a:ext cx="7905985" cy="1158420"/>
            <a:chOff x="0" y="0"/>
            <a:chExt cx="13823111" cy="2025424"/>
          </a:xfrm>
        </p:grpSpPr>
        <p:sp>
          <p:nvSpPr>
            <p:cNvPr name="Freeform 12" id="12"/>
            <p:cNvSpPr/>
            <p:nvPr/>
          </p:nvSpPr>
          <p:spPr>
            <a:xfrm flipH="false" flipV="false" rot="0">
              <a:off x="0" y="0"/>
              <a:ext cx="13823110" cy="2025424"/>
            </a:xfrm>
            <a:custGeom>
              <a:avLst/>
              <a:gdLst/>
              <a:ahLst/>
              <a:cxnLst/>
              <a:rect r="r" b="b" t="t" l="l"/>
              <a:pathLst>
                <a:path h="2025424" w="13823110">
                  <a:moveTo>
                    <a:pt x="0" y="0"/>
                  </a:moveTo>
                  <a:lnTo>
                    <a:pt x="13823110" y="0"/>
                  </a:lnTo>
                  <a:lnTo>
                    <a:pt x="13823110" y="2025424"/>
                  </a:lnTo>
                  <a:lnTo>
                    <a:pt x="0" y="2025424"/>
                  </a:lnTo>
                  <a:close/>
                </a:path>
              </a:pathLst>
            </a:custGeom>
            <a:blipFill>
              <a:blip r:embed="rId3">
                <a:alphaModFix amt="0"/>
              </a:blip>
              <a:stretch>
                <a:fillRect l="0" t="-101267" r="1215" b="-61461"/>
              </a:stretch>
            </a:blipFill>
            <a:ln cap="sq">
              <a:noFill/>
              <a:prstDash val="solid"/>
              <a:miter/>
            </a:ln>
          </p:spPr>
        </p:sp>
        <p:sp>
          <p:nvSpPr>
            <p:cNvPr name="TextBox 13" id="13"/>
            <p:cNvSpPr txBox="true"/>
            <p:nvPr/>
          </p:nvSpPr>
          <p:spPr>
            <a:xfrm>
              <a:off x="0" y="-66675"/>
              <a:ext cx="13823111" cy="209209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Défi</a:t>
              </a:r>
              <a:r>
                <a:rPr lang="en-US" b="true" sz="3299" i="true">
                  <a:solidFill>
                    <a:srgbClr val="1A2E1A"/>
                  </a:solidFill>
                  <a:latin typeface="Calibri (MS) Bold Italics"/>
                  <a:ea typeface="Calibri (MS) Bold Italics"/>
                  <a:cs typeface="Calibri (MS) Bold Italics"/>
                  <a:sym typeface="Calibri (MS) Bold Italics"/>
                </a:rPr>
                <a:t>nition</a:t>
              </a:r>
            </a:p>
            <a:p>
              <a:pPr algn="l">
                <a:lnSpc>
                  <a:spcPts val="3959"/>
                </a:lnSpc>
              </a:pPr>
            </a:p>
          </p:txBody>
        </p:sp>
      </p:grpSp>
      <p:grpSp>
        <p:nvGrpSpPr>
          <p:cNvPr name="Group 14" id="14"/>
          <p:cNvGrpSpPr/>
          <p:nvPr/>
        </p:nvGrpSpPr>
        <p:grpSpPr>
          <a:xfrm rot="0">
            <a:off x="1171710" y="2755505"/>
            <a:ext cx="15380432" cy="3000133"/>
            <a:chOff x="0" y="0"/>
            <a:chExt cx="20507242" cy="4000177"/>
          </a:xfrm>
        </p:grpSpPr>
        <p:sp>
          <p:nvSpPr>
            <p:cNvPr name="Freeform 15" id="15"/>
            <p:cNvSpPr/>
            <p:nvPr/>
          </p:nvSpPr>
          <p:spPr>
            <a:xfrm flipH="false" flipV="false" rot="0">
              <a:off x="0" y="0"/>
              <a:ext cx="20507241" cy="4000177"/>
            </a:xfrm>
            <a:custGeom>
              <a:avLst/>
              <a:gdLst/>
              <a:ahLst/>
              <a:cxnLst/>
              <a:rect r="r" b="b" t="t" l="l"/>
              <a:pathLst>
                <a:path h="4000177" w="20507241">
                  <a:moveTo>
                    <a:pt x="0" y="0"/>
                  </a:moveTo>
                  <a:lnTo>
                    <a:pt x="20507241" y="0"/>
                  </a:lnTo>
                  <a:lnTo>
                    <a:pt x="20507241" y="4000177"/>
                  </a:lnTo>
                  <a:lnTo>
                    <a:pt x="0" y="4000177"/>
                  </a:lnTo>
                  <a:close/>
                </a:path>
              </a:pathLst>
            </a:custGeom>
            <a:blipFill>
              <a:blip r:embed="rId3">
                <a:alphaModFix amt="0"/>
              </a:blip>
              <a:stretch>
                <a:fillRect l="0" t="-46703" r="33413" b="13674"/>
              </a:stretch>
            </a:blipFill>
          </p:spPr>
        </p:sp>
        <p:sp>
          <p:nvSpPr>
            <p:cNvPr name="TextBox 16" id="16"/>
            <p:cNvSpPr txBox="true"/>
            <p:nvPr/>
          </p:nvSpPr>
          <p:spPr>
            <a:xfrm>
              <a:off x="0" y="-57150"/>
              <a:ext cx="20507242" cy="4057327"/>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max_depth est un hyperparamètre qui définit la profondeur maximale de chaque arbre dans la Random Forest qui permet de :</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Contrôler la complexité des arbres</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Limiter le nombre de divisions (splits)</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Influencer directement le surapprentissage (overfitting)</a:t>
              </a:r>
            </a:p>
            <a:p>
              <a:pPr algn="l">
                <a:lnSpc>
                  <a:spcPts val="3239"/>
                </a:lnSpc>
              </a:pPr>
            </a:p>
            <a:p>
              <a:pPr algn="l">
                <a:lnSpc>
                  <a:spcPts val="3239"/>
                </a:lnSpc>
              </a:pPr>
            </a:p>
          </p:txBody>
        </p:sp>
      </p:grpSp>
      <p:grpSp>
        <p:nvGrpSpPr>
          <p:cNvPr name="Group 17" id="17"/>
          <p:cNvGrpSpPr/>
          <p:nvPr/>
        </p:nvGrpSpPr>
        <p:grpSpPr>
          <a:xfrm rot="0">
            <a:off x="1028700" y="4970735"/>
            <a:ext cx="15944589" cy="914400"/>
            <a:chOff x="0" y="0"/>
            <a:chExt cx="21259452" cy="1219200"/>
          </a:xfrm>
        </p:grpSpPr>
        <p:sp>
          <p:nvSpPr>
            <p:cNvPr name="Freeform 18" id="18"/>
            <p:cNvSpPr/>
            <p:nvPr/>
          </p:nvSpPr>
          <p:spPr>
            <a:xfrm flipH="false" flipV="false" rot="0">
              <a:off x="0" y="0"/>
              <a:ext cx="21259451" cy="1219200"/>
            </a:xfrm>
            <a:custGeom>
              <a:avLst/>
              <a:gdLst/>
              <a:ahLst/>
              <a:cxnLst/>
              <a:rect r="r" b="b" t="t" l="l"/>
              <a:pathLst>
                <a:path h="1219200" w="21259451">
                  <a:moveTo>
                    <a:pt x="0" y="0"/>
                  </a:moveTo>
                  <a:lnTo>
                    <a:pt x="21259451" y="0"/>
                  </a:lnTo>
                  <a:lnTo>
                    <a:pt x="21259451" y="1219200"/>
                  </a:lnTo>
                  <a:lnTo>
                    <a:pt x="0" y="1219200"/>
                  </a:lnTo>
                  <a:close/>
                </a:path>
              </a:pathLst>
            </a:custGeom>
            <a:blipFill>
              <a:blip r:embed="rId3">
                <a:alphaModFix amt="0"/>
              </a:blip>
              <a:stretch>
                <a:fillRect l="0" t="-168232" r="35769" b="-168232"/>
              </a:stretch>
            </a:blipFill>
          </p:spPr>
        </p:sp>
        <p:sp>
          <p:nvSpPr>
            <p:cNvPr name="TextBox 19" id="19"/>
            <p:cNvSpPr txBox="true"/>
            <p:nvPr/>
          </p:nvSpPr>
          <p:spPr>
            <a:xfrm>
              <a:off x="0" y="-66675"/>
              <a:ext cx="21259452" cy="1285875"/>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Effet sur le modèle</a:t>
              </a:r>
            </a:p>
          </p:txBody>
        </p:sp>
      </p:grpSp>
      <p:grpSp>
        <p:nvGrpSpPr>
          <p:cNvPr name="Group 20" id="20"/>
          <p:cNvGrpSpPr/>
          <p:nvPr/>
        </p:nvGrpSpPr>
        <p:grpSpPr>
          <a:xfrm rot="0">
            <a:off x="2586146" y="8168854"/>
            <a:ext cx="13115717" cy="1023004"/>
            <a:chOff x="0" y="0"/>
            <a:chExt cx="17487622" cy="1364005"/>
          </a:xfrm>
        </p:grpSpPr>
        <p:sp>
          <p:nvSpPr>
            <p:cNvPr name="Freeform 21" id="21"/>
            <p:cNvSpPr/>
            <p:nvPr/>
          </p:nvSpPr>
          <p:spPr>
            <a:xfrm flipH="false" flipV="false" rot="0">
              <a:off x="21578" y="16756"/>
              <a:ext cx="17444351" cy="1330404"/>
            </a:xfrm>
            <a:custGeom>
              <a:avLst/>
              <a:gdLst/>
              <a:ahLst/>
              <a:cxnLst/>
              <a:rect r="r" b="b" t="t" l="l"/>
              <a:pathLst>
                <a:path h="1330404" w="17444351">
                  <a:moveTo>
                    <a:pt x="0" y="0"/>
                  </a:moveTo>
                  <a:lnTo>
                    <a:pt x="17444351" y="0"/>
                  </a:lnTo>
                  <a:lnTo>
                    <a:pt x="17444351" y="1330405"/>
                  </a:lnTo>
                  <a:lnTo>
                    <a:pt x="0" y="1330405"/>
                  </a:lnTo>
                  <a:close/>
                </a:path>
              </a:pathLst>
            </a:custGeom>
            <a:solidFill>
              <a:srgbClr val="E8F5E8"/>
            </a:solidFill>
          </p:spPr>
        </p:sp>
        <p:sp>
          <p:nvSpPr>
            <p:cNvPr name="Freeform 22" id="22"/>
            <p:cNvSpPr/>
            <p:nvPr/>
          </p:nvSpPr>
          <p:spPr>
            <a:xfrm flipH="false" flipV="false" rot="0">
              <a:off x="0" y="0"/>
              <a:ext cx="17487509" cy="1363917"/>
            </a:xfrm>
            <a:custGeom>
              <a:avLst/>
              <a:gdLst/>
              <a:ahLst/>
              <a:cxnLst/>
              <a:rect r="r" b="b" t="t" l="l"/>
              <a:pathLst>
                <a:path h="1363917" w="17487509">
                  <a:moveTo>
                    <a:pt x="21578" y="0"/>
                  </a:moveTo>
                  <a:lnTo>
                    <a:pt x="17465929" y="0"/>
                  </a:lnTo>
                  <a:cubicBezTo>
                    <a:pt x="17477936" y="0"/>
                    <a:pt x="17487509" y="7559"/>
                    <a:pt x="17487509" y="16756"/>
                  </a:cubicBezTo>
                  <a:lnTo>
                    <a:pt x="17487509" y="1347161"/>
                  </a:lnTo>
                  <a:cubicBezTo>
                    <a:pt x="17487509" y="1356483"/>
                    <a:pt x="17477775" y="1363917"/>
                    <a:pt x="17465929" y="1363917"/>
                  </a:cubicBezTo>
                  <a:lnTo>
                    <a:pt x="21578" y="1363917"/>
                  </a:lnTo>
                  <a:cubicBezTo>
                    <a:pt x="9572" y="1363917"/>
                    <a:pt x="0" y="1356357"/>
                    <a:pt x="0" y="1347161"/>
                  </a:cubicBezTo>
                  <a:lnTo>
                    <a:pt x="0" y="16756"/>
                  </a:lnTo>
                  <a:cubicBezTo>
                    <a:pt x="0" y="7559"/>
                    <a:pt x="9735" y="0"/>
                    <a:pt x="21578" y="0"/>
                  </a:cubicBezTo>
                  <a:moveTo>
                    <a:pt x="21578" y="33638"/>
                  </a:moveTo>
                  <a:lnTo>
                    <a:pt x="21578" y="16756"/>
                  </a:lnTo>
                  <a:lnTo>
                    <a:pt x="43319" y="16756"/>
                  </a:lnTo>
                  <a:lnTo>
                    <a:pt x="43319" y="1347161"/>
                  </a:lnTo>
                  <a:lnTo>
                    <a:pt x="21578" y="1347161"/>
                  </a:lnTo>
                  <a:lnTo>
                    <a:pt x="21578" y="1330404"/>
                  </a:lnTo>
                  <a:lnTo>
                    <a:pt x="17465929" y="1330404"/>
                  </a:lnTo>
                  <a:lnTo>
                    <a:pt x="17465929" y="1347161"/>
                  </a:lnTo>
                  <a:lnTo>
                    <a:pt x="17444352" y="1347161"/>
                  </a:lnTo>
                  <a:lnTo>
                    <a:pt x="17444352" y="16756"/>
                  </a:lnTo>
                  <a:lnTo>
                    <a:pt x="17465929" y="16756"/>
                  </a:lnTo>
                  <a:lnTo>
                    <a:pt x="17465929" y="33638"/>
                  </a:lnTo>
                  <a:lnTo>
                    <a:pt x="21578" y="33638"/>
                  </a:lnTo>
                  <a:close/>
                </a:path>
              </a:pathLst>
            </a:custGeom>
            <a:solidFill>
              <a:srgbClr val="5B9E3D"/>
            </a:solidFill>
          </p:spPr>
        </p:sp>
      </p:grpSp>
      <p:sp>
        <p:nvSpPr>
          <p:cNvPr name="TextBox 23" id="23"/>
          <p:cNvSpPr txBox="true"/>
          <p:nvPr/>
        </p:nvSpPr>
        <p:spPr>
          <a:xfrm rot="0">
            <a:off x="2055181" y="8275477"/>
            <a:ext cx="12801199" cy="1228725"/>
          </a:xfrm>
          <a:prstGeom prst="rect">
            <a:avLst/>
          </a:prstGeom>
        </p:spPr>
        <p:txBody>
          <a:bodyPr anchor="t" rtlCol="false" tIns="0" lIns="0" bIns="0" rIns="0">
            <a:spAutoFit/>
          </a:bodyPr>
          <a:lstStyle/>
          <a:p>
            <a:pPr algn="ctr">
              <a:lnSpc>
                <a:spcPts val="3119"/>
              </a:lnSpc>
              <a:spcBef>
                <a:spcPct val="0"/>
              </a:spcBef>
            </a:pPr>
            <a:r>
              <a:rPr lang="en-US" b="true" sz="2599">
                <a:solidFill>
                  <a:srgbClr val="000000"/>
                </a:solidFill>
                <a:latin typeface="Calibri (MS) Bold"/>
                <a:ea typeface="Calibri (MS) Bold"/>
                <a:cs typeface="Calibri (MS) Bold"/>
                <a:sym typeface="Calibri (MS) Bold"/>
              </a:rPr>
              <a:t>Trop</a:t>
            </a:r>
            <a:r>
              <a:rPr lang="en-US" b="true" sz="2599">
                <a:solidFill>
                  <a:srgbClr val="000000"/>
                </a:solidFill>
                <a:latin typeface="Calibri (MS) Bold"/>
                <a:ea typeface="Calibri (MS) Bold"/>
                <a:cs typeface="Calibri (MS) Bold"/>
                <a:sym typeface="Calibri (MS) Bold"/>
              </a:rPr>
              <a:t> profond → modèle très précis mais instable</a:t>
            </a:r>
          </a:p>
          <a:p>
            <a:pPr algn="ctr">
              <a:lnSpc>
                <a:spcPts val="3119"/>
              </a:lnSpc>
              <a:spcBef>
                <a:spcPct val="0"/>
              </a:spcBef>
            </a:pPr>
            <a:r>
              <a:rPr lang="en-US" b="true" sz="2599">
                <a:solidFill>
                  <a:srgbClr val="000000"/>
                </a:solidFill>
                <a:latin typeface="Calibri (MS) Bold"/>
                <a:ea typeface="Calibri (MS) Bold"/>
                <a:cs typeface="Calibri (MS) Bold"/>
                <a:sym typeface="Calibri (MS) Bold"/>
              </a:rPr>
              <a:t>Trop petit → modèle trop simple (underfitting)</a:t>
            </a:r>
          </a:p>
          <a:p>
            <a:pPr algn="ctr">
              <a:lnSpc>
                <a:spcPts val="3119"/>
              </a:lnSpc>
              <a:spcBef>
                <a:spcPct val="0"/>
              </a:spcBef>
            </a:pPr>
          </a:p>
        </p:txBody>
      </p:sp>
      <p:grpSp>
        <p:nvGrpSpPr>
          <p:cNvPr name="Group 24" id="24"/>
          <p:cNvGrpSpPr/>
          <p:nvPr/>
        </p:nvGrpSpPr>
        <p:grpSpPr>
          <a:xfrm rot="0">
            <a:off x="1151935" y="7366382"/>
            <a:ext cx="15944589" cy="802473"/>
            <a:chOff x="0" y="0"/>
            <a:chExt cx="21259452" cy="1069964"/>
          </a:xfrm>
        </p:grpSpPr>
        <p:sp>
          <p:nvSpPr>
            <p:cNvPr name="Freeform 25" id="25"/>
            <p:cNvSpPr/>
            <p:nvPr/>
          </p:nvSpPr>
          <p:spPr>
            <a:xfrm flipH="false" flipV="false" rot="0">
              <a:off x="0" y="0"/>
              <a:ext cx="21259451" cy="1069964"/>
            </a:xfrm>
            <a:custGeom>
              <a:avLst/>
              <a:gdLst/>
              <a:ahLst/>
              <a:cxnLst/>
              <a:rect r="r" b="b" t="t" l="l"/>
              <a:pathLst>
                <a:path h="1069964" w="21259451">
                  <a:moveTo>
                    <a:pt x="0" y="0"/>
                  </a:moveTo>
                  <a:lnTo>
                    <a:pt x="21259451" y="0"/>
                  </a:lnTo>
                  <a:lnTo>
                    <a:pt x="21259451" y="1069964"/>
                  </a:lnTo>
                  <a:lnTo>
                    <a:pt x="0" y="1069964"/>
                  </a:lnTo>
                  <a:close/>
                </a:path>
              </a:pathLst>
            </a:custGeom>
            <a:blipFill>
              <a:blip r:embed="rId3">
                <a:alphaModFix amt="0"/>
              </a:blip>
              <a:stretch>
                <a:fillRect l="0" t="-191697" r="35769" b="-205644"/>
              </a:stretch>
            </a:blipFill>
          </p:spPr>
        </p:sp>
        <p:sp>
          <p:nvSpPr>
            <p:cNvPr name="TextBox 26" id="26"/>
            <p:cNvSpPr txBox="true"/>
            <p:nvPr/>
          </p:nvSpPr>
          <p:spPr>
            <a:xfrm>
              <a:off x="0" y="-66675"/>
              <a:ext cx="21259452" cy="113663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Compromis Biais</a:t>
              </a:r>
              <a:r>
                <a:rPr lang="en-US" b="true" sz="3299" i="true">
                  <a:solidFill>
                    <a:srgbClr val="1A2E1A"/>
                  </a:solidFill>
                  <a:latin typeface="Calibri (MS) Bold Italics"/>
                  <a:ea typeface="Calibri (MS) Bold Italics"/>
                  <a:cs typeface="Calibri (MS) Bold Italics"/>
                  <a:sym typeface="Calibri (MS) Bold Italics"/>
                </a:rPr>
                <a:t> / Variance</a:t>
              </a:r>
            </a:p>
          </p:txBody>
        </p:sp>
      </p:grpSp>
      <p:grpSp>
        <p:nvGrpSpPr>
          <p:cNvPr name="Group 27" id="27"/>
          <p:cNvGrpSpPr/>
          <p:nvPr/>
        </p:nvGrpSpPr>
        <p:grpSpPr>
          <a:xfrm rot="0">
            <a:off x="1028700" y="5740222"/>
            <a:ext cx="15944589" cy="1771408"/>
            <a:chOff x="0" y="0"/>
            <a:chExt cx="21259452" cy="2361877"/>
          </a:xfrm>
        </p:grpSpPr>
        <p:sp>
          <p:nvSpPr>
            <p:cNvPr name="Freeform 28" id="28"/>
            <p:cNvSpPr/>
            <p:nvPr/>
          </p:nvSpPr>
          <p:spPr>
            <a:xfrm flipH="false" flipV="false" rot="0">
              <a:off x="0" y="0"/>
              <a:ext cx="21259451" cy="2361877"/>
            </a:xfrm>
            <a:custGeom>
              <a:avLst/>
              <a:gdLst/>
              <a:ahLst/>
              <a:cxnLst/>
              <a:rect r="r" b="b" t="t" l="l"/>
              <a:pathLst>
                <a:path h="2361877" w="21259451">
                  <a:moveTo>
                    <a:pt x="0" y="0"/>
                  </a:moveTo>
                  <a:lnTo>
                    <a:pt x="21259451" y="0"/>
                  </a:lnTo>
                  <a:lnTo>
                    <a:pt x="21259451" y="2361877"/>
                  </a:lnTo>
                  <a:lnTo>
                    <a:pt x="0" y="2361877"/>
                  </a:lnTo>
                  <a:close/>
                </a:path>
              </a:pathLst>
            </a:custGeom>
            <a:blipFill>
              <a:blip r:embed="rId3">
                <a:alphaModFix amt="0"/>
              </a:blip>
              <a:stretch>
                <a:fillRect l="0" t="-79098" r="35769" b="-46204"/>
              </a:stretch>
            </a:blipFill>
          </p:spPr>
        </p:sp>
        <p:sp>
          <p:nvSpPr>
            <p:cNvPr name="TextBox 29" id="29"/>
            <p:cNvSpPr txBox="true"/>
            <p:nvPr/>
          </p:nvSpPr>
          <p:spPr>
            <a:xfrm>
              <a:off x="0" y="-57150"/>
              <a:ext cx="21259452" cy="2419027"/>
            </a:xfrm>
            <a:prstGeom prst="rect">
              <a:avLst/>
            </a:prstGeom>
          </p:spPr>
          <p:txBody>
            <a:bodyPr anchor="ctr" rtlCol="false" tIns="0" lIns="0" bIns="0" rIns="0"/>
            <a:lstStyle/>
            <a:p>
              <a:pPr algn="l">
                <a:lnSpc>
                  <a:spcPts val="3239"/>
                </a:lnSpc>
              </a:pPr>
              <a:r>
                <a:rPr lang="en-US" sz="2699" u="sng">
                  <a:solidFill>
                    <a:srgbClr val="1E3A1E"/>
                  </a:solidFill>
                  <a:latin typeface="Calibri (MS)"/>
                  <a:ea typeface="Calibri (MS)"/>
                  <a:cs typeface="Calibri (MS)"/>
                  <a:sym typeface="Calibri (MS)"/>
                </a:rPr>
                <a:t>Grande profondeur (ex : None)</a:t>
              </a:r>
            </a:p>
            <a:p>
              <a:pPr algn="l" marL="582928" indent="-291464" lvl="1">
                <a:lnSpc>
                  <a:spcPts val="3239"/>
                </a:lnSpc>
                <a:buFont typeface="Arial"/>
                <a:buChar char="•"/>
              </a:pPr>
              <a:r>
                <a:rPr lang="en-US" sz="2699">
                  <a:solidFill>
                    <a:srgbClr val="000000"/>
                  </a:solidFill>
                  <a:latin typeface="Calibri (MS)"/>
                  <a:ea typeface="Calibri (MS)"/>
                  <a:cs typeface="Calibri (MS)"/>
                  <a:sym typeface="Calibri (MS)"/>
                </a:rPr>
                <a:t> → arbres très complexes</a:t>
              </a:r>
            </a:p>
            <a:p>
              <a:pPr algn="l" marL="582928" indent="-291464" lvl="1">
                <a:lnSpc>
                  <a:spcPts val="3239"/>
                </a:lnSpc>
                <a:buFont typeface="Arial"/>
                <a:buChar char="•"/>
              </a:pPr>
              <a:r>
                <a:rPr lang="en-US" sz="2699">
                  <a:solidFill>
                    <a:srgbClr val="000000"/>
                  </a:solidFill>
                  <a:latin typeface="Calibri (MS)"/>
                  <a:ea typeface="Calibri (MS)"/>
                  <a:cs typeface="Calibri (MS)"/>
                  <a:sym typeface="Calibri (MS)"/>
                </a:rPr>
                <a:t> → risque d’overfitting</a:t>
              </a:r>
            </a:p>
            <a:p>
              <a:pPr algn="l">
                <a:lnSpc>
                  <a:spcPts val="3239"/>
                </a:lnSpc>
              </a:pPr>
            </a:p>
          </p:txBody>
        </p:sp>
      </p:grpSp>
      <p:grpSp>
        <p:nvGrpSpPr>
          <p:cNvPr name="Group 30" id="30"/>
          <p:cNvGrpSpPr/>
          <p:nvPr/>
        </p:nvGrpSpPr>
        <p:grpSpPr>
          <a:xfrm rot="0">
            <a:off x="7618803" y="5755637"/>
            <a:ext cx="5060225" cy="2180983"/>
            <a:chOff x="0" y="0"/>
            <a:chExt cx="6746967" cy="2907977"/>
          </a:xfrm>
        </p:grpSpPr>
        <p:sp>
          <p:nvSpPr>
            <p:cNvPr name="Freeform 31" id="31"/>
            <p:cNvSpPr/>
            <p:nvPr/>
          </p:nvSpPr>
          <p:spPr>
            <a:xfrm flipH="false" flipV="false" rot="0">
              <a:off x="0" y="0"/>
              <a:ext cx="6746966" cy="2907977"/>
            </a:xfrm>
            <a:custGeom>
              <a:avLst/>
              <a:gdLst/>
              <a:ahLst/>
              <a:cxnLst/>
              <a:rect r="r" b="b" t="t" l="l"/>
              <a:pathLst>
                <a:path h="2907977" w="6746966">
                  <a:moveTo>
                    <a:pt x="0" y="0"/>
                  </a:moveTo>
                  <a:lnTo>
                    <a:pt x="6746966" y="0"/>
                  </a:lnTo>
                  <a:lnTo>
                    <a:pt x="6746966" y="2907977"/>
                  </a:lnTo>
                  <a:lnTo>
                    <a:pt x="0" y="2907977"/>
                  </a:lnTo>
                  <a:close/>
                </a:path>
              </a:pathLst>
            </a:custGeom>
            <a:blipFill>
              <a:blip r:embed="rId3">
                <a:alphaModFix amt="0"/>
              </a:blip>
              <a:stretch>
                <a:fillRect l="0" t="-64244" r="-102387" b="-18748"/>
              </a:stretch>
            </a:blipFill>
          </p:spPr>
        </p:sp>
        <p:sp>
          <p:nvSpPr>
            <p:cNvPr name="TextBox 32" id="32"/>
            <p:cNvSpPr txBox="true"/>
            <p:nvPr/>
          </p:nvSpPr>
          <p:spPr>
            <a:xfrm>
              <a:off x="0" y="-57150"/>
              <a:ext cx="6746967" cy="2965127"/>
            </a:xfrm>
            <a:prstGeom prst="rect">
              <a:avLst/>
            </a:prstGeom>
          </p:spPr>
          <p:txBody>
            <a:bodyPr anchor="ctr" rtlCol="false" tIns="0" lIns="0" bIns="0" rIns="0"/>
            <a:lstStyle/>
            <a:p>
              <a:pPr algn="l">
                <a:lnSpc>
                  <a:spcPts val="3239"/>
                </a:lnSpc>
              </a:pPr>
              <a:r>
                <a:rPr lang="en-US" sz="2699" u="sng">
                  <a:solidFill>
                    <a:srgbClr val="1E3A1E"/>
                  </a:solidFill>
                  <a:latin typeface="Calibri (MS)"/>
                  <a:ea typeface="Calibri (MS)"/>
                  <a:cs typeface="Calibri (MS)"/>
                  <a:sym typeface="Calibri (MS)"/>
                </a:rPr>
                <a:t>Petite profondeur (ex : 5, 10)</a:t>
              </a:r>
            </a:p>
            <a:p>
              <a:pPr algn="l" marL="582928" indent="-291464" lvl="1">
                <a:lnSpc>
                  <a:spcPts val="3239"/>
                </a:lnSpc>
                <a:buFont typeface="Arial"/>
                <a:buChar char="•"/>
              </a:pPr>
              <a:r>
                <a:rPr lang="en-US" sz="2699">
                  <a:solidFill>
                    <a:srgbClr val="000000"/>
                  </a:solidFill>
                  <a:latin typeface="Calibri (MS)"/>
                  <a:ea typeface="Calibri (MS)"/>
                  <a:cs typeface="Calibri (MS)"/>
                  <a:sym typeface="Calibri (MS)"/>
                </a:rPr>
                <a:t>→ arbres plus simples</a:t>
              </a:r>
              <a:r>
                <a:rPr lang="en-US" sz="2699">
                  <a:solidFill>
                    <a:srgbClr val="000000"/>
                  </a:solidFill>
                  <a:latin typeface="Calibri (MS)"/>
                  <a:ea typeface="Calibri (MS)"/>
                  <a:cs typeface="Calibri (MS)"/>
                  <a:sym typeface="Calibri (MS)"/>
                </a:rPr>
                <a:t> </a:t>
              </a:r>
            </a:p>
            <a:p>
              <a:pPr algn="l" marL="582928" indent="-291464" lvl="1">
                <a:lnSpc>
                  <a:spcPts val="3239"/>
                </a:lnSpc>
                <a:buFont typeface="Arial"/>
                <a:buChar char="•"/>
              </a:pPr>
              <a:r>
                <a:rPr lang="en-US" sz="2699">
                  <a:solidFill>
                    <a:srgbClr val="000000"/>
                  </a:solidFill>
                  <a:latin typeface="Calibri (MS)"/>
                  <a:ea typeface="Calibri (MS)"/>
                  <a:cs typeface="Calibri (MS)"/>
                  <a:sym typeface="Calibri (MS)"/>
                </a:rPr>
                <a:t>→ meilleure généralisation</a:t>
              </a:r>
            </a:p>
            <a:p>
              <a:pPr algn="l">
                <a:lnSpc>
                  <a:spcPts val="3239"/>
                </a:lnSpc>
              </a:pPr>
            </a:p>
            <a:p>
              <a:pPr algn="l">
                <a:lnSpc>
                  <a:spcPts val="3239"/>
                </a:lnSpc>
              </a:pPr>
            </a:p>
          </p:txBody>
        </p:sp>
      </p:grpSp>
      <p:sp>
        <p:nvSpPr>
          <p:cNvPr name="TextBox 33" id="33"/>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38</a:t>
            </a:r>
          </a:p>
        </p:txBody>
      </p:sp>
      <p:grpSp>
        <p:nvGrpSpPr>
          <p:cNvPr name="Group 34" id="34"/>
          <p:cNvGrpSpPr/>
          <p:nvPr/>
        </p:nvGrpSpPr>
        <p:grpSpPr>
          <a:xfrm rot="0">
            <a:off x="-12697" y="-12697"/>
            <a:ext cx="354587" cy="1525019"/>
            <a:chOff x="0" y="0"/>
            <a:chExt cx="472783" cy="2033359"/>
          </a:xfrm>
        </p:grpSpPr>
        <p:sp>
          <p:nvSpPr>
            <p:cNvPr name="Freeform 35" id="35"/>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36" id="36"/>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732186"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60"/>
                </a:lnSpc>
              </a:pPr>
              <a:r>
                <a:rPr lang="en-US" sz="3800" b="true">
                  <a:solidFill>
                    <a:srgbClr val="FFFFFF"/>
                  </a:solidFill>
                  <a:latin typeface="Calibri (MS) Bold"/>
                  <a:ea typeface="Calibri (MS) Bold"/>
                  <a:cs typeface="Calibri (MS) Bold"/>
                  <a:sym typeface="Calibri (MS) Bold"/>
                </a:rPr>
                <a:t>A4 — Hyperparmètre : Profondeur de l’arbre (max_depth)</a:t>
              </a:r>
            </a:p>
          </p:txBody>
        </p:sp>
      </p:grpSp>
      <p:grpSp>
        <p:nvGrpSpPr>
          <p:cNvPr name="Group 8" id="8"/>
          <p:cNvGrpSpPr/>
          <p:nvPr/>
        </p:nvGrpSpPr>
        <p:grpSpPr>
          <a:xfrm rot="0">
            <a:off x="890701" y="1659350"/>
            <a:ext cx="16723366" cy="3768962"/>
            <a:chOff x="0" y="0"/>
            <a:chExt cx="22297822" cy="5025282"/>
          </a:xfrm>
        </p:grpSpPr>
        <p:sp>
          <p:nvSpPr>
            <p:cNvPr name="Freeform 9" id="9"/>
            <p:cNvSpPr/>
            <p:nvPr/>
          </p:nvSpPr>
          <p:spPr>
            <a:xfrm flipH="false" flipV="false" rot="0">
              <a:off x="32767" y="7887"/>
              <a:ext cx="22232118" cy="5009467"/>
            </a:xfrm>
            <a:custGeom>
              <a:avLst/>
              <a:gdLst/>
              <a:ahLst/>
              <a:cxnLst/>
              <a:rect r="r" b="b" t="t" l="l"/>
              <a:pathLst>
                <a:path h="5009467" w="22232118">
                  <a:moveTo>
                    <a:pt x="0" y="0"/>
                  </a:moveTo>
                  <a:lnTo>
                    <a:pt x="22232117" y="0"/>
                  </a:lnTo>
                  <a:lnTo>
                    <a:pt x="22232117" y="5009467"/>
                  </a:lnTo>
                  <a:lnTo>
                    <a:pt x="0" y="5009467"/>
                  </a:lnTo>
                  <a:close/>
                </a:path>
              </a:pathLst>
            </a:custGeom>
            <a:solidFill>
              <a:srgbClr val="FFFFFF"/>
            </a:solidFill>
          </p:spPr>
        </p:sp>
        <p:sp>
          <p:nvSpPr>
            <p:cNvPr name="Freeform 10" id="10"/>
            <p:cNvSpPr/>
            <p:nvPr/>
          </p:nvSpPr>
          <p:spPr>
            <a:xfrm flipH="false" flipV="false" rot="0">
              <a:off x="0" y="0"/>
              <a:ext cx="22297650" cy="5025240"/>
            </a:xfrm>
            <a:custGeom>
              <a:avLst/>
              <a:gdLst/>
              <a:ahLst/>
              <a:cxnLst/>
              <a:rect r="r" b="b" t="t" l="l"/>
              <a:pathLst>
                <a:path h="5025240" w="22297650">
                  <a:moveTo>
                    <a:pt x="32767" y="0"/>
                  </a:moveTo>
                  <a:lnTo>
                    <a:pt x="22264884" y="0"/>
                  </a:lnTo>
                  <a:cubicBezTo>
                    <a:pt x="22283114" y="0"/>
                    <a:pt x="22297650" y="3558"/>
                    <a:pt x="22297650" y="7887"/>
                  </a:cubicBezTo>
                  <a:lnTo>
                    <a:pt x="22297650" y="5017354"/>
                  </a:lnTo>
                  <a:cubicBezTo>
                    <a:pt x="22297650" y="5021742"/>
                    <a:pt x="22282868" y="5025240"/>
                    <a:pt x="22264884" y="5025240"/>
                  </a:cubicBezTo>
                  <a:lnTo>
                    <a:pt x="32767" y="5025240"/>
                  </a:lnTo>
                  <a:cubicBezTo>
                    <a:pt x="14536" y="5025240"/>
                    <a:pt x="0" y="5021683"/>
                    <a:pt x="0" y="5017354"/>
                  </a:cubicBezTo>
                  <a:lnTo>
                    <a:pt x="0" y="7887"/>
                  </a:lnTo>
                  <a:cubicBezTo>
                    <a:pt x="0" y="3558"/>
                    <a:pt x="14782" y="0"/>
                    <a:pt x="32767" y="0"/>
                  </a:cubicBezTo>
                  <a:moveTo>
                    <a:pt x="32767" y="15832"/>
                  </a:moveTo>
                  <a:lnTo>
                    <a:pt x="32767" y="7887"/>
                  </a:lnTo>
                  <a:lnTo>
                    <a:pt x="65780" y="7887"/>
                  </a:lnTo>
                  <a:lnTo>
                    <a:pt x="65780" y="5017354"/>
                  </a:lnTo>
                  <a:lnTo>
                    <a:pt x="32767" y="5017354"/>
                  </a:lnTo>
                  <a:lnTo>
                    <a:pt x="32767" y="5009467"/>
                  </a:lnTo>
                  <a:lnTo>
                    <a:pt x="22264884" y="5009467"/>
                  </a:lnTo>
                  <a:lnTo>
                    <a:pt x="22264884" y="5017354"/>
                  </a:lnTo>
                  <a:lnTo>
                    <a:pt x="22232116" y="5017354"/>
                  </a:lnTo>
                  <a:lnTo>
                    <a:pt x="22232116" y="7887"/>
                  </a:lnTo>
                  <a:lnTo>
                    <a:pt x="22264884" y="7887"/>
                  </a:lnTo>
                  <a:lnTo>
                    <a:pt x="22264884" y="15832"/>
                  </a:lnTo>
                  <a:lnTo>
                    <a:pt x="32767" y="15832"/>
                  </a:lnTo>
                  <a:close/>
                </a:path>
              </a:pathLst>
            </a:custGeom>
            <a:solidFill>
              <a:srgbClr val="D0E0D0"/>
            </a:solidFill>
          </p:spPr>
        </p:sp>
      </p:grpSp>
      <p:grpSp>
        <p:nvGrpSpPr>
          <p:cNvPr name="Group 11" id="11"/>
          <p:cNvGrpSpPr/>
          <p:nvPr/>
        </p:nvGrpSpPr>
        <p:grpSpPr>
          <a:xfrm rot="0">
            <a:off x="1351546" y="1562934"/>
            <a:ext cx="15609783" cy="694944"/>
            <a:chOff x="0" y="0"/>
            <a:chExt cx="20813045" cy="926592"/>
          </a:xfrm>
        </p:grpSpPr>
        <p:sp>
          <p:nvSpPr>
            <p:cNvPr name="Freeform 12" id="12"/>
            <p:cNvSpPr/>
            <p:nvPr/>
          </p:nvSpPr>
          <p:spPr>
            <a:xfrm flipH="false" flipV="false" rot="0">
              <a:off x="0" y="0"/>
              <a:ext cx="20813044" cy="926592"/>
            </a:xfrm>
            <a:custGeom>
              <a:avLst/>
              <a:gdLst/>
              <a:ahLst/>
              <a:cxnLst/>
              <a:rect r="r" b="b" t="t" l="l"/>
              <a:pathLst>
                <a:path h="926592" w="20813044">
                  <a:moveTo>
                    <a:pt x="0" y="0"/>
                  </a:moveTo>
                  <a:lnTo>
                    <a:pt x="20813044" y="0"/>
                  </a:lnTo>
                  <a:lnTo>
                    <a:pt x="20813044" y="926592"/>
                  </a:lnTo>
                  <a:lnTo>
                    <a:pt x="0" y="926592"/>
                  </a:lnTo>
                  <a:close/>
                </a:path>
              </a:pathLst>
            </a:custGeom>
            <a:blipFill>
              <a:blip r:embed="rId3">
                <a:alphaModFix amt="0"/>
              </a:blip>
              <a:stretch>
                <a:fillRect l="0" t="-175616" r="48450" b="-175616"/>
              </a:stretch>
            </a:blipFill>
          </p:spPr>
        </p:sp>
        <p:sp>
          <p:nvSpPr>
            <p:cNvPr name="TextBox 13" id="13"/>
            <p:cNvSpPr txBox="true"/>
            <p:nvPr/>
          </p:nvSpPr>
          <p:spPr>
            <a:xfrm>
              <a:off x="0" y="-66675"/>
              <a:ext cx="20813045" cy="993267"/>
            </a:xfrm>
            <a:prstGeom prst="rect">
              <a:avLst/>
            </a:prstGeom>
          </p:spPr>
          <p:txBody>
            <a:bodyPr anchor="ctr" rtlCol="false" tIns="0" lIns="0" bIns="0" rIns="0"/>
            <a:lstStyle/>
            <a:p>
              <a:pPr algn="l">
                <a:lnSpc>
                  <a:spcPts val="3719"/>
                </a:lnSpc>
              </a:pPr>
              <a:r>
                <a:rPr lang="en-US" sz="3099" b="true">
                  <a:solidFill>
                    <a:srgbClr val="1A2E1A"/>
                  </a:solidFill>
                  <a:latin typeface="Calibri (MS) Bold"/>
                  <a:ea typeface="Calibri (MS) Bold"/>
                  <a:cs typeface="Calibri (MS) Bold"/>
                  <a:sym typeface="Calibri (MS) Bold"/>
                </a:rPr>
                <a:t>max_depth — Biais / Variance (Pima) :</a:t>
              </a:r>
            </a:p>
          </p:txBody>
        </p:sp>
      </p:grpSp>
      <p:grpSp>
        <p:nvGrpSpPr>
          <p:cNvPr name="Group 14" id="14"/>
          <p:cNvGrpSpPr/>
          <p:nvPr/>
        </p:nvGrpSpPr>
        <p:grpSpPr>
          <a:xfrm rot="0">
            <a:off x="1244501" y="3371648"/>
            <a:ext cx="16013831" cy="537467"/>
            <a:chOff x="0" y="0"/>
            <a:chExt cx="21351774" cy="716623"/>
          </a:xfrm>
        </p:grpSpPr>
        <p:sp>
          <p:nvSpPr>
            <p:cNvPr name="Freeform 15" id="15"/>
            <p:cNvSpPr/>
            <p:nvPr/>
          </p:nvSpPr>
          <p:spPr>
            <a:xfrm flipH="false" flipV="false" rot="0">
              <a:off x="32767" y="16891"/>
              <a:ext cx="21286068" cy="682752"/>
            </a:xfrm>
            <a:custGeom>
              <a:avLst/>
              <a:gdLst/>
              <a:ahLst/>
              <a:cxnLst/>
              <a:rect r="r" b="b" t="t" l="l"/>
              <a:pathLst>
                <a:path h="682752" w="21286068">
                  <a:moveTo>
                    <a:pt x="0" y="0"/>
                  </a:moveTo>
                  <a:lnTo>
                    <a:pt x="21286068" y="0"/>
                  </a:lnTo>
                  <a:lnTo>
                    <a:pt x="21286068" y="682752"/>
                  </a:lnTo>
                  <a:lnTo>
                    <a:pt x="0" y="682752"/>
                  </a:lnTo>
                  <a:close/>
                </a:path>
              </a:pathLst>
            </a:custGeom>
            <a:solidFill>
              <a:srgbClr val="FFF0F0"/>
            </a:solidFill>
          </p:spPr>
        </p:sp>
        <p:sp>
          <p:nvSpPr>
            <p:cNvPr name="Freeform 16" id="16"/>
            <p:cNvSpPr/>
            <p:nvPr/>
          </p:nvSpPr>
          <p:spPr>
            <a:xfrm flipH="false" flipV="false" rot="0">
              <a:off x="0" y="0"/>
              <a:ext cx="21351601" cy="716536"/>
            </a:xfrm>
            <a:custGeom>
              <a:avLst/>
              <a:gdLst/>
              <a:ahLst/>
              <a:cxnLst/>
              <a:rect r="r" b="b" t="t" l="l"/>
              <a:pathLst>
                <a:path h="716536" w="21351601">
                  <a:moveTo>
                    <a:pt x="32767" y="0"/>
                  </a:moveTo>
                  <a:lnTo>
                    <a:pt x="21318835" y="0"/>
                  </a:lnTo>
                  <a:cubicBezTo>
                    <a:pt x="21337067" y="0"/>
                    <a:pt x="21351601" y="7620"/>
                    <a:pt x="21351601" y="16891"/>
                  </a:cubicBezTo>
                  <a:lnTo>
                    <a:pt x="21351601" y="699643"/>
                  </a:lnTo>
                  <a:cubicBezTo>
                    <a:pt x="21351601" y="709041"/>
                    <a:pt x="21336820" y="716534"/>
                    <a:pt x="21318835" y="716534"/>
                  </a:cubicBezTo>
                  <a:lnTo>
                    <a:pt x="32767" y="716534"/>
                  </a:lnTo>
                  <a:cubicBezTo>
                    <a:pt x="14782" y="716661"/>
                    <a:pt x="0" y="709041"/>
                    <a:pt x="0" y="699643"/>
                  </a:cubicBezTo>
                  <a:lnTo>
                    <a:pt x="0" y="16891"/>
                  </a:lnTo>
                  <a:cubicBezTo>
                    <a:pt x="0" y="7620"/>
                    <a:pt x="14782" y="0"/>
                    <a:pt x="32767" y="0"/>
                  </a:cubicBezTo>
                  <a:moveTo>
                    <a:pt x="32767" y="33909"/>
                  </a:moveTo>
                  <a:lnTo>
                    <a:pt x="32767" y="16891"/>
                  </a:lnTo>
                  <a:lnTo>
                    <a:pt x="65780" y="16891"/>
                  </a:lnTo>
                  <a:lnTo>
                    <a:pt x="65780" y="699643"/>
                  </a:lnTo>
                  <a:lnTo>
                    <a:pt x="32767" y="699643"/>
                  </a:lnTo>
                  <a:lnTo>
                    <a:pt x="32767" y="682752"/>
                  </a:lnTo>
                  <a:lnTo>
                    <a:pt x="21318835" y="682752"/>
                  </a:lnTo>
                  <a:lnTo>
                    <a:pt x="21318835" y="699643"/>
                  </a:lnTo>
                  <a:lnTo>
                    <a:pt x="21286068" y="699643"/>
                  </a:lnTo>
                  <a:lnTo>
                    <a:pt x="21286068" y="16891"/>
                  </a:lnTo>
                  <a:lnTo>
                    <a:pt x="21318835" y="16891"/>
                  </a:lnTo>
                  <a:lnTo>
                    <a:pt x="21318835" y="33909"/>
                  </a:lnTo>
                  <a:lnTo>
                    <a:pt x="32767" y="33909"/>
                  </a:lnTo>
                  <a:close/>
                </a:path>
              </a:pathLst>
            </a:custGeom>
            <a:solidFill>
              <a:srgbClr val="C0392B"/>
            </a:solidFill>
          </p:spPr>
        </p:sp>
      </p:grpSp>
      <p:grpSp>
        <p:nvGrpSpPr>
          <p:cNvPr name="Group 17" id="17"/>
          <p:cNvGrpSpPr/>
          <p:nvPr/>
        </p:nvGrpSpPr>
        <p:grpSpPr>
          <a:xfrm rot="0">
            <a:off x="1552946" y="3420921"/>
            <a:ext cx="3192910" cy="542682"/>
            <a:chOff x="0" y="0"/>
            <a:chExt cx="4257214" cy="723577"/>
          </a:xfrm>
        </p:grpSpPr>
        <p:sp>
          <p:nvSpPr>
            <p:cNvPr name="Freeform 18" id="18"/>
            <p:cNvSpPr/>
            <p:nvPr/>
          </p:nvSpPr>
          <p:spPr>
            <a:xfrm flipH="false" flipV="false" rot="0">
              <a:off x="0" y="0"/>
              <a:ext cx="4257214" cy="723577"/>
            </a:xfrm>
            <a:custGeom>
              <a:avLst/>
              <a:gdLst/>
              <a:ahLst/>
              <a:cxnLst/>
              <a:rect r="r" b="b" t="t" l="l"/>
              <a:pathLst>
                <a:path h="723577" w="4257214">
                  <a:moveTo>
                    <a:pt x="0" y="0"/>
                  </a:moveTo>
                  <a:lnTo>
                    <a:pt x="4257214" y="0"/>
                  </a:lnTo>
                  <a:lnTo>
                    <a:pt x="4257214" y="723577"/>
                  </a:lnTo>
                  <a:lnTo>
                    <a:pt x="0" y="723577"/>
                  </a:lnTo>
                  <a:close/>
                </a:path>
              </a:pathLst>
            </a:custGeom>
            <a:blipFill>
              <a:blip r:embed="rId3">
                <a:alphaModFix amt="0"/>
              </a:blip>
              <a:stretch>
                <a:fillRect l="0" t="-22027" r="48450" b="3833"/>
              </a:stretch>
            </a:blipFill>
          </p:spPr>
        </p:sp>
        <p:sp>
          <p:nvSpPr>
            <p:cNvPr name="TextBox 19" id="19"/>
            <p:cNvSpPr txBox="true"/>
            <p:nvPr/>
          </p:nvSpPr>
          <p:spPr>
            <a:xfrm>
              <a:off x="0" y="-57150"/>
              <a:ext cx="4257214" cy="780727"/>
            </a:xfrm>
            <a:prstGeom prst="rect">
              <a:avLst/>
            </a:prstGeom>
          </p:spPr>
          <p:txBody>
            <a:bodyPr anchor="ctr" rtlCol="false" tIns="0" lIns="0" bIns="0" rIns="0"/>
            <a:lstStyle/>
            <a:p>
              <a:pPr algn="l">
                <a:lnSpc>
                  <a:spcPts val="3239"/>
                </a:lnSpc>
              </a:pPr>
              <a:r>
                <a:rPr lang="en-US" sz="2699" b="true">
                  <a:solidFill>
                    <a:srgbClr val="C0392B"/>
                  </a:solidFill>
                  <a:latin typeface="Calibri (MS) Bold"/>
                  <a:ea typeface="Calibri (MS) Bold"/>
                  <a:cs typeface="Calibri (MS) Bold"/>
                  <a:sym typeface="Calibri (MS) Bold"/>
                </a:rPr>
                <a:t>10</a:t>
              </a:r>
            </a:p>
          </p:txBody>
        </p:sp>
      </p:grpSp>
      <p:grpSp>
        <p:nvGrpSpPr>
          <p:cNvPr name="Group 20" id="20"/>
          <p:cNvGrpSpPr/>
          <p:nvPr/>
        </p:nvGrpSpPr>
        <p:grpSpPr>
          <a:xfrm rot="0">
            <a:off x="4887764" y="3420921"/>
            <a:ext cx="4611981" cy="518702"/>
            <a:chOff x="0" y="0"/>
            <a:chExt cx="6149309" cy="691603"/>
          </a:xfrm>
        </p:grpSpPr>
        <p:sp>
          <p:nvSpPr>
            <p:cNvPr name="Freeform 21" id="21"/>
            <p:cNvSpPr/>
            <p:nvPr/>
          </p:nvSpPr>
          <p:spPr>
            <a:xfrm flipH="false" flipV="false" rot="0">
              <a:off x="0" y="0"/>
              <a:ext cx="6149309" cy="691603"/>
            </a:xfrm>
            <a:custGeom>
              <a:avLst/>
              <a:gdLst/>
              <a:ahLst/>
              <a:cxnLst/>
              <a:rect r="r" b="b" t="t" l="l"/>
              <a:pathLst>
                <a:path h="691603" w="6149309">
                  <a:moveTo>
                    <a:pt x="0" y="0"/>
                  </a:moveTo>
                  <a:lnTo>
                    <a:pt x="6149309" y="0"/>
                  </a:lnTo>
                  <a:lnTo>
                    <a:pt x="6149309" y="691603"/>
                  </a:lnTo>
                  <a:lnTo>
                    <a:pt x="0" y="691603"/>
                  </a:lnTo>
                  <a:close/>
                </a:path>
              </a:pathLst>
            </a:custGeom>
            <a:blipFill>
              <a:blip r:embed="rId3">
                <a:alphaModFix amt="0"/>
              </a:blip>
              <a:stretch>
                <a:fillRect l="0" t="-50525" r="48450" b="-28091"/>
              </a:stretch>
            </a:blipFill>
          </p:spPr>
        </p:sp>
        <p:sp>
          <p:nvSpPr>
            <p:cNvPr name="TextBox 22" id="22"/>
            <p:cNvSpPr txBox="true"/>
            <p:nvPr/>
          </p:nvSpPr>
          <p:spPr>
            <a:xfrm>
              <a:off x="0" y="-57150"/>
              <a:ext cx="6149309"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Train: ~0.985</a:t>
              </a:r>
            </a:p>
          </p:txBody>
        </p:sp>
      </p:grpSp>
      <p:grpSp>
        <p:nvGrpSpPr>
          <p:cNvPr name="Group 23" id="23"/>
          <p:cNvGrpSpPr/>
          <p:nvPr/>
        </p:nvGrpSpPr>
        <p:grpSpPr>
          <a:xfrm rot="0">
            <a:off x="9606175" y="3432911"/>
            <a:ext cx="3547678" cy="518702"/>
            <a:chOff x="0" y="0"/>
            <a:chExt cx="4730237" cy="691603"/>
          </a:xfrm>
        </p:grpSpPr>
        <p:sp>
          <p:nvSpPr>
            <p:cNvPr name="Freeform 24" id="24"/>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25" id="25"/>
            <p:cNvSpPr txBox="true"/>
            <p:nvPr/>
          </p:nvSpPr>
          <p:spPr>
            <a:xfrm>
              <a:off x="0" y="-57150"/>
              <a:ext cx="4730237"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Test: ~0.552</a:t>
              </a:r>
            </a:p>
          </p:txBody>
        </p:sp>
      </p:grpSp>
      <p:grpSp>
        <p:nvGrpSpPr>
          <p:cNvPr name="Group 26" id="26"/>
          <p:cNvGrpSpPr/>
          <p:nvPr/>
        </p:nvGrpSpPr>
        <p:grpSpPr>
          <a:xfrm rot="0">
            <a:off x="13260284" y="3420921"/>
            <a:ext cx="3547678" cy="518702"/>
            <a:chOff x="0" y="0"/>
            <a:chExt cx="4730237" cy="691603"/>
          </a:xfrm>
        </p:grpSpPr>
        <p:sp>
          <p:nvSpPr>
            <p:cNvPr name="Freeform 27" id="27"/>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28" id="28"/>
            <p:cNvSpPr txBox="true"/>
            <p:nvPr/>
          </p:nvSpPr>
          <p:spPr>
            <a:xfrm>
              <a:off x="0" y="-57150"/>
              <a:ext cx="4730237" cy="748753"/>
            </a:xfrm>
            <a:prstGeom prst="rect">
              <a:avLst/>
            </a:prstGeom>
          </p:spPr>
          <p:txBody>
            <a:bodyPr anchor="ctr" rtlCol="false" tIns="0" lIns="0" bIns="0" rIns="0"/>
            <a:lstStyle/>
            <a:p>
              <a:pPr algn="l">
                <a:lnSpc>
                  <a:spcPts val="3119"/>
                </a:lnSpc>
              </a:pPr>
              <a:r>
                <a:rPr lang="en-US" sz="2599" b="true">
                  <a:solidFill>
                    <a:srgbClr val="C0392B"/>
                  </a:solidFill>
                  <a:latin typeface="Calibri (MS) Bold"/>
                  <a:ea typeface="Calibri (MS) Bold"/>
                  <a:cs typeface="Calibri (MS) Bold"/>
                  <a:sym typeface="Calibri (MS) Bold"/>
                </a:rPr>
                <a:t>s</a:t>
              </a:r>
              <a:r>
                <a:rPr lang="en-US" sz="2599" b="true">
                  <a:solidFill>
                    <a:srgbClr val="C0392B"/>
                  </a:solidFill>
                  <a:latin typeface="Calibri (MS) Bold"/>
                  <a:ea typeface="Calibri (MS) Bold"/>
                  <a:cs typeface="Calibri (MS) Bold"/>
                  <a:sym typeface="Calibri (MS) Bold"/>
                </a:rPr>
                <a:t>urapprentissage</a:t>
              </a:r>
            </a:p>
          </p:txBody>
        </p:sp>
      </p:grpSp>
      <p:grpSp>
        <p:nvGrpSpPr>
          <p:cNvPr name="Group 29" id="29"/>
          <p:cNvGrpSpPr/>
          <p:nvPr/>
        </p:nvGrpSpPr>
        <p:grpSpPr>
          <a:xfrm rot="0">
            <a:off x="1244501" y="3956864"/>
            <a:ext cx="16013831" cy="537467"/>
            <a:chOff x="0" y="0"/>
            <a:chExt cx="21351774" cy="716623"/>
          </a:xfrm>
        </p:grpSpPr>
        <p:sp>
          <p:nvSpPr>
            <p:cNvPr name="Freeform 30" id="30"/>
            <p:cNvSpPr/>
            <p:nvPr/>
          </p:nvSpPr>
          <p:spPr>
            <a:xfrm flipH="false" flipV="false" rot="0">
              <a:off x="32767" y="16891"/>
              <a:ext cx="21286068" cy="682752"/>
            </a:xfrm>
            <a:custGeom>
              <a:avLst/>
              <a:gdLst/>
              <a:ahLst/>
              <a:cxnLst/>
              <a:rect r="r" b="b" t="t" l="l"/>
              <a:pathLst>
                <a:path h="682752" w="21286068">
                  <a:moveTo>
                    <a:pt x="0" y="0"/>
                  </a:moveTo>
                  <a:lnTo>
                    <a:pt x="21286068" y="0"/>
                  </a:lnTo>
                  <a:lnTo>
                    <a:pt x="21286068" y="682752"/>
                  </a:lnTo>
                  <a:lnTo>
                    <a:pt x="0" y="682752"/>
                  </a:lnTo>
                  <a:close/>
                </a:path>
              </a:pathLst>
            </a:custGeom>
            <a:solidFill>
              <a:srgbClr val="F0FFF0"/>
            </a:solidFill>
          </p:spPr>
        </p:sp>
        <p:sp>
          <p:nvSpPr>
            <p:cNvPr name="Freeform 31" id="31"/>
            <p:cNvSpPr/>
            <p:nvPr/>
          </p:nvSpPr>
          <p:spPr>
            <a:xfrm flipH="false" flipV="false" rot="0">
              <a:off x="0" y="0"/>
              <a:ext cx="21351601" cy="716536"/>
            </a:xfrm>
            <a:custGeom>
              <a:avLst/>
              <a:gdLst/>
              <a:ahLst/>
              <a:cxnLst/>
              <a:rect r="r" b="b" t="t" l="l"/>
              <a:pathLst>
                <a:path h="716536" w="21351601">
                  <a:moveTo>
                    <a:pt x="32767" y="0"/>
                  </a:moveTo>
                  <a:lnTo>
                    <a:pt x="21318835" y="0"/>
                  </a:lnTo>
                  <a:cubicBezTo>
                    <a:pt x="21337067" y="0"/>
                    <a:pt x="21351601" y="7620"/>
                    <a:pt x="21351601" y="16891"/>
                  </a:cubicBezTo>
                  <a:lnTo>
                    <a:pt x="21351601" y="699643"/>
                  </a:lnTo>
                  <a:cubicBezTo>
                    <a:pt x="21351601" y="709041"/>
                    <a:pt x="21336820" y="716534"/>
                    <a:pt x="21318835" y="716534"/>
                  </a:cubicBezTo>
                  <a:lnTo>
                    <a:pt x="32767" y="716534"/>
                  </a:lnTo>
                  <a:cubicBezTo>
                    <a:pt x="14782" y="716661"/>
                    <a:pt x="0" y="709041"/>
                    <a:pt x="0" y="699643"/>
                  </a:cubicBezTo>
                  <a:lnTo>
                    <a:pt x="0" y="16891"/>
                  </a:lnTo>
                  <a:cubicBezTo>
                    <a:pt x="0" y="7620"/>
                    <a:pt x="14782" y="0"/>
                    <a:pt x="32767" y="0"/>
                  </a:cubicBezTo>
                  <a:moveTo>
                    <a:pt x="32767" y="33909"/>
                  </a:moveTo>
                  <a:lnTo>
                    <a:pt x="32767" y="16891"/>
                  </a:lnTo>
                  <a:lnTo>
                    <a:pt x="65780" y="16891"/>
                  </a:lnTo>
                  <a:lnTo>
                    <a:pt x="65780" y="699643"/>
                  </a:lnTo>
                  <a:lnTo>
                    <a:pt x="32767" y="699643"/>
                  </a:lnTo>
                  <a:lnTo>
                    <a:pt x="32767" y="682752"/>
                  </a:lnTo>
                  <a:lnTo>
                    <a:pt x="21318835" y="682752"/>
                  </a:lnTo>
                  <a:lnTo>
                    <a:pt x="21318835" y="699643"/>
                  </a:lnTo>
                  <a:lnTo>
                    <a:pt x="21286068" y="699643"/>
                  </a:lnTo>
                  <a:lnTo>
                    <a:pt x="21286068" y="16891"/>
                  </a:lnTo>
                  <a:lnTo>
                    <a:pt x="21318835" y="16891"/>
                  </a:lnTo>
                  <a:lnTo>
                    <a:pt x="21318835" y="33909"/>
                  </a:lnTo>
                  <a:lnTo>
                    <a:pt x="32767" y="33909"/>
                  </a:lnTo>
                  <a:close/>
                </a:path>
              </a:pathLst>
            </a:custGeom>
            <a:solidFill>
              <a:srgbClr val="2C5F2D"/>
            </a:solidFill>
          </p:spPr>
        </p:sp>
      </p:grpSp>
      <p:grpSp>
        <p:nvGrpSpPr>
          <p:cNvPr name="Group 32" id="32"/>
          <p:cNvGrpSpPr/>
          <p:nvPr/>
        </p:nvGrpSpPr>
        <p:grpSpPr>
          <a:xfrm rot="0">
            <a:off x="1552946" y="4006137"/>
            <a:ext cx="3192910" cy="542682"/>
            <a:chOff x="0" y="0"/>
            <a:chExt cx="4257214" cy="723577"/>
          </a:xfrm>
        </p:grpSpPr>
        <p:sp>
          <p:nvSpPr>
            <p:cNvPr name="Freeform 33" id="33"/>
            <p:cNvSpPr/>
            <p:nvPr/>
          </p:nvSpPr>
          <p:spPr>
            <a:xfrm flipH="false" flipV="false" rot="0">
              <a:off x="0" y="0"/>
              <a:ext cx="4257214" cy="723577"/>
            </a:xfrm>
            <a:custGeom>
              <a:avLst/>
              <a:gdLst/>
              <a:ahLst/>
              <a:cxnLst/>
              <a:rect r="r" b="b" t="t" l="l"/>
              <a:pathLst>
                <a:path h="723577" w="4257214">
                  <a:moveTo>
                    <a:pt x="0" y="0"/>
                  </a:moveTo>
                  <a:lnTo>
                    <a:pt x="4257214" y="0"/>
                  </a:lnTo>
                  <a:lnTo>
                    <a:pt x="4257214" y="723577"/>
                  </a:lnTo>
                  <a:lnTo>
                    <a:pt x="0" y="723577"/>
                  </a:lnTo>
                  <a:close/>
                </a:path>
              </a:pathLst>
            </a:custGeom>
            <a:blipFill>
              <a:blip r:embed="rId3">
                <a:alphaModFix amt="0"/>
              </a:blip>
              <a:stretch>
                <a:fillRect l="0" t="-22027" r="48450" b="3833"/>
              </a:stretch>
            </a:blipFill>
          </p:spPr>
        </p:sp>
        <p:sp>
          <p:nvSpPr>
            <p:cNvPr name="TextBox 34" id="34"/>
            <p:cNvSpPr txBox="true"/>
            <p:nvPr/>
          </p:nvSpPr>
          <p:spPr>
            <a:xfrm>
              <a:off x="0" y="-57150"/>
              <a:ext cx="4257214" cy="780727"/>
            </a:xfrm>
            <a:prstGeom prst="rect">
              <a:avLst/>
            </a:prstGeom>
          </p:spPr>
          <p:txBody>
            <a:bodyPr anchor="ctr" rtlCol="false" tIns="0" lIns="0" bIns="0" rIns="0"/>
            <a:lstStyle/>
            <a:p>
              <a:pPr algn="l">
                <a:lnSpc>
                  <a:spcPts val="3239"/>
                </a:lnSpc>
              </a:pPr>
              <a:r>
                <a:rPr lang="en-US" sz="2699" b="true">
                  <a:solidFill>
                    <a:srgbClr val="2C5F2D"/>
                  </a:solidFill>
                  <a:latin typeface="Calibri (MS) Bold"/>
                  <a:ea typeface="Calibri (MS) Bold"/>
                  <a:cs typeface="Calibri (MS) Bold"/>
                  <a:sym typeface="Calibri (MS) Bold"/>
                </a:rPr>
                <a:t>5</a:t>
              </a:r>
            </a:p>
          </p:txBody>
        </p:sp>
      </p:grpSp>
      <p:grpSp>
        <p:nvGrpSpPr>
          <p:cNvPr name="Group 35" id="35"/>
          <p:cNvGrpSpPr/>
          <p:nvPr/>
        </p:nvGrpSpPr>
        <p:grpSpPr>
          <a:xfrm rot="0">
            <a:off x="4887764" y="4006137"/>
            <a:ext cx="4611981" cy="518702"/>
            <a:chOff x="0" y="0"/>
            <a:chExt cx="6149309" cy="691603"/>
          </a:xfrm>
        </p:grpSpPr>
        <p:sp>
          <p:nvSpPr>
            <p:cNvPr name="Freeform 36" id="36"/>
            <p:cNvSpPr/>
            <p:nvPr/>
          </p:nvSpPr>
          <p:spPr>
            <a:xfrm flipH="false" flipV="false" rot="0">
              <a:off x="0" y="0"/>
              <a:ext cx="6149309" cy="691603"/>
            </a:xfrm>
            <a:custGeom>
              <a:avLst/>
              <a:gdLst/>
              <a:ahLst/>
              <a:cxnLst/>
              <a:rect r="r" b="b" t="t" l="l"/>
              <a:pathLst>
                <a:path h="691603" w="6149309">
                  <a:moveTo>
                    <a:pt x="0" y="0"/>
                  </a:moveTo>
                  <a:lnTo>
                    <a:pt x="6149309" y="0"/>
                  </a:lnTo>
                  <a:lnTo>
                    <a:pt x="6149309" y="691603"/>
                  </a:lnTo>
                  <a:lnTo>
                    <a:pt x="0" y="691603"/>
                  </a:lnTo>
                  <a:close/>
                </a:path>
              </a:pathLst>
            </a:custGeom>
            <a:blipFill>
              <a:blip r:embed="rId3">
                <a:alphaModFix amt="0"/>
              </a:blip>
              <a:stretch>
                <a:fillRect l="0" t="-50525" r="48450" b="-28091"/>
              </a:stretch>
            </a:blipFill>
          </p:spPr>
        </p:sp>
        <p:sp>
          <p:nvSpPr>
            <p:cNvPr name="TextBox 37" id="37"/>
            <p:cNvSpPr txBox="true"/>
            <p:nvPr/>
          </p:nvSpPr>
          <p:spPr>
            <a:xfrm>
              <a:off x="0" y="-57150"/>
              <a:ext cx="6149309"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Train: ~0.692</a:t>
              </a:r>
            </a:p>
          </p:txBody>
        </p:sp>
      </p:grpSp>
      <p:grpSp>
        <p:nvGrpSpPr>
          <p:cNvPr name="Group 38" id="38"/>
          <p:cNvGrpSpPr/>
          <p:nvPr/>
        </p:nvGrpSpPr>
        <p:grpSpPr>
          <a:xfrm rot="0">
            <a:off x="9642620" y="4006137"/>
            <a:ext cx="3547678" cy="518702"/>
            <a:chOff x="0" y="0"/>
            <a:chExt cx="4730237" cy="691603"/>
          </a:xfrm>
        </p:grpSpPr>
        <p:sp>
          <p:nvSpPr>
            <p:cNvPr name="Freeform 39" id="39"/>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40" id="40"/>
            <p:cNvSpPr txBox="true"/>
            <p:nvPr/>
          </p:nvSpPr>
          <p:spPr>
            <a:xfrm>
              <a:off x="0" y="-57150"/>
              <a:ext cx="4730237"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Test: ~0.522</a:t>
              </a:r>
            </a:p>
          </p:txBody>
        </p:sp>
      </p:grpSp>
      <p:grpSp>
        <p:nvGrpSpPr>
          <p:cNvPr name="Group 41" id="41"/>
          <p:cNvGrpSpPr/>
          <p:nvPr/>
        </p:nvGrpSpPr>
        <p:grpSpPr>
          <a:xfrm rot="0">
            <a:off x="13260284" y="4030117"/>
            <a:ext cx="3547678" cy="518702"/>
            <a:chOff x="0" y="0"/>
            <a:chExt cx="4730237" cy="691603"/>
          </a:xfrm>
        </p:grpSpPr>
        <p:sp>
          <p:nvSpPr>
            <p:cNvPr name="Freeform 42" id="42"/>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43" id="43"/>
            <p:cNvSpPr txBox="true"/>
            <p:nvPr/>
          </p:nvSpPr>
          <p:spPr>
            <a:xfrm>
              <a:off x="0" y="-57150"/>
              <a:ext cx="4730237" cy="748753"/>
            </a:xfrm>
            <a:prstGeom prst="rect">
              <a:avLst/>
            </a:prstGeom>
          </p:spPr>
          <p:txBody>
            <a:bodyPr anchor="ctr" rtlCol="false" tIns="0" lIns="0" bIns="0" rIns="0"/>
            <a:lstStyle/>
            <a:p>
              <a:pPr algn="l">
                <a:lnSpc>
                  <a:spcPts val="3119"/>
                </a:lnSpc>
              </a:pPr>
              <a:r>
                <a:rPr lang="en-US" sz="2599" b="true">
                  <a:solidFill>
                    <a:srgbClr val="2C5F2D"/>
                  </a:solidFill>
                  <a:latin typeface="Calibri (MS) Bold"/>
                  <a:ea typeface="Calibri (MS) Bold"/>
                  <a:cs typeface="Calibri (MS) Bold"/>
                  <a:sym typeface="Calibri (MS) Bold"/>
                </a:rPr>
                <a:t>✅ Optimal</a:t>
              </a:r>
            </a:p>
          </p:txBody>
        </p:sp>
      </p:grpSp>
      <p:grpSp>
        <p:nvGrpSpPr>
          <p:cNvPr name="Group 44" id="44"/>
          <p:cNvGrpSpPr/>
          <p:nvPr/>
        </p:nvGrpSpPr>
        <p:grpSpPr>
          <a:xfrm rot="0">
            <a:off x="1244501" y="4542080"/>
            <a:ext cx="16013831" cy="537467"/>
            <a:chOff x="0" y="0"/>
            <a:chExt cx="21351774" cy="716623"/>
          </a:xfrm>
        </p:grpSpPr>
        <p:sp>
          <p:nvSpPr>
            <p:cNvPr name="Freeform 45" id="45"/>
            <p:cNvSpPr/>
            <p:nvPr/>
          </p:nvSpPr>
          <p:spPr>
            <a:xfrm flipH="false" flipV="false" rot="0">
              <a:off x="32767" y="16891"/>
              <a:ext cx="21286068" cy="682752"/>
            </a:xfrm>
            <a:custGeom>
              <a:avLst/>
              <a:gdLst/>
              <a:ahLst/>
              <a:cxnLst/>
              <a:rect r="r" b="b" t="t" l="l"/>
              <a:pathLst>
                <a:path h="682752" w="21286068">
                  <a:moveTo>
                    <a:pt x="0" y="0"/>
                  </a:moveTo>
                  <a:lnTo>
                    <a:pt x="21286068" y="0"/>
                  </a:lnTo>
                  <a:lnTo>
                    <a:pt x="21286068" y="682752"/>
                  </a:lnTo>
                  <a:lnTo>
                    <a:pt x="0" y="682752"/>
                  </a:lnTo>
                  <a:close/>
                </a:path>
              </a:pathLst>
            </a:custGeom>
            <a:solidFill>
              <a:srgbClr val="F0F8FF"/>
            </a:solidFill>
          </p:spPr>
        </p:sp>
        <p:sp>
          <p:nvSpPr>
            <p:cNvPr name="Freeform 46" id="46"/>
            <p:cNvSpPr/>
            <p:nvPr/>
          </p:nvSpPr>
          <p:spPr>
            <a:xfrm flipH="false" flipV="false" rot="0">
              <a:off x="0" y="0"/>
              <a:ext cx="21351601" cy="716536"/>
            </a:xfrm>
            <a:custGeom>
              <a:avLst/>
              <a:gdLst/>
              <a:ahLst/>
              <a:cxnLst/>
              <a:rect r="r" b="b" t="t" l="l"/>
              <a:pathLst>
                <a:path h="716536" w="21351601">
                  <a:moveTo>
                    <a:pt x="32767" y="0"/>
                  </a:moveTo>
                  <a:lnTo>
                    <a:pt x="21318835" y="0"/>
                  </a:lnTo>
                  <a:cubicBezTo>
                    <a:pt x="21337067" y="0"/>
                    <a:pt x="21351601" y="7620"/>
                    <a:pt x="21351601" y="16891"/>
                  </a:cubicBezTo>
                  <a:lnTo>
                    <a:pt x="21351601" y="699643"/>
                  </a:lnTo>
                  <a:cubicBezTo>
                    <a:pt x="21351601" y="709041"/>
                    <a:pt x="21336820" y="716534"/>
                    <a:pt x="21318835" y="716534"/>
                  </a:cubicBezTo>
                  <a:lnTo>
                    <a:pt x="32767" y="716534"/>
                  </a:lnTo>
                  <a:cubicBezTo>
                    <a:pt x="14782" y="716661"/>
                    <a:pt x="0" y="709041"/>
                    <a:pt x="0" y="699643"/>
                  </a:cubicBezTo>
                  <a:lnTo>
                    <a:pt x="0" y="16891"/>
                  </a:lnTo>
                  <a:cubicBezTo>
                    <a:pt x="0" y="7620"/>
                    <a:pt x="14782" y="0"/>
                    <a:pt x="32767" y="0"/>
                  </a:cubicBezTo>
                  <a:moveTo>
                    <a:pt x="32767" y="33909"/>
                  </a:moveTo>
                  <a:lnTo>
                    <a:pt x="32767" y="16891"/>
                  </a:lnTo>
                  <a:lnTo>
                    <a:pt x="65780" y="16891"/>
                  </a:lnTo>
                  <a:lnTo>
                    <a:pt x="65780" y="699643"/>
                  </a:lnTo>
                  <a:lnTo>
                    <a:pt x="32767" y="699643"/>
                  </a:lnTo>
                  <a:lnTo>
                    <a:pt x="32767" y="682752"/>
                  </a:lnTo>
                  <a:lnTo>
                    <a:pt x="21318835" y="682752"/>
                  </a:lnTo>
                  <a:lnTo>
                    <a:pt x="21318835" y="699643"/>
                  </a:lnTo>
                  <a:lnTo>
                    <a:pt x="21286068" y="699643"/>
                  </a:lnTo>
                  <a:lnTo>
                    <a:pt x="21286068" y="16891"/>
                  </a:lnTo>
                  <a:lnTo>
                    <a:pt x="21318835" y="16891"/>
                  </a:lnTo>
                  <a:lnTo>
                    <a:pt x="21318835" y="33909"/>
                  </a:lnTo>
                  <a:lnTo>
                    <a:pt x="32767" y="33909"/>
                  </a:lnTo>
                  <a:close/>
                </a:path>
              </a:pathLst>
            </a:custGeom>
            <a:solidFill>
              <a:srgbClr val="3A7BD5"/>
            </a:solidFill>
          </p:spPr>
        </p:sp>
      </p:grpSp>
      <p:grpSp>
        <p:nvGrpSpPr>
          <p:cNvPr name="Group 47" id="47"/>
          <p:cNvGrpSpPr/>
          <p:nvPr/>
        </p:nvGrpSpPr>
        <p:grpSpPr>
          <a:xfrm rot="0">
            <a:off x="1552946" y="4591353"/>
            <a:ext cx="3192910" cy="542682"/>
            <a:chOff x="0" y="0"/>
            <a:chExt cx="4257214" cy="723577"/>
          </a:xfrm>
        </p:grpSpPr>
        <p:sp>
          <p:nvSpPr>
            <p:cNvPr name="Freeform 48" id="48"/>
            <p:cNvSpPr/>
            <p:nvPr/>
          </p:nvSpPr>
          <p:spPr>
            <a:xfrm flipH="false" flipV="false" rot="0">
              <a:off x="0" y="0"/>
              <a:ext cx="4257214" cy="723577"/>
            </a:xfrm>
            <a:custGeom>
              <a:avLst/>
              <a:gdLst/>
              <a:ahLst/>
              <a:cxnLst/>
              <a:rect r="r" b="b" t="t" l="l"/>
              <a:pathLst>
                <a:path h="723577" w="4257214">
                  <a:moveTo>
                    <a:pt x="0" y="0"/>
                  </a:moveTo>
                  <a:lnTo>
                    <a:pt x="4257214" y="0"/>
                  </a:lnTo>
                  <a:lnTo>
                    <a:pt x="4257214" y="723577"/>
                  </a:lnTo>
                  <a:lnTo>
                    <a:pt x="0" y="723577"/>
                  </a:lnTo>
                  <a:close/>
                </a:path>
              </a:pathLst>
            </a:custGeom>
            <a:blipFill>
              <a:blip r:embed="rId3">
                <a:alphaModFix amt="0"/>
              </a:blip>
              <a:stretch>
                <a:fillRect l="0" t="-22027" r="48450" b="3833"/>
              </a:stretch>
            </a:blipFill>
          </p:spPr>
        </p:sp>
        <p:sp>
          <p:nvSpPr>
            <p:cNvPr name="TextBox 49" id="49"/>
            <p:cNvSpPr txBox="true"/>
            <p:nvPr/>
          </p:nvSpPr>
          <p:spPr>
            <a:xfrm>
              <a:off x="0" y="-57150"/>
              <a:ext cx="4257214" cy="780727"/>
            </a:xfrm>
            <a:prstGeom prst="rect">
              <a:avLst/>
            </a:prstGeom>
          </p:spPr>
          <p:txBody>
            <a:bodyPr anchor="ctr" rtlCol="false" tIns="0" lIns="0" bIns="0" rIns="0"/>
            <a:lstStyle/>
            <a:p>
              <a:pPr algn="l">
                <a:lnSpc>
                  <a:spcPts val="3239"/>
                </a:lnSpc>
              </a:pPr>
              <a:r>
                <a:rPr lang="en-US" sz="2699" b="true">
                  <a:solidFill>
                    <a:srgbClr val="3A7BD5"/>
                  </a:solidFill>
                  <a:latin typeface="Calibri (MS) Bold"/>
                  <a:ea typeface="Calibri (MS) Bold"/>
                  <a:cs typeface="Calibri (MS) Bold"/>
                  <a:sym typeface="Calibri (MS) Bold"/>
                </a:rPr>
                <a:t>3</a:t>
              </a:r>
            </a:p>
          </p:txBody>
        </p:sp>
      </p:grpSp>
      <p:grpSp>
        <p:nvGrpSpPr>
          <p:cNvPr name="Group 50" id="50"/>
          <p:cNvGrpSpPr/>
          <p:nvPr/>
        </p:nvGrpSpPr>
        <p:grpSpPr>
          <a:xfrm rot="0">
            <a:off x="4887764" y="4591353"/>
            <a:ext cx="4611981" cy="518702"/>
            <a:chOff x="0" y="0"/>
            <a:chExt cx="6149309" cy="691603"/>
          </a:xfrm>
        </p:grpSpPr>
        <p:sp>
          <p:nvSpPr>
            <p:cNvPr name="Freeform 51" id="51"/>
            <p:cNvSpPr/>
            <p:nvPr/>
          </p:nvSpPr>
          <p:spPr>
            <a:xfrm flipH="false" flipV="false" rot="0">
              <a:off x="0" y="0"/>
              <a:ext cx="6149309" cy="691603"/>
            </a:xfrm>
            <a:custGeom>
              <a:avLst/>
              <a:gdLst/>
              <a:ahLst/>
              <a:cxnLst/>
              <a:rect r="r" b="b" t="t" l="l"/>
              <a:pathLst>
                <a:path h="691603" w="6149309">
                  <a:moveTo>
                    <a:pt x="0" y="0"/>
                  </a:moveTo>
                  <a:lnTo>
                    <a:pt x="6149309" y="0"/>
                  </a:lnTo>
                  <a:lnTo>
                    <a:pt x="6149309" y="691603"/>
                  </a:lnTo>
                  <a:lnTo>
                    <a:pt x="0" y="691603"/>
                  </a:lnTo>
                  <a:close/>
                </a:path>
              </a:pathLst>
            </a:custGeom>
            <a:blipFill>
              <a:blip r:embed="rId3">
                <a:alphaModFix amt="0"/>
              </a:blip>
              <a:stretch>
                <a:fillRect l="0" t="-50525" r="48450" b="-28091"/>
              </a:stretch>
            </a:blipFill>
          </p:spPr>
        </p:sp>
        <p:sp>
          <p:nvSpPr>
            <p:cNvPr name="TextBox 52" id="52"/>
            <p:cNvSpPr txBox="true"/>
            <p:nvPr/>
          </p:nvSpPr>
          <p:spPr>
            <a:xfrm>
              <a:off x="0" y="-57150"/>
              <a:ext cx="6149309"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Train: ~0.537</a:t>
              </a:r>
            </a:p>
          </p:txBody>
        </p:sp>
      </p:grpSp>
      <p:grpSp>
        <p:nvGrpSpPr>
          <p:cNvPr name="Group 53" id="53"/>
          <p:cNvGrpSpPr/>
          <p:nvPr/>
        </p:nvGrpSpPr>
        <p:grpSpPr>
          <a:xfrm rot="0">
            <a:off x="9642620" y="4623260"/>
            <a:ext cx="3547678" cy="518702"/>
            <a:chOff x="0" y="0"/>
            <a:chExt cx="4730237" cy="691603"/>
          </a:xfrm>
        </p:grpSpPr>
        <p:sp>
          <p:nvSpPr>
            <p:cNvPr name="Freeform 54" id="54"/>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55" id="55"/>
            <p:cNvSpPr txBox="true"/>
            <p:nvPr/>
          </p:nvSpPr>
          <p:spPr>
            <a:xfrm>
              <a:off x="0" y="-57150"/>
              <a:ext cx="4730237"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Test: ~0.478</a:t>
              </a:r>
            </a:p>
          </p:txBody>
        </p:sp>
      </p:grpSp>
      <p:grpSp>
        <p:nvGrpSpPr>
          <p:cNvPr name="Group 56" id="56"/>
          <p:cNvGrpSpPr/>
          <p:nvPr/>
        </p:nvGrpSpPr>
        <p:grpSpPr>
          <a:xfrm rot="0">
            <a:off x="13260284" y="4591353"/>
            <a:ext cx="3547678" cy="518702"/>
            <a:chOff x="0" y="0"/>
            <a:chExt cx="4730237" cy="691603"/>
          </a:xfrm>
        </p:grpSpPr>
        <p:sp>
          <p:nvSpPr>
            <p:cNvPr name="Freeform 57" id="57"/>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58" id="58"/>
            <p:cNvSpPr txBox="true"/>
            <p:nvPr/>
          </p:nvSpPr>
          <p:spPr>
            <a:xfrm>
              <a:off x="0" y="-57150"/>
              <a:ext cx="4730237" cy="748753"/>
            </a:xfrm>
            <a:prstGeom prst="rect">
              <a:avLst/>
            </a:prstGeom>
          </p:spPr>
          <p:txBody>
            <a:bodyPr anchor="ctr" rtlCol="false" tIns="0" lIns="0" bIns="0" rIns="0"/>
            <a:lstStyle/>
            <a:p>
              <a:pPr algn="l">
                <a:lnSpc>
                  <a:spcPts val="3119"/>
                </a:lnSpc>
              </a:pPr>
              <a:r>
                <a:rPr lang="en-US" sz="2599" b="true">
                  <a:solidFill>
                    <a:srgbClr val="3A7BD5"/>
                  </a:solidFill>
                  <a:latin typeface="Calibri (MS) Bold"/>
                  <a:ea typeface="Calibri (MS) Bold"/>
                  <a:cs typeface="Calibri (MS) Bold"/>
                  <a:sym typeface="Calibri (MS) Bold"/>
                </a:rPr>
                <a:t>✅ Bon compromis</a:t>
              </a:r>
            </a:p>
          </p:txBody>
        </p:sp>
      </p:grpSp>
      <p:grpSp>
        <p:nvGrpSpPr>
          <p:cNvPr name="Group 59" id="59"/>
          <p:cNvGrpSpPr/>
          <p:nvPr/>
        </p:nvGrpSpPr>
        <p:grpSpPr>
          <a:xfrm rot="0">
            <a:off x="1245469" y="2251466"/>
            <a:ext cx="16013831" cy="537467"/>
            <a:chOff x="0" y="0"/>
            <a:chExt cx="21351774" cy="716623"/>
          </a:xfrm>
        </p:grpSpPr>
        <p:sp>
          <p:nvSpPr>
            <p:cNvPr name="Freeform 60" id="60"/>
            <p:cNvSpPr/>
            <p:nvPr/>
          </p:nvSpPr>
          <p:spPr>
            <a:xfrm flipH="false" flipV="false" rot="0">
              <a:off x="32767" y="16891"/>
              <a:ext cx="21286068" cy="682752"/>
            </a:xfrm>
            <a:custGeom>
              <a:avLst/>
              <a:gdLst/>
              <a:ahLst/>
              <a:cxnLst/>
              <a:rect r="r" b="b" t="t" l="l"/>
              <a:pathLst>
                <a:path h="682752" w="21286068">
                  <a:moveTo>
                    <a:pt x="0" y="0"/>
                  </a:moveTo>
                  <a:lnTo>
                    <a:pt x="21286068" y="0"/>
                  </a:lnTo>
                  <a:lnTo>
                    <a:pt x="21286068" y="682752"/>
                  </a:lnTo>
                  <a:lnTo>
                    <a:pt x="0" y="682752"/>
                  </a:lnTo>
                  <a:close/>
                </a:path>
              </a:pathLst>
            </a:custGeom>
            <a:solidFill>
              <a:srgbClr val="FFC5C5"/>
            </a:solidFill>
          </p:spPr>
        </p:sp>
        <p:sp>
          <p:nvSpPr>
            <p:cNvPr name="Freeform 61" id="61"/>
            <p:cNvSpPr/>
            <p:nvPr/>
          </p:nvSpPr>
          <p:spPr>
            <a:xfrm flipH="false" flipV="false" rot="0">
              <a:off x="0" y="0"/>
              <a:ext cx="21351601" cy="716536"/>
            </a:xfrm>
            <a:custGeom>
              <a:avLst/>
              <a:gdLst/>
              <a:ahLst/>
              <a:cxnLst/>
              <a:rect r="r" b="b" t="t" l="l"/>
              <a:pathLst>
                <a:path h="716536" w="21351601">
                  <a:moveTo>
                    <a:pt x="32767" y="0"/>
                  </a:moveTo>
                  <a:lnTo>
                    <a:pt x="21318835" y="0"/>
                  </a:lnTo>
                  <a:cubicBezTo>
                    <a:pt x="21337067" y="0"/>
                    <a:pt x="21351601" y="7620"/>
                    <a:pt x="21351601" y="16891"/>
                  </a:cubicBezTo>
                  <a:lnTo>
                    <a:pt x="21351601" y="699643"/>
                  </a:lnTo>
                  <a:cubicBezTo>
                    <a:pt x="21351601" y="709041"/>
                    <a:pt x="21336820" y="716534"/>
                    <a:pt x="21318835" y="716534"/>
                  </a:cubicBezTo>
                  <a:lnTo>
                    <a:pt x="32767" y="716534"/>
                  </a:lnTo>
                  <a:cubicBezTo>
                    <a:pt x="14782" y="716661"/>
                    <a:pt x="0" y="709041"/>
                    <a:pt x="0" y="699643"/>
                  </a:cubicBezTo>
                  <a:lnTo>
                    <a:pt x="0" y="16891"/>
                  </a:lnTo>
                  <a:cubicBezTo>
                    <a:pt x="0" y="7620"/>
                    <a:pt x="14782" y="0"/>
                    <a:pt x="32767" y="0"/>
                  </a:cubicBezTo>
                  <a:moveTo>
                    <a:pt x="32767" y="33909"/>
                  </a:moveTo>
                  <a:lnTo>
                    <a:pt x="32767" y="16891"/>
                  </a:lnTo>
                  <a:lnTo>
                    <a:pt x="65780" y="16891"/>
                  </a:lnTo>
                  <a:lnTo>
                    <a:pt x="65780" y="699643"/>
                  </a:lnTo>
                  <a:lnTo>
                    <a:pt x="32767" y="699643"/>
                  </a:lnTo>
                  <a:lnTo>
                    <a:pt x="32767" y="682752"/>
                  </a:lnTo>
                  <a:lnTo>
                    <a:pt x="21318835" y="682752"/>
                  </a:lnTo>
                  <a:lnTo>
                    <a:pt x="21318835" y="699643"/>
                  </a:lnTo>
                  <a:lnTo>
                    <a:pt x="21286068" y="699643"/>
                  </a:lnTo>
                  <a:lnTo>
                    <a:pt x="21286068" y="16891"/>
                  </a:lnTo>
                  <a:lnTo>
                    <a:pt x="21318835" y="16891"/>
                  </a:lnTo>
                  <a:lnTo>
                    <a:pt x="21318835" y="33909"/>
                  </a:lnTo>
                  <a:lnTo>
                    <a:pt x="32767" y="33909"/>
                  </a:lnTo>
                  <a:close/>
                </a:path>
              </a:pathLst>
            </a:custGeom>
            <a:solidFill>
              <a:srgbClr val="C0392B"/>
            </a:solidFill>
          </p:spPr>
        </p:sp>
      </p:grpSp>
      <p:grpSp>
        <p:nvGrpSpPr>
          <p:cNvPr name="Group 62" id="62"/>
          <p:cNvGrpSpPr/>
          <p:nvPr/>
        </p:nvGrpSpPr>
        <p:grpSpPr>
          <a:xfrm rot="0">
            <a:off x="1590078" y="2251466"/>
            <a:ext cx="3192910" cy="952257"/>
            <a:chOff x="0" y="0"/>
            <a:chExt cx="4257214" cy="1269677"/>
          </a:xfrm>
        </p:grpSpPr>
        <p:sp>
          <p:nvSpPr>
            <p:cNvPr name="Freeform 63" id="63"/>
            <p:cNvSpPr/>
            <p:nvPr/>
          </p:nvSpPr>
          <p:spPr>
            <a:xfrm flipH="false" flipV="false" rot="0">
              <a:off x="0" y="0"/>
              <a:ext cx="4257214" cy="1269677"/>
            </a:xfrm>
            <a:custGeom>
              <a:avLst/>
              <a:gdLst/>
              <a:ahLst/>
              <a:cxnLst/>
              <a:rect r="r" b="b" t="t" l="l"/>
              <a:pathLst>
                <a:path h="1269677" w="4257214">
                  <a:moveTo>
                    <a:pt x="0" y="0"/>
                  </a:moveTo>
                  <a:lnTo>
                    <a:pt x="4257214" y="0"/>
                  </a:lnTo>
                  <a:lnTo>
                    <a:pt x="4257214" y="1269677"/>
                  </a:lnTo>
                  <a:lnTo>
                    <a:pt x="0" y="1269677"/>
                  </a:lnTo>
                  <a:close/>
                </a:path>
              </a:pathLst>
            </a:custGeom>
            <a:blipFill>
              <a:blip r:embed="rId3">
                <a:alphaModFix amt="0"/>
              </a:blip>
              <a:stretch>
                <a:fillRect l="0" t="-12553" r="48450" b="45195"/>
              </a:stretch>
            </a:blipFill>
          </p:spPr>
        </p:sp>
        <p:sp>
          <p:nvSpPr>
            <p:cNvPr name="TextBox 64" id="64"/>
            <p:cNvSpPr txBox="true"/>
            <p:nvPr/>
          </p:nvSpPr>
          <p:spPr>
            <a:xfrm>
              <a:off x="0" y="-57150"/>
              <a:ext cx="4257214" cy="1326827"/>
            </a:xfrm>
            <a:prstGeom prst="rect">
              <a:avLst/>
            </a:prstGeom>
          </p:spPr>
          <p:txBody>
            <a:bodyPr anchor="ctr" rtlCol="false" tIns="0" lIns="0" bIns="0" rIns="0"/>
            <a:lstStyle/>
            <a:p>
              <a:pPr algn="l">
                <a:lnSpc>
                  <a:spcPts val="3239"/>
                </a:lnSpc>
              </a:pPr>
              <a:r>
                <a:rPr lang="en-US" sz="2699" b="true">
                  <a:solidFill>
                    <a:srgbClr val="C0392B"/>
                  </a:solidFill>
                  <a:latin typeface="Calibri (MS) Bold"/>
                  <a:ea typeface="Calibri (MS) Bold"/>
                  <a:cs typeface="Calibri (MS) Bold"/>
                  <a:sym typeface="Calibri (MS) Bold"/>
                </a:rPr>
                <a:t>max_d</a:t>
              </a:r>
              <a:r>
                <a:rPr lang="en-US" sz="2699" b="true">
                  <a:solidFill>
                    <a:srgbClr val="C0392B"/>
                  </a:solidFill>
                  <a:latin typeface="Calibri (MS) Bold"/>
                  <a:ea typeface="Calibri (MS) Bold"/>
                  <a:cs typeface="Calibri (MS) Bold"/>
                  <a:sym typeface="Calibri (MS) Bold"/>
                </a:rPr>
                <a:t>epth</a:t>
              </a:r>
            </a:p>
            <a:p>
              <a:pPr algn="l">
                <a:lnSpc>
                  <a:spcPts val="3239"/>
                </a:lnSpc>
              </a:pPr>
            </a:p>
          </p:txBody>
        </p:sp>
      </p:grpSp>
      <p:grpSp>
        <p:nvGrpSpPr>
          <p:cNvPr name="Group 65" id="65"/>
          <p:cNvGrpSpPr/>
          <p:nvPr/>
        </p:nvGrpSpPr>
        <p:grpSpPr>
          <a:xfrm rot="0">
            <a:off x="4888731" y="2300739"/>
            <a:ext cx="4611981" cy="518702"/>
            <a:chOff x="0" y="0"/>
            <a:chExt cx="6149309" cy="691603"/>
          </a:xfrm>
        </p:grpSpPr>
        <p:sp>
          <p:nvSpPr>
            <p:cNvPr name="Freeform 66" id="66"/>
            <p:cNvSpPr/>
            <p:nvPr/>
          </p:nvSpPr>
          <p:spPr>
            <a:xfrm flipH="false" flipV="false" rot="0">
              <a:off x="0" y="0"/>
              <a:ext cx="6149309" cy="691603"/>
            </a:xfrm>
            <a:custGeom>
              <a:avLst/>
              <a:gdLst/>
              <a:ahLst/>
              <a:cxnLst/>
              <a:rect r="r" b="b" t="t" l="l"/>
              <a:pathLst>
                <a:path h="691603" w="6149309">
                  <a:moveTo>
                    <a:pt x="0" y="0"/>
                  </a:moveTo>
                  <a:lnTo>
                    <a:pt x="6149309" y="0"/>
                  </a:lnTo>
                  <a:lnTo>
                    <a:pt x="6149309" y="691603"/>
                  </a:lnTo>
                  <a:lnTo>
                    <a:pt x="0" y="691603"/>
                  </a:lnTo>
                  <a:close/>
                </a:path>
              </a:pathLst>
            </a:custGeom>
            <a:blipFill>
              <a:blip r:embed="rId3">
                <a:alphaModFix amt="0"/>
              </a:blip>
              <a:stretch>
                <a:fillRect l="0" t="-50525" r="48450" b="-28091"/>
              </a:stretch>
            </a:blipFill>
          </p:spPr>
        </p:sp>
        <p:sp>
          <p:nvSpPr>
            <p:cNvPr name="TextBox 67" id="67"/>
            <p:cNvSpPr txBox="true"/>
            <p:nvPr/>
          </p:nvSpPr>
          <p:spPr>
            <a:xfrm>
              <a:off x="0" y="-57150"/>
              <a:ext cx="6149309" cy="748753"/>
            </a:xfrm>
            <a:prstGeom prst="rect">
              <a:avLst/>
            </a:prstGeom>
          </p:spPr>
          <p:txBody>
            <a:bodyPr anchor="ctr" rtlCol="false" tIns="0" lIns="0" bIns="0" rIns="0"/>
            <a:lstStyle/>
            <a:p>
              <a:pPr algn="l">
                <a:lnSpc>
                  <a:spcPts val="3119"/>
                </a:lnSpc>
              </a:pPr>
              <a:r>
                <a:rPr lang="en-US" sz="2599" b="true">
                  <a:solidFill>
                    <a:srgbClr val="1A2E1A"/>
                  </a:solidFill>
                  <a:latin typeface="Calibri (MS) Bold"/>
                  <a:ea typeface="Calibri (MS) Bold"/>
                  <a:cs typeface="Calibri (MS) Bold"/>
                  <a:sym typeface="Calibri (MS) Bold"/>
                </a:rPr>
                <a:t>Train Recall</a:t>
              </a:r>
            </a:p>
          </p:txBody>
        </p:sp>
      </p:grpSp>
      <p:grpSp>
        <p:nvGrpSpPr>
          <p:cNvPr name="Group 68" id="68"/>
          <p:cNvGrpSpPr/>
          <p:nvPr/>
        </p:nvGrpSpPr>
        <p:grpSpPr>
          <a:xfrm rot="0">
            <a:off x="9607143" y="2327832"/>
            <a:ext cx="3547678" cy="518702"/>
            <a:chOff x="0" y="0"/>
            <a:chExt cx="4730237" cy="691603"/>
          </a:xfrm>
        </p:grpSpPr>
        <p:sp>
          <p:nvSpPr>
            <p:cNvPr name="Freeform 69" id="69"/>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70" id="70"/>
            <p:cNvSpPr txBox="true"/>
            <p:nvPr/>
          </p:nvSpPr>
          <p:spPr>
            <a:xfrm>
              <a:off x="0" y="-57150"/>
              <a:ext cx="4730237" cy="748753"/>
            </a:xfrm>
            <a:prstGeom prst="rect">
              <a:avLst/>
            </a:prstGeom>
          </p:spPr>
          <p:txBody>
            <a:bodyPr anchor="ctr" rtlCol="false" tIns="0" lIns="0" bIns="0" rIns="0"/>
            <a:lstStyle/>
            <a:p>
              <a:pPr algn="l">
                <a:lnSpc>
                  <a:spcPts val="3119"/>
                </a:lnSpc>
              </a:pPr>
              <a:r>
                <a:rPr lang="en-US" sz="2599" b="true">
                  <a:solidFill>
                    <a:srgbClr val="1A2E1A"/>
                  </a:solidFill>
                  <a:latin typeface="Calibri (MS) Bold"/>
                  <a:ea typeface="Calibri (MS) Bold"/>
                  <a:cs typeface="Calibri (MS) Bold"/>
                  <a:sym typeface="Calibri (MS) Bold"/>
                </a:rPr>
                <a:t>Test Recall</a:t>
              </a:r>
            </a:p>
          </p:txBody>
        </p:sp>
      </p:grpSp>
      <p:grpSp>
        <p:nvGrpSpPr>
          <p:cNvPr name="Group 71" id="71"/>
          <p:cNvGrpSpPr/>
          <p:nvPr/>
        </p:nvGrpSpPr>
        <p:grpSpPr>
          <a:xfrm rot="0">
            <a:off x="13261252" y="2308782"/>
            <a:ext cx="3547678" cy="518702"/>
            <a:chOff x="0" y="0"/>
            <a:chExt cx="4730237" cy="691603"/>
          </a:xfrm>
        </p:grpSpPr>
        <p:sp>
          <p:nvSpPr>
            <p:cNvPr name="Freeform 72" id="72"/>
            <p:cNvSpPr/>
            <p:nvPr/>
          </p:nvSpPr>
          <p:spPr>
            <a:xfrm flipH="false" flipV="false" rot="0">
              <a:off x="0" y="0"/>
              <a:ext cx="4730237" cy="691603"/>
            </a:xfrm>
            <a:custGeom>
              <a:avLst/>
              <a:gdLst/>
              <a:ahLst/>
              <a:cxnLst/>
              <a:rect r="r" b="b" t="t" l="l"/>
              <a:pathLst>
                <a:path h="691603" w="4730237">
                  <a:moveTo>
                    <a:pt x="0" y="0"/>
                  </a:moveTo>
                  <a:lnTo>
                    <a:pt x="4730237" y="0"/>
                  </a:lnTo>
                  <a:lnTo>
                    <a:pt x="4730237" y="691603"/>
                  </a:lnTo>
                  <a:lnTo>
                    <a:pt x="0" y="691603"/>
                  </a:lnTo>
                  <a:close/>
                </a:path>
              </a:pathLst>
            </a:custGeom>
            <a:blipFill>
              <a:blip r:embed="rId3">
                <a:alphaModFix amt="0"/>
              </a:blip>
              <a:stretch>
                <a:fillRect l="0" t="-29915" r="48450" b="-7481"/>
              </a:stretch>
            </a:blipFill>
          </p:spPr>
        </p:sp>
        <p:sp>
          <p:nvSpPr>
            <p:cNvPr name="TextBox 73" id="73"/>
            <p:cNvSpPr txBox="true"/>
            <p:nvPr/>
          </p:nvSpPr>
          <p:spPr>
            <a:xfrm>
              <a:off x="0" y="-57150"/>
              <a:ext cx="4730237" cy="748753"/>
            </a:xfrm>
            <a:prstGeom prst="rect">
              <a:avLst/>
            </a:prstGeom>
          </p:spPr>
          <p:txBody>
            <a:bodyPr anchor="ctr" rtlCol="false" tIns="0" lIns="0" bIns="0" rIns="0"/>
            <a:lstStyle/>
            <a:p>
              <a:pPr algn="l">
                <a:lnSpc>
                  <a:spcPts val="3119"/>
                </a:lnSpc>
              </a:pPr>
              <a:r>
                <a:rPr lang="en-US" sz="2599" b="true">
                  <a:solidFill>
                    <a:srgbClr val="C0392B"/>
                  </a:solidFill>
                  <a:latin typeface="Calibri (MS) Bold"/>
                  <a:ea typeface="Calibri (MS) Bold"/>
                  <a:cs typeface="Calibri (MS) Bold"/>
                  <a:sym typeface="Calibri (MS) Bold"/>
                </a:rPr>
                <a:t>Inte</a:t>
              </a:r>
              <a:r>
                <a:rPr lang="en-US" sz="2599" b="true">
                  <a:solidFill>
                    <a:srgbClr val="C0392B"/>
                  </a:solidFill>
                  <a:latin typeface="Calibri (MS) Bold"/>
                  <a:ea typeface="Calibri (MS) Bold"/>
                  <a:cs typeface="Calibri (MS) Bold"/>
                  <a:sym typeface="Calibri (MS) Bold"/>
                </a:rPr>
                <a:t>rprétation</a:t>
              </a:r>
            </a:p>
          </p:txBody>
        </p:sp>
      </p:grpSp>
      <p:grpSp>
        <p:nvGrpSpPr>
          <p:cNvPr name="Group 74" id="74"/>
          <p:cNvGrpSpPr/>
          <p:nvPr/>
        </p:nvGrpSpPr>
        <p:grpSpPr>
          <a:xfrm rot="0">
            <a:off x="1150500" y="7568681"/>
            <a:ext cx="8005938" cy="1619144"/>
            <a:chOff x="0" y="0"/>
            <a:chExt cx="9505918" cy="1922504"/>
          </a:xfrm>
        </p:grpSpPr>
        <p:sp>
          <p:nvSpPr>
            <p:cNvPr name="Freeform 75" id="75"/>
            <p:cNvSpPr/>
            <p:nvPr/>
          </p:nvSpPr>
          <p:spPr>
            <a:xfrm flipH="false" flipV="false" rot="0">
              <a:off x="14428" y="15970"/>
              <a:ext cx="9476986" cy="1890479"/>
            </a:xfrm>
            <a:custGeom>
              <a:avLst/>
              <a:gdLst/>
              <a:ahLst/>
              <a:cxnLst/>
              <a:rect r="r" b="b" t="t" l="l"/>
              <a:pathLst>
                <a:path h="1890479" w="9476986">
                  <a:moveTo>
                    <a:pt x="0" y="0"/>
                  </a:moveTo>
                  <a:lnTo>
                    <a:pt x="9476986" y="0"/>
                  </a:lnTo>
                  <a:lnTo>
                    <a:pt x="9476986" y="1890480"/>
                  </a:lnTo>
                  <a:lnTo>
                    <a:pt x="0" y="1890480"/>
                  </a:lnTo>
                  <a:close/>
                </a:path>
              </a:pathLst>
            </a:custGeom>
            <a:solidFill>
              <a:srgbClr val="1A2E1A"/>
            </a:solidFill>
          </p:spPr>
        </p:sp>
        <p:sp>
          <p:nvSpPr>
            <p:cNvPr name="Freeform 76" id="76"/>
            <p:cNvSpPr/>
            <p:nvPr/>
          </p:nvSpPr>
          <p:spPr>
            <a:xfrm flipH="false" flipV="false" rot="0">
              <a:off x="0" y="0"/>
              <a:ext cx="9505841" cy="1922420"/>
            </a:xfrm>
            <a:custGeom>
              <a:avLst/>
              <a:gdLst/>
              <a:ahLst/>
              <a:cxnLst/>
              <a:rect r="r" b="b" t="t" l="l"/>
              <a:pathLst>
                <a:path h="1922420" w="9505841">
                  <a:moveTo>
                    <a:pt x="14428" y="0"/>
                  </a:moveTo>
                  <a:lnTo>
                    <a:pt x="9491414" y="0"/>
                  </a:lnTo>
                  <a:cubicBezTo>
                    <a:pt x="9499441" y="0"/>
                    <a:pt x="9505841" y="7205"/>
                    <a:pt x="9505841" y="15970"/>
                  </a:cubicBezTo>
                  <a:lnTo>
                    <a:pt x="9505841" y="1906450"/>
                  </a:lnTo>
                  <a:cubicBezTo>
                    <a:pt x="9505841" y="1915335"/>
                    <a:pt x="9499333" y="1922420"/>
                    <a:pt x="9491414" y="1922420"/>
                  </a:cubicBezTo>
                  <a:lnTo>
                    <a:pt x="14428" y="1922420"/>
                  </a:lnTo>
                  <a:cubicBezTo>
                    <a:pt x="6400" y="1922420"/>
                    <a:pt x="0" y="1915215"/>
                    <a:pt x="0" y="1906450"/>
                  </a:cubicBezTo>
                  <a:lnTo>
                    <a:pt x="0" y="15970"/>
                  </a:lnTo>
                  <a:cubicBezTo>
                    <a:pt x="0" y="7205"/>
                    <a:pt x="6509" y="0"/>
                    <a:pt x="14428" y="0"/>
                  </a:cubicBezTo>
                  <a:moveTo>
                    <a:pt x="14428" y="32060"/>
                  </a:moveTo>
                  <a:lnTo>
                    <a:pt x="14428" y="15970"/>
                  </a:lnTo>
                  <a:lnTo>
                    <a:pt x="28965" y="15970"/>
                  </a:lnTo>
                  <a:lnTo>
                    <a:pt x="28965" y="1906450"/>
                  </a:lnTo>
                  <a:lnTo>
                    <a:pt x="14428" y="1906450"/>
                  </a:lnTo>
                  <a:lnTo>
                    <a:pt x="14428" y="1890479"/>
                  </a:lnTo>
                  <a:lnTo>
                    <a:pt x="9491414" y="1890479"/>
                  </a:lnTo>
                  <a:lnTo>
                    <a:pt x="9491414" y="1906450"/>
                  </a:lnTo>
                  <a:lnTo>
                    <a:pt x="9476985" y="1906450"/>
                  </a:lnTo>
                  <a:lnTo>
                    <a:pt x="9476985" y="15970"/>
                  </a:lnTo>
                  <a:lnTo>
                    <a:pt x="9491414" y="15970"/>
                  </a:lnTo>
                  <a:lnTo>
                    <a:pt x="9491414" y="32060"/>
                  </a:lnTo>
                  <a:lnTo>
                    <a:pt x="14428" y="32060"/>
                  </a:lnTo>
                  <a:close/>
                </a:path>
              </a:pathLst>
            </a:custGeom>
            <a:solidFill>
              <a:srgbClr val="8E44AD"/>
            </a:solidFill>
          </p:spPr>
        </p:sp>
      </p:grpSp>
      <p:grpSp>
        <p:nvGrpSpPr>
          <p:cNvPr name="Group 77" id="77"/>
          <p:cNvGrpSpPr/>
          <p:nvPr/>
        </p:nvGrpSpPr>
        <p:grpSpPr>
          <a:xfrm rot="0">
            <a:off x="1728054" y="7806806"/>
            <a:ext cx="6640901" cy="1075943"/>
            <a:chOff x="0" y="0"/>
            <a:chExt cx="8854535" cy="1434590"/>
          </a:xfrm>
        </p:grpSpPr>
        <p:sp>
          <p:nvSpPr>
            <p:cNvPr name="Freeform 78" id="78"/>
            <p:cNvSpPr/>
            <p:nvPr/>
          </p:nvSpPr>
          <p:spPr>
            <a:xfrm flipH="false" flipV="false" rot="0">
              <a:off x="0" y="0"/>
              <a:ext cx="8854535" cy="1434590"/>
            </a:xfrm>
            <a:custGeom>
              <a:avLst/>
              <a:gdLst/>
              <a:ahLst/>
              <a:cxnLst/>
              <a:rect r="r" b="b" t="t" l="l"/>
              <a:pathLst>
                <a:path h="1434590" w="8854535">
                  <a:moveTo>
                    <a:pt x="0" y="0"/>
                  </a:moveTo>
                  <a:lnTo>
                    <a:pt x="8854535" y="0"/>
                  </a:lnTo>
                  <a:lnTo>
                    <a:pt x="8854535" y="1434590"/>
                  </a:lnTo>
                  <a:lnTo>
                    <a:pt x="0" y="1434590"/>
                  </a:lnTo>
                  <a:close/>
                </a:path>
              </a:pathLst>
            </a:custGeom>
            <a:blipFill>
              <a:blip r:embed="rId3">
                <a:alphaModFix amt="0"/>
              </a:blip>
              <a:stretch>
                <a:fillRect l="0" t="-81265" r="-17038" b="-100246"/>
              </a:stretch>
            </a:blipFill>
          </p:spPr>
        </p:sp>
        <p:sp>
          <p:nvSpPr>
            <p:cNvPr name="TextBox 79" id="79"/>
            <p:cNvSpPr txBox="true"/>
            <p:nvPr/>
          </p:nvSpPr>
          <p:spPr>
            <a:xfrm>
              <a:off x="0" y="-57150"/>
              <a:ext cx="8854535" cy="1491740"/>
            </a:xfrm>
            <a:prstGeom prst="rect">
              <a:avLst/>
            </a:prstGeom>
          </p:spPr>
          <p:txBody>
            <a:bodyPr anchor="ctr" rtlCol="false" tIns="0" lIns="0" bIns="0" rIns="0"/>
            <a:lstStyle/>
            <a:p>
              <a:pPr algn="ctr">
                <a:lnSpc>
                  <a:spcPts val="3119"/>
                </a:lnSpc>
              </a:pPr>
              <a:r>
                <a:rPr lang="en-US" sz="2599" b="true">
                  <a:solidFill>
                    <a:srgbClr val="D4A843"/>
                  </a:solidFill>
                  <a:latin typeface="Calibri (MS) Bold"/>
                  <a:ea typeface="Calibri (MS) Bold"/>
                  <a:cs typeface="Calibri (MS) Bold"/>
                  <a:sym typeface="Calibri (MS) Bold"/>
                </a:rPr>
                <a:t>Conclusion : </a:t>
              </a:r>
              <a:r>
                <a:rPr lang="en-US" sz="2599">
                  <a:solidFill>
                    <a:srgbClr val="FFFFFF"/>
                  </a:solidFill>
                  <a:latin typeface="Calibri (MS)"/>
                  <a:ea typeface="Calibri (MS)"/>
                  <a:cs typeface="Calibri (MS)"/>
                  <a:sym typeface="Calibri (MS)"/>
                </a:rPr>
                <a:t>max_depth = 3 → meilleur compromis biais / variance</a:t>
              </a:r>
            </a:p>
          </p:txBody>
        </p:sp>
      </p:grpSp>
      <p:grpSp>
        <p:nvGrpSpPr>
          <p:cNvPr name="Group 80" id="80"/>
          <p:cNvGrpSpPr/>
          <p:nvPr/>
        </p:nvGrpSpPr>
        <p:grpSpPr>
          <a:xfrm rot="0">
            <a:off x="-12697" y="-12697"/>
            <a:ext cx="354587" cy="1525019"/>
            <a:chOff x="0" y="0"/>
            <a:chExt cx="472783" cy="2033359"/>
          </a:xfrm>
        </p:grpSpPr>
        <p:sp>
          <p:nvSpPr>
            <p:cNvPr name="Freeform 81" id="81"/>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82" id="82"/>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
        <p:nvSpPr>
          <p:cNvPr name="Freeform 83" id="83"/>
          <p:cNvSpPr/>
          <p:nvPr/>
        </p:nvSpPr>
        <p:spPr>
          <a:xfrm flipH="false" flipV="false" rot="0">
            <a:off x="9857073" y="5315249"/>
            <a:ext cx="7199226" cy="4907143"/>
          </a:xfrm>
          <a:custGeom>
            <a:avLst/>
            <a:gdLst/>
            <a:ahLst/>
            <a:cxnLst/>
            <a:rect r="r" b="b" t="t" l="l"/>
            <a:pathLst>
              <a:path h="4907143" w="7199226">
                <a:moveTo>
                  <a:pt x="0" y="0"/>
                </a:moveTo>
                <a:lnTo>
                  <a:pt x="7199226" y="0"/>
                </a:lnTo>
                <a:lnTo>
                  <a:pt x="7199226" y="4907143"/>
                </a:lnTo>
                <a:lnTo>
                  <a:pt x="0" y="4907143"/>
                </a:lnTo>
                <a:lnTo>
                  <a:pt x="0" y="0"/>
                </a:lnTo>
                <a:close/>
              </a:path>
            </a:pathLst>
          </a:custGeom>
          <a:blipFill>
            <a:blip r:embed="rId4"/>
            <a:stretch>
              <a:fillRect l="0" t="0" r="0" b="0"/>
            </a:stretch>
          </a:blipFill>
        </p:spPr>
      </p:sp>
      <p:grpSp>
        <p:nvGrpSpPr>
          <p:cNvPr name="Group 84" id="84"/>
          <p:cNvGrpSpPr/>
          <p:nvPr/>
        </p:nvGrpSpPr>
        <p:grpSpPr>
          <a:xfrm rot="0">
            <a:off x="1244501" y="2819441"/>
            <a:ext cx="16014799" cy="491016"/>
            <a:chOff x="0" y="0"/>
            <a:chExt cx="21353065" cy="654688"/>
          </a:xfrm>
        </p:grpSpPr>
        <p:sp>
          <p:nvSpPr>
            <p:cNvPr name="Freeform 85" id="85"/>
            <p:cNvSpPr/>
            <p:nvPr/>
          </p:nvSpPr>
          <p:spPr>
            <a:xfrm flipH="false" flipV="false" rot="0">
              <a:off x="32769" y="15431"/>
              <a:ext cx="21287355" cy="623745"/>
            </a:xfrm>
            <a:custGeom>
              <a:avLst/>
              <a:gdLst/>
              <a:ahLst/>
              <a:cxnLst/>
              <a:rect r="r" b="b" t="t" l="l"/>
              <a:pathLst>
                <a:path h="623745" w="21287355">
                  <a:moveTo>
                    <a:pt x="0" y="0"/>
                  </a:moveTo>
                  <a:lnTo>
                    <a:pt x="21287354" y="0"/>
                  </a:lnTo>
                  <a:lnTo>
                    <a:pt x="21287354" y="623745"/>
                  </a:lnTo>
                  <a:lnTo>
                    <a:pt x="0" y="623745"/>
                  </a:lnTo>
                  <a:close/>
                </a:path>
              </a:pathLst>
            </a:custGeom>
            <a:solidFill>
              <a:srgbClr val="FFF0F0"/>
            </a:solidFill>
          </p:spPr>
        </p:sp>
        <p:sp>
          <p:nvSpPr>
            <p:cNvPr name="Freeform 86" id="86"/>
            <p:cNvSpPr/>
            <p:nvPr/>
          </p:nvSpPr>
          <p:spPr>
            <a:xfrm flipH="false" flipV="false" rot="0">
              <a:off x="0" y="0"/>
              <a:ext cx="21352892" cy="654609"/>
            </a:xfrm>
            <a:custGeom>
              <a:avLst/>
              <a:gdLst/>
              <a:ahLst/>
              <a:cxnLst/>
              <a:rect r="r" b="b" t="t" l="l"/>
              <a:pathLst>
                <a:path h="654609" w="21352892">
                  <a:moveTo>
                    <a:pt x="32769" y="0"/>
                  </a:moveTo>
                  <a:lnTo>
                    <a:pt x="21320123" y="0"/>
                  </a:lnTo>
                  <a:cubicBezTo>
                    <a:pt x="21338356" y="0"/>
                    <a:pt x="21352892" y="6961"/>
                    <a:pt x="21352892" y="15431"/>
                  </a:cubicBezTo>
                  <a:lnTo>
                    <a:pt x="21352892" y="639176"/>
                  </a:lnTo>
                  <a:cubicBezTo>
                    <a:pt x="21352892" y="647762"/>
                    <a:pt x="21338110" y="654607"/>
                    <a:pt x="21320123" y="654607"/>
                  </a:cubicBezTo>
                  <a:lnTo>
                    <a:pt x="32769" y="654607"/>
                  </a:lnTo>
                  <a:cubicBezTo>
                    <a:pt x="14783" y="654727"/>
                    <a:pt x="0" y="647762"/>
                    <a:pt x="0" y="639176"/>
                  </a:cubicBezTo>
                  <a:lnTo>
                    <a:pt x="0" y="15431"/>
                  </a:lnTo>
                  <a:cubicBezTo>
                    <a:pt x="0" y="6961"/>
                    <a:pt x="14783" y="0"/>
                    <a:pt x="32769" y="0"/>
                  </a:cubicBezTo>
                  <a:moveTo>
                    <a:pt x="32769" y="30978"/>
                  </a:moveTo>
                  <a:lnTo>
                    <a:pt x="32769" y="15431"/>
                  </a:lnTo>
                  <a:lnTo>
                    <a:pt x="65784" y="15431"/>
                  </a:lnTo>
                  <a:lnTo>
                    <a:pt x="65784" y="639176"/>
                  </a:lnTo>
                  <a:lnTo>
                    <a:pt x="32769" y="639176"/>
                  </a:lnTo>
                  <a:lnTo>
                    <a:pt x="32769" y="623745"/>
                  </a:lnTo>
                  <a:lnTo>
                    <a:pt x="21320123" y="623745"/>
                  </a:lnTo>
                  <a:lnTo>
                    <a:pt x="21320123" y="639176"/>
                  </a:lnTo>
                  <a:lnTo>
                    <a:pt x="21287355" y="639176"/>
                  </a:lnTo>
                  <a:lnTo>
                    <a:pt x="21287355" y="15431"/>
                  </a:lnTo>
                  <a:lnTo>
                    <a:pt x="21320123" y="15431"/>
                  </a:lnTo>
                  <a:lnTo>
                    <a:pt x="21320123" y="30978"/>
                  </a:lnTo>
                  <a:lnTo>
                    <a:pt x="32769" y="30978"/>
                  </a:lnTo>
                  <a:close/>
                </a:path>
              </a:pathLst>
            </a:custGeom>
            <a:solidFill>
              <a:srgbClr val="C0392B"/>
            </a:solidFill>
          </p:spPr>
        </p:sp>
      </p:grpSp>
      <p:grpSp>
        <p:nvGrpSpPr>
          <p:cNvPr name="Group 87" id="87"/>
          <p:cNvGrpSpPr/>
          <p:nvPr/>
        </p:nvGrpSpPr>
        <p:grpSpPr>
          <a:xfrm rot="0">
            <a:off x="1552965" y="2819441"/>
            <a:ext cx="3193103" cy="542682"/>
            <a:chOff x="0" y="0"/>
            <a:chExt cx="4257471" cy="723577"/>
          </a:xfrm>
        </p:grpSpPr>
        <p:sp>
          <p:nvSpPr>
            <p:cNvPr name="Freeform 88" id="88"/>
            <p:cNvSpPr/>
            <p:nvPr/>
          </p:nvSpPr>
          <p:spPr>
            <a:xfrm flipH="false" flipV="false" rot="0">
              <a:off x="0" y="0"/>
              <a:ext cx="4257471" cy="723577"/>
            </a:xfrm>
            <a:custGeom>
              <a:avLst/>
              <a:gdLst/>
              <a:ahLst/>
              <a:cxnLst/>
              <a:rect r="r" b="b" t="t" l="l"/>
              <a:pathLst>
                <a:path h="723577" w="4257471">
                  <a:moveTo>
                    <a:pt x="0" y="0"/>
                  </a:moveTo>
                  <a:lnTo>
                    <a:pt x="4257471" y="0"/>
                  </a:lnTo>
                  <a:lnTo>
                    <a:pt x="4257471" y="723577"/>
                  </a:lnTo>
                  <a:lnTo>
                    <a:pt x="0" y="723577"/>
                  </a:lnTo>
                  <a:close/>
                </a:path>
              </a:pathLst>
            </a:custGeom>
            <a:blipFill>
              <a:blip r:embed="rId3">
                <a:alphaModFix amt="0"/>
              </a:blip>
              <a:stretch>
                <a:fillRect l="0" t="-22027" r="48453" b="3833"/>
              </a:stretch>
            </a:blipFill>
          </p:spPr>
        </p:sp>
        <p:sp>
          <p:nvSpPr>
            <p:cNvPr name="TextBox 89" id="89"/>
            <p:cNvSpPr txBox="true"/>
            <p:nvPr/>
          </p:nvSpPr>
          <p:spPr>
            <a:xfrm>
              <a:off x="0" y="-57150"/>
              <a:ext cx="4257471" cy="780727"/>
            </a:xfrm>
            <a:prstGeom prst="rect">
              <a:avLst/>
            </a:prstGeom>
          </p:spPr>
          <p:txBody>
            <a:bodyPr anchor="ctr" rtlCol="false" tIns="0" lIns="0" bIns="0" rIns="0"/>
            <a:lstStyle/>
            <a:p>
              <a:pPr algn="l">
                <a:lnSpc>
                  <a:spcPts val="3239"/>
                </a:lnSpc>
              </a:pPr>
              <a:r>
                <a:rPr lang="en-US" sz="2699" b="true">
                  <a:solidFill>
                    <a:srgbClr val="C0392B"/>
                  </a:solidFill>
                  <a:latin typeface="Calibri (MS) Bold"/>
                  <a:ea typeface="Calibri (MS) Bold"/>
                  <a:cs typeface="Calibri (MS) Bold"/>
                  <a:sym typeface="Calibri (MS) Bold"/>
                </a:rPr>
                <a:t>None </a:t>
              </a:r>
            </a:p>
          </p:txBody>
        </p:sp>
      </p:grpSp>
      <p:grpSp>
        <p:nvGrpSpPr>
          <p:cNvPr name="Group 90" id="90"/>
          <p:cNvGrpSpPr/>
          <p:nvPr/>
        </p:nvGrpSpPr>
        <p:grpSpPr>
          <a:xfrm rot="0">
            <a:off x="4887984" y="2819626"/>
            <a:ext cx="4612260" cy="518702"/>
            <a:chOff x="0" y="0"/>
            <a:chExt cx="6149680" cy="691603"/>
          </a:xfrm>
        </p:grpSpPr>
        <p:sp>
          <p:nvSpPr>
            <p:cNvPr name="Freeform 91" id="91"/>
            <p:cNvSpPr/>
            <p:nvPr/>
          </p:nvSpPr>
          <p:spPr>
            <a:xfrm flipH="false" flipV="false" rot="0">
              <a:off x="0" y="0"/>
              <a:ext cx="6149680" cy="691603"/>
            </a:xfrm>
            <a:custGeom>
              <a:avLst/>
              <a:gdLst/>
              <a:ahLst/>
              <a:cxnLst/>
              <a:rect r="r" b="b" t="t" l="l"/>
              <a:pathLst>
                <a:path h="691603" w="6149680">
                  <a:moveTo>
                    <a:pt x="0" y="0"/>
                  </a:moveTo>
                  <a:lnTo>
                    <a:pt x="6149680" y="0"/>
                  </a:lnTo>
                  <a:lnTo>
                    <a:pt x="6149680" y="691603"/>
                  </a:lnTo>
                  <a:lnTo>
                    <a:pt x="0" y="691603"/>
                  </a:lnTo>
                  <a:close/>
                </a:path>
              </a:pathLst>
            </a:custGeom>
            <a:blipFill>
              <a:blip r:embed="rId3">
                <a:alphaModFix amt="0"/>
              </a:blip>
              <a:stretch>
                <a:fillRect l="0" t="-50525" r="48453" b="-28091"/>
              </a:stretch>
            </a:blipFill>
          </p:spPr>
        </p:sp>
        <p:sp>
          <p:nvSpPr>
            <p:cNvPr name="TextBox 92" id="92"/>
            <p:cNvSpPr txBox="true"/>
            <p:nvPr/>
          </p:nvSpPr>
          <p:spPr>
            <a:xfrm>
              <a:off x="0" y="-57150"/>
              <a:ext cx="6149680"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Train: ~1.000</a:t>
              </a:r>
            </a:p>
          </p:txBody>
        </p:sp>
      </p:grpSp>
      <p:grpSp>
        <p:nvGrpSpPr>
          <p:cNvPr name="Group 93" id="93"/>
          <p:cNvGrpSpPr/>
          <p:nvPr/>
        </p:nvGrpSpPr>
        <p:grpSpPr>
          <a:xfrm rot="0">
            <a:off x="9606681" y="2830580"/>
            <a:ext cx="3547892" cy="518702"/>
            <a:chOff x="0" y="0"/>
            <a:chExt cx="4730523" cy="691603"/>
          </a:xfrm>
        </p:grpSpPr>
        <p:sp>
          <p:nvSpPr>
            <p:cNvPr name="Freeform 94" id="94"/>
            <p:cNvSpPr/>
            <p:nvPr/>
          </p:nvSpPr>
          <p:spPr>
            <a:xfrm flipH="false" flipV="false" rot="0">
              <a:off x="0" y="0"/>
              <a:ext cx="4730523" cy="691603"/>
            </a:xfrm>
            <a:custGeom>
              <a:avLst/>
              <a:gdLst/>
              <a:ahLst/>
              <a:cxnLst/>
              <a:rect r="r" b="b" t="t" l="l"/>
              <a:pathLst>
                <a:path h="691603" w="4730523">
                  <a:moveTo>
                    <a:pt x="0" y="0"/>
                  </a:moveTo>
                  <a:lnTo>
                    <a:pt x="4730523" y="0"/>
                  </a:lnTo>
                  <a:lnTo>
                    <a:pt x="4730523" y="691603"/>
                  </a:lnTo>
                  <a:lnTo>
                    <a:pt x="0" y="691603"/>
                  </a:lnTo>
                  <a:close/>
                </a:path>
              </a:pathLst>
            </a:custGeom>
            <a:blipFill>
              <a:blip r:embed="rId3">
                <a:alphaModFix amt="0"/>
              </a:blip>
              <a:stretch>
                <a:fillRect l="0" t="-29915" r="48453" b="-7481"/>
              </a:stretch>
            </a:blipFill>
          </p:spPr>
        </p:sp>
        <p:sp>
          <p:nvSpPr>
            <p:cNvPr name="TextBox 95" id="95"/>
            <p:cNvSpPr txBox="true"/>
            <p:nvPr/>
          </p:nvSpPr>
          <p:spPr>
            <a:xfrm>
              <a:off x="0" y="-57150"/>
              <a:ext cx="4730523" cy="748753"/>
            </a:xfrm>
            <a:prstGeom prst="rect">
              <a:avLst/>
            </a:prstGeom>
          </p:spPr>
          <p:txBody>
            <a:bodyPr anchor="ctr" rtlCol="false" tIns="0" lIns="0" bIns="0" rIns="0"/>
            <a:lstStyle/>
            <a:p>
              <a:pPr algn="l">
                <a:lnSpc>
                  <a:spcPts val="3119"/>
                </a:lnSpc>
              </a:pPr>
              <a:r>
                <a:rPr lang="en-US" sz="2599">
                  <a:solidFill>
                    <a:srgbClr val="1A2E1A"/>
                  </a:solidFill>
                  <a:latin typeface="Calibri (MS)"/>
                  <a:ea typeface="Calibri (MS)"/>
                  <a:cs typeface="Calibri (MS)"/>
                  <a:sym typeface="Calibri (MS)"/>
                </a:rPr>
                <a:t>Test: ~0.627</a:t>
              </a:r>
            </a:p>
          </p:txBody>
        </p:sp>
      </p:grpSp>
      <p:grpSp>
        <p:nvGrpSpPr>
          <p:cNvPr name="Group 96" id="96"/>
          <p:cNvGrpSpPr/>
          <p:nvPr/>
        </p:nvGrpSpPr>
        <p:grpSpPr>
          <a:xfrm rot="0">
            <a:off x="13261010" y="2819626"/>
            <a:ext cx="3547892" cy="518702"/>
            <a:chOff x="0" y="0"/>
            <a:chExt cx="4730523" cy="691603"/>
          </a:xfrm>
        </p:grpSpPr>
        <p:sp>
          <p:nvSpPr>
            <p:cNvPr name="Freeform 97" id="97"/>
            <p:cNvSpPr/>
            <p:nvPr/>
          </p:nvSpPr>
          <p:spPr>
            <a:xfrm flipH="false" flipV="false" rot="0">
              <a:off x="0" y="0"/>
              <a:ext cx="4730523" cy="691603"/>
            </a:xfrm>
            <a:custGeom>
              <a:avLst/>
              <a:gdLst/>
              <a:ahLst/>
              <a:cxnLst/>
              <a:rect r="r" b="b" t="t" l="l"/>
              <a:pathLst>
                <a:path h="691603" w="4730523">
                  <a:moveTo>
                    <a:pt x="0" y="0"/>
                  </a:moveTo>
                  <a:lnTo>
                    <a:pt x="4730523" y="0"/>
                  </a:lnTo>
                  <a:lnTo>
                    <a:pt x="4730523" y="691603"/>
                  </a:lnTo>
                  <a:lnTo>
                    <a:pt x="0" y="691603"/>
                  </a:lnTo>
                  <a:close/>
                </a:path>
              </a:pathLst>
            </a:custGeom>
            <a:blipFill>
              <a:blip r:embed="rId3">
                <a:alphaModFix amt="0"/>
              </a:blip>
              <a:stretch>
                <a:fillRect l="0" t="-29915" r="48453" b="-7481"/>
              </a:stretch>
            </a:blipFill>
          </p:spPr>
        </p:sp>
        <p:sp>
          <p:nvSpPr>
            <p:cNvPr name="TextBox 98" id="98"/>
            <p:cNvSpPr txBox="true"/>
            <p:nvPr/>
          </p:nvSpPr>
          <p:spPr>
            <a:xfrm>
              <a:off x="0" y="-57150"/>
              <a:ext cx="4730523" cy="748753"/>
            </a:xfrm>
            <a:prstGeom prst="rect">
              <a:avLst/>
            </a:prstGeom>
          </p:spPr>
          <p:txBody>
            <a:bodyPr anchor="ctr" rtlCol="false" tIns="0" lIns="0" bIns="0" rIns="0"/>
            <a:lstStyle/>
            <a:p>
              <a:pPr algn="l">
                <a:lnSpc>
                  <a:spcPts val="3119"/>
                </a:lnSpc>
              </a:pPr>
              <a:r>
                <a:rPr lang="en-US" sz="2599" b="true">
                  <a:solidFill>
                    <a:srgbClr val="C0392B"/>
                  </a:solidFill>
                  <a:latin typeface="Calibri (MS) Bold"/>
                  <a:ea typeface="Calibri (MS) Bold"/>
                  <a:cs typeface="Calibri (MS) Bold"/>
                  <a:sym typeface="Calibri (MS) Bold"/>
                </a:rPr>
                <a:t>s</a:t>
              </a:r>
              <a:r>
                <a:rPr lang="en-US" sz="2599" b="true">
                  <a:solidFill>
                    <a:srgbClr val="C0392B"/>
                  </a:solidFill>
                  <a:latin typeface="Calibri (MS) Bold"/>
                  <a:ea typeface="Calibri (MS) Bold"/>
                  <a:cs typeface="Calibri (MS) Bold"/>
                  <a:sym typeface="Calibri (MS) Bold"/>
                </a:rPr>
                <a:t>urapprentissage</a:t>
              </a:r>
            </a:p>
          </p:txBody>
        </p:sp>
      </p:grpSp>
      <p:grpSp>
        <p:nvGrpSpPr>
          <p:cNvPr name="Group 99" id="99"/>
          <p:cNvGrpSpPr/>
          <p:nvPr/>
        </p:nvGrpSpPr>
        <p:grpSpPr>
          <a:xfrm rot="0">
            <a:off x="1150500" y="5711382"/>
            <a:ext cx="7796010" cy="1304849"/>
            <a:chOff x="0" y="0"/>
            <a:chExt cx="8149442" cy="1364005"/>
          </a:xfrm>
        </p:grpSpPr>
        <p:sp>
          <p:nvSpPr>
            <p:cNvPr name="Freeform 100" id="100"/>
            <p:cNvSpPr/>
            <p:nvPr/>
          </p:nvSpPr>
          <p:spPr>
            <a:xfrm flipH="false" flipV="false" rot="0">
              <a:off x="10056" y="16756"/>
              <a:ext cx="8129277" cy="1330404"/>
            </a:xfrm>
            <a:custGeom>
              <a:avLst/>
              <a:gdLst/>
              <a:ahLst/>
              <a:cxnLst/>
              <a:rect r="r" b="b" t="t" l="l"/>
              <a:pathLst>
                <a:path h="1330404" w="8129277">
                  <a:moveTo>
                    <a:pt x="0" y="0"/>
                  </a:moveTo>
                  <a:lnTo>
                    <a:pt x="8129277" y="0"/>
                  </a:lnTo>
                  <a:lnTo>
                    <a:pt x="8129277" y="1330405"/>
                  </a:lnTo>
                  <a:lnTo>
                    <a:pt x="0" y="1330405"/>
                  </a:lnTo>
                  <a:close/>
                </a:path>
              </a:pathLst>
            </a:custGeom>
            <a:solidFill>
              <a:srgbClr val="E8F5E8"/>
            </a:solidFill>
          </p:spPr>
        </p:sp>
        <p:sp>
          <p:nvSpPr>
            <p:cNvPr name="Freeform 101" id="101"/>
            <p:cNvSpPr/>
            <p:nvPr/>
          </p:nvSpPr>
          <p:spPr>
            <a:xfrm flipH="false" flipV="false" rot="0">
              <a:off x="0" y="0"/>
              <a:ext cx="8149389" cy="1363917"/>
            </a:xfrm>
            <a:custGeom>
              <a:avLst/>
              <a:gdLst/>
              <a:ahLst/>
              <a:cxnLst/>
              <a:rect r="r" b="b" t="t" l="l"/>
              <a:pathLst>
                <a:path h="1363917" w="8149389">
                  <a:moveTo>
                    <a:pt x="10056" y="0"/>
                  </a:moveTo>
                  <a:lnTo>
                    <a:pt x="8139333" y="0"/>
                  </a:lnTo>
                  <a:cubicBezTo>
                    <a:pt x="8144928" y="0"/>
                    <a:pt x="8149389" y="7559"/>
                    <a:pt x="8149389" y="16756"/>
                  </a:cubicBezTo>
                  <a:lnTo>
                    <a:pt x="8149389" y="1347161"/>
                  </a:lnTo>
                  <a:cubicBezTo>
                    <a:pt x="8149389" y="1356483"/>
                    <a:pt x="8144852" y="1363917"/>
                    <a:pt x="8139333" y="1363917"/>
                  </a:cubicBezTo>
                  <a:lnTo>
                    <a:pt x="10056" y="1363917"/>
                  </a:lnTo>
                  <a:cubicBezTo>
                    <a:pt x="4461" y="1363917"/>
                    <a:pt x="0" y="1356357"/>
                    <a:pt x="0" y="1347161"/>
                  </a:cubicBezTo>
                  <a:lnTo>
                    <a:pt x="0" y="16756"/>
                  </a:lnTo>
                  <a:cubicBezTo>
                    <a:pt x="0" y="7559"/>
                    <a:pt x="4536" y="0"/>
                    <a:pt x="10056" y="0"/>
                  </a:cubicBezTo>
                  <a:moveTo>
                    <a:pt x="10056" y="33638"/>
                  </a:moveTo>
                  <a:lnTo>
                    <a:pt x="10056" y="16756"/>
                  </a:lnTo>
                  <a:lnTo>
                    <a:pt x="20187" y="16756"/>
                  </a:lnTo>
                  <a:lnTo>
                    <a:pt x="20187" y="1347161"/>
                  </a:lnTo>
                  <a:lnTo>
                    <a:pt x="10056" y="1347161"/>
                  </a:lnTo>
                  <a:lnTo>
                    <a:pt x="10056" y="1330404"/>
                  </a:lnTo>
                  <a:lnTo>
                    <a:pt x="8139333" y="1330404"/>
                  </a:lnTo>
                  <a:lnTo>
                    <a:pt x="8139333" y="1347161"/>
                  </a:lnTo>
                  <a:lnTo>
                    <a:pt x="8129277" y="1347161"/>
                  </a:lnTo>
                  <a:lnTo>
                    <a:pt x="8129277" y="16756"/>
                  </a:lnTo>
                  <a:lnTo>
                    <a:pt x="8139333" y="16756"/>
                  </a:lnTo>
                  <a:lnTo>
                    <a:pt x="8139333" y="33638"/>
                  </a:lnTo>
                  <a:lnTo>
                    <a:pt x="10056" y="33638"/>
                  </a:lnTo>
                  <a:close/>
                </a:path>
              </a:pathLst>
            </a:custGeom>
            <a:solidFill>
              <a:srgbClr val="5B9E3D"/>
            </a:solidFill>
          </p:spPr>
        </p:sp>
      </p:grpSp>
      <p:grpSp>
        <p:nvGrpSpPr>
          <p:cNvPr name="Group 102" id="102"/>
          <p:cNvGrpSpPr/>
          <p:nvPr/>
        </p:nvGrpSpPr>
        <p:grpSpPr>
          <a:xfrm rot="0">
            <a:off x="4718660" y="7035281"/>
            <a:ext cx="552450" cy="552450"/>
            <a:chOff x="0" y="0"/>
            <a:chExt cx="812800" cy="812800"/>
          </a:xfrm>
        </p:grpSpPr>
        <p:sp>
          <p:nvSpPr>
            <p:cNvPr name="Freeform 103" id="103"/>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2C5F2D"/>
            </a:solidFill>
          </p:spPr>
        </p:sp>
        <p:sp>
          <p:nvSpPr>
            <p:cNvPr name="TextBox 104" id="104"/>
            <p:cNvSpPr txBox="true"/>
            <p:nvPr/>
          </p:nvSpPr>
          <p:spPr>
            <a:xfrm>
              <a:off x="203200" y="-57150"/>
              <a:ext cx="406400" cy="768350"/>
            </a:xfrm>
            <a:prstGeom prst="rect">
              <a:avLst/>
            </a:prstGeom>
          </p:spPr>
          <p:txBody>
            <a:bodyPr anchor="ctr" rtlCol="false" tIns="50800" lIns="50800" bIns="50800" rIns="50800"/>
            <a:lstStyle/>
            <a:p>
              <a:pPr algn="ctr">
                <a:lnSpc>
                  <a:spcPts val="3119"/>
                </a:lnSpc>
              </a:pPr>
            </a:p>
          </p:txBody>
        </p:sp>
      </p:grpSp>
      <p:sp>
        <p:nvSpPr>
          <p:cNvPr name="TextBox 105" id="105"/>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39</a:t>
            </a:r>
          </a:p>
        </p:txBody>
      </p:sp>
      <p:sp>
        <p:nvSpPr>
          <p:cNvPr name="TextBox 106" id="106"/>
          <p:cNvSpPr txBox="true"/>
          <p:nvPr/>
        </p:nvSpPr>
        <p:spPr>
          <a:xfrm rot="0">
            <a:off x="1552965" y="5923612"/>
            <a:ext cx="6883841" cy="838200"/>
          </a:xfrm>
          <a:prstGeom prst="rect">
            <a:avLst/>
          </a:prstGeom>
        </p:spPr>
        <p:txBody>
          <a:bodyPr anchor="t" rtlCol="false" tIns="0" lIns="0" bIns="0" rIns="0">
            <a:spAutoFit/>
          </a:bodyPr>
          <a:lstStyle/>
          <a:p>
            <a:pPr algn="ctr">
              <a:lnSpc>
                <a:spcPts val="3119"/>
              </a:lnSpc>
            </a:pPr>
            <a:r>
              <a:rPr lang="en-US" b="true" sz="2599">
                <a:solidFill>
                  <a:srgbClr val="000000"/>
                </a:solidFill>
                <a:latin typeface="Calibri (MS) Bold"/>
                <a:ea typeface="Calibri (MS) Bold"/>
                <a:cs typeface="Calibri (MS) Bold"/>
                <a:sym typeface="Calibri (MS) Bold"/>
              </a:rPr>
              <a:t>le meilleur compromis biais/variance correspond à l'écart minimal entre les deux courbes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741711"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60"/>
                </a:lnSpc>
              </a:pPr>
              <a:r>
                <a:rPr lang="en-US" sz="3800" b="true">
                  <a:solidFill>
                    <a:srgbClr val="FFFFFF"/>
                  </a:solidFill>
                  <a:latin typeface="Calibri (MS) Bold"/>
                  <a:ea typeface="Calibri (MS) Bold"/>
                  <a:cs typeface="Calibri (MS) Bold"/>
                  <a:sym typeface="Calibri (MS) Bold"/>
                </a:rPr>
                <a:t>A4 —  max_features (sqrt vs log2)  -  Impact sur la performance</a:t>
              </a:r>
            </a:p>
          </p:txBody>
        </p:sp>
      </p:grpSp>
      <p:grpSp>
        <p:nvGrpSpPr>
          <p:cNvPr name="Group 8" id="8"/>
          <p:cNvGrpSpPr/>
          <p:nvPr/>
        </p:nvGrpSpPr>
        <p:grpSpPr>
          <a:xfrm rot="0">
            <a:off x="395300" y="1936058"/>
            <a:ext cx="17219942" cy="8122072"/>
            <a:chOff x="0" y="0"/>
            <a:chExt cx="19311767" cy="9108716"/>
          </a:xfrm>
        </p:grpSpPr>
        <p:sp>
          <p:nvSpPr>
            <p:cNvPr name="Freeform 9" id="9"/>
            <p:cNvSpPr/>
            <p:nvPr/>
          </p:nvSpPr>
          <p:spPr>
            <a:xfrm flipH="false" flipV="false" rot="0">
              <a:off x="29636" y="14295"/>
              <a:ext cx="19252339" cy="9080051"/>
            </a:xfrm>
            <a:custGeom>
              <a:avLst/>
              <a:gdLst/>
              <a:ahLst/>
              <a:cxnLst/>
              <a:rect r="r" b="b" t="t" l="l"/>
              <a:pathLst>
                <a:path h="9080051" w="19252339">
                  <a:moveTo>
                    <a:pt x="0" y="0"/>
                  </a:moveTo>
                  <a:lnTo>
                    <a:pt x="19252339" y="0"/>
                  </a:lnTo>
                  <a:lnTo>
                    <a:pt x="19252339" y="9080051"/>
                  </a:lnTo>
                  <a:lnTo>
                    <a:pt x="0" y="9080051"/>
                  </a:lnTo>
                  <a:close/>
                </a:path>
              </a:pathLst>
            </a:custGeom>
            <a:solidFill>
              <a:srgbClr val="FFFFFF"/>
            </a:solidFill>
          </p:spPr>
        </p:sp>
        <p:sp>
          <p:nvSpPr>
            <p:cNvPr name="Freeform 10" id="10"/>
            <p:cNvSpPr/>
            <p:nvPr/>
          </p:nvSpPr>
          <p:spPr>
            <a:xfrm flipH="false" flipV="false" rot="0">
              <a:off x="0" y="0"/>
              <a:ext cx="19311610" cy="9108640"/>
            </a:xfrm>
            <a:custGeom>
              <a:avLst/>
              <a:gdLst/>
              <a:ahLst/>
              <a:cxnLst/>
              <a:rect r="r" b="b" t="t" l="l"/>
              <a:pathLst>
                <a:path h="9108640" w="19311610">
                  <a:moveTo>
                    <a:pt x="29636" y="0"/>
                  </a:moveTo>
                  <a:lnTo>
                    <a:pt x="19281975" y="0"/>
                  </a:lnTo>
                  <a:cubicBezTo>
                    <a:pt x="19298464" y="0"/>
                    <a:pt x="19311610" y="6449"/>
                    <a:pt x="19311610" y="14295"/>
                  </a:cubicBezTo>
                  <a:lnTo>
                    <a:pt x="19311610" y="9094346"/>
                  </a:lnTo>
                  <a:cubicBezTo>
                    <a:pt x="19311610" y="9102299"/>
                    <a:pt x="19298241" y="9108640"/>
                    <a:pt x="19281975" y="9108640"/>
                  </a:cubicBezTo>
                  <a:lnTo>
                    <a:pt x="29636" y="9108640"/>
                  </a:lnTo>
                  <a:cubicBezTo>
                    <a:pt x="13147" y="9108640"/>
                    <a:pt x="0" y="9102192"/>
                    <a:pt x="0" y="9094346"/>
                  </a:cubicBezTo>
                  <a:lnTo>
                    <a:pt x="0" y="14295"/>
                  </a:lnTo>
                  <a:cubicBezTo>
                    <a:pt x="0" y="6449"/>
                    <a:pt x="13370" y="0"/>
                    <a:pt x="29636" y="0"/>
                  </a:cubicBezTo>
                  <a:moveTo>
                    <a:pt x="29636" y="28698"/>
                  </a:moveTo>
                  <a:lnTo>
                    <a:pt x="29636" y="14295"/>
                  </a:lnTo>
                  <a:lnTo>
                    <a:pt x="59495" y="14295"/>
                  </a:lnTo>
                  <a:lnTo>
                    <a:pt x="59495" y="9094346"/>
                  </a:lnTo>
                  <a:lnTo>
                    <a:pt x="29636" y="9094346"/>
                  </a:lnTo>
                  <a:lnTo>
                    <a:pt x="29636" y="9080050"/>
                  </a:lnTo>
                  <a:lnTo>
                    <a:pt x="19281975" y="9080050"/>
                  </a:lnTo>
                  <a:lnTo>
                    <a:pt x="19281975" y="9094346"/>
                  </a:lnTo>
                  <a:lnTo>
                    <a:pt x="19252338" y="9094346"/>
                  </a:lnTo>
                  <a:lnTo>
                    <a:pt x="19252338" y="14295"/>
                  </a:lnTo>
                  <a:lnTo>
                    <a:pt x="19281975" y="14295"/>
                  </a:lnTo>
                  <a:lnTo>
                    <a:pt x="19281975" y="28698"/>
                  </a:lnTo>
                  <a:lnTo>
                    <a:pt x="29636" y="28698"/>
                  </a:lnTo>
                  <a:close/>
                </a:path>
              </a:pathLst>
            </a:custGeom>
            <a:solidFill>
              <a:srgbClr val="D0E0D0"/>
            </a:solidFill>
          </p:spPr>
        </p:sp>
      </p:grpSp>
      <p:grpSp>
        <p:nvGrpSpPr>
          <p:cNvPr name="Group 11" id="11"/>
          <p:cNvGrpSpPr/>
          <p:nvPr/>
        </p:nvGrpSpPr>
        <p:grpSpPr>
          <a:xfrm rot="0">
            <a:off x="741711" y="2223364"/>
            <a:ext cx="16517589" cy="798886"/>
            <a:chOff x="0" y="0"/>
            <a:chExt cx="22023452" cy="1065181"/>
          </a:xfrm>
        </p:grpSpPr>
        <p:sp>
          <p:nvSpPr>
            <p:cNvPr name="Freeform 12" id="12"/>
            <p:cNvSpPr/>
            <p:nvPr/>
          </p:nvSpPr>
          <p:spPr>
            <a:xfrm flipH="false" flipV="false" rot="0">
              <a:off x="33798" y="25107"/>
              <a:ext cx="21955680" cy="1014835"/>
            </a:xfrm>
            <a:custGeom>
              <a:avLst/>
              <a:gdLst/>
              <a:ahLst/>
              <a:cxnLst/>
              <a:rect r="r" b="b" t="t" l="l"/>
              <a:pathLst>
                <a:path h="1014835" w="21955680">
                  <a:moveTo>
                    <a:pt x="0" y="0"/>
                  </a:moveTo>
                  <a:lnTo>
                    <a:pt x="21955680" y="0"/>
                  </a:lnTo>
                  <a:lnTo>
                    <a:pt x="21955680" y="1014835"/>
                  </a:lnTo>
                  <a:lnTo>
                    <a:pt x="0" y="1014835"/>
                  </a:lnTo>
                  <a:close/>
                </a:path>
              </a:pathLst>
            </a:custGeom>
            <a:solidFill>
              <a:srgbClr val="FFF0F0"/>
            </a:solidFill>
          </p:spPr>
        </p:sp>
        <p:sp>
          <p:nvSpPr>
            <p:cNvPr name="Freeform 13" id="13"/>
            <p:cNvSpPr/>
            <p:nvPr/>
          </p:nvSpPr>
          <p:spPr>
            <a:xfrm flipH="false" flipV="false" rot="0">
              <a:off x="0" y="0"/>
              <a:ext cx="22023274" cy="1065051"/>
            </a:xfrm>
            <a:custGeom>
              <a:avLst/>
              <a:gdLst/>
              <a:ahLst/>
              <a:cxnLst/>
              <a:rect r="r" b="b" t="t" l="l"/>
              <a:pathLst>
                <a:path h="1065051" w="22023274">
                  <a:moveTo>
                    <a:pt x="33798" y="0"/>
                  </a:moveTo>
                  <a:lnTo>
                    <a:pt x="21989478" y="0"/>
                  </a:lnTo>
                  <a:cubicBezTo>
                    <a:pt x="22008281" y="0"/>
                    <a:pt x="22023274" y="11326"/>
                    <a:pt x="22023274" y="25107"/>
                  </a:cubicBezTo>
                  <a:lnTo>
                    <a:pt x="22023274" y="1039942"/>
                  </a:lnTo>
                  <a:cubicBezTo>
                    <a:pt x="22023274" y="1053911"/>
                    <a:pt x="22008027" y="1065049"/>
                    <a:pt x="21989478" y="1065049"/>
                  </a:cubicBezTo>
                  <a:lnTo>
                    <a:pt x="33798" y="1065049"/>
                  </a:lnTo>
                  <a:cubicBezTo>
                    <a:pt x="15247" y="1065219"/>
                    <a:pt x="0" y="1053911"/>
                    <a:pt x="0" y="1039942"/>
                  </a:cubicBezTo>
                  <a:lnTo>
                    <a:pt x="0" y="25107"/>
                  </a:lnTo>
                  <a:cubicBezTo>
                    <a:pt x="0" y="11326"/>
                    <a:pt x="15247" y="0"/>
                    <a:pt x="33798" y="0"/>
                  </a:cubicBezTo>
                  <a:moveTo>
                    <a:pt x="33798" y="50402"/>
                  </a:moveTo>
                  <a:lnTo>
                    <a:pt x="33798" y="25107"/>
                  </a:lnTo>
                  <a:lnTo>
                    <a:pt x="67849" y="25107"/>
                  </a:lnTo>
                  <a:lnTo>
                    <a:pt x="67849" y="1039942"/>
                  </a:lnTo>
                  <a:lnTo>
                    <a:pt x="33798" y="1039942"/>
                  </a:lnTo>
                  <a:lnTo>
                    <a:pt x="33798" y="1014835"/>
                  </a:lnTo>
                  <a:lnTo>
                    <a:pt x="21989478" y="1014835"/>
                  </a:lnTo>
                  <a:lnTo>
                    <a:pt x="21989478" y="1039942"/>
                  </a:lnTo>
                  <a:lnTo>
                    <a:pt x="21955680" y="1039942"/>
                  </a:lnTo>
                  <a:lnTo>
                    <a:pt x="21955680" y="25107"/>
                  </a:lnTo>
                  <a:lnTo>
                    <a:pt x="21989478" y="25107"/>
                  </a:lnTo>
                  <a:lnTo>
                    <a:pt x="21989478" y="50402"/>
                  </a:lnTo>
                  <a:lnTo>
                    <a:pt x="33798" y="50402"/>
                  </a:lnTo>
                  <a:close/>
                </a:path>
              </a:pathLst>
            </a:custGeom>
            <a:solidFill>
              <a:srgbClr val="C0392B"/>
            </a:solidFill>
          </p:spPr>
        </p:sp>
      </p:grpSp>
      <p:grpSp>
        <p:nvGrpSpPr>
          <p:cNvPr name="Group 14" id="14"/>
          <p:cNvGrpSpPr/>
          <p:nvPr/>
        </p:nvGrpSpPr>
        <p:grpSpPr>
          <a:xfrm rot="0">
            <a:off x="2384900" y="2107850"/>
            <a:ext cx="13518210" cy="914400"/>
            <a:chOff x="0" y="0"/>
            <a:chExt cx="18024281" cy="1219200"/>
          </a:xfrm>
        </p:grpSpPr>
        <p:sp>
          <p:nvSpPr>
            <p:cNvPr name="Freeform 15" id="15"/>
            <p:cNvSpPr/>
            <p:nvPr/>
          </p:nvSpPr>
          <p:spPr>
            <a:xfrm flipH="false" flipV="false" rot="0">
              <a:off x="0" y="0"/>
              <a:ext cx="18024281" cy="1219200"/>
            </a:xfrm>
            <a:custGeom>
              <a:avLst/>
              <a:gdLst/>
              <a:ahLst/>
              <a:cxnLst/>
              <a:rect r="r" b="b" t="t" l="l"/>
              <a:pathLst>
                <a:path h="1219200" w="18024281">
                  <a:moveTo>
                    <a:pt x="0" y="0"/>
                  </a:moveTo>
                  <a:lnTo>
                    <a:pt x="18024281" y="0"/>
                  </a:lnTo>
                  <a:lnTo>
                    <a:pt x="18024281" y="1219200"/>
                  </a:lnTo>
                  <a:lnTo>
                    <a:pt x="0" y="1219200"/>
                  </a:lnTo>
                  <a:close/>
                </a:path>
              </a:pathLst>
            </a:custGeom>
            <a:blipFill>
              <a:blip r:embed="rId3">
                <a:alphaModFix amt="0"/>
              </a:blip>
              <a:stretch>
                <a:fillRect l="0" t="-113674" r="43180" b="-113674"/>
              </a:stretch>
            </a:blipFill>
          </p:spPr>
        </p:sp>
        <p:sp>
          <p:nvSpPr>
            <p:cNvPr name="TextBox 16" id="16"/>
            <p:cNvSpPr txBox="true"/>
            <p:nvPr/>
          </p:nvSpPr>
          <p:spPr>
            <a:xfrm>
              <a:off x="0" y="-66675"/>
              <a:ext cx="18024281" cy="1285875"/>
            </a:xfrm>
            <a:prstGeom prst="rect">
              <a:avLst/>
            </a:prstGeom>
          </p:spPr>
          <p:txBody>
            <a:bodyPr anchor="ctr" rtlCol="false" tIns="0" lIns="0" bIns="0" rIns="0"/>
            <a:lstStyle/>
            <a:p>
              <a:pPr algn="l">
                <a:lnSpc>
                  <a:spcPts val="3719"/>
                </a:lnSpc>
              </a:pPr>
              <a:r>
                <a:rPr lang="en-US" sz="3099" b="true">
                  <a:solidFill>
                    <a:srgbClr val="1A2E1A"/>
                  </a:solidFill>
                  <a:latin typeface="Calibri (MS) Bold"/>
                  <a:ea typeface="Calibri (MS) Bold"/>
                  <a:cs typeface="Calibri (MS) Bold"/>
                  <a:sym typeface="Calibri (MS) Bold"/>
                </a:rPr>
                <a:t>max</a:t>
              </a:r>
              <a:r>
                <a:rPr lang="en-US" sz="3099" b="true">
                  <a:solidFill>
                    <a:srgbClr val="1A2E1A"/>
                  </a:solidFill>
                  <a:latin typeface="Calibri (MS) Bold"/>
                  <a:ea typeface="Calibri (MS) Bold"/>
                  <a:cs typeface="Calibri (MS) Bold"/>
                  <a:sym typeface="Calibri (MS) Bold"/>
                </a:rPr>
                <a:t>_features = nombre de variables testées à chaque split dans un arbre.</a:t>
              </a:r>
            </a:p>
          </p:txBody>
        </p:sp>
      </p:grpSp>
      <p:grpSp>
        <p:nvGrpSpPr>
          <p:cNvPr name="Group 17" id="17"/>
          <p:cNvGrpSpPr/>
          <p:nvPr/>
        </p:nvGrpSpPr>
        <p:grpSpPr>
          <a:xfrm rot="0">
            <a:off x="1028700" y="3308784"/>
            <a:ext cx="13326666" cy="2305169"/>
            <a:chOff x="0" y="0"/>
            <a:chExt cx="17768888" cy="3073559"/>
          </a:xfrm>
        </p:grpSpPr>
        <p:sp>
          <p:nvSpPr>
            <p:cNvPr name="Freeform 18" id="18"/>
            <p:cNvSpPr/>
            <p:nvPr/>
          </p:nvSpPr>
          <p:spPr>
            <a:xfrm flipH="false" flipV="false" rot="0">
              <a:off x="0" y="0"/>
              <a:ext cx="17768889" cy="3073559"/>
            </a:xfrm>
            <a:custGeom>
              <a:avLst/>
              <a:gdLst/>
              <a:ahLst/>
              <a:cxnLst/>
              <a:rect r="r" b="b" t="t" l="l"/>
              <a:pathLst>
                <a:path h="3073559" w="17768889">
                  <a:moveTo>
                    <a:pt x="0" y="0"/>
                  </a:moveTo>
                  <a:lnTo>
                    <a:pt x="17768889" y="0"/>
                  </a:lnTo>
                  <a:lnTo>
                    <a:pt x="17768889" y="3073559"/>
                  </a:lnTo>
                  <a:lnTo>
                    <a:pt x="0" y="3073559"/>
                  </a:lnTo>
                  <a:close/>
                </a:path>
              </a:pathLst>
            </a:custGeom>
            <a:blipFill>
              <a:blip r:embed="rId3">
                <a:alphaModFix amt="0"/>
              </a:blip>
              <a:stretch>
                <a:fillRect l="0" t="-43108" r="42363" b="13257"/>
              </a:stretch>
            </a:blipFill>
          </p:spPr>
        </p:sp>
        <p:sp>
          <p:nvSpPr>
            <p:cNvPr name="TextBox 19" id="19"/>
            <p:cNvSpPr txBox="true"/>
            <p:nvPr/>
          </p:nvSpPr>
          <p:spPr>
            <a:xfrm>
              <a:off x="0" y="-66675"/>
              <a:ext cx="17768888" cy="3140234"/>
            </a:xfrm>
            <a:prstGeom prst="rect">
              <a:avLst/>
            </a:prstGeom>
          </p:spPr>
          <p:txBody>
            <a:bodyPr anchor="ctr" rtlCol="false" tIns="0" lIns="0" bIns="0" rIns="0"/>
            <a:lstStyle/>
            <a:p>
              <a:pPr algn="l">
                <a:lnSpc>
                  <a:spcPts val="3359"/>
                </a:lnSpc>
              </a:pPr>
              <a:r>
                <a:rPr lang="en-US" sz="2799" i="true">
                  <a:solidFill>
                    <a:srgbClr val="2C5F2D"/>
                  </a:solidFill>
                  <a:latin typeface="Calibri (MS) Italics"/>
                  <a:ea typeface="Calibri (MS) Italics"/>
                  <a:cs typeface="Calibri (MS) Italics"/>
                  <a:sym typeface="Calibri (MS) Italics"/>
                </a:rPr>
                <a:t> </a:t>
              </a:r>
              <a:r>
                <a:rPr lang="en-US" b="true" sz="2799" i="true">
                  <a:solidFill>
                    <a:srgbClr val="2C5F2D"/>
                  </a:solidFill>
                  <a:latin typeface="Calibri (MS) Bold Italics"/>
                  <a:ea typeface="Calibri (MS) Bold Italics"/>
                  <a:cs typeface="Calibri (MS) Bold Italics"/>
                  <a:sym typeface="Calibri (MS) Bold Italics"/>
                </a:rPr>
                <a:t>Résultats expérimentaux</a:t>
              </a:r>
              <a:r>
                <a:rPr lang="en-US" b="true" sz="2799" i="true">
                  <a:solidFill>
                    <a:srgbClr val="2C5F2D"/>
                  </a:solidFill>
                  <a:latin typeface="Calibri (MS) Bold Italics"/>
                  <a:ea typeface="Calibri (MS) Bold Italics"/>
                  <a:cs typeface="Calibri (MS) Bold Italics"/>
                  <a:sym typeface="Calibri (MS) Bold Italics"/>
                </a:rPr>
                <a:t> (Pima Dataset)</a:t>
              </a:r>
            </a:p>
            <a:p>
              <a:pPr algn="l">
                <a:lnSpc>
                  <a:spcPts val="3359"/>
                </a:lnSpc>
              </a:pPr>
            </a:p>
            <a:p>
              <a:pPr algn="l">
                <a:lnSpc>
                  <a:spcPts val="3359"/>
                </a:lnSpc>
              </a:pPr>
            </a:p>
            <a:p>
              <a:pPr algn="l">
                <a:lnSpc>
                  <a:spcPts val="3359"/>
                </a:lnSpc>
              </a:pPr>
            </a:p>
            <a:p>
              <a:pPr algn="l">
                <a:lnSpc>
                  <a:spcPts val="3359"/>
                </a:lnSpc>
              </a:pPr>
            </a:p>
          </p:txBody>
        </p:sp>
      </p:grpSp>
      <p:sp>
        <p:nvSpPr>
          <p:cNvPr name="TextBox 20" id="20"/>
          <p:cNvSpPr txBox="true"/>
          <p:nvPr/>
        </p:nvSpPr>
        <p:spPr>
          <a:xfrm rot="0">
            <a:off x="601313" y="5012313"/>
            <a:ext cx="14613894" cy="504825"/>
          </a:xfrm>
          <a:prstGeom prst="rect">
            <a:avLst/>
          </a:prstGeom>
        </p:spPr>
        <p:txBody>
          <a:bodyPr anchor="t" rtlCol="false" tIns="0" lIns="0" bIns="0" rIns="0">
            <a:spAutoFit/>
          </a:bodyPr>
          <a:lstStyle/>
          <a:p>
            <a:pPr algn="l">
              <a:lnSpc>
                <a:spcPts val="3599"/>
              </a:lnSpc>
              <a:spcBef>
                <a:spcPct val="0"/>
              </a:spcBef>
            </a:pPr>
            <a:r>
              <a:rPr lang="en-US" sz="2999">
                <a:solidFill>
                  <a:srgbClr val="000000"/>
                </a:solidFill>
                <a:latin typeface="Calibri (MS)"/>
                <a:ea typeface="Calibri (MS)"/>
                <a:cs typeface="Calibri (MS)"/>
                <a:sym typeface="Calibri (MS)"/>
              </a:rPr>
              <a:t>              sq</a:t>
            </a:r>
            <a:r>
              <a:rPr lang="en-US" sz="2999">
                <a:solidFill>
                  <a:srgbClr val="000000"/>
                </a:solidFill>
                <a:latin typeface="Calibri (MS)"/>
                <a:ea typeface="Calibri (MS)"/>
                <a:cs typeface="Calibri (MS)"/>
                <a:sym typeface="Calibri (MS)"/>
              </a:rPr>
              <a:t>rt et log2 donnent exactement la même performance</a:t>
            </a:r>
          </a:p>
        </p:txBody>
      </p:sp>
      <p:grpSp>
        <p:nvGrpSpPr>
          <p:cNvPr name="Group 21" id="21"/>
          <p:cNvGrpSpPr/>
          <p:nvPr/>
        </p:nvGrpSpPr>
        <p:grpSpPr>
          <a:xfrm rot="0">
            <a:off x="1183123" y="5631438"/>
            <a:ext cx="15420337" cy="2222768"/>
            <a:chOff x="0" y="0"/>
            <a:chExt cx="20560450" cy="2963690"/>
          </a:xfrm>
        </p:grpSpPr>
        <p:sp>
          <p:nvSpPr>
            <p:cNvPr name="Freeform 22" id="22"/>
            <p:cNvSpPr/>
            <p:nvPr/>
          </p:nvSpPr>
          <p:spPr>
            <a:xfrm flipH="false" flipV="false" rot="0">
              <a:off x="33799" y="39950"/>
              <a:ext cx="20492676" cy="2883581"/>
            </a:xfrm>
            <a:custGeom>
              <a:avLst/>
              <a:gdLst/>
              <a:ahLst/>
              <a:cxnLst/>
              <a:rect r="r" b="b" t="t" l="l"/>
              <a:pathLst>
                <a:path h="2883581" w="20492676">
                  <a:moveTo>
                    <a:pt x="0" y="0"/>
                  </a:moveTo>
                  <a:lnTo>
                    <a:pt x="20492675" y="0"/>
                  </a:lnTo>
                  <a:lnTo>
                    <a:pt x="20492675" y="2883580"/>
                  </a:lnTo>
                  <a:lnTo>
                    <a:pt x="0" y="2883580"/>
                  </a:lnTo>
                  <a:close/>
                </a:path>
              </a:pathLst>
            </a:custGeom>
            <a:solidFill>
              <a:srgbClr val="E8F5E8"/>
            </a:solidFill>
          </p:spPr>
        </p:sp>
        <p:sp>
          <p:nvSpPr>
            <p:cNvPr name="Freeform 23" id="23"/>
            <p:cNvSpPr/>
            <p:nvPr/>
          </p:nvSpPr>
          <p:spPr>
            <a:xfrm flipH="false" flipV="false" rot="0">
              <a:off x="0" y="0"/>
              <a:ext cx="20560272" cy="2963483"/>
            </a:xfrm>
            <a:custGeom>
              <a:avLst/>
              <a:gdLst/>
              <a:ahLst/>
              <a:cxnLst/>
              <a:rect r="r" b="b" t="t" l="l"/>
              <a:pathLst>
                <a:path h="2963483" w="20560272">
                  <a:moveTo>
                    <a:pt x="33799" y="0"/>
                  </a:moveTo>
                  <a:lnTo>
                    <a:pt x="20526474" y="0"/>
                  </a:lnTo>
                  <a:cubicBezTo>
                    <a:pt x="20545279" y="0"/>
                    <a:pt x="20560272" y="18022"/>
                    <a:pt x="20560272" y="39950"/>
                  </a:cubicBezTo>
                  <a:lnTo>
                    <a:pt x="20560272" y="2923530"/>
                  </a:lnTo>
                  <a:cubicBezTo>
                    <a:pt x="20560272" y="2945758"/>
                    <a:pt x="20545025" y="2963480"/>
                    <a:pt x="20526474" y="2963480"/>
                  </a:cubicBezTo>
                  <a:lnTo>
                    <a:pt x="33799" y="2963480"/>
                  </a:lnTo>
                  <a:cubicBezTo>
                    <a:pt x="15248" y="2963728"/>
                    <a:pt x="0" y="2945758"/>
                    <a:pt x="0" y="2923530"/>
                  </a:cubicBezTo>
                  <a:lnTo>
                    <a:pt x="0" y="39950"/>
                  </a:lnTo>
                  <a:cubicBezTo>
                    <a:pt x="0" y="18022"/>
                    <a:pt x="15248" y="0"/>
                    <a:pt x="33799" y="0"/>
                  </a:cubicBezTo>
                  <a:moveTo>
                    <a:pt x="33799" y="80200"/>
                  </a:moveTo>
                  <a:lnTo>
                    <a:pt x="33799" y="39950"/>
                  </a:lnTo>
                  <a:lnTo>
                    <a:pt x="67851" y="39950"/>
                  </a:lnTo>
                  <a:lnTo>
                    <a:pt x="67851" y="2923530"/>
                  </a:lnTo>
                  <a:lnTo>
                    <a:pt x="33799" y="2923530"/>
                  </a:lnTo>
                  <a:lnTo>
                    <a:pt x="33799" y="2883581"/>
                  </a:lnTo>
                  <a:lnTo>
                    <a:pt x="20526474" y="2883581"/>
                  </a:lnTo>
                  <a:lnTo>
                    <a:pt x="20526474" y="2923530"/>
                  </a:lnTo>
                  <a:lnTo>
                    <a:pt x="20492675" y="2923530"/>
                  </a:lnTo>
                  <a:lnTo>
                    <a:pt x="20492675" y="39950"/>
                  </a:lnTo>
                  <a:lnTo>
                    <a:pt x="20526474" y="39950"/>
                  </a:lnTo>
                  <a:lnTo>
                    <a:pt x="20526474" y="80200"/>
                  </a:lnTo>
                  <a:lnTo>
                    <a:pt x="33799" y="80200"/>
                  </a:lnTo>
                  <a:close/>
                </a:path>
              </a:pathLst>
            </a:custGeom>
            <a:solidFill>
              <a:srgbClr val="5B9E3D"/>
            </a:solidFill>
          </p:spPr>
        </p:sp>
      </p:grpSp>
      <p:grpSp>
        <p:nvGrpSpPr>
          <p:cNvPr name="Group 24" id="24"/>
          <p:cNvGrpSpPr/>
          <p:nvPr/>
        </p:nvGrpSpPr>
        <p:grpSpPr>
          <a:xfrm rot="0">
            <a:off x="-12697" y="-12697"/>
            <a:ext cx="354587" cy="1525019"/>
            <a:chOff x="0" y="0"/>
            <a:chExt cx="472783" cy="2033359"/>
          </a:xfrm>
        </p:grpSpPr>
        <p:sp>
          <p:nvSpPr>
            <p:cNvPr name="Freeform 25" id="25"/>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26" id="26"/>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
        <p:nvSpPr>
          <p:cNvPr name="Freeform 27" id="27"/>
          <p:cNvSpPr/>
          <p:nvPr/>
        </p:nvSpPr>
        <p:spPr>
          <a:xfrm flipH="false" flipV="false" rot="0">
            <a:off x="1188048" y="5059504"/>
            <a:ext cx="457634" cy="457634"/>
          </a:xfrm>
          <a:custGeom>
            <a:avLst/>
            <a:gdLst/>
            <a:ahLst/>
            <a:cxnLst/>
            <a:rect r="r" b="b" t="t" l="l"/>
            <a:pathLst>
              <a:path h="457634" w="457634">
                <a:moveTo>
                  <a:pt x="0" y="0"/>
                </a:moveTo>
                <a:lnTo>
                  <a:pt x="457633" y="0"/>
                </a:lnTo>
                <a:lnTo>
                  <a:pt x="457633" y="457634"/>
                </a:lnTo>
                <a:lnTo>
                  <a:pt x="0" y="457634"/>
                </a:lnTo>
                <a:lnTo>
                  <a:pt x="0" y="0"/>
                </a:lnTo>
                <a:close/>
              </a:path>
            </a:pathLst>
          </a:custGeom>
          <a:blipFill>
            <a:blip r:embed="rId4"/>
            <a:stretch>
              <a:fillRect l="0" t="0" r="0" b="0"/>
            </a:stretch>
          </a:blipFill>
        </p:spPr>
      </p:sp>
      <p:sp>
        <p:nvSpPr>
          <p:cNvPr name="Freeform 28" id="28"/>
          <p:cNvSpPr/>
          <p:nvPr/>
        </p:nvSpPr>
        <p:spPr>
          <a:xfrm flipH="false" flipV="false" rot="0">
            <a:off x="10479802" y="3337359"/>
            <a:ext cx="6099583" cy="1880009"/>
          </a:xfrm>
          <a:custGeom>
            <a:avLst/>
            <a:gdLst/>
            <a:ahLst/>
            <a:cxnLst/>
            <a:rect r="r" b="b" t="t" l="l"/>
            <a:pathLst>
              <a:path h="1880009" w="6099583">
                <a:moveTo>
                  <a:pt x="0" y="0"/>
                </a:moveTo>
                <a:lnTo>
                  <a:pt x="6099583" y="0"/>
                </a:lnTo>
                <a:lnTo>
                  <a:pt x="6099583" y="1880008"/>
                </a:lnTo>
                <a:lnTo>
                  <a:pt x="0" y="1880008"/>
                </a:lnTo>
                <a:lnTo>
                  <a:pt x="0" y="0"/>
                </a:lnTo>
                <a:close/>
              </a:path>
            </a:pathLst>
          </a:custGeom>
          <a:blipFill>
            <a:blip r:embed="rId5"/>
            <a:stretch>
              <a:fillRect l="0" t="0" r="0" b="0"/>
            </a:stretch>
          </a:blipFill>
        </p:spPr>
      </p:sp>
      <p:sp>
        <p:nvSpPr>
          <p:cNvPr name="TextBox 29" id="29"/>
          <p:cNvSpPr txBox="true"/>
          <p:nvPr/>
        </p:nvSpPr>
        <p:spPr>
          <a:xfrm rot="0">
            <a:off x="1077731" y="6006355"/>
            <a:ext cx="15525730" cy="1847850"/>
          </a:xfrm>
          <a:prstGeom prst="rect">
            <a:avLst/>
          </a:prstGeom>
        </p:spPr>
        <p:txBody>
          <a:bodyPr anchor="t" rtlCol="false" tIns="0" lIns="0" bIns="0" rIns="0">
            <a:spAutoFit/>
          </a:bodyPr>
          <a:lstStyle/>
          <a:p>
            <a:pPr algn="l" marL="647697" indent="-323848" lvl="1">
              <a:lnSpc>
                <a:spcPts val="3599"/>
              </a:lnSpc>
              <a:buFont typeface="Arial"/>
              <a:buChar char="•"/>
            </a:pPr>
            <a:r>
              <a:rPr lang="en-US" sz="2999">
                <a:solidFill>
                  <a:srgbClr val="000000"/>
                </a:solidFill>
                <a:latin typeface="Calibri (MS)"/>
                <a:ea typeface="Calibri (MS)"/>
                <a:cs typeface="Calibri (MS)"/>
                <a:sym typeface="Calibri (MS)"/>
              </a:rPr>
              <a:t>A</a:t>
            </a:r>
            <a:r>
              <a:rPr lang="en-US" sz="2999">
                <a:solidFill>
                  <a:srgbClr val="000000"/>
                </a:solidFill>
                <a:latin typeface="Calibri (MS)"/>
                <a:ea typeface="Calibri (MS)"/>
                <a:cs typeface="Calibri (MS)"/>
                <a:sym typeface="Calibri (MS)"/>
              </a:rPr>
              <a:t>ugm</a:t>
            </a:r>
            <a:r>
              <a:rPr lang="en-US" sz="2999">
                <a:solidFill>
                  <a:srgbClr val="000000"/>
                </a:solidFill>
                <a:latin typeface="Calibri (MS)"/>
                <a:ea typeface="Calibri (MS)"/>
                <a:cs typeface="Calibri (MS)"/>
                <a:sym typeface="Calibri (MS)"/>
              </a:rPr>
              <a:t>e</a:t>
            </a:r>
            <a:r>
              <a:rPr lang="en-US" sz="2999">
                <a:solidFill>
                  <a:srgbClr val="000000"/>
                </a:solidFill>
                <a:latin typeface="Calibri (MS)"/>
                <a:ea typeface="Calibri (MS)"/>
                <a:cs typeface="Calibri (MS)"/>
                <a:sym typeface="Calibri (MS)"/>
              </a:rPr>
              <a:t>n</a:t>
            </a:r>
            <a:r>
              <a:rPr lang="en-US" sz="2999">
                <a:solidFill>
                  <a:srgbClr val="000000"/>
                </a:solidFill>
                <a:latin typeface="Calibri (MS)"/>
                <a:ea typeface="Calibri (MS)"/>
                <a:cs typeface="Calibri (MS)"/>
                <a:sym typeface="Calibri (MS)"/>
              </a:rPr>
              <a:t>te</a:t>
            </a:r>
            <a:r>
              <a:rPr lang="en-US" sz="2999">
                <a:solidFill>
                  <a:srgbClr val="000000"/>
                </a:solidFill>
                <a:latin typeface="Calibri (MS)"/>
                <a:ea typeface="Calibri (MS)"/>
                <a:cs typeface="Calibri (MS)"/>
                <a:sym typeface="Calibri (MS)"/>
              </a:rPr>
              <a:t>r</a:t>
            </a:r>
            <a:r>
              <a:rPr lang="en-US" sz="2999">
                <a:solidFill>
                  <a:srgbClr val="000000"/>
                </a:solidFill>
                <a:latin typeface="Calibri (MS)"/>
                <a:ea typeface="Calibri (MS)"/>
                <a:cs typeface="Calibri (MS)"/>
                <a:sym typeface="Calibri (MS)"/>
              </a:rPr>
              <a:t> l</a:t>
            </a:r>
            <a:r>
              <a:rPr lang="en-US" sz="2999">
                <a:solidFill>
                  <a:srgbClr val="000000"/>
                </a:solidFill>
                <a:latin typeface="Calibri (MS)"/>
                <a:ea typeface="Calibri (MS)"/>
                <a:cs typeface="Calibri (MS)"/>
                <a:sym typeface="Calibri (MS)"/>
              </a:rPr>
              <a:t>ég</a:t>
            </a:r>
            <a:r>
              <a:rPr lang="en-US" sz="2999">
                <a:solidFill>
                  <a:srgbClr val="000000"/>
                </a:solidFill>
                <a:latin typeface="Calibri (MS)"/>
                <a:ea typeface="Calibri (MS)"/>
                <a:cs typeface="Calibri (MS)"/>
                <a:sym typeface="Calibri (MS)"/>
              </a:rPr>
              <a:t>èrement </a:t>
            </a:r>
            <a:r>
              <a:rPr lang="en-US" sz="2999">
                <a:solidFill>
                  <a:srgbClr val="000000"/>
                </a:solidFill>
                <a:latin typeface="Calibri (MS)"/>
                <a:ea typeface="Calibri (MS)"/>
                <a:cs typeface="Calibri (MS)"/>
                <a:sym typeface="Calibri (MS)"/>
              </a:rPr>
              <a:t>max_fe</a:t>
            </a:r>
            <a:r>
              <a:rPr lang="en-US" sz="2999">
                <a:solidFill>
                  <a:srgbClr val="000000"/>
                </a:solidFill>
                <a:latin typeface="Calibri (MS)"/>
                <a:ea typeface="Calibri (MS)"/>
                <a:cs typeface="Calibri (MS)"/>
                <a:sym typeface="Calibri (MS)"/>
              </a:rPr>
              <a:t>a</a:t>
            </a:r>
            <a:r>
              <a:rPr lang="en-US" sz="2999">
                <a:solidFill>
                  <a:srgbClr val="000000"/>
                </a:solidFill>
                <a:latin typeface="Calibri (MS)"/>
                <a:ea typeface="Calibri (MS)"/>
                <a:cs typeface="Calibri (MS)"/>
                <a:sym typeface="Calibri (MS)"/>
              </a:rPr>
              <a:t>tu</a:t>
            </a:r>
            <a:r>
              <a:rPr lang="en-US" sz="2999">
                <a:solidFill>
                  <a:srgbClr val="000000"/>
                </a:solidFill>
                <a:latin typeface="Calibri (MS)"/>
                <a:ea typeface="Calibri (MS)"/>
                <a:cs typeface="Calibri (MS)"/>
                <a:sym typeface="Calibri (MS)"/>
              </a:rPr>
              <a:t>res a</a:t>
            </a:r>
            <a:r>
              <a:rPr lang="en-US" sz="2999">
                <a:solidFill>
                  <a:srgbClr val="000000"/>
                </a:solidFill>
                <a:latin typeface="Calibri (MS)"/>
                <a:ea typeface="Calibri (MS)"/>
                <a:cs typeface="Calibri (MS)"/>
                <a:sym typeface="Calibri (MS)"/>
              </a:rPr>
              <a:t>mé</a:t>
            </a:r>
            <a:r>
              <a:rPr lang="en-US" sz="2999">
                <a:solidFill>
                  <a:srgbClr val="000000"/>
                </a:solidFill>
                <a:latin typeface="Calibri (MS)"/>
                <a:ea typeface="Calibri (MS)"/>
                <a:cs typeface="Calibri (MS)"/>
                <a:sym typeface="Calibri (MS)"/>
              </a:rPr>
              <a:t>lio</a:t>
            </a:r>
            <a:r>
              <a:rPr lang="en-US" sz="2999">
                <a:solidFill>
                  <a:srgbClr val="000000"/>
                </a:solidFill>
                <a:latin typeface="Calibri (MS)"/>
                <a:ea typeface="Calibri (MS)"/>
                <a:cs typeface="Calibri (MS)"/>
                <a:sym typeface="Calibri (MS)"/>
              </a:rPr>
              <a:t>re</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l</a:t>
            </a:r>
            <a:r>
              <a:rPr lang="en-US" sz="2999">
                <a:solidFill>
                  <a:srgbClr val="000000"/>
                </a:solidFill>
                <a:latin typeface="Calibri (MS)"/>
                <a:ea typeface="Calibri (MS)"/>
                <a:cs typeface="Calibri (MS)"/>
                <a:sym typeface="Calibri (MS)"/>
              </a:rPr>
              <a:t>e recall </a:t>
            </a:r>
            <a:r>
              <a:rPr lang="en-US" sz="2999">
                <a:solidFill>
                  <a:srgbClr val="000000"/>
                </a:solidFill>
                <a:latin typeface="Calibri (MS)"/>
                <a:ea typeface="Calibri (MS)"/>
                <a:cs typeface="Calibri (MS)"/>
                <a:sym typeface="Calibri (MS)"/>
              </a:rPr>
              <a:t>(jusqu’à 3</a:t>
            </a:r>
            <a:r>
              <a:rPr lang="en-US" sz="2999">
                <a:solidFill>
                  <a:srgbClr val="000000"/>
                </a:solidFill>
                <a:latin typeface="Calibri (MS)"/>
                <a:ea typeface="Calibri (MS)"/>
                <a:cs typeface="Calibri (MS)"/>
                <a:sym typeface="Calibri (MS)"/>
              </a:rPr>
              <a:t> v</a:t>
            </a:r>
            <a:r>
              <a:rPr lang="en-US" sz="2999">
                <a:solidFill>
                  <a:srgbClr val="000000"/>
                </a:solidFill>
                <a:latin typeface="Calibri (MS)"/>
                <a:ea typeface="Calibri (MS)"/>
                <a:cs typeface="Calibri (MS)"/>
                <a:sym typeface="Calibri (MS)"/>
              </a:rPr>
              <a:t>ar</a:t>
            </a:r>
            <a:r>
              <a:rPr lang="en-US" sz="2999">
                <a:solidFill>
                  <a:srgbClr val="000000"/>
                </a:solidFill>
                <a:latin typeface="Calibri (MS)"/>
                <a:ea typeface="Calibri (MS)"/>
                <a:cs typeface="Calibri (MS)"/>
                <a:sym typeface="Calibri (MS)"/>
              </a:rPr>
              <a:t>i</a:t>
            </a:r>
            <a:r>
              <a:rPr lang="en-US" sz="2999">
                <a:solidFill>
                  <a:srgbClr val="000000"/>
                </a:solidFill>
                <a:latin typeface="Calibri (MS)"/>
                <a:ea typeface="Calibri (MS)"/>
                <a:cs typeface="Calibri (MS)"/>
                <a:sym typeface="Calibri (MS)"/>
              </a:rPr>
              <a:t>ab</a:t>
            </a:r>
            <a:r>
              <a:rPr lang="en-US" sz="2999">
                <a:solidFill>
                  <a:srgbClr val="000000"/>
                </a:solidFill>
                <a:latin typeface="Calibri (MS)"/>
                <a:ea typeface="Calibri (MS)"/>
                <a:cs typeface="Calibri (MS)"/>
                <a:sym typeface="Calibri (MS)"/>
              </a:rPr>
              <a:t>l</a:t>
            </a:r>
            <a:r>
              <a:rPr lang="en-US" sz="2999">
                <a:solidFill>
                  <a:srgbClr val="000000"/>
                </a:solidFill>
                <a:latin typeface="Calibri (MS)"/>
                <a:ea typeface="Calibri (MS)"/>
                <a:cs typeface="Calibri (MS)"/>
                <a:sym typeface="Calibri (MS)"/>
              </a:rPr>
              <a:t>e</a:t>
            </a:r>
            <a:r>
              <a:rPr lang="en-US" sz="2999">
                <a:solidFill>
                  <a:srgbClr val="000000"/>
                </a:solidFill>
                <a:latin typeface="Calibri (MS)"/>
                <a:ea typeface="Calibri (MS)"/>
                <a:cs typeface="Calibri (MS)"/>
                <a:sym typeface="Calibri (MS)"/>
              </a:rPr>
              <a:t>s</a:t>
            </a:r>
            <a:r>
              <a:rPr lang="en-US" sz="2999">
                <a:solidFill>
                  <a:srgbClr val="000000"/>
                </a:solidFill>
                <a:latin typeface="Calibri (MS)"/>
                <a:ea typeface="Calibri (MS)"/>
                <a:cs typeface="Calibri (MS)"/>
                <a:sym typeface="Calibri (MS)"/>
              </a:rPr>
              <a:t>)</a:t>
            </a:r>
          </a:p>
          <a:p>
            <a:pPr algn="l" marL="647697" indent="-323848" lvl="1">
              <a:lnSpc>
                <a:spcPts val="3599"/>
              </a:lnSpc>
              <a:buFont typeface="Arial"/>
              <a:buChar char="•"/>
            </a:pPr>
            <a:r>
              <a:rPr lang="en-US" sz="2999">
                <a:solidFill>
                  <a:srgbClr val="000000"/>
                </a:solidFill>
                <a:latin typeface="Calibri (MS)"/>
                <a:ea typeface="Calibri (MS)"/>
                <a:cs typeface="Calibri (MS)"/>
                <a:sym typeface="Calibri (MS)"/>
              </a:rPr>
              <a:t>T</a:t>
            </a:r>
            <a:r>
              <a:rPr lang="en-US" sz="2999">
                <a:solidFill>
                  <a:srgbClr val="000000"/>
                </a:solidFill>
                <a:latin typeface="Calibri (MS)"/>
                <a:ea typeface="Calibri (MS)"/>
                <a:cs typeface="Calibri (MS)"/>
                <a:sym typeface="Calibri (MS)"/>
              </a:rPr>
              <a:t>r</a:t>
            </a:r>
            <a:r>
              <a:rPr lang="en-US" sz="2999">
                <a:solidFill>
                  <a:srgbClr val="000000"/>
                </a:solidFill>
                <a:latin typeface="Calibri (MS)"/>
                <a:ea typeface="Calibri (MS)"/>
                <a:cs typeface="Calibri (MS)"/>
                <a:sym typeface="Calibri (MS)"/>
              </a:rPr>
              <a:t>op p</a:t>
            </a:r>
            <a:r>
              <a:rPr lang="en-US" sz="2999">
                <a:solidFill>
                  <a:srgbClr val="000000"/>
                </a:solidFill>
                <a:latin typeface="Calibri (MS)"/>
                <a:ea typeface="Calibri (MS)"/>
                <a:cs typeface="Calibri (MS)"/>
                <a:sym typeface="Calibri (MS)"/>
              </a:rPr>
              <a:t>e</a:t>
            </a:r>
            <a:r>
              <a:rPr lang="en-US" sz="2999">
                <a:solidFill>
                  <a:srgbClr val="000000"/>
                </a:solidFill>
                <a:latin typeface="Calibri (MS)"/>
                <a:ea typeface="Calibri (MS)"/>
                <a:cs typeface="Calibri (MS)"/>
                <a:sym typeface="Calibri (MS)"/>
              </a:rPr>
              <a:t>u</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de</a:t>
            </a:r>
            <a:r>
              <a:rPr lang="en-US" sz="2999">
                <a:solidFill>
                  <a:srgbClr val="000000"/>
                </a:solidFill>
                <a:latin typeface="Calibri (MS)"/>
                <a:ea typeface="Calibri (MS)"/>
                <a:cs typeface="Calibri (MS)"/>
                <a:sym typeface="Calibri (MS)"/>
              </a:rPr>
              <a:t> variables </a:t>
            </a:r>
            <a:r>
              <a:rPr lang="en-US" sz="2999">
                <a:solidFill>
                  <a:srgbClr val="000000"/>
                </a:solidFill>
                <a:latin typeface="Calibri (MS)"/>
                <a:ea typeface="Calibri (MS)"/>
                <a:cs typeface="Calibri (MS)"/>
                <a:sym typeface="Calibri (MS)"/>
              </a:rPr>
              <a:t>(=1) →</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p</a:t>
            </a:r>
            <a:r>
              <a:rPr lang="en-US" sz="2999">
                <a:solidFill>
                  <a:srgbClr val="000000"/>
                </a:solidFill>
                <a:latin typeface="Calibri (MS)"/>
                <a:ea typeface="Calibri (MS)"/>
                <a:cs typeface="Calibri (MS)"/>
                <a:sym typeface="Calibri (MS)"/>
              </a:rPr>
              <a:t>er</a:t>
            </a:r>
            <a:r>
              <a:rPr lang="en-US" sz="2999">
                <a:solidFill>
                  <a:srgbClr val="000000"/>
                </a:solidFill>
                <a:latin typeface="Calibri (MS)"/>
                <a:ea typeface="Calibri (MS)"/>
                <a:cs typeface="Calibri (MS)"/>
                <a:sym typeface="Calibri (MS)"/>
              </a:rPr>
              <a:t>t</a:t>
            </a:r>
            <a:r>
              <a:rPr lang="en-US" sz="2999">
                <a:solidFill>
                  <a:srgbClr val="000000"/>
                </a:solidFill>
                <a:latin typeface="Calibri (MS)"/>
                <a:ea typeface="Calibri (MS)"/>
                <a:cs typeface="Calibri (MS)"/>
                <a:sym typeface="Calibri (MS)"/>
              </a:rPr>
              <a:t>e </a:t>
            </a:r>
            <a:r>
              <a:rPr lang="en-US" sz="2999">
                <a:solidFill>
                  <a:srgbClr val="000000"/>
                </a:solidFill>
                <a:latin typeface="Calibri (MS)"/>
                <a:ea typeface="Calibri (MS)"/>
                <a:cs typeface="Calibri (MS)"/>
                <a:sym typeface="Calibri (MS)"/>
              </a:rPr>
              <a:t>import</a:t>
            </a:r>
            <a:r>
              <a:rPr lang="en-US" sz="2999">
                <a:solidFill>
                  <a:srgbClr val="000000"/>
                </a:solidFill>
                <a:latin typeface="Calibri (MS)"/>
                <a:ea typeface="Calibri (MS)"/>
                <a:cs typeface="Calibri (MS)"/>
                <a:sym typeface="Calibri (MS)"/>
              </a:rPr>
              <a:t>ante </a:t>
            </a:r>
            <a:r>
              <a:rPr lang="en-US" sz="2999">
                <a:solidFill>
                  <a:srgbClr val="000000"/>
                </a:solidFill>
                <a:latin typeface="Calibri (MS)"/>
                <a:ea typeface="Calibri (MS)"/>
                <a:cs typeface="Calibri (MS)"/>
                <a:sym typeface="Calibri (MS)"/>
              </a:rPr>
              <a:t>d’</a:t>
            </a:r>
            <a:r>
              <a:rPr lang="en-US" sz="2999">
                <a:solidFill>
                  <a:srgbClr val="000000"/>
                </a:solidFill>
                <a:latin typeface="Calibri (MS)"/>
                <a:ea typeface="Calibri (MS)"/>
                <a:cs typeface="Calibri (MS)"/>
                <a:sym typeface="Calibri (MS)"/>
              </a:rPr>
              <a:t>inf</a:t>
            </a:r>
            <a:r>
              <a:rPr lang="en-US" sz="2999">
                <a:solidFill>
                  <a:srgbClr val="000000"/>
                </a:solidFill>
                <a:latin typeface="Calibri (MS)"/>
                <a:ea typeface="Calibri (MS)"/>
                <a:cs typeface="Calibri (MS)"/>
                <a:sym typeface="Calibri (MS)"/>
              </a:rPr>
              <a:t>ormat</a:t>
            </a:r>
            <a:r>
              <a:rPr lang="en-US" sz="2999">
                <a:solidFill>
                  <a:srgbClr val="000000"/>
                </a:solidFill>
                <a:latin typeface="Calibri (MS)"/>
                <a:ea typeface="Calibri (MS)"/>
                <a:cs typeface="Calibri (MS)"/>
                <a:sym typeface="Calibri (MS)"/>
              </a:rPr>
              <a:t>i</a:t>
            </a:r>
            <a:r>
              <a:rPr lang="en-US" sz="2999">
                <a:solidFill>
                  <a:srgbClr val="000000"/>
                </a:solidFill>
                <a:latin typeface="Calibri (MS)"/>
                <a:ea typeface="Calibri (MS)"/>
                <a:cs typeface="Calibri (MS)"/>
                <a:sym typeface="Calibri (MS)"/>
              </a:rPr>
              <a:t>on</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a:t>
            </a:r>
            <a:r>
              <a:rPr lang="en-US" sz="2999">
                <a:solidFill>
                  <a:srgbClr val="000000"/>
                </a:solidFill>
                <a:latin typeface="Calibri (MS)"/>
                <a:ea typeface="Calibri (MS)"/>
                <a:cs typeface="Calibri (MS)"/>
                <a:sym typeface="Calibri (MS)"/>
              </a:rPr>
              <a:t> re</a:t>
            </a:r>
            <a:r>
              <a:rPr lang="en-US" sz="2999">
                <a:solidFill>
                  <a:srgbClr val="000000"/>
                </a:solidFill>
                <a:latin typeface="Calibri (MS)"/>
                <a:ea typeface="Calibri (MS)"/>
                <a:cs typeface="Calibri (MS)"/>
                <a:sym typeface="Calibri (MS)"/>
              </a:rPr>
              <a:t>call</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faib</a:t>
            </a:r>
            <a:r>
              <a:rPr lang="en-US" sz="2999">
                <a:solidFill>
                  <a:srgbClr val="000000"/>
                </a:solidFill>
                <a:latin typeface="Calibri (MS)"/>
                <a:ea typeface="Calibri (MS)"/>
                <a:cs typeface="Calibri (MS)"/>
                <a:sym typeface="Calibri (MS)"/>
              </a:rPr>
              <a:t>le</a:t>
            </a:r>
          </a:p>
          <a:p>
            <a:pPr algn="l" marL="647697" indent="-323848" lvl="1">
              <a:lnSpc>
                <a:spcPts val="3599"/>
              </a:lnSpc>
              <a:buFont typeface="Arial"/>
              <a:buChar char="•"/>
            </a:pPr>
            <a:r>
              <a:rPr lang="en-US" sz="2999">
                <a:solidFill>
                  <a:srgbClr val="000000"/>
                </a:solidFill>
                <a:latin typeface="Calibri (MS)"/>
                <a:ea typeface="Calibri (MS)"/>
                <a:cs typeface="Calibri (MS)"/>
                <a:sym typeface="Calibri (MS)"/>
              </a:rPr>
              <a:t>Tr</a:t>
            </a:r>
            <a:r>
              <a:rPr lang="en-US" sz="2999">
                <a:solidFill>
                  <a:srgbClr val="000000"/>
                </a:solidFill>
                <a:latin typeface="Calibri (MS)"/>
                <a:ea typeface="Calibri (MS)"/>
                <a:cs typeface="Calibri (MS)"/>
                <a:sym typeface="Calibri (MS)"/>
              </a:rPr>
              <a:t>op de variables </a:t>
            </a:r>
            <a:r>
              <a:rPr lang="en-US" sz="2999">
                <a:solidFill>
                  <a:srgbClr val="000000"/>
                </a:solidFill>
                <a:latin typeface="Calibri (MS)"/>
                <a:ea typeface="Calibri (MS)"/>
                <a:cs typeface="Calibri (MS)"/>
                <a:sym typeface="Calibri (MS)"/>
              </a:rPr>
              <a:t>→</a:t>
            </a:r>
            <a:r>
              <a:rPr lang="en-US" sz="2999">
                <a:solidFill>
                  <a:srgbClr val="000000"/>
                </a:solidFill>
                <a:latin typeface="Calibri (MS)"/>
                <a:ea typeface="Calibri (MS)"/>
                <a:cs typeface="Calibri (MS)"/>
                <a:sym typeface="Calibri (MS)"/>
              </a:rPr>
              <a:t> </a:t>
            </a:r>
            <a:r>
              <a:rPr lang="en-US" sz="2999">
                <a:solidFill>
                  <a:srgbClr val="000000"/>
                </a:solidFill>
                <a:latin typeface="Calibri (MS)"/>
                <a:ea typeface="Calibri (MS)"/>
                <a:cs typeface="Calibri (MS)"/>
                <a:sym typeface="Calibri (MS)"/>
              </a:rPr>
              <a:t>p</a:t>
            </a:r>
            <a:r>
              <a:rPr lang="en-US" sz="2999">
                <a:solidFill>
                  <a:srgbClr val="000000"/>
                </a:solidFill>
                <a:latin typeface="Calibri (MS)"/>
                <a:ea typeface="Calibri (MS)"/>
                <a:cs typeface="Calibri (MS)"/>
                <a:sym typeface="Calibri (MS)"/>
              </a:rPr>
              <a:t>as de </a:t>
            </a:r>
            <a:r>
              <a:rPr lang="en-US" sz="2999">
                <a:solidFill>
                  <a:srgbClr val="000000"/>
                </a:solidFill>
                <a:latin typeface="Calibri (MS)"/>
                <a:ea typeface="Calibri (MS)"/>
                <a:cs typeface="Calibri (MS)"/>
                <a:sym typeface="Calibri (MS)"/>
              </a:rPr>
              <a:t>g</a:t>
            </a:r>
            <a:r>
              <a:rPr lang="en-US" sz="2999">
                <a:solidFill>
                  <a:srgbClr val="000000"/>
                </a:solidFill>
                <a:latin typeface="Calibri (MS)"/>
                <a:ea typeface="Calibri (MS)"/>
                <a:cs typeface="Calibri (MS)"/>
                <a:sym typeface="Calibri (MS)"/>
              </a:rPr>
              <a:t>a</a:t>
            </a:r>
            <a:r>
              <a:rPr lang="en-US" sz="2999">
                <a:solidFill>
                  <a:srgbClr val="000000"/>
                </a:solidFill>
                <a:latin typeface="Calibri (MS)"/>
                <a:ea typeface="Calibri (MS)"/>
                <a:cs typeface="Calibri (MS)"/>
                <a:sym typeface="Calibri (MS)"/>
              </a:rPr>
              <a:t>in</a:t>
            </a:r>
            <a:r>
              <a:rPr lang="en-US" sz="2999">
                <a:solidFill>
                  <a:srgbClr val="000000"/>
                </a:solidFill>
                <a:latin typeface="Calibri (MS)"/>
                <a:ea typeface="Calibri (MS)"/>
                <a:cs typeface="Calibri (MS)"/>
                <a:sym typeface="Calibri (MS)"/>
              </a:rPr>
              <a:t> si</a:t>
            </a:r>
            <a:r>
              <a:rPr lang="en-US" sz="2999">
                <a:solidFill>
                  <a:srgbClr val="000000"/>
                </a:solidFill>
                <a:latin typeface="Calibri (MS)"/>
                <a:ea typeface="Calibri (MS)"/>
                <a:cs typeface="Calibri (MS)"/>
                <a:sym typeface="Calibri (MS)"/>
              </a:rPr>
              <a:t>gn</a:t>
            </a:r>
            <a:r>
              <a:rPr lang="en-US" sz="2999">
                <a:solidFill>
                  <a:srgbClr val="000000"/>
                </a:solidFill>
                <a:latin typeface="Calibri (MS)"/>
                <a:ea typeface="Calibri (MS)"/>
                <a:cs typeface="Calibri (MS)"/>
                <a:sym typeface="Calibri (MS)"/>
              </a:rPr>
              <a:t>ifi</a:t>
            </a:r>
            <a:r>
              <a:rPr lang="en-US" sz="2999">
                <a:solidFill>
                  <a:srgbClr val="000000"/>
                </a:solidFill>
                <a:latin typeface="Calibri (MS)"/>
                <a:ea typeface="Calibri (MS)"/>
                <a:cs typeface="Calibri (MS)"/>
                <a:sym typeface="Calibri (MS)"/>
              </a:rPr>
              <a:t>c</a:t>
            </a:r>
            <a:r>
              <a:rPr lang="en-US" sz="2999">
                <a:solidFill>
                  <a:srgbClr val="000000"/>
                </a:solidFill>
                <a:latin typeface="Calibri (MS)"/>
                <a:ea typeface="Calibri (MS)"/>
                <a:cs typeface="Calibri (MS)"/>
                <a:sym typeface="Calibri (MS)"/>
              </a:rPr>
              <a:t>ati</a:t>
            </a:r>
            <a:r>
              <a:rPr lang="en-US" sz="2999">
                <a:solidFill>
                  <a:srgbClr val="000000"/>
                </a:solidFill>
                <a:latin typeface="Calibri (MS)"/>
                <a:ea typeface="Calibri (MS)"/>
                <a:cs typeface="Calibri (MS)"/>
                <a:sym typeface="Calibri (MS)"/>
              </a:rPr>
              <a:t>f</a:t>
            </a:r>
          </a:p>
          <a:p>
            <a:pPr algn="l">
              <a:lnSpc>
                <a:spcPts val="3599"/>
              </a:lnSpc>
            </a:pPr>
          </a:p>
        </p:txBody>
      </p:sp>
      <p:sp>
        <p:nvSpPr>
          <p:cNvPr name="TextBox 30" id="30"/>
          <p:cNvSpPr txBox="true"/>
          <p:nvPr/>
        </p:nvSpPr>
        <p:spPr>
          <a:xfrm rot="0">
            <a:off x="1416865" y="7997080"/>
            <a:ext cx="15473408" cy="2295525"/>
          </a:xfrm>
          <a:prstGeom prst="rect">
            <a:avLst/>
          </a:prstGeom>
        </p:spPr>
        <p:txBody>
          <a:bodyPr anchor="t" rtlCol="false" tIns="0" lIns="0" bIns="0" rIns="0">
            <a:spAutoFit/>
          </a:bodyPr>
          <a:lstStyle/>
          <a:p>
            <a:pPr algn="l">
              <a:lnSpc>
                <a:spcPts val="3599"/>
              </a:lnSpc>
            </a:pPr>
            <a:r>
              <a:rPr lang="en-US" sz="2999" i="true" b="true">
                <a:solidFill>
                  <a:srgbClr val="000000"/>
                </a:solidFill>
                <a:latin typeface="Calibri (MS) Bold Italics"/>
                <a:ea typeface="Calibri (MS) Bold Italics"/>
                <a:cs typeface="Calibri (MS) Bold Italics"/>
                <a:sym typeface="Calibri (MS) Bold Italics"/>
              </a:rPr>
              <a:t>Conclusion : </a:t>
            </a:r>
          </a:p>
          <a:p>
            <a:pPr algn="l" marL="1295394" indent="-431798" lvl="2">
              <a:lnSpc>
                <a:spcPts val="3599"/>
              </a:lnSpc>
              <a:buFont typeface="Arial"/>
              <a:buChar char="⚬"/>
            </a:pPr>
            <a:r>
              <a:rPr lang="en-US" sz="2999" i="true">
                <a:solidFill>
                  <a:srgbClr val="000000"/>
                </a:solidFill>
                <a:latin typeface="Calibri (MS) Italics"/>
                <a:ea typeface="Calibri (MS) Italics"/>
                <a:cs typeface="Calibri (MS) Italics"/>
                <a:sym typeface="Calibri (MS) Italics"/>
              </a:rPr>
              <a:t>Le meilleur compromis est obtenu avec max_features = 3</a:t>
            </a:r>
          </a:p>
          <a:p>
            <a:pPr algn="l" marL="1295394" indent="-431798" lvl="2">
              <a:lnSpc>
                <a:spcPts val="3599"/>
              </a:lnSpc>
              <a:buFont typeface="Arial"/>
              <a:buChar char="⚬"/>
            </a:pPr>
            <a:r>
              <a:rPr lang="en-US" sz="2999" i="true">
                <a:solidFill>
                  <a:srgbClr val="000000"/>
                </a:solidFill>
                <a:latin typeface="Calibri (MS) Italics"/>
                <a:ea typeface="Calibri (MS) Italics"/>
                <a:cs typeface="Calibri (MS) Italics"/>
                <a:sym typeface="Calibri (MS) Italics"/>
              </a:rPr>
              <a:t>sqrt et log2 ne sont pas toujours optimaux → les tester empiriquement est nécessaire</a:t>
            </a:r>
          </a:p>
          <a:p>
            <a:pPr algn="l">
              <a:lnSpc>
                <a:spcPts val="3599"/>
              </a:lnSpc>
            </a:pPr>
            <a:r>
              <a:rPr lang="en-US" sz="2999" i="true">
                <a:solidFill>
                  <a:srgbClr val="000000"/>
                </a:solidFill>
                <a:latin typeface="Calibri (MS) Italics"/>
                <a:ea typeface="Calibri (MS) Italics"/>
                <a:cs typeface="Calibri (MS) Italics"/>
                <a:sym typeface="Calibri (MS) Italics"/>
              </a:rPr>
              <a:t>👉 Le nombre de variables influe directement sur la capacité du modèle à détecter les cas positifs</a:t>
            </a:r>
          </a:p>
          <a:p>
            <a:pPr algn="l">
              <a:lnSpc>
                <a:spcPts val="3599"/>
              </a:lnSpc>
            </a:pPr>
          </a:p>
        </p:txBody>
      </p:sp>
      <p:sp>
        <p:nvSpPr>
          <p:cNvPr name="TextBox 31" id="31"/>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40</a:t>
            </a:r>
          </a:p>
        </p:txBody>
      </p:sp>
      <p:sp>
        <p:nvSpPr>
          <p:cNvPr name="TextBox 32" id="32"/>
          <p:cNvSpPr txBox="true"/>
          <p:nvPr/>
        </p:nvSpPr>
        <p:spPr>
          <a:xfrm rot="0">
            <a:off x="1986283" y="3994643"/>
            <a:ext cx="5377309" cy="876300"/>
          </a:xfrm>
          <a:prstGeom prst="rect">
            <a:avLst/>
          </a:prstGeom>
        </p:spPr>
        <p:txBody>
          <a:bodyPr anchor="t" rtlCol="false" tIns="0" lIns="0" bIns="0" rIns="0">
            <a:spAutoFit/>
          </a:bodyPr>
          <a:lstStyle/>
          <a:p>
            <a:pPr algn="ctr">
              <a:lnSpc>
                <a:spcPts val="3239"/>
              </a:lnSpc>
              <a:spcBef>
                <a:spcPct val="0"/>
              </a:spcBef>
            </a:pPr>
            <a:r>
              <a:rPr lang="en-US" sz="2699">
                <a:solidFill>
                  <a:srgbClr val="000000"/>
                </a:solidFill>
                <a:latin typeface="Calibri (MS)"/>
                <a:ea typeface="Calibri (MS)"/>
                <a:cs typeface="Calibri (MS)"/>
                <a:sym typeface="Calibri (MS)"/>
              </a:rPr>
              <a:t>max_features = sqrt → Recall = 0.4776</a:t>
            </a:r>
          </a:p>
          <a:p>
            <a:pPr algn="ctr">
              <a:lnSpc>
                <a:spcPts val="3239"/>
              </a:lnSpc>
              <a:spcBef>
                <a:spcPct val="0"/>
              </a:spcBef>
            </a:pPr>
            <a:r>
              <a:rPr lang="en-US" sz="2699">
                <a:solidFill>
                  <a:srgbClr val="000000"/>
                </a:solidFill>
                <a:latin typeface="Calibri (MS)"/>
                <a:ea typeface="Calibri (MS)"/>
                <a:cs typeface="Calibri (MS)"/>
                <a:sym typeface="Calibri (MS)"/>
              </a:rPr>
              <a:t>max_features = log2 → Recall = 0.4776</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671538"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A4 — Hyperparmètre : Poids des classes (class_weight )</a:t>
              </a:r>
            </a:p>
          </p:txBody>
        </p:sp>
      </p:grpSp>
      <p:grpSp>
        <p:nvGrpSpPr>
          <p:cNvPr name="Group 8" id="8"/>
          <p:cNvGrpSpPr/>
          <p:nvPr/>
        </p:nvGrpSpPr>
        <p:grpSpPr>
          <a:xfrm rot="0">
            <a:off x="548640" y="1913325"/>
            <a:ext cx="16184615" cy="7524509"/>
            <a:chOff x="0" y="0"/>
            <a:chExt cx="21579486" cy="10032678"/>
          </a:xfrm>
        </p:grpSpPr>
        <p:sp>
          <p:nvSpPr>
            <p:cNvPr name="Freeform 9" id="9"/>
            <p:cNvSpPr/>
            <p:nvPr/>
          </p:nvSpPr>
          <p:spPr>
            <a:xfrm flipH="false" flipV="false" rot="0">
              <a:off x="25065" y="16110"/>
              <a:ext cx="21529224" cy="10000373"/>
            </a:xfrm>
            <a:custGeom>
              <a:avLst/>
              <a:gdLst/>
              <a:ahLst/>
              <a:cxnLst/>
              <a:rect r="r" b="b" t="t" l="l"/>
              <a:pathLst>
                <a:path h="10000373" w="21529224">
                  <a:moveTo>
                    <a:pt x="0" y="0"/>
                  </a:moveTo>
                  <a:lnTo>
                    <a:pt x="21529224" y="0"/>
                  </a:lnTo>
                  <a:lnTo>
                    <a:pt x="21529224" y="10000373"/>
                  </a:lnTo>
                  <a:lnTo>
                    <a:pt x="0" y="10000373"/>
                  </a:lnTo>
                  <a:close/>
                </a:path>
              </a:pathLst>
            </a:custGeom>
            <a:solidFill>
              <a:srgbClr val="FFFFFF"/>
            </a:solidFill>
          </p:spPr>
        </p:sp>
        <p:sp>
          <p:nvSpPr>
            <p:cNvPr name="Freeform 10" id="10"/>
            <p:cNvSpPr/>
            <p:nvPr/>
          </p:nvSpPr>
          <p:spPr>
            <a:xfrm flipH="false" flipV="false" rot="0">
              <a:off x="0" y="0"/>
              <a:ext cx="21579356" cy="10032593"/>
            </a:xfrm>
            <a:custGeom>
              <a:avLst/>
              <a:gdLst/>
              <a:ahLst/>
              <a:cxnLst/>
              <a:rect r="r" b="b" t="t" l="l"/>
              <a:pathLst>
                <a:path h="10032593" w="21579356">
                  <a:moveTo>
                    <a:pt x="25065" y="0"/>
                  </a:moveTo>
                  <a:lnTo>
                    <a:pt x="21554289" y="0"/>
                  </a:lnTo>
                  <a:cubicBezTo>
                    <a:pt x="21568235" y="0"/>
                    <a:pt x="21579356" y="7268"/>
                    <a:pt x="21579356" y="16110"/>
                  </a:cubicBezTo>
                  <a:lnTo>
                    <a:pt x="21579356" y="10016483"/>
                  </a:lnTo>
                  <a:cubicBezTo>
                    <a:pt x="21579356" y="10025447"/>
                    <a:pt x="21568048" y="10032593"/>
                    <a:pt x="21554289" y="10032593"/>
                  </a:cubicBezTo>
                  <a:lnTo>
                    <a:pt x="25065" y="10032593"/>
                  </a:lnTo>
                  <a:cubicBezTo>
                    <a:pt x="11119" y="10032593"/>
                    <a:pt x="0" y="10025325"/>
                    <a:pt x="0" y="10016483"/>
                  </a:cubicBezTo>
                  <a:lnTo>
                    <a:pt x="0" y="16110"/>
                  </a:lnTo>
                  <a:cubicBezTo>
                    <a:pt x="0" y="7268"/>
                    <a:pt x="11307" y="0"/>
                    <a:pt x="25065" y="0"/>
                  </a:cubicBezTo>
                  <a:moveTo>
                    <a:pt x="25065" y="32341"/>
                  </a:moveTo>
                  <a:lnTo>
                    <a:pt x="25065" y="16110"/>
                  </a:lnTo>
                  <a:lnTo>
                    <a:pt x="50318" y="16110"/>
                  </a:lnTo>
                  <a:lnTo>
                    <a:pt x="50318" y="10016483"/>
                  </a:lnTo>
                  <a:lnTo>
                    <a:pt x="25065" y="10016483"/>
                  </a:lnTo>
                  <a:lnTo>
                    <a:pt x="25065" y="10000373"/>
                  </a:lnTo>
                  <a:lnTo>
                    <a:pt x="21554289" y="10000373"/>
                  </a:lnTo>
                  <a:lnTo>
                    <a:pt x="21554289" y="10016483"/>
                  </a:lnTo>
                  <a:lnTo>
                    <a:pt x="21529225" y="10016483"/>
                  </a:lnTo>
                  <a:lnTo>
                    <a:pt x="21529225" y="16110"/>
                  </a:lnTo>
                  <a:lnTo>
                    <a:pt x="21554289" y="16110"/>
                  </a:lnTo>
                  <a:lnTo>
                    <a:pt x="21554289" y="32341"/>
                  </a:lnTo>
                  <a:lnTo>
                    <a:pt x="25065" y="32341"/>
                  </a:lnTo>
                  <a:close/>
                </a:path>
              </a:pathLst>
            </a:custGeom>
            <a:solidFill>
              <a:srgbClr val="D0E0D0"/>
            </a:solidFill>
          </p:spPr>
        </p:sp>
      </p:grpSp>
      <p:grpSp>
        <p:nvGrpSpPr>
          <p:cNvPr name="Group 11" id="11"/>
          <p:cNvGrpSpPr/>
          <p:nvPr/>
        </p:nvGrpSpPr>
        <p:grpSpPr>
          <a:xfrm rot="0">
            <a:off x="1218245" y="2176294"/>
            <a:ext cx="7905985" cy="1158420"/>
            <a:chOff x="0" y="0"/>
            <a:chExt cx="13823111" cy="2025424"/>
          </a:xfrm>
        </p:grpSpPr>
        <p:sp>
          <p:nvSpPr>
            <p:cNvPr name="Freeform 12" id="12"/>
            <p:cNvSpPr/>
            <p:nvPr/>
          </p:nvSpPr>
          <p:spPr>
            <a:xfrm flipH="false" flipV="false" rot="0">
              <a:off x="0" y="0"/>
              <a:ext cx="13823110" cy="2025424"/>
            </a:xfrm>
            <a:custGeom>
              <a:avLst/>
              <a:gdLst/>
              <a:ahLst/>
              <a:cxnLst/>
              <a:rect r="r" b="b" t="t" l="l"/>
              <a:pathLst>
                <a:path h="2025424" w="13823110">
                  <a:moveTo>
                    <a:pt x="0" y="0"/>
                  </a:moveTo>
                  <a:lnTo>
                    <a:pt x="13823110" y="0"/>
                  </a:lnTo>
                  <a:lnTo>
                    <a:pt x="13823110" y="2025424"/>
                  </a:lnTo>
                  <a:lnTo>
                    <a:pt x="0" y="2025424"/>
                  </a:lnTo>
                  <a:close/>
                </a:path>
              </a:pathLst>
            </a:custGeom>
            <a:blipFill>
              <a:blip r:embed="rId3">
                <a:alphaModFix amt="0"/>
              </a:blip>
              <a:stretch>
                <a:fillRect l="0" t="-101267" r="1215" b="-61461"/>
              </a:stretch>
            </a:blipFill>
            <a:ln cap="sq">
              <a:noFill/>
              <a:prstDash val="solid"/>
              <a:miter/>
            </a:ln>
          </p:spPr>
        </p:sp>
        <p:sp>
          <p:nvSpPr>
            <p:cNvPr name="TextBox 13" id="13"/>
            <p:cNvSpPr txBox="true"/>
            <p:nvPr/>
          </p:nvSpPr>
          <p:spPr>
            <a:xfrm>
              <a:off x="0" y="-66675"/>
              <a:ext cx="13823111" cy="209209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Défi</a:t>
              </a:r>
              <a:r>
                <a:rPr lang="en-US" b="true" sz="3299" i="true">
                  <a:solidFill>
                    <a:srgbClr val="1A2E1A"/>
                  </a:solidFill>
                  <a:latin typeface="Calibri (MS) Bold Italics"/>
                  <a:ea typeface="Calibri (MS) Bold Italics"/>
                  <a:cs typeface="Calibri (MS) Bold Italics"/>
                  <a:sym typeface="Calibri (MS) Bold Italics"/>
                </a:rPr>
                <a:t>nition</a:t>
              </a:r>
            </a:p>
            <a:p>
              <a:pPr algn="l">
                <a:lnSpc>
                  <a:spcPts val="3959"/>
                </a:lnSpc>
              </a:pPr>
            </a:p>
          </p:txBody>
        </p:sp>
      </p:grpSp>
      <p:grpSp>
        <p:nvGrpSpPr>
          <p:cNvPr name="Group 14" id="14"/>
          <p:cNvGrpSpPr/>
          <p:nvPr/>
        </p:nvGrpSpPr>
        <p:grpSpPr>
          <a:xfrm rot="0">
            <a:off x="1190766" y="2755505"/>
            <a:ext cx="15380432" cy="1188720"/>
            <a:chOff x="0" y="0"/>
            <a:chExt cx="20507242" cy="1584960"/>
          </a:xfrm>
        </p:grpSpPr>
        <p:sp>
          <p:nvSpPr>
            <p:cNvPr name="Freeform 15" id="15"/>
            <p:cNvSpPr/>
            <p:nvPr/>
          </p:nvSpPr>
          <p:spPr>
            <a:xfrm flipH="false" flipV="false" rot="0">
              <a:off x="0" y="0"/>
              <a:ext cx="20507241" cy="1584960"/>
            </a:xfrm>
            <a:custGeom>
              <a:avLst/>
              <a:gdLst/>
              <a:ahLst/>
              <a:cxnLst/>
              <a:rect r="r" b="b" t="t" l="l"/>
              <a:pathLst>
                <a:path h="1584960" w="20507241">
                  <a:moveTo>
                    <a:pt x="0" y="0"/>
                  </a:moveTo>
                  <a:lnTo>
                    <a:pt x="20507241" y="0"/>
                  </a:lnTo>
                  <a:lnTo>
                    <a:pt x="20507241" y="1584960"/>
                  </a:lnTo>
                  <a:lnTo>
                    <a:pt x="0" y="1584960"/>
                  </a:lnTo>
                  <a:close/>
                </a:path>
              </a:pathLst>
            </a:custGeom>
            <a:blipFill>
              <a:blip r:embed="rId3">
                <a:alphaModFix amt="0"/>
              </a:blip>
              <a:stretch>
                <a:fillRect l="0" t="-117871" r="33413" b="-117871"/>
              </a:stretch>
            </a:blipFill>
          </p:spPr>
        </p:sp>
        <p:sp>
          <p:nvSpPr>
            <p:cNvPr name="TextBox 16" id="16"/>
            <p:cNvSpPr txBox="true"/>
            <p:nvPr/>
          </p:nvSpPr>
          <p:spPr>
            <a:xfrm>
              <a:off x="0" y="-57150"/>
              <a:ext cx="20507242" cy="1642110"/>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C’est un hyperparamètre qui permet d’attribuer un poids différent à chaque classe lors de l’apprentissage afin de corriger le déséquilibre des donnée</a:t>
              </a:r>
            </a:p>
          </p:txBody>
        </p:sp>
      </p:grpSp>
      <p:grpSp>
        <p:nvGrpSpPr>
          <p:cNvPr name="Group 17" id="17"/>
          <p:cNvGrpSpPr/>
          <p:nvPr/>
        </p:nvGrpSpPr>
        <p:grpSpPr>
          <a:xfrm rot="0">
            <a:off x="1218245" y="3868115"/>
            <a:ext cx="15944589" cy="914400"/>
            <a:chOff x="0" y="0"/>
            <a:chExt cx="21259452" cy="1219200"/>
          </a:xfrm>
        </p:grpSpPr>
        <p:sp>
          <p:nvSpPr>
            <p:cNvPr name="Freeform 18" id="18"/>
            <p:cNvSpPr/>
            <p:nvPr/>
          </p:nvSpPr>
          <p:spPr>
            <a:xfrm flipH="false" flipV="false" rot="0">
              <a:off x="0" y="0"/>
              <a:ext cx="21259451" cy="1219200"/>
            </a:xfrm>
            <a:custGeom>
              <a:avLst/>
              <a:gdLst/>
              <a:ahLst/>
              <a:cxnLst/>
              <a:rect r="r" b="b" t="t" l="l"/>
              <a:pathLst>
                <a:path h="1219200" w="21259451">
                  <a:moveTo>
                    <a:pt x="0" y="0"/>
                  </a:moveTo>
                  <a:lnTo>
                    <a:pt x="21259451" y="0"/>
                  </a:lnTo>
                  <a:lnTo>
                    <a:pt x="21259451" y="1219200"/>
                  </a:lnTo>
                  <a:lnTo>
                    <a:pt x="0" y="1219200"/>
                  </a:lnTo>
                  <a:close/>
                </a:path>
              </a:pathLst>
            </a:custGeom>
            <a:blipFill>
              <a:blip r:embed="rId3">
                <a:alphaModFix amt="0"/>
              </a:blip>
              <a:stretch>
                <a:fillRect l="0" t="-168232" r="35769" b="-168232"/>
              </a:stretch>
            </a:blipFill>
          </p:spPr>
        </p:sp>
        <p:sp>
          <p:nvSpPr>
            <p:cNvPr name="TextBox 19" id="19"/>
            <p:cNvSpPr txBox="true"/>
            <p:nvPr/>
          </p:nvSpPr>
          <p:spPr>
            <a:xfrm>
              <a:off x="0" y="-66675"/>
              <a:ext cx="21259452" cy="1285875"/>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Objectif</a:t>
              </a:r>
            </a:p>
          </p:txBody>
        </p:sp>
      </p:grpSp>
      <p:grpSp>
        <p:nvGrpSpPr>
          <p:cNvPr name="Group 20" id="20"/>
          <p:cNvGrpSpPr/>
          <p:nvPr/>
        </p:nvGrpSpPr>
        <p:grpSpPr>
          <a:xfrm rot="0">
            <a:off x="1028700" y="4458575"/>
            <a:ext cx="15944589" cy="2180983"/>
            <a:chOff x="0" y="0"/>
            <a:chExt cx="21259452" cy="2907977"/>
          </a:xfrm>
        </p:grpSpPr>
        <p:sp>
          <p:nvSpPr>
            <p:cNvPr name="Freeform 21" id="21"/>
            <p:cNvSpPr/>
            <p:nvPr/>
          </p:nvSpPr>
          <p:spPr>
            <a:xfrm flipH="false" flipV="false" rot="0">
              <a:off x="0" y="0"/>
              <a:ext cx="21259451" cy="2907977"/>
            </a:xfrm>
            <a:custGeom>
              <a:avLst/>
              <a:gdLst/>
              <a:ahLst/>
              <a:cxnLst/>
              <a:rect r="r" b="b" t="t" l="l"/>
              <a:pathLst>
                <a:path h="2907977" w="21259451">
                  <a:moveTo>
                    <a:pt x="0" y="0"/>
                  </a:moveTo>
                  <a:lnTo>
                    <a:pt x="21259451" y="0"/>
                  </a:lnTo>
                  <a:lnTo>
                    <a:pt x="21259451" y="2907977"/>
                  </a:lnTo>
                  <a:lnTo>
                    <a:pt x="0" y="2907977"/>
                  </a:lnTo>
                  <a:close/>
                </a:path>
              </a:pathLst>
            </a:custGeom>
            <a:blipFill>
              <a:blip r:embed="rId3">
                <a:alphaModFix amt="0"/>
              </a:blip>
              <a:stretch>
                <a:fillRect l="0" t="-64244" r="35769" b="-18748"/>
              </a:stretch>
            </a:blipFill>
          </p:spPr>
        </p:sp>
        <p:sp>
          <p:nvSpPr>
            <p:cNvPr name="TextBox 22" id="22"/>
            <p:cNvSpPr txBox="true"/>
            <p:nvPr/>
          </p:nvSpPr>
          <p:spPr>
            <a:xfrm>
              <a:off x="0" y="-57150"/>
              <a:ext cx="21259452" cy="2965127"/>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Améliorer les performances sur les classes minoritaires</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Éviter qu’un modèle favorise uniquement la classe majoritaire</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Rendre la classification plus équilibrée</a:t>
              </a:r>
            </a:p>
          </p:txBody>
        </p:sp>
      </p:grpSp>
      <p:grpSp>
        <p:nvGrpSpPr>
          <p:cNvPr name="Group 23" id="23"/>
          <p:cNvGrpSpPr/>
          <p:nvPr/>
        </p:nvGrpSpPr>
        <p:grpSpPr>
          <a:xfrm rot="0">
            <a:off x="1151935" y="6384768"/>
            <a:ext cx="15944589" cy="802473"/>
            <a:chOff x="0" y="0"/>
            <a:chExt cx="21259452" cy="1069964"/>
          </a:xfrm>
        </p:grpSpPr>
        <p:sp>
          <p:nvSpPr>
            <p:cNvPr name="Freeform 24" id="24"/>
            <p:cNvSpPr/>
            <p:nvPr/>
          </p:nvSpPr>
          <p:spPr>
            <a:xfrm flipH="false" flipV="false" rot="0">
              <a:off x="0" y="0"/>
              <a:ext cx="21259451" cy="1069964"/>
            </a:xfrm>
            <a:custGeom>
              <a:avLst/>
              <a:gdLst/>
              <a:ahLst/>
              <a:cxnLst/>
              <a:rect r="r" b="b" t="t" l="l"/>
              <a:pathLst>
                <a:path h="1069964" w="21259451">
                  <a:moveTo>
                    <a:pt x="0" y="0"/>
                  </a:moveTo>
                  <a:lnTo>
                    <a:pt x="21259451" y="0"/>
                  </a:lnTo>
                  <a:lnTo>
                    <a:pt x="21259451" y="1069964"/>
                  </a:lnTo>
                  <a:lnTo>
                    <a:pt x="0" y="1069964"/>
                  </a:lnTo>
                  <a:close/>
                </a:path>
              </a:pathLst>
            </a:custGeom>
            <a:blipFill>
              <a:blip r:embed="rId3">
                <a:alphaModFix amt="0"/>
              </a:blip>
              <a:stretch>
                <a:fillRect l="0" t="-191697" r="35769" b="-205644"/>
              </a:stretch>
            </a:blipFill>
          </p:spPr>
        </p:sp>
        <p:sp>
          <p:nvSpPr>
            <p:cNvPr name="TextBox 25" id="25"/>
            <p:cNvSpPr txBox="true"/>
            <p:nvPr/>
          </p:nvSpPr>
          <p:spPr>
            <a:xfrm>
              <a:off x="0" y="-66675"/>
              <a:ext cx="21259452" cy="113663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Exemple</a:t>
              </a:r>
            </a:p>
          </p:txBody>
        </p:sp>
      </p:grpSp>
      <p:grpSp>
        <p:nvGrpSpPr>
          <p:cNvPr name="Group 26" id="26"/>
          <p:cNvGrpSpPr/>
          <p:nvPr/>
        </p:nvGrpSpPr>
        <p:grpSpPr>
          <a:xfrm rot="0">
            <a:off x="1151935" y="7037227"/>
            <a:ext cx="3511637" cy="2180983"/>
            <a:chOff x="0" y="0"/>
            <a:chExt cx="4682183" cy="2907977"/>
          </a:xfrm>
        </p:grpSpPr>
        <p:sp>
          <p:nvSpPr>
            <p:cNvPr name="Freeform 27" id="27"/>
            <p:cNvSpPr/>
            <p:nvPr/>
          </p:nvSpPr>
          <p:spPr>
            <a:xfrm flipH="false" flipV="false" rot="0">
              <a:off x="0" y="0"/>
              <a:ext cx="4682182" cy="2907977"/>
            </a:xfrm>
            <a:custGeom>
              <a:avLst/>
              <a:gdLst/>
              <a:ahLst/>
              <a:cxnLst/>
              <a:rect r="r" b="b" t="t" l="l"/>
              <a:pathLst>
                <a:path h="2907977" w="4682182">
                  <a:moveTo>
                    <a:pt x="0" y="0"/>
                  </a:moveTo>
                  <a:lnTo>
                    <a:pt x="4682182" y="0"/>
                  </a:lnTo>
                  <a:lnTo>
                    <a:pt x="4682182" y="2907977"/>
                  </a:lnTo>
                  <a:lnTo>
                    <a:pt x="0" y="2907977"/>
                  </a:lnTo>
                  <a:close/>
                </a:path>
              </a:pathLst>
            </a:custGeom>
            <a:blipFill>
              <a:blip r:embed="rId3">
                <a:alphaModFix amt="0"/>
              </a:blip>
              <a:stretch>
                <a:fillRect l="0" t="-64244" r="-191638" b="-18748"/>
              </a:stretch>
            </a:blipFill>
          </p:spPr>
        </p:sp>
        <p:sp>
          <p:nvSpPr>
            <p:cNvPr name="TextBox 28" id="28"/>
            <p:cNvSpPr txBox="true"/>
            <p:nvPr/>
          </p:nvSpPr>
          <p:spPr>
            <a:xfrm>
              <a:off x="0" y="-57150"/>
              <a:ext cx="4682183" cy="2965127"/>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Dataset déséquilibré :</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Classe 0 : 90%</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Classe 1 : 10%</a:t>
              </a:r>
            </a:p>
            <a:p>
              <a:pPr algn="l">
                <a:lnSpc>
                  <a:spcPts val="3239"/>
                </a:lnSpc>
              </a:pPr>
            </a:p>
            <a:p>
              <a:pPr algn="l">
                <a:lnSpc>
                  <a:spcPts val="3239"/>
                </a:lnSpc>
              </a:pPr>
            </a:p>
          </p:txBody>
        </p:sp>
      </p:grpSp>
      <p:grpSp>
        <p:nvGrpSpPr>
          <p:cNvPr name="Group 29" id="29"/>
          <p:cNvGrpSpPr/>
          <p:nvPr/>
        </p:nvGrpSpPr>
        <p:grpSpPr>
          <a:xfrm rot="0">
            <a:off x="5861609" y="7037227"/>
            <a:ext cx="4175318" cy="2590558"/>
            <a:chOff x="0" y="0"/>
            <a:chExt cx="5567090" cy="3454077"/>
          </a:xfrm>
        </p:grpSpPr>
        <p:sp>
          <p:nvSpPr>
            <p:cNvPr name="Freeform 30" id="30"/>
            <p:cNvSpPr/>
            <p:nvPr/>
          </p:nvSpPr>
          <p:spPr>
            <a:xfrm flipH="false" flipV="false" rot="0">
              <a:off x="0" y="0"/>
              <a:ext cx="5567090" cy="3454077"/>
            </a:xfrm>
            <a:custGeom>
              <a:avLst/>
              <a:gdLst/>
              <a:ahLst/>
              <a:cxnLst/>
              <a:rect r="r" b="b" t="t" l="l"/>
              <a:pathLst>
                <a:path h="3454077" w="5567090">
                  <a:moveTo>
                    <a:pt x="0" y="0"/>
                  </a:moveTo>
                  <a:lnTo>
                    <a:pt x="5567090" y="0"/>
                  </a:lnTo>
                  <a:lnTo>
                    <a:pt x="5567090" y="3454077"/>
                  </a:lnTo>
                  <a:lnTo>
                    <a:pt x="0" y="3454077"/>
                  </a:lnTo>
                  <a:close/>
                </a:path>
              </a:pathLst>
            </a:custGeom>
            <a:blipFill>
              <a:blip r:embed="rId3">
                <a:alphaModFix amt="0"/>
              </a:blip>
              <a:stretch>
                <a:fillRect l="0" t="-54087" r="-145281" b="26"/>
              </a:stretch>
            </a:blipFill>
          </p:spPr>
        </p:sp>
        <p:sp>
          <p:nvSpPr>
            <p:cNvPr name="TextBox 31" id="31"/>
            <p:cNvSpPr txBox="true"/>
            <p:nvPr/>
          </p:nvSpPr>
          <p:spPr>
            <a:xfrm>
              <a:off x="0" y="-57150"/>
              <a:ext cx="5567090" cy="3511227"/>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Avec class_weight :</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Classe 0 → poids faible</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Classe 1 → poids élevé</a:t>
              </a:r>
            </a:p>
            <a:p>
              <a:pPr algn="l">
                <a:lnSpc>
                  <a:spcPts val="3239"/>
                </a:lnSpc>
              </a:pPr>
            </a:p>
            <a:p>
              <a:pPr algn="l">
                <a:lnSpc>
                  <a:spcPts val="3239"/>
                </a:lnSpc>
              </a:pPr>
            </a:p>
            <a:p>
              <a:pPr algn="l">
                <a:lnSpc>
                  <a:spcPts val="3239"/>
                </a:lnSpc>
              </a:pPr>
            </a:p>
          </p:txBody>
        </p:sp>
      </p:grpSp>
      <p:grpSp>
        <p:nvGrpSpPr>
          <p:cNvPr name="Group 32" id="32"/>
          <p:cNvGrpSpPr/>
          <p:nvPr/>
        </p:nvGrpSpPr>
        <p:grpSpPr>
          <a:xfrm rot="0">
            <a:off x="4889440" y="7446802"/>
            <a:ext cx="746300" cy="1771408"/>
            <a:chOff x="0" y="0"/>
            <a:chExt cx="995067" cy="2361877"/>
          </a:xfrm>
        </p:grpSpPr>
        <p:sp>
          <p:nvSpPr>
            <p:cNvPr name="Freeform 33" id="33"/>
            <p:cNvSpPr/>
            <p:nvPr/>
          </p:nvSpPr>
          <p:spPr>
            <a:xfrm flipH="false" flipV="false" rot="0">
              <a:off x="0" y="0"/>
              <a:ext cx="995067" cy="2361877"/>
            </a:xfrm>
            <a:custGeom>
              <a:avLst/>
              <a:gdLst/>
              <a:ahLst/>
              <a:cxnLst/>
              <a:rect r="r" b="b" t="t" l="l"/>
              <a:pathLst>
                <a:path h="2361877" w="995067">
                  <a:moveTo>
                    <a:pt x="0" y="0"/>
                  </a:moveTo>
                  <a:lnTo>
                    <a:pt x="995067" y="0"/>
                  </a:lnTo>
                  <a:lnTo>
                    <a:pt x="995067" y="2361877"/>
                  </a:lnTo>
                  <a:lnTo>
                    <a:pt x="0" y="2361877"/>
                  </a:lnTo>
                  <a:close/>
                </a:path>
              </a:pathLst>
            </a:custGeom>
            <a:blipFill>
              <a:blip r:embed="rId3">
                <a:alphaModFix amt="0"/>
              </a:blip>
              <a:stretch>
                <a:fillRect l="0" t="-79098" r="-1272273" b="-46204"/>
              </a:stretch>
            </a:blipFill>
          </p:spPr>
        </p:sp>
        <p:sp>
          <p:nvSpPr>
            <p:cNvPr name="TextBox 34" id="34"/>
            <p:cNvSpPr txBox="true"/>
            <p:nvPr/>
          </p:nvSpPr>
          <p:spPr>
            <a:xfrm>
              <a:off x="0" y="-57150"/>
              <a:ext cx="995067" cy="2419027"/>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=&gt;</a:t>
              </a:r>
            </a:p>
            <a:p>
              <a:pPr algn="l">
                <a:lnSpc>
                  <a:spcPts val="3239"/>
                </a:lnSpc>
              </a:pPr>
            </a:p>
            <a:p>
              <a:pPr algn="l">
                <a:lnSpc>
                  <a:spcPts val="3239"/>
                </a:lnSpc>
              </a:pPr>
            </a:p>
            <a:p>
              <a:pPr algn="l">
                <a:lnSpc>
                  <a:spcPts val="3239"/>
                </a:lnSpc>
              </a:pPr>
            </a:p>
          </p:txBody>
        </p:sp>
      </p:grpSp>
      <p:grpSp>
        <p:nvGrpSpPr>
          <p:cNvPr name="Group 35" id="35"/>
          <p:cNvGrpSpPr/>
          <p:nvPr/>
        </p:nvGrpSpPr>
        <p:grpSpPr>
          <a:xfrm rot="0">
            <a:off x="10925967" y="4418628"/>
            <a:ext cx="5334121" cy="3304443"/>
            <a:chOff x="0" y="0"/>
            <a:chExt cx="7112161" cy="4405924"/>
          </a:xfrm>
        </p:grpSpPr>
        <p:sp>
          <p:nvSpPr>
            <p:cNvPr name="Freeform 36" id="36"/>
            <p:cNvSpPr/>
            <p:nvPr/>
          </p:nvSpPr>
          <p:spPr>
            <a:xfrm flipH="false" flipV="false" rot="0">
              <a:off x="8776" y="54124"/>
              <a:ext cx="7094563" cy="4297391"/>
            </a:xfrm>
            <a:custGeom>
              <a:avLst/>
              <a:gdLst/>
              <a:ahLst/>
              <a:cxnLst/>
              <a:rect r="r" b="b" t="t" l="l"/>
              <a:pathLst>
                <a:path h="4297391" w="7094563">
                  <a:moveTo>
                    <a:pt x="0" y="0"/>
                  </a:moveTo>
                  <a:lnTo>
                    <a:pt x="7094563" y="0"/>
                  </a:lnTo>
                  <a:lnTo>
                    <a:pt x="7094563" y="4297391"/>
                  </a:lnTo>
                  <a:lnTo>
                    <a:pt x="0" y="4297391"/>
                  </a:lnTo>
                  <a:close/>
                </a:path>
              </a:pathLst>
            </a:custGeom>
            <a:solidFill>
              <a:srgbClr val="E8F5E8"/>
            </a:solidFill>
          </p:spPr>
        </p:sp>
        <p:sp>
          <p:nvSpPr>
            <p:cNvPr name="Freeform 37" id="37"/>
            <p:cNvSpPr/>
            <p:nvPr/>
          </p:nvSpPr>
          <p:spPr>
            <a:xfrm flipH="false" flipV="false" rot="0">
              <a:off x="0" y="0"/>
              <a:ext cx="7112115" cy="4405640"/>
            </a:xfrm>
            <a:custGeom>
              <a:avLst/>
              <a:gdLst/>
              <a:ahLst/>
              <a:cxnLst/>
              <a:rect r="r" b="b" t="t" l="l"/>
              <a:pathLst>
                <a:path h="4405640" w="7112115">
                  <a:moveTo>
                    <a:pt x="8776" y="0"/>
                  </a:moveTo>
                  <a:lnTo>
                    <a:pt x="7103339" y="0"/>
                  </a:lnTo>
                  <a:cubicBezTo>
                    <a:pt x="7108222" y="0"/>
                    <a:pt x="7112115" y="24417"/>
                    <a:pt x="7112115" y="54124"/>
                  </a:cubicBezTo>
                  <a:lnTo>
                    <a:pt x="7112115" y="4351515"/>
                  </a:lnTo>
                  <a:cubicBezTo>
                    <a:pt x="7112115" y="4381629"/>
                    <a:pt x="7108156" y="4405640"/>
                    <a:pt x="7103339" y="4405640"/>
                  </a:cubicBezTo>
                  <a:lnTo>
                    <a:pt x="8776" y="4405640"/>
                  </a:lnTo>
                  <a:cubicBezTo>
                    <a:pt x="3893" y="4405640"/>
                    <a:pt x="0" y="4381222"/>
                    <a:pt x="0" y="4351515"/>
                  </a:cubicBezTo>
                  <a:lnTo>
                    <a:pt x="0" y="54124"/>
                  </a:lnTo>
                  <a:cubicBezTo>
                    <a:pt x="0" y="24417"/>
                    <a:pt x="3959" y="0"/>
                    <a:pt x="8776" y="0"/>
                  </a:cubicBezTo>
                  <a:moveTo>
                    <a:pt x="8776" y="108656"/>
                  </a:moveTo>
                  <a:lnTo>
                    <a:pt x="8776" y="54124"/>
                  </a:lnTo>
                  <a:lnTo>
                    <a:pt x="17618" y="54124"/>
                  </a:lnTo>
                  <a:lnTo>
                    <a:pt x="17618" y="4351515"/>
                  </a:lnTo>
                  <a:lnTo>
                    <a:pt x="8776" y="4351515"/>
                  </a:lnTo>
                  <a:lnTo>
                    <a:pt x="8776" y="4297391"/>
                  </a:lnTo>
                  <a:lnTo>
                    <a:pt x="7103339" y="4297391"/>
                  </a:lnTo>
                  <a:lnTo>
                    <a:pt x="7103339" y="4351515"/>
                  </a:lnTo>
                  <a:lnTo>
                    <a:pt x="7094563" y="4351515"/>
                  </a:lnTo>
                  <a:lnTo>
                    <a:pt x="7094563" y="54124"/>
                  </a:lnTo>
                  <a:lnTo>
                    <a:pt x="7103339" y="54124"/>
                  </a:lnTo>
                  <a:lnTo>
                    <a:pt x="7103339" y="108656"/>
                  </a:lnTo>
                  <a:lnTo>
                    <a:pt x="8776" y="108656"/>
                  </a:lnTo>
                  <a:close/>
                </a:path>
              </a:pathLst>
            </a:custGeom>
            <a:solidFill>
              <a:srgbClr val="5B9E3D"/>
            </a:solidFill>
          </p:spPr>
        </p:sp>
      </p:grpSp>
      <p:grpSp>
        <p:nvGrpSpPr>
          <p:cNvPr name="Group 38" id="38"/>
          <p:cNvGrpSpPr/>
          <p:nvPr/>
        </p:nvGrpSpPr>
        <p:grpSpPr>
          <a:xfrm rot="0">
            <a:off x="11059300" y="4631629"/>
            <a:ext cx="5200788" cy="4228858"/>
            <a:chOff x="0" y="0"/>
            <a:chExt cx="6934384" cy="5638477"/>
          </a:xfrm>
        </p:grpSpPr>
        <p:sp>
          <p:nvSpPr>
            <p:cNvPr name="Freeform 39" id="39"/>
            <p:cNvSpPr/>
            <p:nvPr/>
          </p:nvSpPr>
          <p:spPr>
            <a:xfrm flipH="false" flipV="false" rot="0">
              <a:off x="0" y="0"/>
              <a:ext cx="6934384" cy="5638477"/>
            </a:xfrm>
            <a:custGeom>
              <a:avLst/>
              <a:gdLst/>
              <a:ahLst/>
              <a:cxnLst/>
              <a:rect r="r" b="b" t="t" l="l"/>
              <a:pathLst>
                <a:path h="5638477" w="6934384">
                  <a:moveTo>
                    <a:pt x="0" y="0"/>
                  </a:moveTo>
                  <a:lnTo>
                    <a:pt x="6934384" y="0"/>
                  </a:lnTo>
                  <a:lnTo>
                    <a:pt x="6934384" y="5638477"/>
                  </a:lnTo>
                  <a:lnTo>
                    <a:pt x="0" y="5638477"/>
                  </a:lnTo>
                  <a:close/>
                </a:path>
              </a:pathLst>
            </a:custGeom>
            <a:blipFill>
              <a:blip r:embed="rId3">
                <a:alphaModFix amt="0"/>
              </a:blip>
              <a:stretch>
                <a:fillRect l="0" t="-33133" r="-96917" b="38757"/>
              </a:stretch>
            </a:blipFill>
          </p:spPr>
        </p:sp>
        <p:sp>
          <p:nvSpPr>
            <p:cNvPr name="TextBox 40" id="40"/>
            <p:cNvSpPr txBox="true"/>
            <p:nvPr/>
          </p:nvSpPr>
          <p:spPr>
            <a:xfrm>
              <a:off x="0" y="-57150"/>
              <a:ext cx="6934384" cy="5695627"/>
            </a:xfrm>
            <a:prstGeom prst="rect">
              <a:avLst/>
            </a:prstGeom>
          </p:spPr>
          <p:txBody>
            <a:bodyPr anchor="ctr" rtlCol="false" tIns="0" lIns="0" bIns="0" rIns="0"/>
            <a:lstStyle/>
            <a:p>
              <a:pPr algn="l">
                <a:lnSpc>
                  <a:spcPts val="3239"/>
                </a:lnSpc>
              </a:pPr>
              <a:r>
                <a:rPr lang="en-US" sz="2699">
                  <a:solidFill>
                    <a:srgbClr val="1A2E1A"/>
                  </a:solidFill>
                  <a:latin typeface="Calibri (MS)"/>
                  <a:ea typeface="Calibri (MS)"/>
                  <a:cs typeface="Calibri (MS)"/>
                  <a:sym typeface="Calibri (MS)"/>
                </a:rPr>
                <a:t>Valeurs possibles :</a:t>
              </a:r>
            </a:p>
            <a:p>
              <a:pPr algn="l" marL="582928" indent="-291464" lvl="1">
                <a:lnSpc>
                  <a:spcPts val="3239"/>
                </a:lnSpc>
                <a:buFont typeface="Arial"/>
                <a:buChar char="•"/>
              </a:pPr>
              <a:r>
                <a:rPr lang="en-US" b="true" sz="2699">
                  <a:solidFill>
                    <a:srgbClr val="1A2E1A"/>
                  </a:solidFill>
                  <a:latin typeface="Calibri (MS) Bold"/>
                  <a:ea typeface="Calibri (MS) Bold"/>
                  <a:cs typeface="Calibri (MS) Bold"/>
                  <a:sym typeface="Calibri (MS) Bold"/>
                </a:rPr>
                <a:t>None</a:t>
              </a:r>
              <a:r>
                <a:rPr lang="en-US" sz="2699">
                  <a:solidFill>
                    <a:srgbClr val="1A2E1A"/>
                  </a:solidFill>
                  <a:latin typeface="Calibri (MS)"/>
                  <a:ea typeface="Calibri (MS)"/>
                  <a:cs typeface="Calibri (MS)"/>
                  <a:sym typeface="Calibri (MS)"/>
                </a:rPr>
                <a:t> → poids égaux(par défaut) </a:t>
              </a:r>
            </a:p>
            <a:p>
              <a:pPr algn="l" marL="582928" indent="-291464" lvl="1">
                <a:lnSpc>
                  <a:spcPts val="3239"/>
                </a:lnSpc>
                <a:buFont typeface="Arial"/>
                <a:buChar char="•"/>
              </a:pPr>
              <a:r>
                <a:rPr lang="en-US" b="true" sz="2699">
                  <a:solidFill>
                    <a:srgbClr val="1A2E1A"/>
                  </a:solidFill>
                  <a:latin typeface="Calibri (MS) Bold"/>
                  <a:ea typeface="Calibri (MS) Bold"/>
                  <a:cs typeface="Calibri (MS) Bold"/>
                  <a:sym typeface="Calibri (MS) Bold"/>
                </a:rPr>
                <a:t>balanced </a:t>
              </a:r>
              <a:r>
                <a:rPr lang="en-US" sz="2699">
                  <a:solidFill>
                    <a:srgbClr val="1A2E1A"/>
                  </a:solidFill>
                  <a:latin typeface="Calibri (MS)"/>
                  <a:ea typeface="Calibri (MS)"/>
                  <a:cs typeface="Calibri (MS)"/>
                  <a:sym typeface="Calibri (MS)"/>
                </a:rPr>
                <a:t>→ poids automatiques selon les classes</a:t>
              </a:r>
            </a:p>
            <a:p>
              <a:pPr algn="l" marL="582928" indent="-291464" lvl="1">
                <a:lnSpc>
                  <a:spcPts val="3239"/>
                </a:lnSpc>
                <a:buFont typeface="Arial"/>
                <a:buChar char="•"/>
              </a:pPr>
              <a:r>
                <a:rPr lang="en-US" b="true" sz="2699">
                  <a:solidFill>
                    <a:srgbClr val="1A2E1A"/>
                  </a:solidFill>
                  <a:latin typeface="Calibri (MS) Bold"/>
                  <a:ea typeface="Calibri (MS) Bold"/>
                  <a:cs typeface="Calibri (MS) Bold"/>
                  <a:sym typeface="Calibri (MS) Bold"/>
                </a:rPr>
                <a:t>dictionnaire </a:t>
              </a:r>
              <a:r>
                <a:rPr lang="en-US" sz="2699">
                  <a:solidFill>
                    <a:srgbClr val="1A2E1A"/>
                  </a:solidFill>
                  <a:latin typeface="Calibri (MS)"/>
                  <a:ea typeface="Calibri (MS)"/>
                  <a:cs typeface="Calibri (MS)"/>
                  <a:sym typeface="Calibri (MS)"/>
                </a:rPr>
                <a:t>→ poids manuels</a:t>
              </a:r>
            </a:p>
            <a:p>
              <a:pPr algn="l">
                <a:lnSpc>
                  <a:spcPts val="3239"/>
                </a:lnSpc>
              </a:pPr>
            </a:p>
            <a:p>
              <a:pPr algn="l">
                <a:lnSpc>
                  <a:spcPts val="3239"/>
                </a:lnSpc>
              </a:pPr>
            </a:p>
            <a:p>
              <a:pPr algn="l">
                <a:lnSpc>
                  <a:spcPts val="3239"/>
                </a:lnSpc>
              </a:pPr>
            </a:p>
            <a:p>
              <a:pPr algn="l">
                <a:lnSpc>
                  <a:spcPts val="3239"/>
                </a:lnSpc>
              </a:pPr>
            </a:p>
          </p:txBody>
        </p:sp>
      </p:grpSp>
      <p:sp>
        <p:nvSpPr>
          <p:cNvPr name="TextBox 41" id="41"/>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41</a:t>
            </a:r>
          </a:p>
        </p:txBody>
      </p:sp>
      <p:grpSp>
        <p:nvGrpSpPr>
          <p:cNvPr name="Group 42" id="42"/>
          <p:cNvGrpSpPr/>
          <p:nvPr/>
        </p:nvGrpSpPr>
        <p:grpSpPr>
          <a:xfrm rot="0">
            <a:off x="-12697" y="-12697"/>
            <a:ext cx="354587" cy="1525019"/>
            <a:chOff x="0" y="0"/>
            <a:chExt cx="472783" cy="2033359"/>
          </a:xfrm>
        </p:grpSpPr>
        <p:sp>
          <p:nvSpPr>
            <p:cNvPr name="Freeform 43" id="43"/>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44" id="44"/>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671538"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A4 — Hyperparmètre : Poids des classes (class_weight )</a:t>
              </a:r>
            </a:p>
          </p:txBody>
        </p:sp>
      </p:grpSp>
      <p:grpSp>
        <p:nvGrpSpPr>
          <p:cNvPr name="Group 8" id="8"/>
          <p:cNvGrpSpPr/>
          <p:nvPr/>
        </p:nvGrpSpPr>
        <p:grpSpPr>
          <a:xfrm rot="0">
            <a:off x="510343" y="1900069"/>
            <a:ext cx="16184615" cy="8027964"/>
            <a:chOff x="0" y="0"/>
            <a:chExt cx="21579486" cy="10703951"/>
          </a:xfrm>
        </p:grpSpPr>
        <p:sp>
          <p:nvSpPr>
            <p:cNvPr name="Freeform 9" id="9"/>
            <p:cNvSpPr/>
            <p:nvPr/>
          </p:nvSpPr>
          <p:spPr>
            <a:xfrm flipH="false" flipV="false" rot="0">
              <a:off x="25065" y="17188"/>
              <a:ext cx="21529224" cy="10669485"/>
            </a:xfrm>
            <a:custGeom>
              <a:avLst/>
              <a:gdLst/>
              <a:ahLst/>
              <a:cxnLst/>
              <a:rect r="r" b="b" t="t" l="l"/>
              <a:pathLst>
                <a:path h="10669485" w="21529224">
                  <a:moveTo>
                    <a:pt x="0" y="0"/>
                  </a:moveTo>
                  <a:lnTo>
                    <a:pt x="21529224" y="0"/>
                  </a:lnTo>
                  <a:lnTo>
                    <a:pt x="21529224" y="10669485"/>
                  </a:lnTo>
                  <a:lnTo>
                    <a:pt x="0" y="10669485"/>
                  </a:lnTo>
                  <a:close/>
                </a:path>
              </a:pathLst>
            </a:custGeom>
            <a:solidFill>
              <a:srgbClr val="FFFFFF"/>
            </a:solidFill>
          </p:spPr>
        </p:sp>
        <p:sp>
          <p:nvSpPr>
            <p:cNvPr name="Freeform 10" id="10"/>
            <p:cNvSpPr/>
            <p:nvPr/>
          </p:nvSpPr>
          <p:spPr>
            <a:xfrm flipH="false" flipV="false" rot="0">
              <a:off x="0" y="0"/>
              <a:ext cx="21579356" cy="10703861"/>
            </a:xfrm>
            <a:custGeom>
              <a:avLst/>
              <a:gdLst/>
              <a:ahLst/>
              <a:cxnLst/>
              <a:rect r="r" b="b" t="t" l="l"/>
              <a:pathLst>
                <a:path h="10703861" w="21579356">
                  <a:moveTo>
                    <a:pt x="25065" y="0"/>
                  </a:moveTo>
                  <a:lnTo>
                    <a:pt x="21554289" y="0"/>
                  </a:lnTo>
                  <a:cubicBezTo>
                    <a:pt x="21568235" y="0"/>
                    <a:pt x="21579356" y="7754"/>
                    <a:pt x="21579356" y="17188"/>
                  </a:cubicBezTo>
                  <a:lnTo>
                    <a:pt x="21579356" y="10686673"/>
                  </a:lnTo>
                  <a:cubicBezTo>
                    <a:pt x="21579356" y="10696236"/>
                    <a:pt x="21568048" y="10703861"/>
                    <a:pt x="21554289" y="10703861"/>
                  </a:cubicBezTo>
                  <a:lnTo>
                    <a:pt x="25065" y="10703861"/>
                  </a:lnTo>
                  <a:cubicBezTo>
                    <a:pt x="11119" y="10703861"/>
                    <a:pt x="0" y="10696107"/>
                    <a:pt x="0" y="10686673"/>
                  </a:cubicBezTo>
                  <a:lnTo>
                    <a:pt x="0" y="17188"/>
                  </a:lnTo>
                  <a:cubicBezTo>
                    <a:pt x="0" y="7754"/>
                    <a:pt x="11307" y="0"/>
                    <a:pt x="25065" y="0"/>
                  </a:cubicBezTo>
                  <a:moveTo>
                    <a:pt x="25065" y="34505"/>
                  </a:moveTo>
                  <a:lnTo>
                    <a:pt x="25065" y="17188"/>
                  </a:lnTo>
                  <a:lnTo>
                    <a:pt x="50318" y="17188"/>
                  </a:lnTo>
                  <a:lnTo>
                    <a:pt x="50318" y="10686673"/>
                  </a:lnTo>
                  <a:lnTo>
                    <a:pt x="25065" y="10686673"/>
                  </a:lnTo>
                  <a:lnTo>
                    <a:pt x="25065" y="10669484"/>
                  </a:lnTo>
                  <a:lnTo>
                    <a:pt x="21554289" y="10669484"/>
                  </a:lnTo>
                  <a:lnTo>
                    <a:pt x="21554289" y="10686673"/>
                  </a:lnTo>
                  <a:lnTo>
                    <a:pt x="21529225" y="10686673"/>
                  </a:lnTo>
                  <a:lnTo>
                    <a:pt x="21529225" y="17188"/>
                  </a:lnTo>
                  <a:lnTo>
                    <a:pt x="21554289" y="17188"/>
                  </a:lnTo>
                  <a:lnTo>
                    <a:pt x="21554289" y="34505"/>
                  </a:lnTo>
                  <a:lnTo>
                    <a:pt x="25065" y="34505"/>
                  </a:lnTo>
                  <a:close/>
                </a:path>
              </a:pathLst>
            </a:custGeom>
            <a:solidFill>
              <a:srgbClr val="D0E0D0"/>
            </a:solidFill>
          </p:spPr>
        </p:sp>
      </p:grpSp>
      <p:grpSp>
        <p:nvGrpSpPr>
          <p:cNvPr name="Group 11" id="11"/>
          <p:cNvGrpSpPr/>
          <p:nvPr/>
        </p:nvGrpSpPr>
        <p:grpSpPr>
          <a:xfrm rot="0">
            <a:off x="1028700" y="1900069"/>
            <a:ext cx="7905985" cy="1158420"/>
            <a:chOff x="0" y="0"/>
            <a:chExt cx="13823111" cy="2025424"/>
          </a:xfrm>
        </p:grpSpPr>
        <p:sp>
          <p:nvSpPr>
            <p:cNvPr name="Freeform 12" id="12"/>
            <p:cNvSpPr/>
            <p:nvPr/>
          </p:nvSpPr>
          <p:spPr>
            <a:xfrm flipH="false" flipV="false" rot="0">
              <a:off x="0" y="0"/>
              <a:ext cx="13823110" cy="2025424"/>
            </a:xfrm>
            <a:custGeom>
              <a:avLst/>
              <a:gdLst/>
              <a:ahLst/>
              <a:cxnLst/>
              <a:rect r="r" b="b" t="t" l="l"/>
              <a:pathLst>
                <a:path h="2025424" w="13823110">
                  <a:moveTo>
                    <a:pt x="0" y="0"/>
                  </a:moveTo>
                  <a:lnTo>
                    <a:pt x="13823110" y="0"/>
                  </a:lnTo>
                  <a:lnTo>
                    <a:pt x="13823110" y="2025424"/>
                  </a:lnTo>
                  <a:lnTo>
                    <a:pt x="0" y="2025424"/>
                  </a:lnTo>
                  <a:close/>
                </a:path>
              </a:pathLst>
            </a:custGeom>
            <a:blipFill>
              <a:blip r:embed="rId3">
                <a:alphaModFix amt="0"/>
              </a:blip>
              <a:stretch>
                <a:fillRect l="0" t="-101267" r="1215" b="-61461"/>
              </a:stretch>
            </a:blipFill>
            <a:ln cap="sq">
              <a:noFill/>
              <a:prstDash val="solid"/>
              <a:miter/>
            </a:ln>
          </p:spPr>
        </p:sp>
        <p:sp>
          <p:nvSpPr>
            <p:cNvPr name="TextBox 13" id="13"/>
            <p:cNvSpPr txBox="true"/>
            <p:nvPr/>
          </p:nvSpPr>
          <p:spPr>
            <a:xfrm>
              <a:off x="0" y="-66675"/>
              <a:ext cx="13823111" cy="2092099"/>
            </a:xfrm>
            <a:prstGeom prst="rect">
              <a:avLst/>
            </a:prstGeom>
          </p:spPr>
          <p:txBody>
            <a:bodyPr anchor="ctr" rtlCol="false" tIns="0" lIns="0" bIns="0" rIns="0"/>
            <a:lstStyle/>
            <a:p>
              <a:pPr algn="l">
                <a:lnSpc>
                  <a:spcPts val="3959"/>
                </a:lnSpc>
              </a:pPr>
              <a:r>
                <a:rPr lang="en-US" b="true" sz="3299" i="true">
                  <a:solidFill>
                    <a:srgbClr val="1A2E1A"/>
                  </a:solidFill>
                  <a:latin typeface="Calibri (MS) Bold Italics"/>
                  <a:ea typeface="Calibri (MS) Bold Italics"/>
                  <a:cs typeface="Calibri (MS) Bold Italics"/>
                  <a:sym typeface="Calibri (MS) Bold Italics"/>
                </a:rPr>
                <a:t> </a:t>
              </a:r>
              <a:r>
                <a:rPr lang="en-US" b="true" sz="3299" i="true">
                  <a:solidFill>
                    <a:srgbClr val="1A2E1A"/>
                  </a:solidFill>
                  <a:latin typeface="Calibri (MS) Bold Italics"/>
                  <a:ea typeface="Calibri (MS) Bold Italics"/>
                  <a:cs typeface="Calibri (MS) Bold Italics"/>
                  <a:sym typeface="Calibri (MS) Bold Italics"/>
                </a:rPr>
                <a:t>R</a:t>
              </a:r>
              <a:r>
                <a:rPr lang="en-US" b="true" sz="3299" i="true">
                  <a:solidFill>
                    <a:srgbClr val="1A2E1A"/>
                  </a:solidFill>
                  <a:latin typeface="Calibri (MS) Bold Italics"/>
                  <a:ea typeface="Calibri (MS) Bold Italics"/>
                  <a:cs typeface="Calibri (MS) Bold Italics"/>
                  <a:sym typeface="Calibri (MS) Bold Italics"/>
                </a:rPr>
                <a:t>ésultats expérime</a:t>
              </a:r>
              <a:r>
                <a:rPr lang="en-US" b="true" sz="3299" i="true">
                  <a:solidFill>
                    <a:srgbClr val="1A2E1A"/>
                  </a:solidFill>
                  <a:latin typeface="Calibri (MS) Bold Italics"/>
                  <a:ea typeface="Calibri (MS) Bold Italics"/>
                  <a:cs typeface="Calibri (MS) Bold Italics"/>
                  <a:sym typeface="Calibri (MS) Bold Italics"/>
                </a:rPr>
                <a:t>ntaux (Pima Dataset)</a:t>
              </a:r>
            </a:p>
          </p:txBody>
        </p:sp>
      </p:grpSp>
      <p:grpSp>
        <p:nvGrpSpPr>
          <p:cNvPr name="Group 14" id="14"/>
          <p:cNvGrpSpPr/>
          <p:nvPr/>
        </p:nvGrpSpPr>
        <p:grpSpPr>
          <a:xfrm rot="0">
            <a:off x="1415059" y="4552271"/>
            <a:ext cx="14073249" cy="3003270"/>
            <a:chOff x="0" y="0"/>
            <a:chExt cx="18764332" cy="4004359"/>
          </a:xfrm>
        </p:grpSpPr>
        <p:sp>
          <p:nvSpPr>
            <p:cNvPr name="Freeform 15" id="15"/>
            <p:cNvSpPr/>
            <p:nvPr/>
          </p:nvSpPr>
          <p:spPr>
            <a:xfrm flipH="false" flipV="false" rot="0">
              <a:off x="23154" y="49191"/>
              <a:ext cx="18717901" cy="3905718"/>
            </a:xfrm>
            <a:custGeom>
              <a:avLst/>
              <a:gdLst/>
              <a:ahLst/>
              <a:cxnLst/>
              <a:rect r="r" b="b" t="t" l="l"/>
              <a:pathLst>
                <a:path h="3905718" w="18717901">
                  <a:moveTo>
                    <a:pt x="0" y="0"/>
                  </a:moveTo>
                  <a:lnTo>
                    <a:pt x="18717901" y="0"/>
                  </a:lnTo>
                  <a:lnTo>
                    <a:pt x="18717901" y="3905718"/>
                  </a:lnTo>
                  <a:lnTo>
                    <a:pt x="0" y="3905718"/>
                  </a:lnTo>
                  <a:close/>
                </a:path>
              </a:pathLst>
            </a:custGeom>
            <a:solidFill>
              <a:srgbClr val="E8F5E8"/>
            </a:solidFill>
          </p:spPr>
        </p:sp>
        <p:sp>
          <p:nvSpPr>
            <p:cNvPr name="Freeform 16" id="16"/>
            <p:cNvSpPr/>
            <p:nvPr/>
          </p:nvSpPr>
          <p:spPr>
            <a:xfrm flipH="false" flipV="false" rot="0">
              <a:off x="0" y="0"/>
              <a:ext cx="18764210" cy="4004101"/>
            </a:xfrm>
            <a:custGeom>
              <a:avLst/>
              <a:gdLst/>
              <a:ahLst/>
              <a:cxnLst/>
              <a:rect r="r" b="b" t="t" l="l"/>
              <a:pathLst>
                <a:path h="4004101" w="18764210">
                  <a:moveTo>
                    <a:pt x="23154" y="0"/>
                  </a:moveTo>
                  <a:lnTo>
                    <a:pt x="18741055" y="0"/>
                  </a:lnTo>
                  <a:cubicBezTo>
                    <a:pt x="18753939" y="0"/>
                    <a:pt x="18764210" y="22192"/>
                    <a:pt x="18764210" y="49191"/>
                  </a:cubicBezTo>
                  <a:lnTo>
                    <a:pt x="18764210" y="3954909"/>
                  </a:lnTo>
                  <a:cubicBezTo>
                    <a:pt x="18764210" y="3982279"/>
                    <a:pt x="18753765" y="4004101"/>
                    <a:pt x="18741055" y="4004101"/>
                  </a:cubicBezTo>
                  <a:lnTo>
                    <a:pt x="23154" y="4004101"/>
                  </a:lnTo>
                  <a:cubicBezTo>
                    <a:pt x="10271" y="4004101"/>
                    <a:pt x="0" y="3981909"/>
                    <a:pt x="0" y="3954909"/>
                  </a:cubicBezTo>
                  <a:lnTo>
                    <a:pt x="0" y="49191"/>
                  </a:lnTo>
                  <a:cubicBezTo>
                    <a:pt x="0" y="22192"/>
                    <a:pt x="10445" y="0"/>
                    <a:pt x="23154" y="0"/>
                  </a:cubicBezTo>
                  <a:moveTo>
                    <a:pt x="23154" y="98753"/>
                  </a:moveTo>
                  <a:lnTo>
                    <a:pt x="23154" y="49191"/>
                  </a:lnTo>
                  <a:lnTo>
                    <a:pt x="46481" y="49191"/>
                  </a:lnTo>
                  <a:lnTo>
                    <a:pt x="46481" y="3954909"/>
                  </a:lnTo>
                  <a:lnTo>
                    <a:pt x="23154" y="3954909"/>
                  </a:lnTo>
                  <a:lnTo>
                    <a:pt x="23154" y="3905718"/>
                  </a:lnTo>
                  <a:lnTo>
                    <a:pt x="18741055" y="3905718"/>
                  </a:lnTo>
                  <a:lnTo>
                    <a:pt x="18741055" y="3954909"/>
                  </a:lnTo>
                  <a:lnTo>
                    <a:pt x="18717902" y="3954909"/>
                  </a:lnTo>
                  <a:lnTo>
                    <a:pt x="18717902" y="49191"/>
                  </a:lnTo>
                  <a:lnTo>
                    <a:pt x="18741055" y="49191"/>
                  </a:lnTo>
                  <a:lnTo>
                    <a:pt x="18741055" y="98753"/>
                  </a:lnTo>
                  <a:lnTo>
                    <a:pt x="23154" y="98753"/>
                  </a:lnTo>
                  <a:close/>
                </a:path>
              </a:pathLst>
            </a:custGeom>
            <a:solidFill>
              <a:srgbClr val="5B9E3D"/>
            </a:solidFill>
          </p:spPr>
        </p:sp>
      </p:grpSp>
      <p:grpSp>
        <p:nvGrpSpPr>
          <p:cNvPr name="Group 17" id="17"/>
          <p:cNvGrpSpPr/>
          <p:nvPr/>
        </p:nvGrpSpPr>
        <p:grpSpPr>
          <a:xfrm rot="0">
            <a:off x="1649075" y="4552271"/>
            <a:ext cx="13172819" cy="3460316"/>
            <a:chOff x="0" y="0"/>
            <a:chExt cx="17563758" cy="4613754"/>
          </a:xfrm>
        </p:grpSpPr>
        <p:sp>
          <p:nvSpPr>
            <p:cNvPr name="Freeform 18" id="18"/>
            <p:cNvSpPr/>
            <p:nvPr/>
          </p:nvSpPr>
          <p:spPr>
            <a:xfrm flipH="false" flipV="false" rot="0">
              <a:off x="0" y="0"/>
              <a:ext cx="17563757" cy="4613754"/>
            </a:xfrm>
            <a:custGeom>
              <a:avLst/>
              <a:gdLst/>
              <a:ahLst/>
              <a:cxnLst/>
              <a:rect r="r" b="b" t="t" l="l"/>
              <a:pathLst>
                <a:path h="4613754" w="17563757">
                  <a:moveTo>
                    <a:pt x="0" y="0"/>
                  </a:moveTo>
                  <a:lnTo>
                    <a:pt x="17563757" y="0"/>
                  </a:lnTo>
                  <a:lnTo>
                    <a:pt x="17563757" y="4613754"/>
                  </a:lnTo>
                  <a:lnTo>
                    <a:pt x="0" y="4613754"/>
                  </a:lnTo>
                  <a:close/>
                </a:path>
              </a:pathLst>
            </a:custGeom>
            <a:blipFill>
              <a:blip r:embed="rId3">
                <a:alphaModFix amt="0"/>
              </a:blip>
              <a:stretch>
                <a:fillRect l="0" t="-40492" r="22254" b="25154"/>
              </a:stretch>
            </a:blipFill>
          </p:spPr>
        </p:sp>
        <p:sp>
          <p:nvSpPr>
            <p:cNvPr name="TextBox 19" id="19"/>
            <p:cNvSpPr txBox="true"/>
            <p:nvPr/>
          </p:nvSpPr>
          <p:spPr>
            <a:xfrm>
              <a:off x="0" y="-57150"/>
              <a:ext cx="17563758" cy="4670904"/>
            </a:xfrm>
            <a:prstGeom prst="rect">
              <a:avLst/>
            </a:prstGeom>
          </p:spPr>
          <p:txBody>
            <a:bodyPr anchor="ctr" rtlCol="false" tIns="0" lIns="0" bIns="0" rIns="0"/>
            <a:lstStyle/>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Rappel (Recall) – métrique prioritaire en santé</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L’activation de class_weight="balanced" permet de mieux gérer le déséquilibre des classes</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Le modèle accorde plus d’importance à la classe minoritaire</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Le recall augmente fortement : 0.49 → 0.72</a:t>
              </a:r>
            </a:p>
            <a:p>
              <a:pPr algn="l" marL="582928" indent="-291464" lvl="1">
                <a:lnSpc>
                  <a:spcPts val="3239"/>
                </a:lnSpc>
                <a:buFont typeface="Arial"/>
                <a:buChar char="•"/>
              </a:pPr>
              <a:r>
                <a:rPr lang="en-US" sz="2699">
                  <a:solidFill>
                    <a:srgbClr val="1A2E1A"/>
                  </a:solidFill>
                  <a:latin typeface="Calibri (MS)"/>
                  <a:ea typeface="Calibri (MS)"/>
                  <a:cs typeface="Calibri (MS)"/>
                  <a:sym typeface="Calibri (MS)"/>
                </a:rPr>
                <a:t>Cela signifie une réduction significative des faux négatifs</a:t>
              </a:r>
            </a:p>
            <a:p>
              <a:pPr algn="l">
                <a:lnSpc>
                  <a:spcPts val="3239"/>
                </a:lnSpc>
              </a:pPr>
            </a:p>
          </p:txBody>
        </p:sp>
      </p:grpSp>
      <p:grpSp>
        <p:nvGrpSpPr>
          <p:cNvPr name="Group 20" id="20"/>
          <p:cNvGrpSpPr/>
          <p:nvPr/>
        </p:nvGrpSpPr>
        <p:grpSpPr>
          <a:xfrm rot="0">
            <a:off x="-12697" y="-12697"/>
            <a:ext cx="354587" cy="1525019"/>
            <a:chOff x="0" y="0"/>
            <a:chExt cx="472783" cy="2033359"/>
          </a:xfrm>
        </p:grpSpPr>
        <p:sp>
          <p:nvSpPr>
            <p:cNvPr name="Freeform 21" id="21"/>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22" id="22"/>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
        <p:nvSpPr>
          <p:cNvPr name="Freeform 23" id="23"/>
          <p:cNvSpPr/>
          <p:nvPr/>
        </p:nvSpPr>
        <p:spPr>
          <a:xfrm flipH="false" flipV="false" rot="0">
            <a:off x="2584854" y="2896565"/>
            <a:ext cx="11301259" cy="1398531"/>
          </a:xfrm>
          <a:custGeom>
            <a:avLst/>
            <a:gdLst/>
            <a:ahLst/>
            <a:cxnLst/>
            <a:rect r="r" b="b" t="t" l="l"/>
            <a:pathLst>
              <a:path h="1398531" w="11301259">
                <a:moveTo>
                  <a:pt x="0" y="0"/>
                </a:moveTo>
                <a:lnTo>
                  <a:pt x="11301259" y="0"/>
                </a:lnTo>
                <a:lnTo>
                  <a:pt x="11301259" y="1398531"/>
                </a:lnTo>
                <a:lnTo>
                  <a:pt x="0" y="1398531"/>
                </a:lnTo>
                <a:lnTo>
                  <a:pt x="0" y="0"/>
                </a:lnTo>
                <a:close/>
              </a:path>
            </a:pathLst>
          </a:custGeom>
          <a:blipFill>
            <a:blip r:embed="rId4"/>
            <a:stretch>
              <a:fillRect l="0" t="0" r="0" b="0"/>
            </a:stretch>
          </a:blipFill>
        </p:spPr>
      </p:sp>
      <p:sp>
        <p:nvSpPr>
          <p:cNvPr name="TextBox 24" id="24"/>
          <p:cNvSpPr txBox="true"/>
          <p:nvPr/>
        </p:nvSpPr>
        <p:spPr>
          <a:xfrm rot="0">
            <a:off x="17658736"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42</a:t>
            </a:r>
          </a:p>
        </p:txBody>
      </p:sp>
      <p:sp>
        <p:nvSpPr>
          <p:cNvPr name="TextBox 25" id="25"/>
          <p:cNvSpPr txBox="true"/>
          <p:nvPr/>
        </p:nvSpPr>
        <p:spPr>
          <a:xfrm rot="0">
            <a:off x="1197981" y="7879390"/>
            <a:ext cx="15473408" cy="2162175"/>
          </a:xfrm>
          <a:prstGeom prst="rect">
            <a:avLst/>
          </a:prstGeom>
        </p:spPr>
        <p:txBody>
          <a:bodyPr anchor="t" rtlCol="false" tIns="0" lIns="0" bIns="0" rIns="0">
            <a:spAutoFit/>
          </a:bodyPr>
          <a:lstStyle/>
          <a:p>
            <a:pPr algn="just">
              <a:lnSpc>
                <a:spcPts val="3359"/>
              </a:lnSpc>
            </a:pPr>
            <a:r>
              <a:rPr lang="en-US" b="true" sz="2799" i="true">
                <a:solidFill>
                  <a:srgbClr val="000000"/>
                </a:solidFill>
                <a:latin typeface="Calibri (MS) Bold Italics"/>
                <a:ea typeface="Calibri (MS) Bold Italics"/>
                <a:cs typeface="Calibri (MS) Bold Italics"/>
                <a:sym typeface="Calibri (MS) Bold Italics"/>
              </a:rPr>
              <a:t>Conclusion : </a:t>
            </a:r>
          </a:p>
          <a:p>
            <a:pPr algn="just" marL="1209036" indent="-403012" lvl="2">
              <a:lnSpc>
                <a:spcPts val="3359"/>
              </a:lnSpc>
              <a:buFont typeface="Arial"/>
              <a:buChar char="⚬"/>
            </a:pPr>
            <a:r>
              <a:rPr lang="en-US" b="true" sz="2799" i="true">
                <a:solidFill>
                  <a:srgbClr val="000000"/>
                </a:solidFill>
                <a:latin typeface="Calibri (MS) Bold Italics"/>
                <a:ea typeface="Calibri (MS) Bold Italics"/>
                <a:cs typeface="Calibri (MS) Bold Italics"/>
                <a:sym typeface="Calibri (MS) Bold Italics"/>
              </a:rPr>
              <a:t> Le modèle Random Forest devient plus fiable pour détecter les cas positifs</a:t>
            </a:r>
          </a:p>
          <a:p>
            <a:pPr algn="just" marL="1209036" indent="-403012" lvl="2">
              <a:lnSpc>
                <a:spcPts val="3359"/>
              </a:lnSpc>
              <a:buFont typeface="Arial"/>
              <a:buChar char="⚬"/>
            </a:pPr>
            <a:r>
              <a:rPr lang="en-US" b="true" sz="2799" i="true">
                <a:solidFill>
                  <a:srgbClr val="000000"/>
                </a:solidFill>
                <a:latin typeface="Calibri (MS) Bold Italics"/>
                <a:ea typeface="Calibri (MS) Bold Italics"/>
                <a:cs typeface="Calibri (MS) Bold Italics"/>
                <a:sym typeface="Calibri (MS) Bold Italics"/>
              </a:rPr>
              <a:t> Il y a un meilleur compromis pour les problèmes où rater un cas est critique</a:t>
            </a:r>
          </a:p>
          <a:p>
            <a:pPr algn="just">
              <a:lnSpc>
                <a:spcPts val="3359"/>
              </a:lnSpc>
            </a:pPr>
            <a:r>
              <a:rPr lang="en-US" b="true" sz="2799" i="true">
                <a:solidFill>
                  <a:srgbClr val="000000"/>
                </a:solidFill>
                <a:latin typeface="Calibri (MS) Bold Italics"/>
                <a:ea typeface="Calibri (MS) Bold Italics"/>
                <a:cs typeface="Calibri (MS) Bold Italics"/>
                <a:sym typeface="Calibri (MS) Bold Italics"/>
              </a:rPr>
              <a:t>👉 class_weight="balanced" est recommandé en présence de données déséquilibrées</a:t>
            </a:r>
          </a:p>
          <a:p>
            <a:pPr algn="just">
              <a:lnSpc>
                <a:spcPts val="3359"/>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sp>
        <p:nvSpPr>
          <p:cNvPr name="TextBox 2" id="2"/>
          <p:cNvSpPr txBox="true"/>
          <p:nvPr/>
        </p:nvSpPr>
        <p:spPr>
          <a:xfrm rot="0">
            <a:off x="17798937" y="9769362"/>
            <a:ext cx="152400" cy="180975"/>
          </a:xfrm>
          <a:prstGeom prst="rect">
            <a:avLst/>
          </a:prstGeom>
        </p:spPr>
        <p:txBody>
          <a:bodyPr anchor="t" rtlCol="false" tIns="0" lIns="0" bIns="0" rIns="0" wrap="none">
            <a:spAutoFit/>
          </a:bodyPr>
          <a:lstStyle/>
          <a:p>
            <a:pPr algn="ctr">
              <a:lnSpc>
                <a:spcPts val="2458"/>
              </a:lnSpc>
              <a:spcBef>
                <a:spcPct val="0"/>
              </a:spcBef>
            </a:pPr>
            <a:r>
              <a:rPr lang="en-US" b="true" sz="1756">
                <a:solidFill>
                  <a:srgbClr val="000000"/>
                </a:solidFill>
                <a:latin typeface="Open Sans Bold"/>
                <a:ea typeface="Open Sans Bold"/>
                <a:cs typeface="Open Sans Bold"/>
                <a:sym typeface="Open Sans Bold"/>
              </a:rPr>
              <a:t>43</a:t>
            </a:r>
          </a:p>
        </p:txBody>
      </p:sp>
      <p:grpSp>
        <p:nvGrpSpPr>
          <p:cNvPr name="Group 3" id="3"/>
          <p:cNvGrpSpPr/>
          <p:nvPr/>
        </p:nvGrpSpPr>
        <p:grpSpPr>
          <a:xfrm rot="0">
            <a:off x="-12697" y="-12697"/>
            <a:ext cx="18313403" cy="1525019"/>
            <a:chOff x="0" y="0"/>
            <a:chExt cx="24417871" cy="2033359"/>
          </a:xfrm>
        </p:grpSpPr>
        <p:sp>
          <p:nvSpPr>
            <p:cNvPr name="Freeform 4" id="4"/>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5" id="5"/>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6" id="6"/>
          <p:cNvGrpSpPr/>
          <p:nvPr/>
        </p:nvGrpSpPr>
        <p:grpSpPr>
          <a:xfrm rot="0">
            <a:off x="671538" y="0"/>
            <a:ext cx="17190720" cy="1645920"/>
            <a:chOff x="0" y="0"/>
            <a:chExt cx="22920960" cy="2194560"/>
          </a:xfrm>
        </p:grpSpPr>
        <p:sp>
          <p:nvSpPr>
            <p:cNvPr name="Freeform 7" id="7"/>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2">
                <a:alphaModFix amt="0"/>
              </a:blip>
              <a:stretch>
                <a:fillRect l="0" t="-153510" r="0" b="-153510"/>
              </a:stretch>
            </a:blipFill>
          </p:spPr>
        </p:sp>
        <p:sp>
          <p:nvSpPr>
            <p:cNvPr name="TextBox 8" id="8"/>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Com</a:t>
              </a:r>
              <a:r>
                <a:rPr lang="en-US" sz="3799" b="true">
                  <a:solidFill>
                    <a:srgbClr val="FFFFFF"/>
                  </a:solidFill>
                  <a:latin typeface="Calibri (MS) Bold"/>
                  <a:ea typeface="Calibri (MS) Bold"/>
                  <a:cs typeface="Calibri (MS) Bold"/>
                  <a:sym typeface="Calibri (MS) Bold"/>
                </a:rPr>
                <a:t>paraison des modèles — RF vs Naive Bayes vs Régression Logistique</a:t>
              </a:r>
            </a:p>
          </p:txBody>
        </p:sp>
      </p:grpSp>
      <p:grpSp>
        <p:nvGrpSpPr>
          <p:cNvPr name="Group 9" id="9"/>
          <p:cNvGrpSpPr/>
          <p:nvPr/>
        </p:nvGrpSpPr>
        <p:grpSpPr>
          <a:xfrm rot="0">
            <a:off x="-12697" y="-12697"/>
            <a:ext cx="354587" cy="1525019"/>
            <a:chOff x="0" y="0"/>
            <a:chExt cx="472783" cy="2033359"/>
          </a:xfrm>
        </p:grpSpPr>
        <p:sp>
          <p:nvSpPr>
            <p:cNvPr name="Freeform 10" id="10"/>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C0392B"/>
            </a:solidFill>
          </p:spPr>
        </p:sp>
        <p:sp>
          <p:nvSpPr>
            <p:cNvPr name="Freeform 11" id="11"/>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C0392B"/>
            </a:solidFill>
          </p:spPr>
        </p:sp>
      </p:grpSp>
      <p:graphicFrame>
        <p:nvGraphicFramePr>
          <p:cNvPr name="Table 12" id="12"/>
          <p:cNvGraphicFramePr>
            <a:graphicFrameLocks noGrp="true"/>
          </p:cNvGraphicFramePr>
          <p:nvPr/>
        </p:nvGraphicFramePr>
        <p:xfrm>
          <a:off x="558800" y="2018936"/>
          <a:ext cx="17170400" cy="4319058"/>
        </p:xfrm>
        <a:graphic>
          <a:graphicData uri="http://schemas.openxmlformats.org/drawingml/2006/table">
            <a:tbl>
              <a:tblPr/>
              <a:tblGrid>
                <a:gridCol w="4901436"/>
                <a:gridCol w="4458646"/>
                <a:gridCol w="4458646"/>
                <a:gridCol w="3351672"/>
              </a:tblGrid>
              <a:tr h="863812">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Métrique</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Logistic Regression</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Naive Bayes (GaussianNB)</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b="true">
                          <a:solidFill>
                            <a:srgbClr val="FFFFFF"/>
                          </a:solidFill>
                          <a:latin typeface="Calibri (MS) Bold"/>
                          <a:ea typeface="Calibri (MS) Bold"/>
                          <a:cs typeface="Calibri (MS) Bold"/>
                          <a:sym typeface="Calibri (MS) Bold"/>
                        </a:rPr>
                        <a:t>Random Forest</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r>
              <a:tr h="863812">
                <a:tc>
                  <a:txBody>
                    <a:bodyPr anchor="t" rtlCol="false"/>
                    <a:lstStyle/>
                    <a:p>
                      <a:pPr algn="l">
                        <a:lnSpc>
                          <a:spcPts val="2640"/>
                        </a:lnSpc>
                        <a:defRPr/>
                      </a:pPr>
                      <a:r>
                        <a:rPr lang="en-US" b="true" sz="2200">
                          <a:solidFill>
                            <a:srgbClr val="FFFFFF"/>
                          </a:solidFill>
                          <a:latin typeface="Calibri (MS) Bold"/>
                          <a:ea typeface="Calibri (MS) Bold"/>
                          <a:cs typeface="Calibri (MS) Bold"/>
                          <a:sym typeface="Calibri (MS) Bold"/>
                        </a:rPr>
                        <a:t>Accuracy</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0.7188</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0.7292</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0.7292</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r>
              <a:tr h="863812">
                <a:tc>
                  <a:txBody>
                    <a:bodyPr anchor="t" rtlCol="false"/>
                    <a:lstStyle/>
                    <a:p>
                      <a:pPr algn="l">
                        <a:lnSpc>
                          <a:spcPts val="2640"/>
                        </a:lnSpc>
                        <a:defRPr/>
                      </a:pPr>
                      <a:r>
                        <a:rPr lang="en-US" b="true" sz="2200">
                          <a:solidFill>
                            <a:srgbClr val="FFFFFF"/>
                          </a:solidFill>
                          <a:latin typeface="Calibri (MS) Bold"/>
                          <a:ea typeface="Calibri (MS) Bold"/>
                          <a:cs typeface="Calibri (MS) Bold"/>
                          <a:sym typeface="Calibri (MS) Bold"/>
                        </a:rPr>
                        <a:t>Précision</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0.6182</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0.6154</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0.5926</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r>
              <a:tr h="863812">
                <a:tc>
                  <a:txBody>
                    <a:bodyPr anchor="t" rtlCol="false"/>
                    <a:lstStyle/>
                    <a:p>
                      <a:pPr algn="l">
                        <a:lnSpc>
                          <a:spcPts val="2640"/>
                        </a:lnSpc>
                        <a:defRPr/>
                      </a:pPr>
                      <a:r>
                        <a:rPr lang="en-US" sz="2200" b="true">
                          <a:solidFill>
                            <a:srgbClr val="FFFFFF"/>
                          </a:solidFill>
                          <a:latin typeface="Calibri (MS) Bold"/>
                          <a:ea typeface="Calibri (MS) Bold"/>
                          <a:cs typeface="Calibri (MS) Bold"/>
                          <a:sym typeface="Calibri (MS) Bold"/>
                        </a:rPr>
                        <a:t>Recall</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0.5075</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0.5970</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0.7164</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3D5D3F"/>
                    </a:solidFill>
                  </a:tcPr>
                </a:tc>
              </a:tr>
              <a:tr h="863812">
                <a:tc>
                  <a:txBody>
                    <a:bodyPr anchor="t" rtlCol="false"/>
                    <a:lstStyle/>
                    <a:p>
                      <a:pPr algn="l">
                        <a:lnSpc>
                          <a:spcPts val="2640"/>
                        </a:lnSpc>
                        <a:defRPr/>
                      </a:pPr>
                      <a:r>
                        <a:rPr lang="en-US" b="true" sz="2200">
                          <a:solidFill>
                            <a:srgbClr val="FFFFFF"/>
                          </a:solidFill>
                          <a:latin typeface="Calibri (MS) Bold"/>
                          <a:ea typeface="Calibri (MS) Bold"/>
                          <a:cs typeface="Calibri (MS) Bold"/>
                          <a:sym typeface="Calibri (MS) Bold"/>
                        </a:rPr>
                        <a:t>F1-Score </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C3A1E"/>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0.5574</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0.6061</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c>
                  <a:txBody>
                    <a:bodyPr anchor="t" rtlCol="false"/>
                    <a:lstStyle/>
                    <a:p>
                      <a:pPr algn="ctr">
                        <a:lnSpc>
                          <a:spcPts val="2640"/>
                        </a:lnSpc>
                        <a:defRPr/>
                      </a:pPr>
                      <a:r>
                        <a:rPr lang="en-US" sz="2200">
                          <a:solidFill>
                            <a:srgbClr val="FFFFFF"/>
                          </a:solidFill>
                          <a:latin typeface="Calibri (MS)"/>
                          <a:ea typeface="Calibri (MS)"/>
                          <a:cs typeface="Calibri (MS)"/>
                          <a:sym typeface="Calibri (MS)"/>
                        </a:rPr>
                        <a:t>0.6486</a:t>
                      </a:r>
                      <a:endParaRPr lang="en-US" sz="1100"/>
                    </a:p>
                  </a:txBody>
                  <a:tcPr marL="91440" marR="91440" marT="91440" marB="91440" anchor="ctr">
                    <a:lnL cmpd="sng" algn="ctr" cap="flat" w="6350">
                      <a:solidFill>
                        <a:srgbClr val="2E4A7A"/>
                      </a:solidFill>
                      <a:prstDash val="solid"/>
                      <a:round/>
                      <a:headEnd type="none" w="med" len="med"/>
                      <a:tailEnd type="none" w="med" len="med"/>
                    </a:lnL>
                    <a:lnR cmpd="sng" algn="ctr" cap="flat" w="6350">
                      <a:solidFill>
                        <a:srgbClr val="2E4A7A"/>
                      </a:solidFill>
                      <a:prstDash val="solid"/>
                      <a:round/>
                      <a:headEnd type="none" w="med" len="med"/>
                      <a:tailEnd type="none" w="med" len="med"/>
                    </a:lnR>
                    <a:lnT cmpd="sng" algn="ctr" cap="flat" w="6350">
                      <a:solidFill>
                        <a:srgbClr val="2E4A7A"/>
                      </a:solidFill>
                      <a:prstDash val="solid"/>
                      <a:round/>
                      <a:headEnd type="none" w="med" len="med"/>
                      <a:tailEnd type="none" w="med" len="med"/>
                    </a:lnT>
                    <a:lnB cmpd="sng" algn="ctr" cap="flat" w="6350">
                      <a:solidFill>
                        <a:srgbClr val="2E4A7A"/>
                      </a:solidFill>
                      <a:prstDash val="solid"/>
                      <a:round/>
                      <a:headEnd type="none" w="med" len="med"/>
                      <a:tailEnd type="none" w="med" len="med"/>
                    </a:lnB>
                    <a:solidFill>
                      <a:srgbClr val="1A2E1A"/>
                    </a:solidFill>
                  </a:tcPr>
                </a:tc>
              </a:tr>
            </a:tbl>
          </a:graphicData>
        </a:graphic>
      </p:graphicFrame>
      <p:grpSp>
        <p:nvGrpSpPr>
          <p:cNvPr name="Group 13" id="13"/>
          <p:cNvGrpSpPr/>
          <p:nvPr/>
        </p:nvGrpSpPr>
        <p:grpSpPr>
          <a:xfrm rot="0">
            <a:off x="1028700" y="6709469"/>
            <a:ext cx="16599074" cy="3434835"/>
            <a:chOff x="0" y="0"/>
            <a:chExt cx="22132099" cy="4579780"/>
          </a:xfrm>
        </p:grpSpPr>
        <p:sp>
          <p:nvSpPr>
            <p:cNvPr name="Freeform 14" id="14"/>
            <p:cNvSpPr/>
            <p:nvPr/>
          </p:nvSpPr>
          <p:spPr>
            <a:xfrm flipH="false" flipV="false" rot="0">
              <a:off x="27309" y="56260"/>
              <a:ext cx="22077335" cy="4466964"/>
            </a:xfrm>
            <a:custGeom>
              <a:avLst/>
              <a:gdLst/>
              <a:ahLst/>
              <a:cxnLst/>
              <a:rect r="r" b="b" t="t" l="l"/>
              <a:pathLst>
                <a:path h="4466964" w="22077335">
                  <a:moveTo>
                    <a:pt x="0" y="0"/>
                  </a:moveTo>
                  <a:lnTo>
                    <a:pt x="22077336" y="0"/>
                  </a:lnTo>
                  <a:lnTo>
                    <a:pt x="22077336" y="4466964"/>
                  </a:lnTo>
                  <a:lnTo>
                    <a:pt x="0" y="4466964"/>
                  </a:lnTo>
                  <a:close/>
                </a:path>
              </a:pathLst>
            </a:custGeom>
            <a:solidFill>
              <a:srgbClr val="E8F5E8"/>
            </a:solidFill>
          </p:spPr>
        </p:sp>
        <p:sp>
          <p:nvSpPr>
            <p:cNvPr name="Freeform 15" id="15"/>
            <p:cNvSpPr/>
            <p:nvPr/>
          </p:nvSpPr>
          <p:spPr>
            <a:xfrm flipH="false" flipV="false" rot="0">
              <a:off x="0" y="0"/>
              <a:ext cx="22131956" cy="4579484"/>
            </a:xfrm>
            <a:custGeom>
              <a:avLst/>
              <a:gdLst/>
              <a:ahLst/>
              <a:cxnLst/>
              <a:rect r="r" b="b" t="t" l="l"/>
              <a:pathLst>
                <a:path h="4579484" w="22131956">
                  <a:moveTo>
                    <a:pt x="27309" y="0"/>
                  </a:moveTo>
                  <a:lnTo>
                    <a:pt x="22104645" y="0"/>
                  </a:lnTo>
                  <a:cubicBezTo>
                    <a:pt x="22119842" y="0"/>
                    <a:pt x="22131956" y="25380"/>
                    <a:pt x="22131956" y="56260"/>
                  </a:cubicBezTo>
                  <a:lnTo>
                    <a:pt x="22131956" y="4523224"/>
                  </a:lnTo>
                  <a:cubicBezTo>
                    <a:pt x="22131956" y="4554526"/>
                    <a:pt x="22119636" y="4579484"/>
                    <a:pt x="22104645" y="4579484"/>
                  </a:cubicBezTo>
                  <a:lnTo>
                    <a:pt x="27309" y="4579484"/>
                  </a:lnTo>
                  <a:cubicBezTo>
                    <a:pt x="12115" y="4579484"/>
                    <a:pt x="0" y="4554103"/>
                    <a:pt x="0" y="4523224"/>
                  </a:cubicBezTo>
                  <a:lnTo>
                    <a:pt x="0" y="56260"/>
                  </a:lnTo>
                  <a:cubicBezTo>
                    <a:pt x="0" y="25380"/>
                    <a:pt x="12320" y="0"/>
                    <a:pt x="27309" y="0"/>
                  </a:cubicBezTo>
                  <a:moveTo>
                    <a:pt x="27309" y="112943"/>
                  </a:moveTo>
                  <a:lnTo>
                    <a:pt x="27309" y="56260"/>
                  </a:lnTo>
                  <a:lnTo>
                    <a:pt x="54824" y="56260"/>
                  </a:lnTo>
                  <a:lnTo>
                    <a:pt x="54824" y="4523224"/>
                  </a:lnTo>
                  <a:lnTo>
                    <a:pt x="27309" y="4523224"/>
                  </a:lnTo>
                  <a:lnTo>
                    <a:pt x="27309" y="4466964"/>
                  </a:lnTo>
                  <a:lnTo>
                    <a:pt x="22104645" y="4466964"/>
                  </a:lnTo>
                  <a:lnTo>
                    <a:pt x="22104645" y="4523224"/>
                  </a:lnTo>
                  <a:lnTo>
                    <a:pt x="22077336" y="4523224"/>
                  </a:lnTo>
                  <a:lnTo>
                    <a:pt x="22077336" y="56260"/>
                  </a:lnTo>
                  <a:lnTo>
                    <a:pt x="22104645" y="56260"/>
                  </a:lnTo>
                  <a:lnTo>
                    <a:pt x="22104645" y="112943"/>
                  </a:lnTo>
                  <a:lnTo>
                    <a:pt x="27309" y="112943"/>
                  </a:lnTo>
                  <a:close/>
                </a:path>
              </a:pathLst>
            </a:custGeom>
            <a:solidFill>
              <a:srgbClr val="5B9E3D"/>
            </a:solidFill>
          </p:spPr>
        </p:sp>
      </p:grpSp>
      <p:grpSp>
        <p:nvGrpSpPr>
          <p:cNvPr name="Group 16" id="16"/>
          <p:cNvGrpSpPr/>
          <p:nvPr/>
        </p:nvGrpSpPr>
        <p:grpSpPr>
          <a:xfrm rot="0">
            <a:off x="1351454" y="6841450"/>
            <a:ext cx="16276320" cy="3170873"/>
            <a:chOff x="0" y="0"/>
            <a:chExt cx="21701760" cy="4227831"/>
          </a:xfrm>
        </p:grpSpPr>
        <p:sp>
          <p:nvSpPr>
            <p:cNvPr name="Freeform 17" id="17"/>
            <p:cNvSpPr/>
            <p:nvPr/>
          </p:nvSpPr>
          <p:spPr>
            <a:xfrm flipH="false" flipV="false" rot="0">
              <a:off x="0" y="0"/>
              <a:ext cx="21701761" cy="4227831"/>
            </a:xfrm>
            <a:custGeom>
              <a:avLst/>
              <a:gdLst/>
              <a:ahLst/>
              <a:cxnLst/>
              <a:rect r="r" b="b" t="t" l="l"/>
              <a:pathLst>
                <a:path h="4227831" w="21701761">
                  <a:moveTo>
                    <a:pt x="0" y="0"/>
                  </a:moveTo>
                  <a:lnTo>
                    <a:pt x="21701761" y="0"/>
                  </a:lnTo>
                  <a:lnTo>
                    <a:pt x="21701761" y="4227831"/>
                  </a:lnTo>
                  <a:lnTo>
                    <a:pt x="0" y="4227831"/>
                  </a:lnTo>
                  <a:close/>
                </a:path>
              </a:pathLst>
            </a:custGeom>
            <a:blipFill>
              <a:blip r:embed="rId2">
                <a:alphaModFix amt="0"/>
              </a:blip>
              <a:stretch>
                <a:fillRect l="0" t="-81273" r="0" b="-18762"/>
              </a:stretch>
            </a:blipFill>
          </p:spPr>
        </p:sp>
        <p:sp>
          <p:nvSpPr>
            <p:cNvPr name="TextBox 18" id="18"/>
            <p:cNvSpPr txBox="true"/>
            <p:nvPr/>
          </p:nvSpPr>
          <p:spPr>
            <a:xfrm>
              <a:off x="0" y="-57150"/>
              <a:ext cx="21701760" cy="4284981"/>
            </a:xfrm>
            <a:prstGeom prst="rect">
              <a:avLst/>
            </a:prstGeom>
          </p:spPr>
          <p:txBody>
            <a:bodyPr anchor="ctr" rtlCol="false" tIns="0" lIns="0" bIns="0" rIns="0"/>
            <a:lstStyle/>
            <a:p>
              <a:pPr algn="l">
                <a:lnSpc>
                  <a:spcPts val="3239"/>
                </a:lnSpc>
              </a:pPr>
              <a:r>
                <a:rPr lang="en-US" sz="2699" b="true">
                  <a:solidFill>
                    <a:srgbClr val="000000"/>
                  </a:solidFill>
                  <a:latin typeface="Calibri (MS) Bold"/>
                  <a:ea typeface="Calibri (MS) Bold"/>
                  <a:cs typeface="Calibri (MS) Bold"/>
                  <a:sym typeface="Calibri (MS) Bold"/>
                </a:rPr>
                <a:t>💡  La comparaison des modèles montre : </a:t>
              </a:r>
            </a:p>
            <a:p>
              <a:pPr algn="l" marL="1122675" indent="-374225" lvl="2">
                <a:lnSpc>
                  <a:spcPts val="3119"/>
                </a:lnSpc>
                <a:buFont typeface="Arial"/>
                <a:buChar char="⚬"/>
              </a:pPr>
              <a:r>
                <a:rPr lang="en-US" sz="2599">
                  <a:solidFill>
                    <a:srgbClr val="000000"/>
                  </a:solidFill>
                  <a:latin typeface="Calibri (MS)"/>
                  <a:ea typeface="Calibri (MS)"/>
                  <a:cs typeface="Calibri (MS)"/>
                  <a:sym typeface="Calibri (MS)"/>
                </a:rPr>
                <a:t>R</a:t>
              </a:r>
              <a:r>
                <a:rPr lang="en-US" sz="2599">
                  <a:solidFill>
                    <a:srgbClr val="000000"/>
                  </a:solidFill>
                  <a:latin typeface="Calibri (MS)"/>
                  <a:ea typeface="Calibri (MS)"/>
                  <a:cs typeface="Calibri (MS)"/>
                  <a:sym typeface="Calibri (MS)"/>
                </a:rPr>
                <a:t>andom Forest offre les meilleures performances globales, notamment en termes de recall et de F1-score.</a:t>
              </a:r>
            </a:p>
            <a:p>
              <a:pPr algn="l" marL="1122675" indent="-374225" lvl="2">
                <a:lnSpc>
                  <a:spcPts val="3119"/>
                </a:lnSpc>
                <a:buFont typeface="Arial"/>
                <a:buChar char="⚬"/>
              </a:pPr>
              <a:r>
                <a:rPr lang="en-US" sz="2599">
                  <a:solidFill>
                    <a:srgbClr val="000000"/>
                  </a:solidFill>
                  <a:latin typeface="Calibri (MS)"/>
                  <a:ea typeface="Calibri (MS)"/>
                  <a:cs typeface="Calibri (MS)"/>
                  <a:sym typeface="Calibri (MS)"/>
                </a:rPr>
                <a:t>l</a:t>
              </a:r>
              <a:r>
                <a:rPr lang="en-US" sz="2599">
                  <a:solidFill>
                    <a:srgbClr val="000000"/>
                  </a:solidFill>
                  <a:latin typeface="Calibri (MS)"/>
                  <a:ea typeface="Calibri (MS)"/>
                  <a:cs typeface="Calibri (MS)"/>
                  <a:sym typeface="Calibri (MS)"/>
                </a:rPr>
                <a:t>a régression logistique présente une meilleure précision, elle manque de sensibilité pour détecter les cas positifs.</a:t>
              </a:r>
            </a:p>
            <a:p>
              <a:pPr algn="l" marL="1122675" indent="-374225" lvl="2">
                <a:lnSpc>
                  <a:spcPts val="3119"/>
                </a:lnSpc>
                <a:buFont typeface="Arial"/>
                <a:buChar char="⚬"/>
              </a:pPr>
              <a:r>
                <a:rPr lang="en-US" sz="2599">
                  <a:solidFill>
                    <a:srgbClr val="000000"/>
                  </a:solidFill>
                  <a:latin typeface="Calibri (MS)"/>
                  <a:ea typeface="Calibri (MS)"/>
                  <a:cs typeface="Calibri (MS)"/>
                  <a:sym typeface="Calibri (MS)"/>
                </a:rPr>
                <a:t>Naive Bayes fournit des résultats intermédiaires mais reste limité par ses hypothèses simplificatrices</a:t>
              </a:r>
            </a:p>
            <a:p>
              <a:pPr algn="l">
                <a:lnSpc>
                  <a:spcPts val="3239"/>
                </a:lnSpc>
              </a:pPr>
              <a:r>
                <a:rPr lang="en-US" sz="2699" b="true">
                  <a:solidFill>
                    <a:srgbClr val="000000"/>
                  </a:solidFill>
                  <a:latin typeface="Calibri (MS) Bold"/>
                  <a:ea typeface="Calibri (MS) Bold"/>
                  <a:cs typeface="Calibri (MS) Bold"/>
                  <a:sym typeface="Calibri (MS) Bold"/>
                </a:rPr>
                <a:t>=&gt; </a:t>
              </a:r>
              <a:r>
                <a:rPr lang="en-US" sz="2699">
                  <a:solidFill>
                    <a:srgbClr val="000000"/>
                  </a:solidFill>
                  <a:latin typeface="Calibri (MS)"/>
                  <a:ea typeface="Calibri (MS)"/>
                  <a:cs typeface="Calibri (MS)"/>
                  <a:sym typeface="Calibri (MS)"/>
                </a:rPr>
                <a:t>la Random Forest est le modèle le plus adapté au problème étudié, car elle permet un meilleur compromis entre détection des cas positifs et performance globale.</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4F7F4"/>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18313403" cy="1525019"/>
            <a:chOff x="0" y="0"/>
            <a:chExt cx="24417871" cy="2033359"/>
          </a:xfrm>
        </p:grpSpPr>
        <p:sp>
          <p:nvSpPr>
            <p:cNvPr name="Freeform 3" id="3"/>
            <p:cNvSpPr/>
            <p:nvPr/>
          </p:nvSpPr>
          <p:spPr>
            <a:xfrm flipH="false" flipV="false" rot="0">
              <a:off x="16891" y="15412"/>
              <a:ext cx="24383999" cy="2002453"/>
            </a:xfrm>
            <a:custGeom>
              <a:avLst/>
              <a:gdLst/>
              <a:ahLst/>
              <a:cxnLst/>
              <a:rect r="r" b="b" t="t" l="l"/>
              <a:pathLst>
                <a:path h="2002453" w="24383999">
                  <a:moveTo>
                    <a:pt x="0" y="0"/>
                  </a:moveTo>
                  <a:lnTo>
                    <a:pt x="24383999" y="0"/>
                  </a:lnTo>
                  <a:lnTo>
                    <a:pt x="24383999" y="2002453"/>
                  </a:lnTo>
                  <a:lnTo>
                    <a:pt x="0" y="2002453"/>
                  </a:lnTo>
                  <a:close/>
                </a:path>
              </a:pathLst>
            </a:custGeom>
            <a:solidFill>
              <a:srgbClr val="1A2E1A"/>
            </a:solidFill>
          </p:spPr>
        </p:sp>
        <p:sp>
          <p:nvSpPr>
            <p:cNvPr name="Freeform 4" id="4"/>
            <p:cNvSpPr/>
            <p:nvPr/>
          </p:nvSpPr>
          <p:spPr>
            <a:xfrm flipH="false" flipV="false" rot="0">
              <a:off x="0" y="0"/>
              <a:ext cx="24417782" cy="2033278"/>
            </a:xfrm>
            <a:custGeom>
              <a:avLst/>
              <a:gdLst/>
              <a:ahLst/>
              <a:cxnLst/>
              <a:rect r="r" b="b" t="t" l="l"/>
              <a:pathLst>
                <a:path h="2033278" w="24417782">
                  <a:moveTo>
                    <a:pt x="16891" y="0"/>
                  </a:moveTo>
                  <a:lnTo>
                    <a:pt x="24400890" y="0"/>
                  </a:lnTo>
                  <a:cubicBezTo>
                    <a:pt x="24410290" y="0"/>
                    <a:pt x="24417782" y="6953"/>
                    <a:pt x="24417782" y="15412"/>
                  </a:cubicBezTo>
                  <a:lnTo>
                    <a:pt x="24417782" y="2017865"/>
                  </a:lnTo>
                  <a:cubicBezTo>
                    <a:pt x="24417782" y="2026441"/>
                    <a:pt x="24410163" y="2033278"/>
                    <a:pt x="24400890" y="2033278"/>
                  </a:cubicBezTo>
                  <a:lnTo>
                    <a:pt x="16891" y="2033278"/>
                  </a:lnTo>
                  <a:cubicBezTo>
                    <a:pt x="7493" y="2033278"/>
                    <a:pt x="0" y="2026325"/>
                    <a:pt x="0" y="2017865"/>
                  </a:cubicBezTo>
                  <a:lnTo>
                    <a:pt x="0" y="15412"/>
                  </a:lnTo>
                  <a:cubicBezTo>
                    <a:pt x="0" y="6953"/>
                    <a:pt x="7620" y="0"/>
                    <a:pt x="16891" y="0"/>
                  </a:cubicBezTo>
                  <a:moveTo>
                    <a:pt x="16891" y="30941"/>
                  </a:moveTo>
                  <a:lnTo>
                    <a:pt x="16891" y="15412"/>
                  </a:lnTo>
                  <a:lnTo>
                    <a:pt x="33909" y="15412"/>
                  </a:lnTo>
                  <a:lnTo>
                    <a:pt x="33909" y="2017865"/>
                  </a:lnTo>
                  <a:lnTo>
                    <a:pt x="16891" y="2017865"/>
                  </a:lnTo>
                  <a:lnTo>
                    <a:pt x="16891" y="2002453"/>
                  </a:lnTo>
                  <a:lnTo>
                    <a:pt x="24400890" y="2002453"/>
                  </a:lnTo>
                  <a:lnTo>
                    <a:pt x="24400890" y="2017865"/>
                  </a:lnTo>
                  <a:lnTo>
                    <a:pt x="24384000" y="2017865"/>
                  </a:lnTo>
                  <a:lnTo>
                    <a:pt x="24384000" y="15412"/>
                  </a:lnTo>
                  <a:lnTo>
                    <a:pt x="24400890" y="15412"/>
                  </a:lnTo>
                  <a:lnTo>
                    <a:pt x="24400890" y="30941"/>
                  </a:lnTo>
                  <a:lnTo>
                    <a:pt x="16891" y="30941"/>
                  </a:lnTo>
                  <a:close/>
                </a:path>
              </a:pathLst>
            </a:custGeom>
            <a:solidFill>
              <a:srgbClr val="1A2E1A"/>
            </a:solidFill>
          </p:spPr>
        </p:sp>
      </p:grpSp>
      <p:grpSp>
        <p:nvGrpSpPr>
          <p:cNvPr name="Group 5" id="5"/>
          <p:cNvGrpSpPr/>
          <p:nvPr/>
        </p:nvGrpSpPr>
        <p:grpSpPr>
          <a:xfrm rot="0">
            <a:off x="671538" y="0"/>
            <a:ext cx="17190720" cy="1645920"/>
            <a:chOff x="0" y="0"/>
            <a:chExt cx="22920960" cy="2194560"/>
          </a:xfrm>
        </p:grpSpPr>
        <p:sp>
          <p:nvSpPr>
            <p:cNvPr name="Freeform 6" id="6"/>
            <p:cNvSpPr/>
            <p:nvPr/>
          </p:nvSpPr>
          <p:spPr>
            <a:xfrm flipH="false" flipV="false" rot="0">
              <a:off x="0" y="0"/>
              <a:ext cx="22920961" cy="2194560"/>
            </a:xfrm>
            <a:custGeom>
              <a:avLst/>
              <a:gdLst/>
              <a:ahLst/>
              <a:cxnLst/>
              <a:rect r="r" b="b" t="t" l="l"/>
              <a:pathLst>
                <a:path h="2194560" w="22920961">
                  <a:moveTo>
                    <a:pt x="0" y="0"/>
                  </a:moveTo>
                  <a:lnTo>
                    <a:pt x="22920961" y="0"/>
                  </a:lnTo>
                  <a:lnTo>
                    <a:pt x="22920961" y="2194560"/>
                  </a:lnTo>
                  <a:lnTo>
                    <a:pt x="0" y="2194560"/>
                  </a:lnTo>
                  <a:close/>
                </a:path>
              </a:pathLst>
            </a:custGeom>
            <a:blipFill>
              <a:blip r:embed="rId3">
                <a:alphaModFix amt="0"/>
              </a:blip>
              <a:stretch>
                <a:fillRect l="0" t="-153510" r="0" b="-153510"/>
              </a:stretch>
            </a:blipFill>
          </p:spPr>
        </p:sp>
        <p:sp>
          <p:nvSpPr>
            <p:cNvPr name="TextBox 7" id="7"/>
            <p:cNvSpPr txBox="true"/>
            <p:nvPr/>
          </p:nvSpPr>
          <p:spPr>
            <a:xfrm>
              <a:off x="0" y="-76200"/>
              <a:ext cx="22920960" cy="2270760"/>
            </a:xfrm>
            <a:prstGeom prst="rect">
              <a:avLst/>
            </a:prstGeom>
          </p:spPr>
          <p:txBody>
            <a:bodyPr anchor="ctr" rtlCol="false" tIns="0" lIns="0" bIns="0" rIns="0"/>
            <a:lstStyle/>
            <a:p>
              <a:pPr algn="l">
                <a:lnSpc>
                  <a:spcPts val="4559"/>
                </a:lnSpc>
              </a:pPr>
              <a:r>
                <a:rPr lang="en-US" sz="3799" b="true">
                  <a:solidFill>
                    <a:srgbClr val="FFFFFF"/>
                  </a:solidFill>
                  <a:latin typeface="Calibri (MS) Bold"/>
                  <a:ea typeface="Calibri (MS) Bold"/>
                  <a:cs typeface="Calibri (MS) Bold"/>
                  <a:sym typeface="Calibri (MS) Bold"/>
                </a:rPr>
                <a:t>Conclusion</a:t>
              </a:r>
            </a:p>
          </p:txBody>
        </p:sp>
      </p:grpSp>
      <p:grpSp>
        <p:nvGrpSpPr>
          <p:cNvPr name="Group 8" id="8"/>
          <p:cNvGrpSpPr/>
          <p:nvPr/>
        </p:nvGrpSpPr>
        <p:grpSpPr>
          <a:xfrm rot="0">
            <a:off x="1977305" y="3565999"/>
            <a:ext cx="14579186" cy="3155001"/>
            <a:chOff x="0" y="0"/>
            <a:chExt cx="18764332" cy="4060686"/>
          </a:xfrm>
        </p:grpSpPr>
        <p:sp>
          <p:nvSpPr>
            <p:cNvPr name="Freeform 9" id="9"/>
            <p:cNvSpPr/>
            <p:nvPr/>
          </p:nvSpPr>
          <p:spPr>
            <a:xfrm flipH="false" flipV="false" rot="0">
              <a:off x="23154" y="49883"/>
              <a:ext cx="18717901" cy="3960657"/>
            </a:xfrm>
            <a:custGeom>
              <a:avLst/>
              <a:gdLst/>
              <a:ahLst/>
              <a:cxnLst/>
              <a:rect r="r" b="b" t="t" l="l"/>
              <a:pathLst>
                <a:path h="3960657" w="18717901">
                  <a:moveTo>
                    <a:pt x="0" y="0"/>
                  </a:moveTo>
                  <a:lnTo>
                    <a:pt x="18717901" y="0"/>
                  </a:lnTo>
                  <a:lnTo>
                    <a:pt x="18717901" y="3960657"/>
                  </a:lnTo>
                  <a:lnTo>
                    <a:pt x="0" y="3960657"/>
                  </a:lnTo>
                  <a:close/>
                </a:path>
              </a:pathLst>
            </a:custGeom>
            <a:solidFill>
              <a:srgbClr val="E8F5E8"/>
            </a:solidFill>
          </p:spPr>
        </p:sp>
        <p:sp>
          <p:nvSpPr>
            <p:cNvPr name="Freeform 10" id="10"/>
            <p:cNvSpPr/>
            <p:nvPr/>
          </p:nvSpPr>
          <p:spPr>
            <a:xfrm flipH="false" flipV="false" rot="0">
              <a:off x="0" y="0"/>
              <a:ext cx="18764210" cy="4060423"/>
            </a:xfrm>
            <a:custGeom>
              <a:avLst/>
              <a:gdLst/>
              <a:ahLst/>
              <a:cxnLst/>
              <a:rect r="r" b="b" t="t" l="l"/>
              <a:pathLst>
                <a:path h="4060423" w="18764210">
                  <a:moveTo>
                    <a:pt x="23154" y="0"/>
                  </a:moveTo>
                  <a:lnTo>
                    <a:pt x="18741055" y="0"/>
                  </a:lnTo>
                  <a:cubicBezTo>
                    <a:pt x="18753939" y="0"/>
                    <a:pt x="18764210" y="22504"/>
                    <a:pt x="18764210" y="49883"/>
                  </a:cubicBezTo>
                  <a:lnTo>
                    <a:pt x="18764210" y="4010540"/>
                  </a:lnTo>
                  <a:cubicBezTo>
                    <a:pt x="18764210" y="4038295"/>
                    <a:pt x="18753765" y="4060423"/>
                    <a:pt x="18741055" y="4060423"/>
                  </a:cubicBezTo>
                  <a:lnTo>
                    <a:pt x="23154" y="4060423"/>
                  </a:lnTo>
                  <a:cubicBezTo>
                    <a:pt x="10271" y="4060423"/>
                    <a:pt x="0" y="4037919"/>
                    <a:pt x="0" y="4010540"/>
                  </a:cubicBezTo>
                  <a:lnTo>
                    <a:pt x="0" y="49883"/>
                  </a:lnTo>
                  <a:cubicBezTo>
                    <a:pt x="0" y="22504"/>
                    <a:pt x="10445" y="0"/>
                    <a:pt x="23154" y="0"/>
                  </a:cubicBezTo>
                  <a:moveTo>
                    <a:pt x="23154" y="100142"/>
                  </a:moveTo>
                  <a:lnTo>
                    <a:pt x="23154" y="49883"/>
                  </a:lnTo>
                  <a:lnTo>
                    <a:pt x="46481" y="49883"/>
                  </a:lnTo>
                  <a:lnTo>
                    <a:pt x="46481" y="4010540"/>
                  </a:lnTo>
                  <a:lnTo>
                    <a:pt x="23154" y="4010540"/>
                  </a:lnTo>
                  <a:lnTo>
                    <a:pt x="23154" y="3960657"/>
                  </a:lnTo>
                  <a:lnTo>
                    <a:pt x="18741055" y="3960657"/>
                  </a:lnTo>
                  <a:lnTo>
                    <a:pt x="18741055" y="4010540"/>
                  </a:lnTo>
                  <a:lnTo>
                    <a:pt x="18717902" y="4010540"/>
                  </a:lnTo>
                  <a:lnTo>
                    <a:pt x="18717902" y="49883"/>
                  </a:lnTo>
                  <a:lnTo>
                    <a:pt x="18741055" y="49883"/>
                  </a:lnTo>
                  <a:lnTo>
                    <a:pt x="18741055" y="100142"/>
                  </a:lnTo>
                  <a:lnTo>
                    <a:pt x="23154" y="100142"/>
                  </a:lnTo>
                  <a:close/>
                </a:path>
              </a:pathLst>
            </a:custGeom>
            <a:solidFill>
              <a:srgbClr val="5B9E3D"/>
            </a:solidFill>
          </p:spPr>
        </p:sp>
      </p:grpSp>
      <p:grpSp>
        <p:nvGrpSpPr>
          <p:cNvPr name="Group 11" id="11"/>
          <p:cNvGrpSpPr/>
          <p:nvPr/>
        </p:nvGrpSpPr>
        <p:grpSpPr>
          <a:xfrm rot="0">
            <a:off x="2443706" y="3842293"/>
            <a:ext cx="13646385" cy="2575841"/>
            <a:chOff x="0" y="0"/>
            <a:chExt cx="17563758" cy="3315269"/>
          </a:xfrm>
        </p:grpSpPr>
        <p:sp>
          <p:nvSpPr>
            <p:cNvPr name="Freeform 12" id="12"/>
            <p:cNvSpPr/>
            <p:nvPr/>
          </p:nvSpPr>
          <p:spPr>
            <a:xfrm flipH="false" flipV="false" rot="0">
              <a:off x="0" y="0"/>
              <a:ext cx="17563757" cy="3315269"/>
            </a:xfrm>
            <a:custGeom>
              <a:avLst/>
              <a:gdLst/>
              <a:ahLst/>
              <a:cxnLst/>
              <a:rect r="r" b="b" t="t" l="l"/>
              <a:pathLst>
                <a:path h="3315269" w="17563757">
                  <a:moveTo>
                    <a:pt x="0" y="0"/>
                  </a:moveTo>
                  <a:lnTo>
                    <a:pt x="17563757" y="0"/>
                  </a:lnTo>
                  <a:lnTo>
                    <a:pt x="17563757" y="3315269"/>
                  </a:lnTo>
                  <a:lnTo>
                    <a:pt x="0" y="3315269"/>
                  </a:lnTo>
                  <a:close/>
                </a:path>
              </a:pathLst>
            </a:custGeom>
            <a:blipFill>
              <a:blip r:embed="rId3">
                <a:alphaModFix amt="0"/>
              </a:blip>
              <a:stretch>
                <a:fillRect l="0" t="-56351" r="22254" b="-4159"/>
              </a:stretch>
            </a:blipFill>
          </p:spPr>
        </p:sp>
        <p:sp>
          <p:nvSpPr>
            <p:cNvPr name="TextBox 13" id="13"/>
            <p:cNvSpPr txBox="true"/>
            <p:nvPr/>
          </p:nvSpPr>
          <p:spPr>
            <a:xfrm>
              <a:off x="0" y="-66675"/>
              <a:ext cx="17563758" cy="3381944"/>
            </a:xfrm>
            <a:prstGeom prst="rect">
              <a:avLst/>
            </a:prstGeom>
          </p:spPr>
          <p:txBody>
            <a:bodyPr anchor="ctr" rtlCol="false" tIns="0" lIns="0" bIns="0" rIns="0"/>
            <a:lstStyle/>
            <a:p>
              <a:pPr algn="l">
                <a:lnSpc>
                  <a:spcPts val="3719"/>
                </a:lnSpc>
              </a:pPr>
              <a:r>
                <a:rPr lang="en-US" sz="3099">
                  <a:solidFill>
                    <a:srgbClr val="1A2E1A"/>
                  </a:solidFill>
                  <a:latin typeface="Calibri (MS)"/>
                  <a:ea typeface="Calibri (MS)"/>
                  <a:cs typeface="Calibri (MS)"/>
                  <a:sym typeface="Calibri (MS)"/>
                </a:rPr>
                <a:t>Ce projet nous a permis de comprendre et d'implémenter le Random Forest de bout en bout, du prétraitement jusqu'à l'optimisation des hyperparamètres. Car la qualité d'un modèle commence bien avant l'entraînement — elle se construit dès le prétraitement. Et dans un contexte médical comme celui-ci, les choix techniques ont un impact réel sur les personnes.</a:t>
              </a:r>
            </a:p>
          </p:txBody>
        </p:sp>
      </p:grpSp>
      <p:grpSp>
        <p:nvGrpSpPr>
          <p:cNvPr name="Group 14" id="14"/>
          <p:cNvGrpSpPr/>
          <p:nvPr/>
        </p:nvGrpSpPr>
        <p:grpSpPr>
          <a:xfrm rot="0">
            <a:off x="-12697" y="-12697"/>
            <a:ext cx="354587" cy="1525019"/>
            <a:chOff x="0" y="0"/>
            <a:chExt cx="472783" cy="2033359"/>
          </a:xfrm>
        </p:grpSpPr>
        <p:sp>
          <p:nvSpPr>
            <p:cNvPr name="Freeform 15" id="15"/>
            <p:cNvSpPr/>
            <p:nvPr/>
          </p:nvSpPr>
          <p:spPr>
            <a:xfrm flipH="false" flipV="false" rot="0">
              <a:off x="16891" y="16891"/>
              <a:ext cx="438912" cy="1999488"/>
            </a:xfrm>
            <a:custGeom>
              <a:avLst/>
              <a:gdLst/>
              <a:ahLst/>
              <a:cxnLst/>
              <a:rect r="r" b="b" t="t" l="l"/>
              <a:pathLst>
                <a:path h="1999488" w="438912">
                  <a:moveTo>
                    <a:pt x="0" y="0"/>
                  </a:moveTo>
                  <a:lnTo>
                    <a:pt x="438912" y="0"/>
                  </a:lnTo>
                  <a:lnTo>
                    <a:pt x="438912" y="1999488"/>
                  </a:lnTo>
                  <a:lnTo>
                    <a:pt x="0" y="1999488"/>
                  </a:lnTo>
                  <a:close/>
                </a:path>
              </a:pathLst>
            </a:custGeom>
            <a:solidFill>
              <a:srgbClr val="8E44AD"/>
            </a:solidFill>
          </p:spPr>
        </p:sp>
        <p:sp>
          <p:nvSpPr>
            <p:cNvPr name="Freeform 16" id="16"/>
            <p:cNvSpPr/>
            <p:nvPr/>
          </p:nvSpPr>
          <p:spPr>
            <a:xfrm flipH="false" flipV="false" rot="0">
              <a:off x="0" y="0"/>
              <a:ext cx="472694" cy="2033270"/>
            </a:xfrm>
            <a:custGeom>
              <a:avLst/>
              <a:gdLst/>
              <a:ahLst/>
              <a:cxnLst/>
              <a:rect r="r" b="b" t="t" l="l"/>
              <a:pathLst>
                <a:path h="2033270" w="472694">
                  <a:moveTo>
                    <a:pt x="16891" y="0"/>
                  </a:moveTo>
                  <a:lnTo>
                    <a:pt x="455803" y="0"/>
                  </a:lnTo>
                  <a:cubicBezTo>
                    <a:pt x="465201" y="0"/>
                    <a:pt x="472694" y="7620"/>
                    <a:pt x="472694" y="16891"/>
                  </a:cubicBezTo>
                  <a:lnTo>
                    <a:pt x="472694" y="2016379"/>
                  </a:lnTo>
                  <a:cubicBezTo>
                    <a:pt x="472694" y="2025777"/>
                    <a:pt x="465074" y="2033270"/>
                    <a:pt x="455803"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455803" y="1999488"/>
                  </a:lnTo>
                  <a:lnTo>
                    <a:pt x="455803" y="2016379"/>
                  </a:lnTo>
                  <a:lnTo>
                    <a:pt x="438912" y="2016379"/>
                  </a:lnTo>
                  <a:lnTo>
                    <a:pt x="438912" y="16891"/>
                  </a:lnTo>
                  <a:lnTo>
                    <a:pt x="455803" y="16891"/>
                  </a:lnTo>
                  <a:lnTo>
                    <a:pt x="455803" y="33909"/>
                  </a:lnTo>
                  <a:lnTo>
                    <a:pt x="16891" y="33909"/>
                  </a:lnTo>
                  <a:close/>
                </a:path>
              </a:pathLst>
            </a:custGeom>
            <a:solidFill>
              <a:srgbClr val="8E44AD"/>
            </a:solidFill>
          </p:spPr>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1C3A1E"/>
        </a:solidFill>
      </p:bgPr>
    </p:bg>
    <p:spTree>
      <p:nvGrpSpPr>
        <p:cNvPr id="1" name=""/>
        <p:cNvGrpSpPr/>
        <p:nvPr/>
      </p:nvGrpSpPr>
      <p:grpSpPr>
        <a:xfrm>
          <a:off x="0" y="0"/>
          <a:ext cx="0" cy="0"/>
          <a:chOff x="0" y="0"/>
          <a:chExt cx="0" cy="0"/>
        </a:xfrm>
      </p:grpSpPr>
      <p:grpSp>
        <p:nvGrpSpPr>
          <p:cNvPr name="Group 2" id="2"/>
          <p:cNvGrpSpPr/>
          <p:nvPr/>
        </p:nvGrpSpPr>
        <p:grpSpPr>
          <a:xfrm rot="0">
            <a:off x="14434823" y="444503"/>
            <a:ext cx="2951483" cy="427739"/>
            <a:chOff x="0" y="0"/>
            <a:chExt cx="3935311" cy="570319"/>
          </a:xfrm>
        </p:grpSpPr>
        <p:sp>
          <p:nvSpPr>
            <p:cNvPr name="Freeform 3" id="3"/>
            <p:cNvSpPr/>
            <p:nvPr/>
          </p:nvSpPr>
          <p:spPr>
            <a:xfrm flipH="false" flipV="false" rot="0">
              <a:off x="16891" y="16891"/>
              <a:ext cx="3901440" cy="536448"/>
            </a:xfrm>
            <a:custGeom>
              <a:avLst/>
              <a:gdLst/>
              <a:ahLst/>
              <a:cxnLst/>
              <a:rect r="r" b="b" t="t" l="l"/>
              <a:pathLst>
                <a:path h="536448" w="3901440">
                  <a:moveTo>
                    <a:pt x="0" y="0"/>
                  </a:moveTo>
                  <a:lnTo>
                    <a:pt x="3901440" y="0"/>
                  </a:lnTo>
                  <a:lnTo>
                    <a:pt x="3901440" y="536448"/>
                  </a:lnTo>
                  <a:lnTo>
                    <a:pt x="0" y="536448"/>
                  </a:lnTo>
                  <a:close/>
                </a:path>
              </a:pathLst>
            </a:custGeom>
            <a:solidFill>
              <a:srgbClr val="97BC62"/>
            </a:solidFill>
          </p:spPr>
        </p:sp>
        <p:sp>
          <p:nvSpPr>
            <p:cNvPr name="Freeform 4" id="4"/>
            <p:cNvSpPr/>
            <p:nvPr/>
          </p:nvSpPr>
          <p:spPr>
            <a:xfrm flipH="false" flipV="false" rot="0">
              <a:off x="0" y="0"/>
              <a:ext cx="3935222" cy="570232"/>
            </a:xfrm>
            <a:custGeom>
              <a:avLst/>
              <a:gdLst/>
              <a:ahLst/>
              <a:cxnLst/>
              <a:rect r="r" b="b" t="t" l="l"/>
              <a:pathLst>
                <a:path h="570232" w="3935222">
                  <a:moveTo>
                    <a:pt x="16891" y="0"/>
                  </a:moveTo>
                  <a:lnTo>
                    <a:pt x="3918331" y="0"/>
                  </a:lnTo>
                  <a:cubicBezTo>
                    <a:pt x="3927729" y="0"/>
                    <a:pt x="3935222" y="7620"/>
                    <a:pt x="3935222" y="16891"/>
                  </a:cubicBezTo>
                  <a:lnTo>
                    <a:pt x="3935222" y="553339"/>
                  </a:lnTo>
                  <a:cubicBezTo>
                    <a:pt x="3935222" y="562737"/>
                    <a:pt x="3927602" y="570230"/>
                    <a:pt x="3918331" y="570230"/>
                  </a:cubicBezTo>
                  <a:lnTo>
                    <a:pt x="16891" y="570230"/>
                  </a:lnTo>
                  <a:cubicBezTo>
                    <a:pt x="7620" y="570357"/>
                    <a:pt x="0" y="562737"/>
                    <a:pt x="0" y="553339"/>
                  </a:cubicBezTo>
                  <a:lnTo>
                    <a:pt x="0" y="16891"/>
                  </a:lnTo>
                  <a:cubicBezTo>
                    <a:pt x="0" y="7620"/>
                    <a:pt x="7620" y="0"/>
                    <a:pt x="16891" y="0"/>
                  </a:cubicBezTo>
                  <a:moveTo>
                    <a:pt x="16891" y="33909"/>
                  </a:moveTo>
                  <a:lnTo>
                    <a:pt x="16891" y="16891"/>
                  </a:lnTo>
                  <a:lnTo>
                    <a:pt x="33909" y="16891"/>
                  </a:lnTo>
                  <a:lnTo>
                    <a:pt x="33909" y="553339"/>
                  </a:lnTo>
                  <a:lnTo>
                    <a:pt x="16891" y="553339"/>
                  </a:lnTo>
                  <a:lnTo>
                    <a:pt x="16891" y="536448"/>
                  </a:lnTo>
                  <a:lnTo>
                    <a:pt x="3918331" y="536448"/>
                  </a:lnTo>
                  <a:lnTo>
                    <a:pt x="3918331" y="553339"/>
                  </a:lnTo>
                  <a:lnTo>
                    <a:pt x="3901440" y="553339"/>
                  </a:lnTo>
                  <a:lnTo>
                    <a:pt x="3901440" y="16891"/>
                  </a:lnTo>
                  <a:lnTo>
                    <a:pt x="3918331" y="16891"/>
                  </a:lnTo>
                  <a:lnTo>
                    <a:pt x="3918331" y="33909"/>
                  </a:lnTo>
                  <a:lnTo>
                    <a:pt x="16891" y="33909"/>
                  </a:lnTo>
                  <a:close/>
                </a:path>
              </a:pathLst>
            </a:custGeom>
            <a:solidFill>
              <a:srgbClr val="97BC62"/>
            </a:solidFill>
          </p:spPr>
        </p:sp>
      </p:grpSp>
      <p:grpSp>
        <p:nvGrpSpPr>
          <p:cNvPr name="Group 5" id="5"/>
          <p:cNvGrpSpPr/>
          <p:nvPr/>
        </p:nvGrpSpPr>
        <p:grpSpPr>
          <a:xfrm rot="0">
            <a:off x="15623543" y="206759"/>
            <a:ext cx="427739" cy="2037083"/>
            <a:chOff x="0" y="0"/>
            <a:chExt cx="570319" cy="2716111"/>
          </a:xfrm>
        </p:grpSpPr>
        <p:sp>
          <p:nvSpPr>
            <p:cNvPr name="Freeform 6" id="6"/>
            <p:cNvSpPr/>
            <p:nvPr/>
          </p:nvSpPr>
          <p:spPr>
            <a:xfrm flipH="false" flipV="false" rot="0">
              <a:off x="16891" y="16891"/>
              <a:ext cx="536448" cy="2682240"/>
            </a:xfrm>
            <a:custGeom>
              <a:avLst/>
              <a:gdLst/>
              <a:ahLst/>
              <a:cxnLst/>
              <a:rect r="r" b="b" t="t" l="l"/>
              <a:pathLst>
                <a:path h="2682240" w="536448">
                  <a:moveTo>
                    <a:pt x="0" y="0"/>
                  </a:moveTo>
                  <a:lnTo>
                    <a:pt x="536448" y="0"/>
                  </a:lnTo>
                  <a:lnTo>
                    <a:pt x="536448" y="2682240"/>
                  </a:lnTo>
                  <a:lnTo>
                    <a:pt x="0" y="2682240"/>
                  </a:lnTo>
                  <a:close/>
                </a:path>
              </a:pathLst>
            </a:custGeom>
            <a:solidFill>
              <a:srgbClr val="97BC62"/>
            </a:solidFill>
          </p:spPr>
        </p:sp>
        <p:sp>
          <p:nvSpPr>
            <p:cNvPr name="Freeform 7" id="7"/>
            <p:cNvSpPr/>
            <p:nvPr/>
          </p:nvSpPr>
          <p:spPr>
            <a:xfrm flipH="false" flipV="false" rot="0">
              <a:off x="0" y="0"/>
              <a:ext cx="570230" cy="2716022"/>
            </a:xfrm>
            <a:custGeom>
              <a:avLst/>
              <a:gdLst/>
              <a:ahLst/>
              <a:cxnLst/>
              <a:rect r="r" b="b" t="t" l="l"/>
              <a:pathLst>
                <a:path h="2716022" w="570230">
                  <a:moveTo>
                    <a:pt x="16891" y="0"/>
                  </a:moveTo>
                  <a:lnTo>
                    <a:pt x="553339" y="0"/>
                  </a:lnTo>
                  <a:cubicBezTo>
                    <a:pt x="562737" y="0"/>
                    <a:pt x="570230" y="7620"/>
                    <a:pt x="570230" y="16891"/>
                  </a:cubicBezTo>
                  <a:lnTo>
                    <a:pt x="570230" y="2699131"/>
                  </a:lnTo>
                  <a:cubicBezTo>
                    <a:pt x="570230" y="2708529"/>
                    <a:pt x="562610" y="2716022"/>
                    <a:pt x="553339"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553339" y="2682240"/>
                  </a:lnTo>
                  <a:lnTo>
                    <a:pt x="553339" y="2699131"/>
                  </a:lnTo>
                  <a:lnTo>
                    <a:pt x="536448" y="2699131"/>
                  </a:lnTo>
                  <a:lnTo>
                    <a:pt x="536448" y="16891"/>
                  </a:lnTo>
                  <a:lnTo>
                    <a:pt x="553339" y="16891"/>
                  </a:lnTo>
                  <a:lnTo>
                    <a:pt x="553339" y="33909"/>
                  </a:lnTo>
                  <a:lnTo>
                    <a:pt x="16891" y="33909"/>
                  </a:lnTo>
                  <a:close/>
                </a:path>
              </a:pathLst>
            </a:custGeom>
            <a:solidFill>
              <a:srgbClr val="97BC62"/>
            </a:solidFill>
          </p:spPr>
        </p:sp>
      </p:grpSp>
      <p:grpSp>
        <p:nvGrpSpPr>
          <p:cNvPr name="Group 8" id="8"/>
          <p:cNvGrpSpPr/>
          <p:nvPr/>
        </p:nvGrpSpPr>
        <p:grpSpPr>
          <a:xfrm rot="0">
            <a:off x="13648439" y="2022858"/>
            <a:ext cx="2402843" cy="354587"/>
            <a:chOff x="0" y="0"/>
            <a:chExt cx="3203791" cy="472783"/>
          </a:xfrm>
        </p:grpSpPr>
        <p:sp>
          <p:nvSpPr>
            <p:cNvPr name="Freeform 9" id="9"/>
            <p:cNvSpPr/>
            <p:nvPr/>
          </p:nvSpPr>
          <p:spPr>
            <a:xfrm flipH="false" flipV="false" rot="0">
              <a:off x="16891" y="16891"/>
              <a:ext cx="3169920" cy="438912"/>
            </a:xfrm>
            <a:custGeom>
              <a:avLst/>
              <a:gdLst/>
              <a:ahLst/>
              <a:cxnLst/>
              <a:rect r="r" b="b" t="t" l="l"/>
              <a:pathLst>
                <a:path h="438912" w="3169920">
                  <a:moveTo>
                    <a:pt x="0" y="0"/>
                  </a:moveTo>
                  <a:lnTo>
                    <a:pt x="3169920" y="0"/>
                  </a:lnTo>
                  <a:lnTo>
                    <a:pt x="3169920" y="438912"/>
                  </a:lnTo>
                  <a:lnTo>
                    <a:pt x="0" y="438912"/>
                  </a:lnTo>
                  <a:close/>
                </a:path>
              </a:pathLst>
            </a:custGeom>
            <a:solidFill>
              <a:srgbClr val="97BC62"/>
            </a:solidFill>
          </p:spPr>
        </p:sp>
        <p:sp>
          <p:nvSpPr>
            <p:cNvPr name="Freeform 10" id="10"/>
            <p:cNvSpPr/>
            <p:nvPr/>
          </p:nvSpPr>
          <p:spPr>
            <a:xfrm flipH="false" flipV="false" rot="0">
              <a:off x="0" y="0"/>
              <a:ext cx="3203702" cy="472696"/>
            </a:xfrm>
            <a:custGeom>
              <a:avLst/>
              <a:gdLst/>
              <a:ahLst/>
              <a:cxnLst/>
              <a:rect r="r" b="b" t="t" l="l"/>
              <a:pathLst>
                <a:path h="472696" w="3203702">
                  <a:moveTo>
                    <a:pt x="16891" y="0"/>
                  </a:moveTo>
                  <a:lnTo>
                    <a:pt x="3186811" y="0"/>
                  </a:lnTo>
                  <a:cubicBezTo>
                    <a:pt x="3196209" y="0"/>
                    <a:pt x="3203702" y="7620"/>
                    <a:pt x="3203702" y="16891"/>
                  </a:cubicBezTo>
                  <a:lnTo>
                    <a:pt x="3203702" y="455803"/>
                  </a:lnTo>
                  <a:cubicBezTo>
                    <a:pt x="3203702" y="465201"/>
                    <a:pt x="3196082" y="472694"/>
                    <a:pt x="3186811" y="472694"/>
                  </a:cubicBezTo>
                  <a:lnTo>
                    <a:pt x="16891" y="472694"/>
                  </a:lnTo>
                  <a:cubicBezTo>
                    <a:pt x="7620" y="472821"/>
                    <a:pt x="0" y="465201"/>
                    <a:pt x="0" y="455803"/>
                  </a:cubicBezTo>
                  <a:lnTo>
                    <a:pt x="0" y="16891"/>
                  </a:lnTo>
                  <a:cubicBezTo>
                    <a:pt x="0" y="7620"/>
                    <a:pt x="7620" y="0"/>
                    <a:pt x="16891" y="0"/>
                  </a:cubicBezTo>
                  <a:moveTo>
                    <a:pt x="16891" y="33909"/>
                  </a:moveTo>
                  <a:lnTo>
                    <a:pt x="16891" y="16891"/>
                  </a:lnTo>
                  <a:lnTo>
                    <a:pt x="33909" y="16891"/>
                  </a:lnTo>
                  <a:lnTo>
                    <a:pt x="33909" y="455803"/>
                  </a:lnTo>
                  <a:lnTo>
                    <a:pt x="16891" y="455803"/>
                  </a:lnTo>
                  <a:lnTo>
                    <a:pt x="16891" y="438912"/>
                  </a:lnTo>
                  <a:lnTo>
                    <a:pt x="3186811" y="438912"/>
                  </a:lnTo>
                  <a:lnTo>
                    <a:pt x="3186811" y="455803"/>
                  </a:lnTo>
                  <a:lnTo>
                    <a:pt x="3169920" y="455803"/>
                  </a:lnTo>
                  <a:lnTo>
                    <a:pt x="3169920" y="16891"/>
                  </a:lnTo>
                  <a:lnTo>
                    <a:pt x="3186811" y="16891"/>
                  </a:lnTo>
                  <a:lnTo>
                    <a:pt x="3186811" y="33909"/>
                  </a:lnTo>
                  <a:lnTo>
                    <a:pt x="16891" y="33909"/>
                  </a:lnTo>
                  <a:close/>
                </a:path>
              </a:pathLst>
            </a:custGeom>
            <a:solidFill>
              <a:srgbClr val="97BC62"/>
            </a:solidFill>
          </p:spPr>
        </p:sp>
      </p:grpSp>
      <p:grpSp>
        <p:nvGrpSpPr>
          <p:cNvPr name="Group 11" id="11"/>
          <p:cNvGrpSpPr/>
          <p:nvPr/>
        </p:nvGrpSpPr>
        <p:grpSpPr>
          <a:xfrm rot="0">
            <a:off x="14617703" y="1541783"/>
            <a:ext cx="354587" cy="1671323"/>
            <a:chOff x="0" y="0"/>
            <a:chExt cx="472783" cy="2228431"/>
          </a:xfrm>
        </p:grpSpPr>
        <p:sp>
          <p:nvSpPr>
            <p:cNvPr name="Freeform 12" id="12"/>
            <p:cNvSpPr/>
            <p:nvPr/>
          </p:nvSpPr>
          <p:spPr>
            <a:xfrm flipH="false" flipV="false" rot="0">
              <a:off x="16891" y="16891"/>
              <a:ext cx="438912" cy="2194560"/>
            </a:xfrm>
            <a:custGeom>
              <a:avLst/>
              <a:gdLst/>
              <a:ahLst/>
              <a:cxnLst/>
              <a:rect r="r" b="b" t="t" l="l"/>
              <a:pathLst>
                <a:path h="2194560" w="438912">
                  <a:moveTo>
                    <a:pt x="0" y="0"/>
                  </a:moveTo>
                  <a:lnTo>
                    <a:pt x="438912" y="0"/>
                  </a:lnTo>
                  <a:lnTo>
                    <a:pt x="438912" y="2194560"/>
                  </a:lnTo>
                  <a:lnTo>
                    <a:pt x="0" y="2194560"/>
                  </a:lnTo>
                  <a:close/>
                </a:path>
              </a:pathLst>
            </a:custGeom>
            <a:solidFill>
              <a:srgbClr val="97BC62"/>
            </a:solidFill>
          </p:spPr>
        </p:sp>
        <p:sp>
          <p:nvSpPr>
            <p:cNvPr name="Freeform 13" id="13"/>
            <p:cNvSpPr/>
            <p:nvPr/>
          </p:nvSpPr>
          <p:spPr>
            <a:xfrm flipH="false" flipV="false" rot="0">
              <a:off x="0" y="0"/>
              <a:ext cx="472694" cy="2228342"/>
            </a:xfrm>
            <a:custGeom>
              <a:avLst/>
              <a:gdLst/>
              <a:ahLst/>
              <a:cxnLst/>
              <a:rect r="r" b="b" t="t" l="l"/>
              <a:pathLst>
                <a:path h="2228342" w="472694">
                  <a:moveTo>
                    <a:pt x="16891" y="0"/>
                  </a:moveTo>
                  <a:lnTo>
                    <a:pt x="455803" y="0"/>
                  </a:lnTo>
                  <a:cubicBezTo>
                    <a:pt x="465201" y="0"/>
                    <a:pt x="472694" y="7620"/>
                    <a:pt x="472694" y="16891"/>
                  </a:cubicBezTo>
                  <a:lnTo>
                    <a:pt x="472694" y="2211451"/>
                  </a:lnTo>
                  <a:cubicBezTo>
                    <a:pt x="472694" y="2220849"/>
                    <a:pt x="465074" y="2228342"/>
                    <a:pt x="455803" y="2228342"/>
                  </a:cubicBezTo>
                  <a:lnTo>
                    <a:pt x="16891" y="2228342"/>
                  </a:lnTo>
                  <a:cubicBezTo>
                    <a:pt x="7493" y="2228342"/>
                    <a:pt x="0" y="2220722"/>
                    <a:pt x="0" y="2211451"/>
                  </a:cubicBezTo>
                  <a:lnTo>
                    <a:pt x="0" y="16891"/>
                  </a:lnTo>
                  <a:cubicBezTo>
                    <a:pt x="0" y="7620"/>
                    <a:pt x="7620" y="0"/>
                    <a:pt x="16891" y="0"/>
                  </a:cubicBezTo>
                  <a:moveTo>
                    <a:pt x="16891" y="33909"/>
                  </a:moveTo>
                  <a:lnTo>
                    <a:pt x="16891" y="16891"/>
                  </a:lnTo>
                  <a:lnTo>
                    <a:pt x="33909" y="16891"/>
                  </a:lnTo>
                  <a:lnTo>
                    <a:pt x="33909" y="2211451"/>
                  </a:lnTo>
                  <a:lnTo>
                    <a:pt x="16891" y="2211451"/>
                  </a:lnTo>
                  <a:lnTo>
                    <a:pt x="16891" y="2194560"/>
                  </a:lnTo>
                  <a:lnTo>
                    <a:pt x="455803" y="2194560"/>
                  </a:lnTo>
                  <a:lnTo>
                    <a:pt x="455803" y="2211451"/>
                  </a:lnTo>
                  <a:lnTo>
                    <a:pt x="438912" y="2211451"/>
                  </a:lnTo>
                  <a:lnTo>
                    <a:pt x="438912" y="16891"/>
                  </a:lnTo>
                  <a:lnTo>
                    <a:pt x="455803" y="16891"/>
                  </a:lnTo>
                  <a:lnTo>
                    <a:pt x="455803" y="33909"/>
                  </a:lnTo>
                  <a:lnTo>
                    <a:pt x="16891" y="33909"/>
                  </a:lnTo>
                  <a:close/>
                </a:path>
              </a:pathLst>
            </a:custGeom>
            <a:solidFill>
              <a:srgbClr val="97BC62"/>
            </a:solidFill>
          </p:spPr>
        </p:sp>
      </p:grpSp>
      <p:grpSp>
        <p:nvGrpSpPr>
          <p:cNvPr name="Group 14" id="14"/>
          <p:cNvGrpSpPr/>
          <p:nvPr/>
        </p:nvGrpSpPr>
        <p:grpSpPr>
          <a:xfrm rot="0">
            <a:off x="904237" y="497157"/>
            <a:ext cx="16479517" cy="20317"/>
            <a:chOff x="0" y="0"/>
            <a:chExt cx="21972689" cy="27089"/>
          </a:xfrm>
        </p:grpSpPr>
        <p:sp>
          <p:nvSpPr>
            <p:cNvPr name="Freeform 15" id="15"/>
            <p:cNvSpPr/>
            <p:nvPr/>
          </p:nvSpPr>
          <p:spPr>
            <a:xfrm flipH="false" flipV="false" rot="0">
              <a:off x="13589" y="0"/>
              <a:ext cx="21945601" cy="27051"/>
            </a:xfrm>
            <a:custGeom>
              <a:avLst/>
              <a:gdLst/>
              <a:ahLst/>
              <a:cxnLst/>
              <a:rect r="r" b="b" t="t" l="l"/>
              <a:pathLst>
                <a:path h="27051" w="21945601">
                  <a:moveTo>
                    <a:pt x="0" y="0"/>
                  </a:moveTo>
                  <a:lnTo>
                    <a:pt x="21945601" y="0"/>
                  </a:lnTo>
                  <a:lnTo>
                    <a:pt x="21945601" y="27051"/>
                  </a:lnTo>
                  <a:lnTo>
                    <a:pt x="0" y="27051"/>
                  </a:lnTo>
                  <a:close/>
                </a:path>
              </a:pathLst>
            </a:custGeom>
            <a:solidFill>
              <a:srgbClr val="97BC62">
                <a:alpha val="24706"/>
              </a:srgbClr>
            </a:solidFill>
          </p:spPr>
        </p:sp>
      </p:grpSp>
      <p:grpSp>
        <p:nvGrpSpPr>
          <p:cNvPr name="Group 16" id="16"/>
          <p:cNvGrpSpPr/>
          <p:nvPr/>
        </p:nvGrpSpPr>
        <p:grpSpPr>
          <a:xfrm rot="0">
            <a:off x="3058289" y="3044952"/>
            <a:ext cx="12171421" cy="4197096"/>
            <a:chOff x="0" y="0"/>
            <a:chExt cx="16228561" cy="5596128"/>
          </a:xfrm>
        </p:grpSpPr>
        <p:sp>
          <p:nvSpPr>
            <p:cNvPr name="Freeform 17" id="17"/>
            <p:cNvSpPr/>
            <p:nvPr/>
          </p:nvSpPr>
          <p:spPr>
            <a:xfrm flipH="false" flipV="false" rot="0">
              <a:off x="0" y="0"/>
              <a:ext cx="16228566" cy="5596128"/>
            </a:xfrm>
            <a:custGeom>
              <a:avLst/>
              <a:gdLst/>
              <a:ahLst/>
              <a:cxnLst/>
              <a:rect r="r" b="b" t="t" l="l"/>
              <a:pathLst>
                <a:path h="5596128" w="16228566">
                  <a:moveTo>
                    <a:pt x="0" y="0"/>
                  </a:moveTo>
                  <a:lnTo>
                    <a:pt x="16228566" y="0"/>
                  </a:lnTo>
                  <a:lnTo>
                    <a:pt x="16228566" y="5596128"/>
                  </a:lnTo>
                  <a:lnTo>
                    <a:pt x="0" y="5596128"/>
                  </a:lnTo>
                  <a:close/>
                </a:path>
              </a:pathLst>
            </a:custGeom>
            <a:blipFill>
              <a:blip r:embed="rId3">
                <a:alphaModFix amt="0"/>
              </a:blip>
              <a:stretch>
                <a:fillRect l="0" t="-31285" r="-43853" b="-31285"/>
              </a:stretch>
            </a:blipFill>
          </p:spPr>
        </p:sp>
        <p:sp>
          <p:nvSpPr>
            <p:cNvPr name="TextBox 18" id="18"/>
            <p:cNvSpPr txBox="true"/>
            <p:nvPr/>
          </p:nvSpPr>
          <p:spPr>
            <a:xfrm>
              <a:off x="0" y="-219075"/>
              <a:ext cx="16228561" cy="5815203"/>
            </a:xfrm>
            <a:prstGeom prst="rect">
              <a:avLst/>
            </a:prstGeom>
          </p:spPr>
          <p:txBody>
            <a:bodyPr anchor="ctr" rtlCol="false" tIns="0" lIns="0" bIns="0" rIns="0"/>
            <a:lstStyle/>
            <a:p>
              <a:pPr algn="ctr">
                <a:lnSpc>
                  <a:spcPts val="12359"/>
                </a:lnSpc>
              </a:pPr>
              <a:r>
                <a:rPr lang="en-US" sz="10299" b="true">
                  <a:solidFill>
                    <a:srgbClr val="FFFFFF"/>
                  </a:solidFill>
                  <a:latin typeface="Calibri (MS) Bold"/>
                  <a:ea typeface="Calibri (MS) Bold"/>
                  <a:cs typeface="Calibri (MS) Bold"/>
                  <a:sym typeface="Calibri (MS) Bold"/>
                </a:rPr>
                <a:t>Merci pour votre attention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DAHGMA1pQS0</dc:identifier>
  <dcterms:modified xsi:type="dcterms:W3CDTF">2011-08-01T06:04:30Z</dcterms:modified>
  <cp:revision>1</cp:revision>
  <dc:title>ProjetML.pptx</dc:title>
</cp:coreProperties>
</file>